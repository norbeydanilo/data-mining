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4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2"/>
  </p:sldMasterIdLst>
  <p:notesMasterIdLst>
    <p:notesMasterId r:id="rId91"/>
  </p:notesMasterIdLst>
  <p:sldIdLst>
    <p:sldId id="257" r:id="rId3"/>
    <p:sldId id="1340" r:id="rId4"/>
    <p:sldId id="1341" r:id="rId5"/>
    <p:sldId id="308" r:id="rId6"/>
    <p:sldId id="1273" r:id="rId7"/>
    <p:sldId id="1336" r:id="rId8"/>
    <p:sldId id="1345" r:id="rId9"/>
    <p:sldId id="1338" r:id="rId10"/>
    <p:sldId id="482" r:id="rId11"/>
    <p:sldId id="1339" r:id="rId12"/>
    <p:sldId id="568" r:id="rId13"/>
    <p:sldId id="394" r:id="rId14"/>
    <p:sldId id="395" r:id="rId15"/>
    <p:sldId id="309" r:id="rId16"/>
    <p:sldId id="281" r:id="rId17"/>
    <p:sldId id="1344" r:id="rId18"/>
    <p:sldId id="1352" r:id="rId19"/>
    <p:sldId id="464" r:id="rId20"/>
    <p:sldId id="1328" r:id="rId21"/>
    <p:sldId id="487" r:id="rId22"/>
    <p:sldId id="513" r:id="rId23"/>
    <p:sldId id="441" r:id="rId24"/>
    <p:sldId id="1342" r:id="rId25"/>
    <p:sldId id="520" r:id="rId26"/>
    <p:sldId id="518" r:id="rId27"/>
    <p:sldId id="474" r:id="rId28"/>
    <p:sldId id="465" r:id="rId29"/>
    <p:sldId id="614" r:id="rId30"/>
    <p:sldId id="617" r:id="rId31"/>
    <p:sldId id="622" r:id="rId32"/>
    <p:sldId id="623" r:id="rId33"/>
    <p:sldId id="615" r:id="rId34"/>
    <p:sldId id="620" r:id="rId35"/>
    <p:sldId id="616" r:id="rId36"/>
    <p:sldId id="1350" r:id="rId37"/>
    <p:sldId id="494" r:id="rId38"/>
    <p:sldId id="618" r:id="rId39"/>
    <p:sldId id="619" r:id="rId40"/>
    <p:sldId id="1351" r:id="rId41"/>
    <p:sldId id="332" r:id="rId42"/>
    <p:sldId id="333" r:id="rId43"/>
    <p:sldId id="335" r:id="rId44"/>
    <p:sldId id="337" r:id="rId45"/>
    <p:sldId id="339" r:id="rId46"/>
    <p:sldId id="340" r:id="rId47"/>
    <p:sldId id="341" r:id="rId48"/>
    <p:sldId id="342" r:id="rId49"/>
    <p:sldId id="343" r:id="rId50"/>
    <p:sldId id="344" r:id="rId51"/>
    <p:sldId id="345" r:id="rId52"/>
    <p:sldId id="346" r:id="rId53"/>
    <p:sldId id="347" r:id="rId54"/>
    <p:sldId id="348" r:id="rId55"/>
    <p:sldId id="349" r:id="rId56"/>
    <p:sldId id="350" r:id="rId57"/>
    <p:sldId id="351" r:id="rId58"/>
    <p:sldId id="352" r:id="rId59"/>
    <p:sldId id="353" r:id="rId60"/>
    <p:sldId id="354" r:id="rId61"/>
    <p:sldId id="357" r:id="rId62"/>
    <p:sldId id="358" r:id="rId63"/>
    <p:sldId id="359" r:id="rId64"/>
    <p:sldId id="360" r:id="rId65"/>
    <p:sldId id="361" r:id="rId66"/>
    <p:sldId id="362" r:id="rId67"/>
    <p:sldId id="363" r:id="rId68"/>
    <p:sldId id="366" r:id="rId69"/>
    <p:sldId id="367" r:id="rId70"/>
    <p:sldId id="368" r:id="rId71"/>
    <p:sldId id="369" r:id="rId72"/>
    <p:sldId id="370" r:id="rId73"/>
    <p:sldId id="371" r:id="rId74"/>
    <p:sldId id="375" r:id="rId75"/>
    <p:sldId id="376" r:id="rId76"/>
    <p:sldId id="379" r:id="rId77"/>
    <p:sldId id="380" r:id="rId78"/>
    <p:sldId id="381" r:id="rId79"/>
    <p:sldId id="382" r:id="rId80"/>
    <p:sldId id="383" r:id="rId81"/>
    <p:sldId id="1353" r:id="rId82"/>
    <p:sldId id="384" r:id="rId83"/>
    <p:sldId id="385" r:id="rId84"/>
    <p:sldId id="386" r:id="rId85"/>
    <p:sldId id="387" r:id="rId86"/>
    <p:sldId id="1354" r:id="rId87"/>
    <p:sldId id="391" r:id="rId88"/>
    <p:sldId id="1355" r:id="rId89"/>
    <p:sldId id="1356" r:id="rId9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90E091-CCE8-4966-8CB0-F459C6100D14}" v="76" dt="2026-05-31T04:18:43.23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70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tableStyles" Target="tableStyles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notesMaster" Target="notesMasters/notesMaster1.xml"/><Relationship Id="rId9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microsoft.com/office/2015/10/relationships/revisionInfo" Target="revisionInfo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bey Muñoz" userId="b7e811e8891ccd42" providerId="LiveId" clId="{2482167B-ADD3-4E68-AB8B-ADE9CECE27D0}"/>
    <pc:docChg chg="undo custSel addSld delSld modSld sldOrd">
      <pc:chgData name="Norbey Muñoz" userId="b7e811e8891ccd42" providerId="LiveId" clId="{2482167B-ADD3-4E68-AB8B-ADE9CECE27D0}" dt="2026-05-31T04:26:26.767" v="1586" actId="2696"/>
      <pc:docMkLst>
        <pc:docMk/>
      </pc:docMkLst>
      <pc:sldChg chg="modSp mod">
        <pc:chgData name="Norbey Muñoz" userId="b7e811e8891ccd42" providerId="LiveId" clId="{2482167B-ADD3-4E68-AB8B-ADE9CECE27D0}" dt="2026-05-13T12:49:26.616" v="671" actId="108"/>
        <pc:sldMkLst>
          <pc:docMk/>
          <pc:sldMk cId="0" sldId="257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57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257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9:26.616" v="671" actId="108"/>
          <ac:spMkLst>
            <pc:docMk/>
            <pc:sldMk cId="0" sldId="257"/>
            <ac:spMk id="4" creationId="{00000000-0000-0000-0000-000000000000}"/>
          </ac:spMkLst>
        </pc:spChg>
      </pc:sldChg>
      <pc:sldChg chg="modSp add del mod ord setBg">
        <pc:chgData name="Norbey Muñoz" userId="b7e811e8891ccd42" providerId="LiveId" clId="{2482167B-ADD3-4E68-AB8B-ADE9CECE27D0}" dt="2026-05-27T04:18:18.448" v="1177"/>
        <pc:sldMkLst>
          <pc:docMk/>
          <pc:sldMk cId="0" sldId="281"/>
        </pc:sldMkLst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308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08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08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08"/>
            <ac:spMk id="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08"/>
            <ac:spMk id="7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08"/>
            <ac:spMk id="9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08"/>
            <ac:spMk id="10" creationId="{00000000-0000-0000-0000-000000000000}"/>
          </ac:spMkLst>
        </pc:spChg>
      </pc:sldChg>
      <pc:sldChg chg="modSp mod ord">
        <pc:chgData name="Norbey Muñoz" userId="b7e811e8891ccd42" providerId="LiveId" clId="{2482167B-ADD3-4E68-AB8B-ADE9CECE27D0}" dt="2026-05-27T04:17:56.143" v="1175"/>
        <pc:sldMkLst>
          <pc:docMk/>
          <pc:sldMk cId="0" sldId="309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09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3:12:41.477" v="1056" actId="14100"/>
          <ac:spMkLst>
            <pc:docMk/>
            <pc:sldMk cId="0" sldId="309"/>
            <ac:spMk id="7" creationId="{00000000-0000-0000-0000-000000000000}"/>
          </ac:spMkLst>
        </pc:spChg>
      </pc:sldChg>
      <pc:sldChg chg="modSp add del mod ord">
        <pc:chgData name="Norbey Muñoz" userId="b7e811e8891ccd42" providerId="LiveId" clId="{2482167B-ADD3-4E68-AB8B-ADE9CECE27D0}" dt="2026-05-27T11:52:33.634" v="1292"/>
        <pc:sldMkLst>
          <pc:docMk/>
          <pc:sldMk cId="0" sldId="332"/>
        </pc:sldMkLst>
      </pc:sldChg>
      <pc:sldChg chg="delSp modSp mod">
        <pc:chgData name="Norbey Muñoz" userId="b7e811e8891ccd42" providerId="LiveId" clId="{2482167B-ADD3-4E68-AB8B-ADE9CECE27D0}" dt="2026-05-25T04:03:38.159" v="1090" actId="478"/>
        <pc:sldMkLst>
          <pc:docMk/>
          <pc:sldMk cId="0" sldId="333"/>
        </pc:sldMkLst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333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25T04:03:20.491" v="1086" actId="20577"/>
          <ac:spMkLst>
            <pc:docMk/>
            <pc:sldMk cId="0" sldId="333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33"/>
            <ac:spMk id="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33"/>
            <ac:spMk id="15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25T04:04:06.212" v="1092" actId="20577"/>
        <pc:sldMkLst>
          <pc:docMk/>
          <pc:sldMk cId="0" sldId="335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35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35"/>
            <ac:spMk id="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35"/>
            <ac:spMk id="5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35"/>
            <ac:spMk id="7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35"/>
            <ac:spMk id="8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35"/>
            <ac:spMk id="9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35"/>
            <ac:spMk id="10" creationId="{00000000-0000-0000-0000-000000000000}"/>
          </ac:spMkLst>
        </pc:spChg>
        <pc:spChg chg="mod">
          <ac:chgData name="Norbey Muñoz" userId="b7e811e8891ccd42" providerId="LiveId" clId="{2482167B-ADD3-4E68-AB8B-ADE9CECE27D0}" dt="2026-05-25T04:04:06.212" v="1092" actId="20577"/>
          <ac:spMkLst>
            <pc:docMk/>
            <pc:sldMk cId="0" sldId="335"/>
            <ac:spMk id="11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35"/>
            <ac:spMk id="12" creationId="{00000000-0000-0000-0000-000000000000}"/>
          </ac:spMkLst>
        </pc:spChg>
      </pc:sldChg>
      <pc:sldChg chg="addSp delSp modSp mod">
        <pc:chgData name="Norbey Muñoz" userId="b7e811e8891ccd42" providerId="LiveId" clId="{2482167B-ADD3-4E68-AB8B-ADE9CECE27D0}" dt="2026-05-27T12:08:43.477" v="1303" actId="1076"/>
        <pc:sldMkLst>
          <pc:docMk/>
          <pc:sldMk cId="0" sldId="337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37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37"/>
            <ac:spMk id="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37"/>
            <ac:spMk id="5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37"/>
            <ac:spMk id="8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37"/>
            <ac:spMk id="9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37"/>
            <ac:spMk id="10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37"/>
            <ac:spMk id="1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37"/>
            <ac:spMk id="13" creationId="{00000000-0000-0000-0000-000000000000}"/>
          </ac:spMkLst>
        </pc:spChg>
        <pc:picChg chg="add mod">
          <ac:chgData name="Norbey Muñoz" userId="b7e811e8891ccd42" providerId="LiveId" clId="{2482167B-ADD3-4E68-AB8B-ADE9CECE27D0}" dt="2026-05-27T12:08:43.477" v="1303" actId="1076"/>
          <ac:picMkLst>
            <pc:docMk/>
            <pc:sldMk cId="0" sldId="337"/>
            <ac:picMk id="7" creationId="{D4AD75A6-E717-AFCE-8C86-153DAB6B1AC5}"/>
          </ac:picMkLst>
        </pc:picChg>
      </pc:sldChg>
      <pc:sldChg chg="delSp modSp mod">
        <pc:chgData name="Norbey Muñoz" userId="b7e811e8891ccd42" providerId="LiveId" clId="{2482167B-ADD3-4E68-AB8B-ADE9CECE27D0}" dt="2026-05-25T04:06:26.504" v="1107" actId="478"/>
        <pc:sldMkLst>
          <pc:docMk/>
          <pc:sldMk cId="0" sldId="339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39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39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39"/>
            <ac:spMk id="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39"/>
            <ac:spMk id="7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39"/>
            <ac:spMk id="9" creationId="{00000000-0000-0000-0000-000000000000}"/>
          </ac:spMkLst>
        </pc:spChg>
        <pc:graphicFrameChg chg="modGraphic">
          <ac:chgData name="Norbey Muñoz" userId="b7e811e8891ccd42" providerId="LiveId" clId="{2482167B-ADD3-4E68-AB8B-ADE9CECE27D0}" dt="2026-05-13T12:42:43.501" v="542" actId="790"/>
          <ac:graphicFrameMkLst>
            <pc:docMk/>
            <pc:sldMk cId="0" sldId="339"/>
            <ac:graphicFrameMk id="4" creationId="{00000000-0000-0000-0000-000000000000}"/>
          </ac:graphicFrameMkLst>
        </pc:graphicFrameChg>
      </pc:sldChg>
      <pc:sldChg chg="delSp modSp mod">
        <pc:chgData name="Norbey Muñoz" userId="b7e811e8891ccd42" providerId="LiveId" clId="{2482167B-ADD3-4E68-AB8B-ADE9CECE27D0}" dt="2026-05-25T04:06:32.585" v="1108" actId="478"/>
        <pc:sldMkLst>
          <pc:docMk/>
          <pc:sldMk cId="0" sldId="340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0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0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0"/>
            <ac:spMk id="5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0"/>
            <ac:spMk id="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0"/>
            <ac:spMk id="9" creationId="{00000000-0000-0000-0000-000000000000}"/>
          </ac:spMkLst>
        </pc:spChg>
        <pc:graphicFrameChg chg="modGraphic">
          <ac:chgData name="Norbey Muñoz" userId="b7e811e8891ccd42" providerId="LiveId" clId="{2482167B-ADD3-4E68-AB8B-ADE9CECE27D0}" dt="2026-05-13T12:42:43.501" v="542" actId="790"/>
          <ac:graphicFrameMkLst>
            <pc:docMk/>
            <pc:sldMk cId="0" sldId="340"/>
            <ac:graphicFrameMk id="8" creationId="{00000000-0000-0000-0000-000000000000}"/>
          </ac:graphicFrameMkLst>
        </pc:graphicFrameChg>
      </pc:sldChg>
      <pc:sldChg chg="modSp mod">
        <pc:chgData name="Norbey Muñoz" userId="b7e811e8891ccd42" providerId="LiveId" clId="{2482167B-ADD3-4E68-AB8B-ADE9CECE27D0}" dt="2026-05-25T04:07:01.207" v="1117" actId="1076"/>
        <pc:sldMkLst>
          <pc:docMk/>
          <pc:sldMk cId="0" sldId="341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1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1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1"/>
            <ac:spMk id="5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1"/>
            <ac:spMk id="6" creationId="{00000000-0000-0000-0000-000000000000}"/>
          </ac:spMkLst>
        </pc:spChg>
        <pc:spChg chg="mod">
          <ac:chgData name="Norbey Muñoz" userId="b7e811e8891ccd42" providerId="LiveId" clId="{2482167B-ADD3-4E68-AB8B-ADE9CECE27D0}" dt="2026-05-25T04:07:01.207" v="1117" actId="1076"/>
          <ac:spMkLst>
            <pc:docMk/>
            <pc:sldMk cId="0" sldId="341"/>
            <ac:spMk id="7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1"/>
            <ac:spMk id="9" creationId="{00000000-0000-0000-0000-000000000000}"/>
          </ac:spMkLst>
        </pc:spChg>
        <pc:graphicFrameChg chg="modGraphic">
          <ac:chgData name="Norbey Muñoz" userId="b7e811e8891ccd42" providerId="LiveId" clId="{2482167B-ADD3-4E68-AB8B-ADE9CECE27D0}" dt="2026-05-13T12:42:43.501" v="542" actId="790"/>
          <ac:graphicFrameMkLst>
            <pc:docMk/>
            <pc:sldMk cId="0" sldId="341"/>
            <ac:graphicFrameMk id="8" creationId="{00000000-0000-0000-0000-000000000000}"/>
          </ac:graphicFrameMkLst>
        </pc:graphicFrameChg>
      </pc:sldChg>
      <pc:sldChg chg="modSp mod">
        <pc:chgData name="Norbey Muñoz" userId="b7e811e8891ccd42" providerId="LiveId" clId="{2482167B-ADD3-4E68-AB8B-ADE9CECE27D0}" dt="2026-05-25T04:07:13.549" v="1119" actId="20577"/>
        <pc:sldMkLst>
          <pc:docMk/>
          <pc:sldMk cId="0" sldId="342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2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25T04:07:13.549" v="1119" actId="20577"/>
          <ac:spMkLst>
            <pc:docMk/>
            <pc:sldMk cId="0" sldId="342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2"/>
            <ac:spMk id="4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25T04:07:26.291" v="1120" actId="313"/>
        <pc:sldMkLst>
          <pc:docMk/>
          <pc:sldMk cId="0" sldId="343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3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25T04:07:26.291" v="1120" actId="313"/>
          <ac:spMkLst>
            <pc:docMk/>
            <pc:sldMk cId="0" sldId="343"/>
            <ac:spMk id="5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3"/>
            <ac:spMk id="8" creationId="{00000000-0000-0000-0000-000000000000}"/>
          </ac:spMkLst>
        </pc:spChg>
        <pc:graphicFrameChg chg="modGraphic">
          <ac:chgData name="Norbey Muñoz" userId="b7e811e8891ccd42" providerId="LiveId" clId="{2482167B-ADD3-4E68-AB8B-ADE9CECE27D0}" dt="2026-05-13T12:42:43.501" v="542" actId="790"/>
          <ac:graphicFrameMkLst>
            <pc:docMk/>
            <pc:sldMk cId="0" sldId="343"/>
            <ac:graphicFrameMk id="6" creationId="{00000000-0000-0000-0000-000000000000}"/>
          </ac:graphicFrameMkLst>
        </pc:graphicFrameChg>
        <pc:graphicFrameChg chg="modGraphic">
          <ac:chgData name="Norbey Muñoz" userId="b7e811e8891ccd42" providerId="LiveId" clId="{2482167B-ADD3-4E68-AB8B-ADE9CECE27D0}" dt="2026-05-13T12:42:43.501" v="542" actId="790"/>
          <ac:graphicFrameMkLst>
            <pc:docMk/>
            <pc:sldMk cId="0" sldId="343"/>
            <ac:graphicFrameMk id="7" creationId="{00000000-0000-0000-0000-000000000000}"/>
          </ac:graphicFrameMkLst>
        </pc:graphicFrame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344"/>
        </pc:sldMkLst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344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4"/>
            <ac:spMk id="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4"/>
            <ac:spMk id="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344"/>
            <ac:spMk id="7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4"/>
            <ac:spMk id="8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4"/>
            <ac:spMk id="9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4"/>
            <ac:spMk id="10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4"/>
            <ac:spMk id="11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4"/>
            <ac:spMk id="1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4"/>
            <ac:spMk id="1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344"/>
            <ac:spMk id="1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4"/>
            <ac:spMk id="15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4"/>
            <ac:spMk id="1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344"/>
            <ac:spMk id="17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345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5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5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5"/>
            <ac:spMk id="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345"/>
            <ac:spMk id="8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5"/>
            <ac:spMk id="11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345"/>
            <ac:spMk id="1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345"/>
            <ac:spMk id="1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5"/>
            <ac:spMk id="15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5"/>
            <ac:spMk id="1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5"/>
            <ac:spMk id="19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5"/>
            <ac:spMk id="20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5"/>
            <ac:spMk id="21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5"/>
            <ac:spMk id="2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345"/>
            <ac:spMk id="24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346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6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6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346"/>
            <ac:spMk id="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6"/>
            <ac:spMk id="7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6"/>
            <ac:spMk id="10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6"/>
            <ac:spMk id="11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346"/>
            <ac:spMk id="1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346"/>
            <ac:spMk id="1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346"/>
            <ac:spMk id="15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6"/>
            <ac:spMk id="18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6"/>
            <ac:spMk id="19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6"/>
            <ac:spMk id="20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6"/>
            <ac:spMk id="21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6"/>
            <ac:spMk id="24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347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7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7"/>
            <ac:spMk id="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7"/>
            <ac:spMk id="7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7"/>
            <ac:spMk id="8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348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8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8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8"/>
            <ac:spMk id="7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8"/>
            <ac:spMk id="8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8"/>
            <ac:spMk id="9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349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9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9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9"/>
            <ac:spMk id="7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9"/>
            <ac:spMk id="8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49"/>
            <ac:spMk id="9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350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50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50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50"/>
            <ac:spMk id="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50"/>
            <ac:spMk id="5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50"/>
            <ac:spMk id="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50"/>
            <ac:spMk id="7" creationId="{00000000-0000-0000-0000-000000000000}"/>
          </ac:spMkLst>
        </pc:spChg>
      </pc:sldChg>
      <pc:sldChg chg="addSp delSp modSp mod">
        <pc:chgData name="Norbey Muñoz" userId="b7e811e8891ccd42" providerId="LiveId" clId="{2482167B-ADD3-4E68-AB8B-ADE9CECE27D0}" dt="2026-05-27T12:13:24.573" v="1333" actId="13822"/>
        <pc:sldMkLst>
          <pc:docMk/>
          <pc:sldMk cId="0" sldId="351"/>
        </pc:sldMkLst>
        <pc:spChg chg="add mod">
          <ac:chgData name="Norbey Muñoz" userId="b7e811e8891ccd42" providerId="LiveId" clId="{2482167B-ADD3-4E68-AB8B-ADE9CECE27D0}" dt="2026-05-27T12:13:24.573" v="1333" actId="13822"/>
          <ac:spMkLst>
            <pc:docMk/>
            <pc:sldMk cId="0" sldId="351"/>
            <ac:spMk id="2" creationId="{189B9193-3542-C6E4-13FE-1D72B2F19D51}"/>
          </ac:spMkLst>
        </pc:spChg>
        <pc:spChg chg="mod">
          <ac:chgData name="Norbey Muñoz" userId="b7e811e8891ccd42" providerId="LiveId" clId="{2482167B-ADD3-4E68-AB8B-ADE9CECE27D0}" dt="2026-05-27T12:10:53.284" v="1309" actId="20577"/>
          <ac:spMkLst>
            <pc:docMk/>
            <pc:sldMk cId="0" sldId="351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25T04:09:29.492" v="1122" actId="1076"/>
          <ac:spMkLst>
            <pc:docMk/>
            <pc:sldMk cId="0" sldId="351"/>
            <ac:spMk id="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351"/>
            <ac:spMk id="5" creationId="{00000000-0000-0000-0000-000000000000}"/>
          </ac:spMkLst>
        </pc:spChg>
        <pc:picChg chg="add mod">
          <ac:chgData name="Norbey Muñoz" userId="b7e811e8891ccd42" providerId="LiveId" clId="{2482167B-ADD3-4E68-AB8B-ADE9CECE27D0}" dt="2026-05-27T12:10:47.696" v="1306" actId="1076"/>
          <ac:picMkLst>
            <pc:docMk/>
            <pc:sldMk cId="0" sldId="351"/>
            <ac:picMk id="1026" creationId="{EF7BFED9-FCAA-20B4-C755-943811CC5EC8}"/>
          </ac:picMkLst>
        </pc:picChg>
      </pc:sldChg>
      <pc:sldChg chg="addSp delSp modSp mod">
        <pc:chgData name="Norbey Muñoz" userId="b7e811e8891ccd42" providerId="LiveId" clId="{2482167B-ADD3-4E68-AB8B-ADE9CECE27D0}" dt="2026-05-27T12:13:49.918" v="1334" actId="1076"/>
        <pc:sldMkLst>
          <pc:docMk/>
          <pc:sldMk cId="0" sldId="352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52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27T12:12:02.334" v="1317" actId="20577"/>
          <ac:spMkLst>
            <pc:docMk/>
            <pc:sldMk cId="0" sldId="352"/>
            <ac:spMk id="7" creationId="{00000000-0000-0000-0000-000000000000}"/>
          </ac:spMkLst>
        </pc:spChg>
        <pc:spChg chg="mod">
          <ac:chgData name="Norbey Muñoz" userId="b7e811e8891ccd42" providerId="LiveId" clId="{2482167B-ADD3-4E68-AB8B-ADE9CECE27D0}" dt="2026-05-27T12:12:32.372" v="1330" actId="1076"/>
          <ac:spMkLst>
            <pc:docMk/>
            <pc:sldMk cId="0" sldId="352"/>
            <ac:spMk id="10" creationId="{00000000-0000-0000-0000-000000000000}"/>
          </ac:spMkLst>
        </pc:spChg>
        <pc:spChg chg="add del mod">
          <ac:chgData name="Norbey Muñoz" userId="b7e811e8891ccd42" providerId="LiveId" clId="{2482167B-ADD3-4E68-AB8B-ADE9CECE27D0}" dt="2026-05-27T12:12:22.083" v="1327" actId="1076"/>
          <ac:spMkLst>
            <pc:docMk/>
            <pc:sldMk cId="0" sldId="352"/>
            <ac:spMk id="11" creationId="{00000000-0000-0000-0000-000000000000}"/>
          </ac:spMkLst>
        </pc:spChg>
        <pc:spChg chg="mod">
          <ac:chgData name="Norbey Muñoz" userId="b7e811e8891ccd42" providerId="LiveId" clId="{2482167B-ADD3-4E68-AB8B-ADE9CECE27D0}" dt="2026-05-27T12:12:26.715" v="1328" actId="1076"/>
          <ac:spMkLst>
            <pc:docMk/>
            <pc:sldMk cId="0" sldId="352"/>
            <ac:spMk id="12" creationId="{00000000-0000-0000-0000-000000000000}"/>
          </ac:spMkLst>
        </pc:spChg>
        <pc:spChg chg="mod">
          <ac:chgData name="Norbey Muñoz" userId="b7e811e8891ccd42" providerId="LiveId" clId="{2482167B-ADD3-4E68-AB8B-ADE9CECE27D0}" dt="2026-05-27T12:12:37.740" v="1331" actId="1076"/>
          <ac:spMkLst>
            <pc:docMk/>
            <pc:sldMk cId="0" sldId="352"/>
            <ac:spMk id="13" creationId="{00000000-0000-0000-0000-000000000000}"/>
          </ac:spMkLst>
        </pc:spChg>
        <pc:spChg chg="mod">
          <ac:chgData name="Norbey Muñoz" userId="b7e811e8891ccd42" providerId="LiveId" clId="{2482167B-ADD3-4E68-AB8B-ADE9CECE27D0}" dt="2026-05-27T12:12:37.740" v="1331" actId="1076"/>
          <ac:spMkLst>
            <pc:docMk/>
            <pc:sldMk cId="0" sldId="352"/>
            <ac:spMk id="14" creationId="{00000000-0000-0000-0000-000000000000}"/>
          </ac:spMkLst>
        </pc:spChg>
        <pc:spChg chg="mod">
          <ac:chgData name="Norbey Muñoz" userId="b7e811e8891ccd42" providerId="LiveId" clId="{2482167B-ADD3-4E68-AB8B-ADE9CECE27D0}" dt="2026-05-27T12:12:37.740" v="1331" actId="1076"/>
          <ac:spMkLst>
            <pc:docMk/>
            <pc:sldMk cId="0" sldId="352"/>
            <ac:spMk id="15" creationId="{00000000-0000-0000-0000-000000000000}"/>
          </ac:spMkLst>
        </pc:spChg>
        <pc:spChg chg="mod">
          <ac:chgData name="Norbey Muñoz" userId="b7e811e8891ccd42" providerId="LiveId" clId="{2482167B-ADD3-4E68-AB8B-ADE9CECE27D0}" dt="2026-05-27T12:13:49.918" v="1334" actId="1076"/>
          <ac:spMkLst>
            <pc:docMk/>
            <pc:sldMk cId="0" sldId="352"/>
            <ac:spMk id="16" creationId="{00000000-0000-0000-0000-000000000000}"/>
          </ac:spMkLst>
        </pc:spChg>
        <pc:spChg chg="mod">
          <ac:chgData name="Norbey Muñoz" userId="b7e811e8891ccd42" providerId="LiveId" clId="{2482167B-ADD3-4E68-AB8B-ADE9CECE27D0}" dt="2026-05-27T12:12:16.593" v="1326" actId="20577"/>
          <ac:spMkLst>
            <pc:docMk/>
            <pc:sldMk cId="0" sldId="352"/>
            <ac:spMk id="17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52"/>
            <ac:spMk id="18" creationId="{00000000-0000-0000-0000-000000000000}"/>
          </ac:spMkLst>
        </pc:spChg>
        <pc:spChg chg="add mod">
          <ac:chgData name="Norbey Muñoz" userId="b7e811e8891ccd42" providerId="LiveId" clId="{2482167B-ADD3-4E68-AB8B-ADE9CECE27D0}" dt="2026-05-27T12:11:21.580" v="1312"/>
          <ac:spMkLst>
            <pc:docMk/>
            <pc:sldMk cId="0" sldId="352"/>
            <ac:spMk id="21" creationId="{ABA38BBD-5ED2-D3EF-2C69-96CF39D5A6F9}"/>
          </ac:spMkLst>
        </pc:sp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353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53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53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53"/>
            <ac:spMk id="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53"/>
            <ac:spMk id="6" creationId="{00000000-0000-0000-0000-000000000000}"/>
          </ac:spMkLst>
        </pc:spChg>
        <pc:graphicFrameChg chg="modGraphic">
          <ac:chgData name="Norbey Muñoz" userId="b7e811e8891ccd42" providerId="LiveId" clId="{2482167B-ADD3-4E68-AB8B-ADE9CECE27D0}" dt="2026-05-13T12:42:43.501" v="542" actId="790"/>
          <ac:graphicFrameMkLst>
            <pc:docMk/>
            <pc:sldMk cId="0" sldId="353"/>
            <ac:graphicFrameMk id="5" creationId="{00000000-0000-0000-0000-000000000000}"/>
          </ac:graphicFrameMkLst>
        </pc:graphicFrameChg>
      </pc:sldChg>
      <pc:sldChg chg="modSp mod">
        <pc:chgData name="Norbey Muñoz" userId="b7e811e8891ccd42" providerId="LiveId" clId="{2482167B-ADD3-4E68-AB8B-ADE9CECE27D0}" dt="2026-05-27T12:14:26.721" v="1336" actId="313"/>
        <pc:sldMkLst>
          <pc:docMk/>
          <pc:sldMk cId="0" sldId="354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54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54"/>
            <ac:spMk id="5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54"/>
            <ac:spMk id="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54"/>
            <ac:spMk id="8" creationId="{00000000-0000-0000-0000-000000000000}"/>
          </ac:spMkLst>
        </pc:spChg>
        <pc:graphicFrameChg chg="modGraphic">
          <ac:chgData name="Norbey Muñoz" userId="b7e811e8891ccd42" providerId="LiveId" clId="{2482167B-ADD3-4E68-AB8B-ADE9CECE27D0}" dt="2026-05-27T12:14:26.721" v="1336" actId="313"/>
          <ac:graphicFrameMkLst>
            <pc:docMk/>
            <pc:sldMk cId="0" sldId="354"/>
            <ac:graphicFrameMk id="7" creationId="{00000000-0000-0000-0000-000000000000}"/>
          </ac:graphicFrameMkLst>
        </pc:graphicFrameChg>
        <pc:graphicFrameChg chg="modGraphic">
          <ac:chgData name="Norbey Muñoz" userId="b7e811e8891ccd42" providerId="LiveId" clId="{2482167B-ADD3-4E68-AB8B-ADE9CECE27D0}" dt="2026-05-13T12:42:43.501" v="542" actId="790"/>
          <ac:graphicFrameMkLst>
            <pc:docMk/>
            <pc:sldMk cId="0" sldId="354"/>
            <ac:graphicFrameMk id="9" creationId="{00000000-0000-0000-0000-000000000000}"/>
          </ac:graphicFrameMkLst>
        </pc:graphicFrameChg>
      </pc:sldChg>
      <pc:sldChg chg="modSp mod">
        <pc:chgData name="Norbey Muñoz" userId="b7e811e8891ccd42" providerId="LiveId" clId="{2482167B-ADD3-4E68-AB8B-ADE9CECE27D0}" dt="2026-05-27T12:15:53.664" v="1354" actId="20577"/>
        <pc:sldMkLst>
          <pc:docMk/>
          <pc:sldMk cId="0" sldId="357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57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27T12:15:53.664" v="1354" actId="20577"/>
          <ac:spMkLst>
            <pc:docMk/>
            <pc:sldMk cId="0" sldId="357"/>
            <ac:spMk id="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57"/>
            <ac:spMk id="7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358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58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58"/>
            <ac:spMk id="5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58"/>
            <ac:spMk id="6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27T12:26:58.592" v="1358" actId="20577"/>
        <pc:sldMkLst>
          <pc:docMk/>
          <pc:sldMk cId="0" sldId="359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59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59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27T12:26:58.592" v="1358" actId="20577"/>
          <ac:spMkLst>
            <pc:docMk/>
            <pc:sldMk cId="0" sldId="359"/>
            <ac:spMk id="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59"/>
            <ac:spMk id="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59"/>
            <ac:spMk id="7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59"/>
            <ac:spMk id="8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359"/>
            <ac:spMk id="9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59"/>
            <ac:spMk id="10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59"/>
            <ac:spMk id="11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59"/>
            <ac:spMk id="1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59"/>
            <ac:spMk id="13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27T12:27:09.270" v="1362" actId="20577"/>
        <pc:sldMkLst>
          <pc:docMk/>
          <pc:sldMk cId="0" sldId="360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0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0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27T12:27:09.270" v="1362" actId="20577"/>
          <ac:spMkLst>
            <pc:docMk/>
            <pc:sldMk cId="0" sldId="360"/>
            <ac:spMk id="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360"/>
            <ac:spMk id="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0"/>
            <ac:spMk id="7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0"/>
            <ac:spMk id="8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0"/>
            <ac:spMk id="9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0"/>
            <ac:spMk id="10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0"/>
            <ac:spMk id="11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0"/>
            <ac:spMk id="1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0"/>
            <ac:spMk id="13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361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1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361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1"/>
            <ac:spMk id="5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1"/>
            <ac:spMk id="7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1"/>
            <ac:spMk id="9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1"/>
            <ac:spMk id="10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1"/>
            <ac:spMk id="1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1"/>
            <ac:spMk id="1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1"/>
            <ac:spMk id="15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1"/>
            <ac:spMk id="1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1"/>
            <ac:spMk id="17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27T12:27:28.530" v="1372" actId="20577"/>
        <pc:sldMkLst>
          <pc:docMk/>
          <pc:sldMk cId="0" sldId="362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2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27T12:27:28.530" v="1372" actId="20577"/>
          <ac:spMkLst>
            <pc:docMk/>
            <pc:sldMk cId="0" sldId="362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2"/>
            <ac:spMk id="5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2"/>
            <ac:spMk id="7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2"/>
            <ac:spMk id="8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2"/>
            <ac:spMk id="10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2"/>
            <ac:spMk id="11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362"/>
            <ac:spMk id="1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2"/>
            <ac:spMk id="1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2"/>
            <ac:spMk id="15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2"/>
            <ac:spMk id="16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27T12:27:45.489" v="1374" actId="313"/>
        <pc:sldMkLst>
          <pc:docMk/>
          <pc:sldMk cId="0" sldId="363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3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27T12:27:44.106" v="1373" actId="313"/>
          <ac:spMkLst>
            <pc:docMk/>
            <pc:sldMk cId="0" sldId="363"/>
            <ac:spMk id="4" creationId="{00000000-0000-0000-0000-000000000000}"/>
          </ac:spMkLst>
        </pc:spChg>
        <pc:spChg chg="mod">
          <ac:chgData name="Norbey Muñoz" userId="b7e811e8891ccd42" providerId="LiveId" clId="{2482167B-ADD3-4E68-AB8B-ADE9CECE27D0}" dt="2026-05-27T12:27:45.489" v="1374" actId="313"/>
          <ac:spMkLst>
            <pc:docMk/>
            <pc:sldMk cId="0" sldId="363"/>
            <ac:spMk id="5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3"/>
            <ac:spMk id="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3"/>
            <ac:spMk id="7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3"/>
            <ac:spMk id="8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366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6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6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366"/>
            <ac:spMk id="5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6"/>
            <ac:spMk id="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6"/>
            <ac:spMk id="8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6"/>
            <ac:spMk id="9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6"/>
            <ac:spMk id="11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6"/>
            <ac:spMk id="1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6"/>
            <ac:spMk id="1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6"/>
            <ac:spMk id="15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6"/>
            <ac:spMk id="16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27T12:28:16.736" v="1378" actId="14100"/>
        <pc:sldMkLst>
          <pc:docMk/>
          <pc:sldMk cId="0" sldId="367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7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7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27T12:28:16.736" v="1378" actId="14100"/>
          <ac:spMkLst>
            <pc:docMk/>
            <pc:sldMk cId="0" sldId="367"/>
            <ac:spMk id="4" creationId="{00000000-0000-0000-0000-000000000000}"/>
          </ac:spMkLst>
        </pc:spChg>
        <pc:graphicFrameChg chg="modGraphic">
          <ac:chgData name="Norbey Muñoz" userId="b7e811e8891ccd42" providerId="LiveId" clId="{2482167B-ADD3-4E68-AB8B-ADE9CECE27D0}" dt="2026-05-13T12:42:43.501" v="542" actId="790"/>
          <ac:graphicFrameMkLst>
            <pc:docMk/>
            <pc:sldMk cId="0" sldId="367"/>
            <ac:graphicFrameMk id="5" creationId="{00000000-0000-0000-0000-000000000000}"/>
          </ac:graphicFrameMkLst>
        </pc:graphicFrameChg>
        <pc:graphicFrameChg chg="modGraphic">
          <ac:chgData name="Norbey Muñoz" userId="b7e811e8891ccd42" providerId="LiveId" clId="{2482167B-ADD3-4E68-AB8B-ADE9CECE27D0}" dt="2026-05-27T12:28:07.178" v="1376" actId="313"/>
          <ac:graphicFrameMkLst>
            <pc:docMk/>
            <pc:sldMk cId="0" sldId="367"/>
            <ac:graphicFrameMk id="6" creationId="{00000000-0000-0000-0000-000000000000}"/>
          </ac:graphicFrameMkLst>
        </pc:graphicFrameChg>
      </pc:sldChg>
      <pc:sldChg chg="modSp mod">
        <pc:chgData name="Norbey Muñoz" userId="b7e811e8891ccd42" providerId="LiveId" clId="{2482167B-ADD3-4E68-AB8B-ADE9CECE27D0}" dt="2026-05-27T12:30:27.756" v="1383" actId="14100"/>
        <pc:sldMkLst>
          <pc:docMk/>
          <pc:sldMk cId="0" sldId="368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8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8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8"/>
            <ac:spMk id="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8"/>
            <ac:spMk id="8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8"/>
            <ac:spMk id="9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8"/>
            <ac:spMk id="10" creationId="{00000000-0000-0000-0000-000000000000}"/>
          </ac:spMkLst>
        </pc:spChg>
        <pc:spChg chg="mod">
          <ac:chgData name="Norbey Muñoz" userId="b7e811e8891ccd42" providerId="LiveId" clId="{2482167B-ADD3-4E68-AB8B-ADE9CECE27D0}" dt="2026-05-27T12:30:27.756" v="1383" actId="14100"/>
          <ac:spMkLst>
            <pc:docMk/>
            <pc:sldMk cId="0" sldId="368"/>
            <ac:spMk id="11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8"/>
            <ac:spMk id="12" creationId="{00000000-0000-0000-0000-000000000000}"/>
          </ac:spMkLst>
        </pc:spChg>
        <pc:graphicFrameChg chg="modGraphic">
          <ac:chgData name="Norbey Muñoz" userId="b7e811e8891ccd42" providerId="LiveId" clId="{2482167B-ADD3-4E68-AB8B-ADE9CECE27D0}" dt="2026-05-27T12:28:56.035" v="1380" actId="313"/>
          <ac:graphicFrameMkLst>
            <pc:docMk/>
            <pc:sldMk cId="0" sldId="368"/>
            <ac:graphicFrameMk id="5" creationId="{00000000-0000-0000-0000-000000000000}"/>
          </ac:graphicFrameMkLst>
        </pc:graphicFrameChg>
        <pc:graphicFrameChg chg="modGraphic">
          <ac:chgData name="Norbey Muñoz" userId="b7e811e8891ccd42" providerId="LiveId" clId="{2482167B-ADD3-4E68-AB8B-ADE9CECE27D0}" dt="2026-05-13T12:42:43.501" v="542" actId="790"/>
          <ac:graphicFrameMkLst>
            <pc:docMk/>
            <pc:sldMk cId="0" sldId="368"/>
            <ac:graphicFrameMk id="13" creationId="{00000000-0000-0000-0000-000000000000}"/>
          </ac:graphicFrameMkLst>
        </pc:graphicFrameChg>
      </pc:sldChg>
      <pc:sldChg chg="modSp mod">
        <pc:chgData name="Norbey Muñoz" userId="b7e811e8891ccd42" providerId="LiveId" clId="{2482167B-ADD3-4E68-AB8B-ADE9CECE27D0}" dt="2026-05-13T12:42:43.501" v="542" actId="790"/>
        <pc:sldMkLst>
          <pc:docMk/>
          <pc:sldMk cId="0" sldId="369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9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69"/>
            <ac:spMk id="3" creationId="{00000000-0000-0000-0000-000000000000}"/>
          </ac:spMkLst>
        </pc:spChg>
      </pc:sldChg>
      <pc:sldChg chg="modSp mod modShow">
        <pc:chgData name="Norbey Muñoz" userId="b7e811e8891ccd42" providerId="LiveId" clId="{2482167B-ADD3-4E68-AB8B-ADE9CECE27D0}" dt="2026-05-27T12:31:07.537" v="1386" actId="729"/>
        <pc:sldMkLst>
          <pc:docMk/>
          <pc:sldMk cId="0" sldId="370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70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70"/>
            <ac:spMk id="5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70"/>
            <ac:spMk id="8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70"/>
            <ac:spMk id="9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70"/>
            <ac:spMk id="10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70"/>
            <ac:spMk id="11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70"/>
            <ac:spMk id="1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70"/>
            <ac:spMk id="1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70"/>
            <ac:spMk id="14" creationId="{00000000-0000-0000-0000-000000000000}"/>
          </ac:spMkLst>
        </pc:spChg>
        <pc:graphicFrameChg chg="modGraphic">
          <ac:chgData name="Norbey Muñoz" userId="b7e811e8891ccd42" providerId="LiveId" clId="{2482167B-ADD3-4E68-AB8B-ADE9CECE27D0}" dt="2026-05-27T12:30:45.248" v="1385" actId="313"/>
          <ac:graphicFrameMkLst>
            <pc:docMk/>
            <pc:sldMk cId="0" sldId="370"/>
            <ac:graphicFrameMk id="4" creationId="{00000000-0000-0000-0000-000000000000}"/>
          </ac:graphicFrameMkLst>
        </pc:graphicFrameChg>
      </pc:sldChg>
      <pc:sldChg chg="modSp mod modShow">
        <pc:chgData name="Norbey Muñoz" userId="b7e811e8891ccd42" providerId="LiveId" clId="{2482167B-ADD3-4E68-AB8B-ADE9CECE27D0}" dt="2026-05-27T12:31:36.969" v="1398" actId="729"/>
        <pc:sldMkLst>
          <pc:docMk/>
          <pc:sldMk cId="0" sldId="371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71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71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71"/>
            <ac:spMk id="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71"/>
            <ac:spMk id="7" creationId="{00000000-0000-0000-0000-000000000000}"/>
          </ac:spMkLst>
        </pc:spChg>
        <pc:spChg chg="mod">
          <ac:chgData name="Norbey Muñoz" userId="b7e811e8891ccd42" providerId="LiveId" clId="{2482167B-ADD3-4E68-AB8B-ADE9CECE27D0}" dt="2026-05-27T12:31:14.039" v="1388" actId="20577"/>
          <ac:spMkLst>
            <pc:docMk/>
            <pc:sldMk cId="0" sldId="371"/>
            <ac:spMk id="8" creationId="{00000000-0000-0000-0000-000000000000}"/>
          </ac:spMkLst>
        </pc:spChg>
        <pc:graphicFrameChg chg="modGraphic">
          <ac:chgData name="Norbey Muñoz" userId="b7e811e8891ccd42" providerId="LiveId" clId="{2482167B-ADD3-4E68-AB8B-ADE9CECE27D0}" dt="2026-05-27T12:31:32.833" v="1397" actId="20577"/>
          <ac:graphicFrameMkLst>
            <pc:docMk/>
            <pc:sldMk cId="0" sldId="371"/>
            <ac:graphicFrameMk id="4" creationId="{00000000-0000-0000-0000-000000000000}"/>
          </ac:graphicFrameMkLst>
        </pc:graphicFrameChg>
      </pc:sldChg>
      <pc:sldChg chg="modSp mod">
        <pc:chgData name="Norbey Muñoz" userId="b7e811e8891ccd42" providerId="LiveId" clId="{2482167B-ADD3-4E68-AB8B-ADE9CECE27D0}" dt="2026-05-27T12:31:42.295" v="1399" actId="20577"/>
        <pc:sldMkLst>
          <pc:docMk/>
          <pc:sldMk cId="0" sldId="375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75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75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27T12:31:42.295" v="1399" actId="20577"/>
          <ac:spMkLst>
            <pc:docMk/>
            <pc:sldMk cId="0" sldId="375"/>
            <ac:spMk id="4" creationId="{00000000-0000-0000-0000-000000000000}"/>
          </ac:spMkLst>
        </pc:spChg>
      </pc:sldChg>
      <pc:sldChg chg="modSp mod modShow">
        <pc:chgData name="Norbey Muñoz" userId="b7e811e8891ccd42" providerId="LiveId" clId="{2482167B-ADD3-4E68-AB8B-ADE9CECE27D0}" dt="2026-05-27T12:32:23.560" v="1401" actId="729"/>
        <pc:sldMkLst>
          <pc:docMk/>
          <pc:sldMk cId="0" sldId="376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76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76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27T12:32:20.195" v="1400" actId="20577"/>
          <ac:spMkLst>
            <pc:docMk/>
            <pc:sldMk cId="0" sldId="376"/>
            <ac:spMk id="7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31T03:44:18.052" v="1437" actId="20577"/>
        <pc:sldMkLst>
          <pc:docMk/>
          <pc:sldMk cId="0" sldId="379"/>
        </pc:sldMkLst>
        <pc:spChg chg="mod">
          <ac:chgData name="Norbey Muñoz" userId="b7e811e8891ccd42" providerId="LiveId" clId="{2482167B-ADD3-4E68-AB8B-ADE9CECE27D0}" dt="2026-05-31T03:44:18.052" v="1437" actId="20577"/>
          <ac:spMkLst>
            <pc:docMk/>
            <pc:sldMk cId="0" sldId="379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79"/>
            <ac:spMk id="3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31T03:44:48.031" v="1438"/>
        <pc:sldMkLst>
          <pc:docMk/>
          <pc:sldMk cId="0" sldId="380"/>
        </pc:sldMkLst>
        <pc:spChg chg="mod">
          <ac:chgData name="Norbey Muñoz" userId="b7e811e8891ccd42" providerId="LiveId" clId="{2482167B-ADD3-4E68-AB8B-ADE9CECE27D0}" dt="2026-05-31T03:44:48.031" v="1438"/>
          <ac:spMkLst>
            <pc:docMk/>
            <pc:sldMk cId="0" sldId="380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80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80"/>
            <ac:spMk id="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80"/>
            <ac:spMk id="7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80"/>
            <ac:spMk id="8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31T03:45:27.440" v="1462" actId="1076"/>
        <pc:sldMkLst>
          <pc:docMk/>
          <pc:sldMk cId="0" sldId="381"/>
        </pc:sldMkLst>
        <pc:spChg chg="mod">
          <ac:chgData name="Norbey Muñoz" userId="b7e811e8891ccd42" providerId="LiveId" clId="{2482167B-ADD3-4E68-AB8B-ADE9CECE27D0}" dt="2026-05-31T03:44:59.144" v="1439"/>
          <ac:spMkLst>
            <pc:docMk/>
            <pc:sldMk cId="0" sldId="381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81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81"/>
            <ac:spMk id="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81"/>
            <ac:spMk id="7" creationId="{00000000-0000-0000-0000-000000000000}"/>
          </ac:spMkLst>
        </pc:spChg>
        <pc:spChg chg="mod">
          <ac:chgData name="Norbey Muñoz" userId="b7e811e8891ccd42" providerId="LiveId" clId="{2482167B-ADD3-4E68-AB8B-ADE9CECE27D0}" dt="2026-05-31T03:45:27.440" v="1462" actId="1076"/>
          <ac:spMkLst>
            <pc:docMk/>
            <pc:sldMk cId="0" sldId="381"/>
            <ac:spMk id="8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31T03:45:35.312" v="1463"/>
        <pc:sldMkLst>
          <pc:docMk/>
          <pc:sldMk cId="0" sldId="382"/>
        </pc:sldMkLst>
        <pc:spChg chg="mod">
          <ac:chgData name="Norbey Muñoz" userId="b7e811e8891ccd42" providerId="LiveId" clId="{2482167B-ADD3-4E68-AB8B-ADE9CECE27D0}" dt="2026-05-31T03:45:35.312" v="1463"/>
          <ac:spMkLst>
            <pc:docMk/>
            <pc:sldMk cId="0" sldId="382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82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82"/>
            <ac:spMk id="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82"/>
            <ac:spMk id="7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82"/>
            <ac:spMk id="8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27T12:33:04.328" v="1405" actId="20577"/>
        <pc:sldMkLst>
          <pc:docMk/>
          <pc:sldMk cId="0" sldId="383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83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27T12:33:04.328" v="1405" actId="20577"/>
          <ac:spMkLst>
            <pc:docMk/>
            <pc:sldMk cId="0" sldId="383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83"/>
            <ac:spMk id="5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31T03:52:57.821" v="1488" actId="1076"/>
        <pc:sldMkLst>
          <pc:docMk/>
          <pc:sldMk cId="0" sldId="384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84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31T03:48:31.767" v="1471" actId="20577"/>
          <ac:spMkLst>
            <pc:docMk/>
            <pc:sldMk cId="0" sldId="384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84"/>
            <ac:spMk id="4" creationId="{00000000-0000-0000-0000-000000000000}"/>
          </ac:spMkLst>
        </pc:spChg>
        <pc:spChg chg="mod">
          <ac:chgData name="Norbey Muñoz" userId="b7e811e8891ccd42" providerId="LiveId" clId="{2482167B-ADD3-4E68-AB8B-ADE9CECE27D0}" dt="2026-05-31T03:52:57.821" v="1488" actId="1076"/>
          <ac:spMkLst>
            <pc:docMk/>
            <pc:sldMk cId="0" sldId="384"/>
            <ac:spMk id="5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84"/>
            <ac:spMk id="6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84"/>
            <ac:spMk id="7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84"/>
            <ac:spMk id="8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84"/>
            <ac:spMk id="9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84"/>
            <ac:spMk id="10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84"/>
            <ac:spMk id="11" creationId="{00000000-0000-0000-0000-000000000000}"/>
          </ac:spMkLst>
        </pc:spChg>
      </pc:sldChg>
      <pc:sldChg chg="addSp delSp modSp mod">
        <pc:chgData name="Norbey Muñoz" userId="b7e811e8891ccd42" providerId="LiveId" clId="{2482167B-ADD3-4E68-AB8B-ADE9CECE27D0}" dt="2026-05-31T04:06:57.454" v="1546" actId="1076"/>
        <pc:sldMkLst>
          <pc:docMk/>
          <pc:sldMk cId="0" sldId="385"/>
        </pc:sldMkLst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385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385"/>
            <ac:spMk id="3" creationId="{00000000-0000-0000-0000-000000000000}"/>
          </ac:spMkLst>
        </pc:spChg>
        <pc:spChg chg="del mod">
          <ac:chgData name="Norbey Muñoz" userId="b7e811e8891ccd42" providerId="LiveId" clId="{2482167B-ADD3-4E68-AB8B-ADE9CECE27D0}" dt="2026-05-31T03:49:44.383" v="1472" actId="478"/>
          <ac:spMkLst>
            <pc:docMk/>
            <pc:sldMk cId="0" sldId="385"/>
            <ac:spMk id="4" creationId="{00000000-0000-0000-0000-000000000000}"/>
          </ac:spMkLst>
        </pc:spChg>
        <pc:spChg chg="del mod">
          <ac:chgData name="Norbey Muñoz" userId="b7e811e8891ccd42" providerId="LiveId" clId="{2482167B-ADD3-4E68-AB8B-ADE9CECE27D0}" dt="2026-05-31T03:49:44.383" v="1472" actId="478"/>
          <ac:spMkLst>
            <pc:docMk/>
            <pc:sldMk cId="0" sldId="385"/>
            <ac:spMk id="6" creationId="{00000000-0000-0000-0000-000000000000}"/>
          </ac:spMkLst>
        </pc:spChg>
        <pc:spChg chg="del mod">
          <ac:chgData name="Norbey Muñoz" userId="b7e811e8891ccd42" providerId="LiveId" clId="{2482167B-ADD3-4E68-AB8B-ADE9CECE27D0}" dt="2026-05-31T03:49:44.383" v="1472" actId="478"/>
          <ac:spMkLst>
            <pc:docMk/>
            <pc:sldMk cId="0" sldId="385"/>
            <ac:spMk id="7" creationId="{00000000-0000-0000-0000-000000000000}"/>
          </ac:spMkLst>
        </pc:spChg>
        <pc:spChg chg="del mod">
          <ac:chgData name="Norbey Muñoz" userId="b7e811e8891ccd42" providerId="LiveId" clId="{2482167B-ADD3-4E68-AB8B-ADE9CECE27D0}" dt="2026-05-31T03:49:44.383" v="1472" actId="478"/>
          <ac:spMkLst>
            <pc:docMk/>
            <pc:sldMk cId="0" sldId="385"/>
            <ac:spMk id="8" creationId="{00000000-0000-0000-0000-000000000000}"/>
          </ac:spMkLst>
        </pc:spChg>
        <pc:spChg chg="del">
          <ac:chgData name="Norbey Muñoz" userId="b7e811e8891ccd42" providerId="LiveId" clId="{2482167B-ADD3-4E68-AB8B-ADE9CECE27D0}" dt="2026-05-31T03:49:44.383" v="1472" actId="478"/>
          <ac:spMkLst>
            <pc:docMk/>
            <pc:sldMk cId="0" sldId="385"/>
            <ac:spMk id="11" creationId="{00000000-0000-0000-0000-000000000000}"/>
          </ac:spMkLst>
        </pc:spChg>
        <pc:spChg chg="del mod">
          <ac:chgData name="Norbey Muñoz" userId="b7e811e8891ccd42" providerId="LiveId" clId="{2482167B-ADD3-4E68-AB8B-ADE9CECE27D0}" dt="2026-05-31T03:49:44.383" v="1472" actId="478"/>
          <ac:spMkLst>
            <pc:docMk/>
            <pc:sldMk cId="0" sldId="385"/>
            <ac:spMk id="13" creationId="{00000000-0000-0000-0000-000000000000}"/>
          </ac:spMkLst>
        </pc:spChg>
        <pc:spChg chg="del mod">
          <ac:chgData name="Norbey Muñoz" userId="b7e811e8891ccd42" providerId="LiveId" clId="{2482167B-ADD3-4E68-AB8B-ADE9CECE27D0}" dt="2026-05-31T03:49:44.383" v="1472" actId="478"/>
          <ac:spMkLst>
            <pc:docMk/>
            <pc:sldMk cId="0" sldId="385"/>
            <ac:spMk id="14" creationId="{00000000-0000-0000-0000-000000000000}"/>
          </ac:spMkLst>
        </pc:spChg>
        <pc:spChg chg="del mod">
          <ac:chgData name="Norbey Muñoz" userId="b7e811e8891ccd42" providerId="LiveId" clId="{2482167B-ADD3-4E68-AB8B-ADE9CECE27D0}" dt="2026-05-31T03:49:44.383" v="1472" actId="478"/>
          <ac:spMkLst>
            <pc:docMk/>
            <pc:sldMk cId="0" sldId="385"/>
            <ac:spMk id="15" creationId="{00000000-0000-0000-0000-000000000000}"/>
          </ac:spMkLst>
        </pc:spChg>
        <pc:spChg chg="del mod">
          <ac:chgData name="Norbey Muñoz" userId="b7e811e8891ccd42" providerId="LiveId" clId="{2482167B-ADD3-4E68-AB8B-ADE9CECE27D0}" dt="2026-05-31T03:49:44.383" v="1472" actId="478"/>
          <ac:spMkLst>
            <pc:docMk/>
            <pc:sldMk cId="0" sldId="385"/>
            <ac:spMk id="16" creationId="{00000000-0000-0000-0000-000000000000}"/>
          </ac:spMkLst>
        </pc:spChg>
        <pc:spChg chg="del mod">
          <ac:chgData name="Norbey Muñoz" userId="b7e811e8891ccd42" providerId="LiveId" clId="{2482167B-ADD3-4E68-AB8B-ADE9CECE27D0}" dt="2026-05-31T03:49:44.383" v="1472" actId="478"/>
          <ac:spMkLst>
            <pc:docMk/>
            <pc:sldMk cId="0" sldId="385"/>
            <ac:spMk id="17" creationId="{00000000-0000-0000-0000-000000000000}"/>
          </ac:spMkLst>
        </pc:spChg>
        <pc:spChg chg="add del">
          <ac:chgData name="Norbey Muñoz" userId="b7e811e8891ccd42" providerId="LiveId" clId="{2482167B-ADD3-4E68-AB8B-ADE9CECE27D0}" dt="2026-05-31T03:49:55.632" v="1474" actId="22"/>
          <ac:spMkLst>
            <pc:docMk/>
            <pc:sldMk cId="0" sldId="385"/>
            <ac:spMk id="21" creationId="{5B347A49-0DDB-892C-9254-F4D857162792}"/>
          </ac:spMkLst>
        </pc:spChg>
        <pc:spChg chg="add">
          <ac:chgData name="Norbey Muñoz" userId="b7e811e8891ccd42" providerId="LiveId" clId="{2482167B-ADD3-4E68-AB8B-ADE9CECE27D0}" dt="2026-05-31T03:50:11.597" v="1475"/>
          <ac:spMkLst>
            <pc:docMk/>
            <pc:sldMk cId="0" sldId="385"/>
            <ac:spMk id="22" creationId="{E78AFAA4-1DA8-FC97-8599-70B580E46888}"/>
          </ac:spMkLst>
        </pc:spChg>
        <pc:spChg chg="add">
          <ac:chgData name="Norbey Muñoz" userId="b7e811e8891ccd42" providerId="LiveId" clId="{2482167B-ADD3-4E68-AB8B-ADE9CECE27D0}" dt="2026-05-31T03:50:11.597" v="1475"/>
          <ac:spMkLst>
            <pc:docMk/>
            <pc:sldMk cId="0" sldId="385"/>
            <ac:spMk id="23" creationId="{A01467F1-534A-E3A0-057F-7EB9DA541EEC}"/>
          </ac:spMkLst>
        </pc:spChg>
        <pc:spChg chg="add">
          <ac:chgData name="Norbey Muñoz" userId="b7e811e8891ccd42" providerId="LiveId" clId="{2482167B-ADD3-4E68-AB8B-ADE9CECE27D0}" dt="2026-05-31T03:50:11.597" v="1475"/>
          <ac:spMkLst>
            <pc:docMk/>
            <pc:sldMk cId="0" sldId="385"/>
            <ac:spMk id="24" creationId="{A328C57D-58DF-9CD3-C22E-0D09175267A3}"/>
          </ac:spMkLst>
        </pc:spChg>
        <pc:spChg chg="add">
          <ac:chgData name="Norbey Muñoz" userId="b7e811e8891ccd42" providerId="LiveId" clId="{2482167B-ADD3-4E68-AB8B-ADE9CECE27D0}" dt="2026-05-31T03:50:11.597" v="1475"/>
          <ac:spMkLst>
            <pc:docMk/>
            <pc:sldMk cId="0" sldId="385"/>
            <ac:spMk id="25" creationId="{2BCE43C5-BE48-5105-4DDB-FF4B55722742}"/>
          </ac:spMkLst>
        </pc:spChg>
        <pc:spChg chg="add">
          <ac:chgData name="Norbey Muñoz" userId="b7e811e8891ccd42" providerId="LiveId" clId="{2482167B-ADD3-4E68-AB8B-ADE9CECE27D0}" dt="2026-05-31T03:50:11.597" v="1475"/>
          <ac:spMkLst>
            <pc:docMk/>
            <pc:sldMk cId="0" sldId="385"/>
            <ac:spMk id="26" creationId="{04E04AFE-9491-CBD2-20E7-10EBED45E6C9}"/>
          </ac:spMkLst>
        </pc:spChg>
        <pc:spChg chg="add">
          <ac:chgData name="Norbey Muñoz" userId="b7e811e8891ccd42" providerId="LiveId" clId="{2482167B-ADD3-4E68-AB8B-ADE9CECE27D0}" dt="2026-05-31T03:50:11.597" v="1475"/>
          <ac:spMkLst>
            <pc:docMk/>
            <pc:sldMk cId="0" sldId="385"/>
            <ac:spMk id="27" creationId="{DB50FA71-7539-8FD8-A3E2-99456EB6B5D1}"/>
          </ac:spMkLst>
        </pc:spChg>
        <pc:spChg chg="add">
          <ac:chgData name="Norbey Muñoz" userId="b7e811e8891ccd42" providerId="LiveId" clId="{2482167B-ADD3-4E68-AB8B-ADE9CECE27D0}" dt="2026-05-31T03:50:11.597" v="1475"/>
          <ac:spMkLst>
            <pc:docMk/>
            <pc:sldMk cId="0" sldId="385"/>
            <ac:spMk id="28" creationId="{325D304D-E6C9-D27D-A379-C7BE1ACA006E}"/>
          </ac:spMkLst>
        </pc:spChg>
        <pc:spChg chg="add">
          <ac:chgData name="Norbey Muñoz" userId="b7e811e8891ccd42" providerId="LiveId" clId="{2482167B-ADD3-4E68-AB8B-ADE9CECE27D0}" dt="2026-05-31T03:50:11.597" v="1475"/>
          <ac:spMkLst>
            <pc:docMk/>
            <pc:sldMk cId="0" sldId="385"/>
            <ac:spMk id="29" creationId="{534EE50D-9A1E-D140-67B1-15C1C201D332}"/>
          </ac:spMkLst>
        </pc:spChg>
        <pc:spChg chg="add">
          <ac:chgData name="Norbey Muñoz" userId="b7e811e8891ccd42" providerId="LiveId" clId="{2482167B-ADD3-4E68-AB8B-ADE9CECE27D0}" dt="2026-05-31T03:50:11.597" v="1475"/>
          <ac:spMkLst>
            <pc:docMk/>
            <pc:sldMk cId="0" sldId="385"/>
            <ac:spMk id="30" creationId="{9591F169-F9E6-70A2-FA31-49EF22805A7A}"/>
          </ac:spMkLst>
        </pc:spChg>
        <pc:spChg chg="add del mod">
          <ac:chgData name="Norbey Muñoz" userId="b7e811e8891ccd42" providerId="LiveId" clId="{2482167B-ADD3-4E68-AB8B-ADE9CECE27D0}" dt="2026-05-31T03:51:22.483" v="1484" actId="478"/>
          <ac:spMkLst>
            <pc:docMk/>
            <pc:sldMk cId="0" sldId="385"/>
            <ac:spMk id="31" creationId="{E10D97E2-15E4-2402-2751-A4D30B480735}"/>
          </ac:spMkLst>
        </pc:spChg>
        <pc:picChg chg="add mod">
          <ac:chgData name="Norbey Muñoz" userId="b7e811e8891ccd42" providerId="LiveId" clId="{2482167B-ADD3-4E68-AB8B-ADE9CECE27D0}" dt="2026-05-31T04:06:57.454" v="1546" actId="1076"/>
          <ac:picMkLst>
            <pc:docMk/>
            <pc:sldMk cId="0" sldId="385"/>
            <ac:picMk id="33" creationId="{FCAFB5F9-6471-5BCD-3900-77F4984CE7DD}"/>
          </ac:picMkLst>
        </pc:picChg>
        <pc:picChg chg="add">
          <ac:chgData name="Norbey Muñoz" userId="b7e811e8891ccd42" providerId="LiveId" clId="{2482167B-ADD3-4E68-AB8B-ADE9CECE27D0}" dt="2026-05-31T04:04:23.647" v="1544"/>
          <ac:picMkLst>
            <pc:docMk/>
            <pc:sldMk cId="0" sldId="385"/>
            <ac:picMk id="1035" creationId="{309C7FE6-926B-0EB6-9021-1706606E7CE4}"/>
          </ac:picMkLst>
        </pc:picChg>
      </pc:sldChg>
      <pc:sldChg chg="delSp modSp mod">
        <pc:chgData name="Norbey Muñoz" userId="b7e811e8891ccd42" providerId="LiveId" clId="{2482167B-ADD3-4E68-AB8B-ADE9CECE27D0}" dt="2026-05-31T03:52:28.190" v="1487" actId="20577"/>
        <pc:sldMkLst>
          <pc:docMk/>
          <pc:sldMk cId="0" sldId="386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86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31T03:52:28.190" v="1487" actId="20577"/>
          <ac:spMkLst>
            <pc:docMk/>
            <pc:sldMk cId="0" sldId="386"/>
            <ac:spMk id="4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86"/>
            <ac:spMk id="5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386"/>
            <ac:spMk id="9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86"/>
            <ac:spMk id="10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386"/>
            <ac:spMk id="11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86"/>
            <ac:spMk id="13" creationId="{00000000-0000-0000-0000-000000000000}"/>
          </ac:spMkLst>
        </pc:spChg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86"/>
            <ac:spMk id="15" creationId="{00000000-0000-0000-0000-000000000000}"/>
          </ac:spMkLst>
        </pc:spChg>
        <pc:spChg chg="mod">
          <ac:chgData name="Norbey Muñoz" userId="b7e811e8891ccd42" providerId="LiveId" clId="{2482167B-ADD3-4E68-AB8B-ADE9CECE27D0}" dt="2026-05-13T03:07:30.873" v="9" actId="790"/>
          <ac:spMkLst>
            <pc:docMk/>
            <pc:sldMk cId="0" sldId="386"/>
            <ac:spMk id="16" creationId="{00000000-0000-0000-0000-000000000000}"/>
          </ac:spMkLst>
        </pc:spChg>
        <pc:spChg chg="del mod">
          <ac:chgData name="Norbey Muñoz" userId="b7e811e8891ccd42" providerId="LiveId" clId="{2482167B-ADD3-4E68-AB8B-ADE9CECE27D0}" dt="2026-05-31T03:52:16.610" v="1485" actId="478"/>
          <ac:spMkLst>
            <pc:docMk/>
            <pc:sldMk cId="0" sldId="386"/>
            <ac:spMk id="18" creationId="{00000000-0000-0000-0000-000000000000}"/>
          </ac:spMkLst>
        </pc:spChg>
        <pc:spChg chg="del mod">
          <ac:chgData name="Norbey Muñoz" userId="b7e811e8891ccd42" providerId="LiveId" clId="{2482167B-ADD3-4E68-AB8B-ADE9CECE27D0}" dt="2026-05-31T03:52:16.610" v="1485" actId="478"/>
          <ac:spMkLst>
            <pc:docMk/>
            <pc:sldMk cId="0" sldId="386"/>
            <ac:spMk id="19" creationId="{00000000-0000-0000-0000-000000000000}"/>
          </ac:spMkLst>
        </pc:spChg>
        <pc:spChg chg="del">
          <ac:chgData name="Norbey Muñoz" userId="b7e811e8891ccd42" providerId="LiveId" clId="{2482167B-ADD3-4E68-AB8B-ADE9CECE27D0}" dt="2026-05-31T03:52:16.610" v="1485" actId="478"/>
          <ac:spMkLst>
            <pc:docMk/>
            <pc:sldMk cId="0" sldId="386"/>
            <ac:spMk id="20" creationId="{00000000-0000-0000-0000-000000000000}"/>
          </ac:spMkLst>
        </pc:spChg>
        <pc:spChg chg="del mod">
          <ac:chgData name="Norbey Muñoz" userId="b7e811e8891ccd42" providerId="LiveId" clId="{2482167B-ADD3-4E68-AB8B-ADE9CECE27D0}" dt="2026-05-31T03:52:16.610" v="1485" actId="478"/>
          <ac:spMkLst>
            <pc:docMk/>
            <pc:sldMk cId="0" sldId="386"/>
            <ac:spMk id="21" creationId="{00000000-0000-0000-0000-000000000000}"/>
          </ac:spMkLst>
        </pc:spChg>
        <pc:spChg chg="del mod">
          <ac:chgData name="Norbey Muñoz" userId="b7e811e8891ccd42" providerId="LiveId" clId="{2482167B-ADD3-4E68-AB8B-ADE9CECE27D0}" dt="2026-05-31T03:52:21.974" v="1486" actId="478"/>
          <ac:spMkLst>
            <pc:docMk/>
            <pc:sldMk cId="0" sldId="386"/>
            <ac:spMk id="22" creationId="{00000000-0000-0000-0000-000000000000}"/>
          </ac:spMkLst>
        </pc:spChg>
        <pc:spChg chg="del mod">
          <ac:chgData name="Norbey Muñoz" userId="b7e811e8891ccd42" providerId="LiveId" clId="{2482167B-ADD3-4E68-AB8B-ADE9CECE27D0}" dt="2026-05-31T03:52:16.610" v="1485" actId="478"/>
          <ac:spMkLst>
            <pc:docMk/>
            <pc:sldMk cId="0" sldId="386"/>
            <ac:spMk id="23" creationId="{00000000-0000-0000-0000-000000000000}"/>
          </ac:spMkLst>
        </pc:spChg>
        <pc:spChg chg="del mod">
          <ac:chgData name="Norbey Muñoz" userId="b7e811e8891ccd42" providerId="LiveId" clId="{2482167B-ADD3-4E68-AB8B-ADE9CECE27D0}" dt="2026-05-31T03:52:16.610" v="1485" actId="478"/>
          <ac:spMkLst>
            <pc:docMk/>
            <pc:sldMk cId="0" sldId="386"/>
            <ac:spMk id="24" creationId="{00000000-0000-0000-0000-000000000000}"/>
          </ac:spMkLst>
        </pc:spChg>
        <pc:spChg chg="del">
          <ac:chgData name="Norbey Muñoz" userId="b7e811e8891ccd42" providerId="LiveId" clId="{2482167B-ADD3-4E68-AB8B-ADE9CECE27D0}" dt="2026-05-31T03:52:16.610" v="1485" actId="478"/>
          <ac:spMkLst>
            <pc:docMk/>
            <pc:sldMk cId="0" sldId="386"/>
            <ac:spMk id="25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5-31T03:53:41.477" v="1491" actId="20577"/>
        <pc:sldMkLst>
          <pc:docMk/>
          <pc:sldMk cId="0" sldId="387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87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31T03:53:41.477" v="1491" actId="20577"/>
          <ac:spMkLst>
            <pc:docMk/>
            <pc:sldMk cId="0" sldId="387"/>
            <ac:spMk id="3" creationId="{00000000-0000-0000-0000-000000000000}"/>
          </ac:spMkLst>
        </pc:spChg>
      </pc:sldChg>
      <pc:sldChg chg="modSp del mod">
        <pc:chgData name="Norbey Muñoz" userId="b7e811e8891ccd42" providerId="LiveId" clId="{2482167B-ADD3-4E68-AB8B-ADE9CECE27D0}" dt="2026-05-31T04:07:16.252" v="1547" actId="47"/>
        <pc:sldMkLst>
          <pc:docMk/>
          <pc:sldMk cId="0" sldId="388"/>
        </pc:sldMkLst>
      </pc:sldChg>
      <pc:sldChg chg="modSp del mod">
        <pc:chgData name="Norbey Muñoz" userId="b7e811e8891ccd42" providerId="LiveId" clId="{2482167B-ADD3-4E68-AB8B-ADE9CECE27D0}" dt="2026-05-31T04:07:23.214" v="1548" actId="47"/>
        <pc:sldMkLst>
          <pc:docMk/>
          <pc:sldMk cId="0" sldId="389"/>
        </pc:sldMkLst>
      </pc:sldChg>
      <pc:sldChg chg="modSp del mod">
        <pc:chgData name="Norbey Muñoz" userId="b7e811e8891ccd42" providerId="LiveId" clId="{2482167B-ADD3-4E68-AB8B-ADE9CECE27D0}" dt="2026-05-31T04:07:24.042" v="1549" actId="47"/>
        <pc:sldMkLst>
          <pc:docMk/>
          <pc:sldMk cId="0" sldId="390"/>
        </pc:sldMkLst>
      </pc:sldChg>
      <pc:sldChg chg="modSp mod">
        <pc:chgData name="Norbey Muñoz" userId="b7e811e8891ccd42" providerId="LiveId" clId="{2482167B-ADD3-4E68-AB8B-ADE9CECE27D0}" dt="2026-05-31T04:07:54.072" v="1558" actId="1076"/>
        <pc:sldMkLst>
          <pc:docMk/>
          <pc:sldMk cId="0" sldId="391"/>
        </pc:sldMkLst>
        <pc:spChg chg="mod">
          <ac:chgData name="Norbey Muñoz" userId="b7e811e8891ccd42" providerId="LiveId" clId="{2482167B-ADD3-4E68-AB8B-ADE9CECE27D0}" dt="2026-05-13T12:42:43.501" v="542" actId="790"/>
          <ac:spMkLst>
            <pc:docMk/>
            <pc:sldMk cId="0" sldId="391"/>
            <ac:spMk id="2" creationId="{00000000-0000-0000-0000-000000000000}"/>
          </ac:spMkLst>
        </pc:spChg>
        <pc:spChg chg="mod">
          <ac:chgData name="Norbey Muñoz" userId="b7e811e8891ccd42" providerId="LiveId" clId="{2482167B-ADD3-4E68-AB8B-ADE9CECE27D0}" dt="2026-05-31T04:07:30.152" v="1551" actId="14100"/>
          <ac:spMkLst>
            <pc:docMk/>
            <pc:sldMk cId="0" sldId="391"/>
            <ac:spMk id="3" creationId="{00000000-0000-0000-0000-000000000000}"/>
          </ac:spMkLst>
        </pc:spChg>
        <pc:spChg chg="mod">
          <ac:chgData name="Norbey Muñoz" userId="b7e811e8891ccd42" providerId="LiveId" clId="{2482167B-ADD3-4E68-AB8B-ADE9CECE27D0}" dt="2026-05-31T04:07:50.040" v="1557" actId="1076"/>
          <ac:spMkLst>
            <pc:docMk/>
            <pc:sldMk cId="0" sldId="391"/>
            <ac:spMk id="4" creationId="{00000000-0000-0000-0000-000000000000}"/>
          </ac:spMkLst>
        </pc:spChg>
        <pc:picChg chg="mod">
          <ac:chgData name="Norbey Muñoz" userId="b7e811e8891ccd42" providerId="LiveId" clId="{2482167B-ADD3-4E68-AB8B-ADE9CECE27D0}" dt="2026-05-31T04:07:54.072" v="1558" actId="1076"/>
          <ac:picMkLst>
            <pc:docMk/>
            <pc:sldMk cId="0" sldId="391"/>
            <ac:picMk id="5" creationId="{00000000-0000-0000-0000-000000000000}"/>
          </ac:picMkLst>
        </pc:picChg>
      </pc:sldChg>
      <pc:sldChg chg="addSp delSp modSp add mod">
        <pc:chgData name="Norbey Muñoz" userId="b7e811e8891ccd42" providerId="LiveId" clId="{2482167B-ADD3-4E68-AB8B-ADE9CECE27D0}" dt="2026-05-13T13:10:51.475" v="955" actId="20577"/>
        <pc:sldMkLst>
          <pc:docMk/>
          <pc:sldMk cId="621229095" sldId="394"/>
        </pc:sldMkLst>
        <pc:spChg chg="mod">
          <ac:chgData name="Norbey Muñoz" userId="b7e811e8891ccd42" providerId="LiveId" clId="{2482167B-ADD3-4E68-AB8B-ADE9CECE27D0}" dt="2026-05-13T13:10:51.475" v="955" actId="20577"/>
          <ac:spMkLst>
            <pc:docMk/>
            <pc:sldMk cId="621229095" sldId="394"/>
            <ac:spMk id="3" creationId="{AA0EC20E-1933-397F-EF75-400E32AC0105}"/>
          </ac:spMkLst>
        </pc:spChg>
        <pc:picChg chg="add mod">
          <ac:chgData name="Norbey Muñoz" userId="b7e811e8891ccd42" providerId="LiveId" clId="{2482167B-ADD3-4E68-AB8B-ADE9CECE27D0}" dt="2026-05-13T12:50:24.810" v="713" actId="1076"/>
          <ac:picMkLst>
            <pc:docMk/>
            <pc:sldMk cId="621229095" sldId="394"/>
            <ac:picMk id="11" creationId="{2844E555-AABA-533C-2590-F1DA35DD0712}"/>
          </ac:picMkLst>
        </pc:picChg>
      </pc:sldChg>
      <pc:sldChg chg="addSp delSp modSp add mod">
        <pc:chgData name="Norbey Muñoz" userId="b7e811e8891ccd42" providerId="LiveId" clId="{2482167B-ADD3-4E68-AB8B-ADE9CECE27D0}" dt="2026-05-13T13:11:34.075" v="960" actId="20577"/>
        <pc:sldMkLst>
          <pc:docMk/>
          <pc:sldMk cId="1003896785" sldId="395"/>
        </pc:sldMkLst>
        <pc:spChg chg="mod">
          <ac:chgData name="Norbey Muñoz" userId="b7e811e8891ccd42" providerId="LiveId" clId="{2482167B-ADD3-4E68-AB8B-ADE9CECE27D0}" dt="2026-05-13T13:11:34.075" v="960" actId="20577"/>
          <ac:spMkLst>
            <pc:docMk/>
            <pc:sldMk cId="1003896785" sldId="395"/>
            <ac:spMk id="3" creationId="{ED328897-2C13-601C-CEBA-DF0B6300EC2A}"/>
          </ac:spMkLst>
        </pc:spChg>
        <pc:picChg chg="add mod">
          <ac:chgData name="Norbey Muñoz" userId="b7e811e8891ccd42" providerId="LiveId" clId="{2482167B-ADD3-4E68-AB8B-ADE9CECE27D0}" dt="2026-05-13T12:50:59.546" v="723" actId="1076"/>
          <ac:picMkLst>
            <pc:docMk/>
            <pc:sldMk cId="1003896785" sldId="395"/>
            <ac:picMk id="2" creationId="{0DB082CE-A42F-F511-D7D6-BD15FAF020EC}"/>
          </ac:picMkLst>
        </pc:picChg>
      </pc:sldChg>
      <pc:sldChg chg="delSp modSp add mod setBg delDesignElem">
        <pc:chgData name="Norbey Muñoz" userId="b7e811e8891ccd42" providerId="LiveId" clId="{2482167B-ADD3-4E68-AB8B-ADE9CECE27D0}" dt="2026-05-27T11:46:35.587" v="1255" actId="20577"/>
        <pc:sldMkLst>
          <pc:docMk/>
          <pc:sldMk cId="1778672318" sldId="441"/>
        </pc:sldMkLst>
        <pc:spChg chg="mod">
          <ac:chgData name="Norbey Muñoz" userId="b7e811e8891ccd42" providerId="LiveId" clId="{2482167B-ADD3-4E68-AB8B-ADE9CECE27D0}" dt="2026-05-27T11:45:28.610" v="1226" actId="207"/>
          <ac:spMkLst>
            <pc:docMk/>
            <pc:sldMk cId="1778672318" sldId="441"/>
            <ac:spMk id="2" creationId="{3212EFBC-C9A5-454D-8C1C-1909C4D9448F}"/>
          </ac:spMkLst>
        </pc:spChg>
        <pc:graphicFrameChg chg="modGraphic">
          <ac:chgData name="Norbey Muñoz" userId="b7e811e8891ccd42" providerId="LiveId" clId="{2482167B-ADD3-4E68-AB8B-ADE9CECE27D0}" dt="2026-05-27T11:46:35.587" v="1255" actId="20577"/>
          <ac:graphicFrameMkLst>
            <pc:docMk/>
            <pc:sldMk cId="1778672318" sldId="441"/>
            <ac:graphicFrameMk id="5" creationId="{2A711094-BCE0-43AE-B897-D65FBDC8CAD9}"/>
          </ac:graphicFrameMkLst>
        </pc:graphicFrameChg>
      </pc:sldChg>
      <pc:sldChg chg="add">
        <pc:chgData name="Norbey Muñoz" userId="b7e811e8891ccd42" providerId="LiveId" clId="{2482167B-ADD3-4E68-AB8B-ADE9CECE27D0}" dt="2026-05-27T04:18:32.714" v="1178"/>
        <pc:sldMkLst>
          <pc:docMk/>
          <pc:sldMk cId="1895881443" sldId="464"/>
        </pc:sldMkLst>
      </pc:sldChg>
      <pc:sldChg chg="addSp delSp modSp add del mod setBg delDesignElem">
        <pc:chgData name="Norbey Muñoz" userId="b7e811e8891ccd42" providerId="LiveId" clId="{2482167B-ADD3-4E68-AB8B-ADE9CECE27D0}" dt="2026-05-27T11:49:26.429" v="1271" actId="113"/>
        <pc:sldMkLst>
          <pc:docMk/>
          <pc:sldMk cId="2426043750" sldId="465"/>
        </pc:sldMkLst>
        <pc:spChg chg="mod">
          <ac:chgData name="Norbey Muñoz" userId="b7e811e8891ccd42" providerId="LiveId" clId="{2482167B-ADD3-4E68-AB8B-ADE9CECE27D0}" dt="2026-05-27T11:49:26.429" v="1271" actId="113"/>
          <ac:spMkLst>
            <pc:docMk/>
            <pc:sldMk cId="2426043750" sldId="465"/>
            <ac:spMk id="3" creationId="{AFA0E3FD-1646-4589-8431-0062AA12362C}"/>
          </ac:spMkLst>
        </pc:spChg>
        <pc:spChg chg="add del">
          <ac:chgData name="Norbey Muñoz" userId="b7e811e8891ccd42" providerId="LiveId" clId="{2482167B-ADD3-4E68-AB8B-ADE9CECE27D0}" dt="2026-05-27T11:47:46.677" v="1263"/>
          <ac:spMkLst>
            <pc:docMk/>
            <pc:sldMk cId="2426043750" sldId="465"/>
            <ac:spMk id="8" creationId="{15911E3A-C35B-4EF7-A355-B84E9A14AF4D}"/>
          </ac:spMkLst>
        </pc:spChg>
        <pc:grpChg chg="add del">
          <ac:chgData name="Norbey Muñoz" userId="b7e811e8891ccd42" providerId="LiveId" clId="{2482167B-ADD3-4E68-AB8B-ADE9CECE27D0}" dt="2026-05-27T11:47:46.677" v="1263"/>
          <ac:grpSpMkLst>
            <pc:docMk/>
            <pc:sldMk cId="2426043750" sldId="465"/>
            <ac:grpSpMk id="10" creationId="{E21ADB3D-AD65-44B4-847D-5E90E90A5D16}"/>
          </ac:grpSpMkLst>
        </pc:grpChg>
        <pc:grpChg chg="add del">
          <ac:chgData name="Norbey Muñoz" userId="b7e811e8891ccd42" providerId="LiveId" clId="{2482167B-ADD3-4E68-AB8B-ADE9CECE27D0}" dt="2026-05-27T11:47:46.677" v="1263"/>
          <ac:grpSpMkLst>
            <pc:docMk/>
            <pc:sldMk cId="2426043750" sldId="465"/>
            <ac:grpSpMk id="33" creationId="{5F8A7F7F-DD1A-4F41-98AC-B9CE2A620CDC}"/>
          </ac:grpSpMkLst>
        </pc:grpChg>
      </pc:sldChg>
      <pc:sldChg chg="modSp add del mod ord">
        <pc:chgData name="Norbey Muñoz" userId="b7e811e8891ccd42" providerId="LiveId" clId="{2482167B-ADD3-4E68-AB8B-ADE9CECE27D0}" dt="2026-05-31T04:26:26.767" v="1586" actId="2696"/>
        <pc:sldMkLst>
          <pc:docMk/>
          <pc:sldMk cId="3749431077" sldId="472"/>
        </pc:sldMkLst>
        <pc:spChg chg="mod">
          <ac:chgData name="Norbey Muñoz" userId="b7e811e8891ccd42" providerId="LiveId" clId="{2482167B-ADD3-4E68-AB8B-ADE9CECE27D0}" dt="2026-05-31T04:24:29.010" v="1585" actId="790"/>
          <ac:spMkLst>
            <pc:docMk/>
            <pc:sldMk cId="3749431077" sldId="472"/>
            <ac:spMk id="3" creationId="{0441F7A7-E431-44B5-BE39-DB3525D577D9}"/>
          </ac:spMkLst>
        </pc:spChg>
        <pc:spChg chg="mod">
          <ac:chgData name="Norbey Muñoz" userId="b7e811e8891ccd42" providerId="LiveId" clId="{2482167B-ADD3-4E68-AB8B-ADE9CECE27D0}" dt="2026-05-31T04:24:29.010" v="1585" actId="790"/>
          <ac:spMkLst>
            <pc:docMk/>
            <pc:sldMk cId="3749431077" sldId="472"/>
            <ac:spMk id="4" creationId="{FE525038-B2B3-40D6-A47F-F6E846DB6A6F}"/>
          </ac:spMkLst>
        </pc:spChg>
        <pc:spChg chg="mod">
          <ac:chgData name="Norbey Muñoz" userId="b7e811e8891ccd42" providerId="LiveId" clId="{2482167B-ADD3-4E68-AB8B-ADE9CECE27D0}" dt="2026-05-31T04:24:29.010" v="1585" actId="790"/>
          <ac:spMkLst>
            <pc:docMk/>
            <pc:sldMk cId="3749431077" sldId="472"/>
            <ac:spMk id="13" creationId="{AFA67CD3-AB4E-4A7A-BEB8-53C445D8C44E}"/>
          </ac:spMkLst>
        </pc:spChg>
        <pc:spChg chg="mod">
          <ac:chgData name="Norbey Muñoz" userId="b7e811e8891ccd42" providerId="LiveId" clId="{2482167B-ADD3-4E68-AB8B-ADE9CECE27D0}" dt="2026-05-31T04:24:29.010" v="1585" actId="790"/>
          <ac:spMkLst>
            <pc:docMk/>
            <pc:sldMk cId="3749431077" sldId="472"/>
            <ac:spMk id="17" creationId="{339C8D78-A644-462F-B674-F440635E5353}"/>
          </ac:spMkLst>
        </pc:spChg>
      </pc:sldChg>
      <pc:sldChg chg="addSp delSp modSp add del mod setBg delDesignElem">
        <pc:chgData name="Norbey Muñoz" userId="b7e811e8891ccd42" providerId="LiveId" clId="{2482167B-ADD3-4E68-AB8B-ADE9CECE27D0}" dt="2026-05-27T11:49:10.628" v="1269" actId="20577"/>
        <pc:sldMkLst>
          <pc:docMk/>
          <pc:sldMk cId="4266413528" sldId="474"/>
        </pc:sldMkLst>
        <pc:spChg chg="mod">
          <ac:chgData name="Norbey Muñoz" userId="b7e811e8891ccd42" providerId="LiveId" clId="{2482167B-ADD3-4E68-AB8B-ADE9CECE27D0}" dt="2026-05-27T11:49:10.628" v="1269" actId="20577"/>
          <ac:spMkLst>
            <pc:docMk/>
            <pc:sldMk cId="4266413528" sldId="474"/>
            <ac:spMk id="5" creationId="{61C7CB68-65A4-4BC4-A579-7BB1E6BAC12E}"/>
          </ac:spMkLst>
        </pc:spChg>
        <pc:spChg chg="add del">
          <ac:chgData name="Norbey Muñoz" userId="b7e811e8891ccd42" providerId="LiveId" clId="{2482167B-ADD3-4E68-AB8B-ADE9CECE27D0}" dt="2026-05-27T11:47:46.677" v="1263"/>
          <ac:spMkLst>
            <pc:docMk/>
            <pc:sldMk cId="4266413528" sldId="474"/>
            <ac:spMk id="10" creationId="{4038CB10-1F5C-4D54-9DF7-12586DE5B007}"/>
          </ac:spMkLst>
        </pc:spChg>
        <pc:spChg chg="add del">
          <ac:chgData name="Norbey Muñoz" userId="b7e811e8891ccd42" providerId="LiveId" clId="{2482167B-ADD3-4E68-AB8B-ADE9CECE27D0}" dt="2026-05-27T11:47:46.677" v="1263"/>
          <ac:spMkLst>
            <pc:docMk/>
            <pc:sldMk cId="4266413528" sldId="474"/>
            <ac:spMk id="12" creationId="{73ED6512-6858-4552-B699-9A97FE9A4EA2}"/>
          </ac:spMkLst>
        </pc:spChg>
      </pc:sldChg>
      <pc:sldChg chg="modSp add del mod">
        <pc:chgData name="Norbey Muñoz" userId="b7e811e8891ccd42" providerId="LiveId" clId="{2482167B-ADD3-4E68-AB8B-ADE9CECE27D0}" dt="2026-05-13T13:09:05.392" v="897" actId="123"/>
        <pc:sldMkLst>
          <pc:docMk/>
          <pc:sldMk cId="1193085073" sldId="482"/>
        </pc:sldMkLst>
        <pc:spChg chg="mod">
          <ac:chgData name="Norbey Muñoz" userId="b7e811e8891ccd42" providerId="LiveId" clId="{2482167B-ADD3-4E68-AB8B-ADE9CECE27D0}" dt="2026-05-13T13:08:59.532" v="896" actId="1076"/>
          <ac:spMkLst>
            <pc:docMk/>
            <pc:sldMk cId="1193085073" sldId="482"/>
            <ac:spMk id="2" creationId="{4BAE2357-29FE-4DE4-B70A-E1A600A95987}"/>
          </ac:spMkLst>
        </pc:spChg>
        <pc:graphicFrameChg chg="mod">
          <ac:chgData name="Norbey Muñoz" userId="b7e811e8891ccd42" providerId="LiveId" clId="{2482167B-ADD3-4E68-AB8B-ADE9CECE27D0}" dt="2026-05-13T13:09:05.392" v="897" actId="123"/>
          <ac:graphicFrameMkLst>
            <pc:docMk/>
            <pc:sldMk cId="1193085073" sldId="482"/>
            <ac:graphicFrameMk id="5" creationId="{2D20A1D7-999C-4412-B7AA-45A3AD25015E}"/>
          </ac:graphicFrameMkLst>
        </pc:graphicFrameChg>
      </pc:sldChg>
      <pc:sldChg chg="modSp add mod">
        <pc:chgData name="Norbey Muñoz" userId="b7e811e8891ccd42" providerId="LiveId" clId="{2482167B-ADD3-4E68-AB8B-ADE9CECE27D0}" dt="2026-05-27T04:18:41.590" v="1179" actId="207"/>
        <pc:sldMkLst>
          <pc:docMk/>
          <pc:sldMk cId="366784065" sldId="487"/>
        </pc:sldMkLst>
        <pc:spChg chg="mod">
          <ac:chgData name="Norbey Muñoz" userId="b7e811e8891ccd42" providerId="LiveId" clId="{2482167B-ADD3-4E68-AB8B-ADE9CECE27D0}" dt="2026-05-27T04:18:41.590" v="1179" actId="207"/>
          <ac:spMkLst>
            <pc:docMk/>
            <pc:sldMk cId="366784065" sldId="487"/>
            <ac:spMk id="2" creationId="{3B234FFB-3279-430C-9DA6-AC4589A28868}"/>
          </ac:spMkLst>
        </pc:spChg>
      </pc:sldChg>
      <pc:sldChg chg="modSp add mod">
        <pc:chgData name="Norbey Muñoz" userId="b7e811e8891ccd42" providerId="LiveId" clId="{2482167B-ADD3-4E68-AB8B-ADE9CECE27D0}" dt="2026-05-27T11:52:14.010" v="1288" actId="20577"/>
        <pc:sldMkLst>
          <pc:docMk/>
          <pc:sldMk cId="1921839677" sldId="494"/>
        </pc:sldMkLst>
        <pc:spChg chg="mod">
          <ac:chgData name="Norbey Muñoz" userId="b7e811e8891ccd42" providerId="LiveId" clId="{2482167B-ADD3-4E68-AB8B-ADE9CECE27D0}" dt="2026-05-27T11:52:14.010" v="1288" actId="20577"/>
          <ac:spMkLst>
            <pc:docMk/>
            <pc:sldMk cId="1921839677" sldId="494"/>
            <ac:spMk id="3" creationId="{60D50DA1-7066-4B13-B790-DDD078D88BB9}"/>
          </ac:spMkLst>
        </pc:spChg>
      </pc:sldChg>
      <pc:sldChg chg="delSp modSp add mod setBg delDesignElem">
        <pc:chgData name="Norbey Muñoz" userId="b7e811e8891ccd42" providerId="LiveId" clId="{2482167B-ADD3-4E68-AB8B-ADE9CECE27D0}" dt="2026-05-27T11:44:44.874" v="1219" actId="20577"/>
        <pc:sldMkLst>
          <pc:docMk/>
          <pc:sldMk cId="2333086716" sldId="513"/>
        </pc:sldMkLst>
        <pc:spChg chg="mod">
          <ac:chgData name="Norbey Muñoz" userId="b7e811e8891ccd42" providerId="LiveId" clId="{2482167B-ADD3-4E68-AB8B-ADE9CECE27D0}" dt="2026-05-27T11:44:26.376" v="1208" actId="1076"/>
          <ac:spMkLst>
            <pc:docMk/>
            <pc:sldMk cId="2333086716" sldId="513"/>
            <ac:spMk id="2" creationId="{BAEF4A3D-5134-4F6B-AF19-63BCFF2FDFF7}"/>
          </ac:spMkLst>
        </pc:spChg>
        <pc:graphicFrameChg chg="modGraphic">
          <ac:chgData name="Norbey Muñoz" userId="b7e811e8891ccd42" providerId="LiveId" clId="{2482167B-ADD3-4E68-AB8B-ADE9CECE27D0}" dt="2026-05-27T11:44:44.874" v="1219" actId="20577"/>
          <ac:graphicFrameMkLst>
            <pc:docMk/>
            <pc:sldMk cId="2333086716" sldId="513"/>
            <ac:graphicFrameMk id="5" creationId="{D712D059-1D82-4344-9FE6-98B766D73308}"/>
          </ac:graphicFrameMkLst>
        </pc:graphicFrameChg>
      </pc:sldChg>
      <pc:sldChg chg="addSp delSp add del setBg delDesignElem">
        <pc:chgData name="Norbey Muñoz" userId="b7e811e8891ccd42" providerId="LiveId" clId="{2482167B-ADD3-4E68-AB8B-ADE9CECE27D0}" dt="2026-05-27T11:47:54.768" v="1264"/>
        <pc:sldMkLst>
          <pc:docMk/>
          <pc:sldMk cId="4108319731" sldId="518"/>
        </pc:sldMkLst>
        <pc:spChg chg="add del">
          <ac:chgData name="Norbey Muñoz" userId="b7e811e8891ccd42" providerId="LiveId" clId="{2482167B-ADD3-4E68-AB8B-ADE9CECE27D0}" dt="2026-05-27T11:47:46.677" v="1263"/>
          <ac:spMkLst>
            <pc:docMk/>
            <pc:sldMk cId="4108319731" sldId="518"/>
            <ac:spMk id="9" creationId="{8D70B121-56F4-4848-B38B-182089D909FA}"/>
          </ac:spMkLst>
        </pc:spChg>
        <pc:cxnChg chg="add del">
          <ac:chgData name="Norbey Muñoz" userId="b7e811e8891ccd42" providerId="LiveId" clId="{2482167B-ADD3-4E68-AB8B-ADE9CECE27D0}" dt="2026-05-27T11:47:46.677" v="1263"/>
          <ac:cxnSpMkLst>
            <pc:docMk/>
            <pc:sldMk cId="4108319731" sldId="518"/>
            <ac:cxnSpMk id="11" creationId="{2D72A2C9-F3CA-4216-8BAD-FA4C970C3C4E}"/>
          </ac:cxnSpMkLst>
        </pc:cxnChg>
      </pc:sldChg>
      <pc:sldChg chg="modSp add mod setBg">
        <pc:chgData name="Norbey Muñoz" userId="b7e811e8891ccd42" providerId="LiveId" clId="{2482167B-ADD3-4E68-AB8B-ADE9CECE27D0}" dt="2026-05-27T11:47:07.484" v="1257" actId="1076"/>
        <pc:sldMkLst>
          <pc:docMk/>
          <pc:sldMk cId="3389235839" sldId="520"/>
        </pc:sldMkLst>
        <pc:spChg chg="mod">
          <ac:chgData name="Norbey Muñoz" userId="b7e811e8891ccd42" providerId="LiveId" clId="{2482167B-ADD3-4E68-AB8B-ADE9CECE27D0}" dt="2026-05-27T11:46:59.476" v="1256" actId="14100"/>
          <ac:spMkLst>
            <pc:docMk/>
            <pc:sldMk cId="3389235839" sldId="520"/>
            <ac:spMk id="2" creationId="{F8A33BF6-799F-46A8-B842-1D70B0BED9C7}"/>
          </ac:spMkLst>
        </pc:spChg>
        <pc:graphicFrameChg chg="mod">
          <ac:chgData name="Norbey Muñoz" userId="b7e811e8891ccd42" providerId="LiveId" clId="{2482167B-ADD3-4E68-AB8B-ADE9CECE27D0}" dt="2026-05-27T11:47:07.484" v="1257" actId="1076"/>
          <ac:graphicFrameMkLst>
            <pc:docMk/>
            <pc:sldMk cId="3389235839" sldId="520"/>
            <ac:graphicFrameMk id="6" creationId="{C945E00C-3608-4161-9711-E0CCDF4841C9}"/>
          </ac:graphicFrameMkLst>
        </pc:graphicFrameChg>
      </pc:sldChg>
      <pc:sldChg chg="delSp modSp add mod setBg delDesignElem">
        <pc:chgData name="Norbey Muñoz" userId="b7e811e8891ccd42" providerId="LiveId" clId="{2482167B-ADD3-4E68-AB8B-ADE9CECE27D0}" dt="2026-05-13T13:10:43.709" v="947" actId="27636"/>
        <pc:sldMkLst>
          <pc:docMk/>
          <pc:sldMk cId="1243474171" sldId="568"/>
        </pc:sldMkLst>
        <pc:spChg chg="mod">
          <ac:chgData name="Norbey Muñoz" userId="b7e811e8891ccd42" providerId="LiveId" clId="{2482167B-ADD3-4E68-AB8B-ADE9CECE27D0}" dt="2026-05-13T13:10:43.709" v="947" actId="27636"/>
          <ac:spMkLst>
            <pc:docMk/>
            <pc:sldMk cId="1243474171" sldId="568"/>
            <ac:spMk id="2" creationId="{ED9EF998-5162-4CB9-948B-577501C075D7}"/>
          </ac:spMkLst>
        </pc:spChg>
        <pc:spChg chg="mod">
          <ac:chgData name="Norbey Muñoz" userId="b7e811e8891ccd42" providerId="LiveId" clId="{2482167B-ADD3-4E68-AB8B-ADE9CECE27D0}" dt="2026-05-13T13:10:13.744" v="913" actId="20577"/>
          <ac:spMkLst>
            <pc:docMk/>
            <pc:sldMk cId="1243474171" sldId="568"/>
            <ac:spMk id="3" creationId="{0B112954-FDE5-4A0B-B1B7-100A9C6733E0}"/>
          </ac:spMkLst>
        </pc:spChg>
      </pc:sldChg>
      <pc:sldChg chg="addSp delSp add del setBg delDesignElem">
        <pc:chgData name="Norbey Muñoz" userId="b7e811e8891ccd42" providerId="LiveId" clId="{2482167B-ADD3-4E68-AB8B-ADE9CECE27D0}" dt="2026-05-27T11:47:54.768" v="1264"/>
        <pc:sldMkLst>
          <pc:docMk/>
          <pc:sldMk cId="3545187932" sldId="614"/>
        </pc:sldMkLst>
        <pc:spChg chg="add del">
          <ac:chgData name="Norbey Muñoz" userId="b7e811e8891ccd42" providerId="LiveId" clId="{2482167B-ADD3-4E68-AB8B-ADE9CECE27D0}" dt="2026-05-27T11:47:46.677" v="1263"/>
          <ac:spMkLst>
            <pc:docMk/>
            <pc:sldMk cId="3545187932" sldId="614"/>
            <ac:spMk id="9" creationId="{2F56F8EA-3356-4455-9899-320874F6E465}"/>
          </ac:spMkLst>
        </pc:spChg>
      </pc:sldChg>
      <pc:sldChg chg="add">
        <pc:chgData name="Norbey Muñoz" userId="b7e811e8891ccd42" providerId="LiveId" clId="{2482167B-ADD3-4E68-AB8B-ADE9CECE27D0}" dt="2026-05-27T11:51:21.115" v="1272"/>
        <pc:sldMkLst>
          <pc:docMk/>
          <pc:sldMk cId="389858800" sldId="615"/>
        </pc:sldMkLst>
      </pc:sldChg>
      <pc:sldChg chg="add">
        <pc:chgData name="Norbey Muñoz" userId="b7e811e8891ccd42" providerId="LiveId" clId="{2482167B-ADD3-4E68-AB8B-ADE9CECE27D0}" dt="2026-05-27T11:51:21.115" v="1272"/>
        <pc:sldMkLst>
          <pc:docMk/>
          <pc:sldMk cId="2610296627" sldId="616"/>
        </pc:sldMkLst>
      </pc:sldChg>
      <pc:sldChg chg="add">
        <pc:chgData name="Norbey Muñoz" userId="b7e811e8891ccd42" providerId="LiveId" clId="{2482167B-ADD3-4E68-AB8B-ADE9CECE27D0}" dt="2026-05-27T11:51:21.115" v="1272"/>
        <pc:sldMkLst>
          <pc:docMk/>
          <pc:sldMk cId="4145947967" sldId="617"/>
        </pc:sldMkLst>
      </pc:sldChg>
      <pc:sldChg chg="add">
        <pc:chgData name="Norbey Muñoz" userId="b7e811e8891ccd42" providerId="LiveId" clId="{2482167B-ADD3-4E68-AB8B-ADE9CECE27D0}" dt="2026-05-27T11:51:21.115" v="1272"/>
        <pc:sldMkLst>
          <pc:docMk/>
          <pc:sldMk cId="2414181700" sldId="618"/>
        </pc:sldMkLst>
      </pc:sldChg>
      <pc:sldChg chg="add">
        <pc:chgData name="Norbey Muñoz" userId="b7e811e8891ccd42" providerId="LiveId" clId="{2482167B-ADD3-4E68-AB8B-ADE9CECE27D0}" dt="2026-05-27T11:51:21.115" v="1272"/>
        <pc:sldMkLst>
          <pc:docMk/>
          <pc:sldMk cId="2622466780" sldId="619"/>
        </pc:sldMkLst>
      </pc:sldChg>
      <pc:sldChg chg="add">
        <pc:chgData name="Norbey Muñoz" userId="b7e811e8891ccd42" providerId="LiveId" clId="{2482167B-ADD3-4E68-AB8B-ADE9CECE27D0}" dt="2026-05-27T11:51:21.115" v="1272"/>
        <pc:sldMkLst>
          <pc:docMk/>
          <pc:sldMk cId="2848277916" sldId="620"/>
        </pc:sldMkLst>
      </pc:sldChg>
      <pc:sldChg chg="add">
        <pc:chgData name="Norbey Muñoz" userId="b7e811e8891ccd42" providerId="LiveId" clId="{2482167B-ADD3-4E68-AB8B-ADE9CECE27D0}" dt="2026-05-27T11:51:21.115" v="1272"/>
        <pc:sldMkLst>
          <pc:docMk/>
          <pc:sldMk cId="3851626521" sldId="622"/>
        </pc:sldMkLst>
      </pc:sldChg>
      <pc:sldChg chg="add">
        <pc:chgData name="Norbey Muñoz" userId="b7e811e8891ccd42" providerId="LiveId" clId="{2482167B-ADD3-4E68-AB8B-ADE9CECE27D0}" dt="2026-05-27T11:51:21.115" v="1272"/>
        <pc:sldMkLst>
          <pc:docMk/>
          <pc:sldMk cId="2069656888" sldId="623"/>
        </pc:sldMkLst>
      </pc:sldChg>
      <pc:sldChg chg="delSp modSp add mod setBg delDesignElem">
        <pc:chgData name="Norbey Muñoz" userId="b7e811e8891ccd42" providerId="LiveId" clId="{2482167B-ADD3-4E68-AB8B-ADE9CECE27D0}" dt="2026-05-27T04:20:35.384" v="1190" actId="1076"/>
        <pc:sldMkLst>
          <pc:docMk/>
          <pc:sldMk cId="2964526825" sldId="1273"/>
        </pc:sldMkLst>
        <pc:spChg chg="mod">
          <ac:chgData name="Norbey Muñoz" userId="b7e811e8891ccd42" providerId="LiveId" clId="{2482167B-ADD3-4E68-AB8B-ADE9CECE27D0}" dt="2026-05-27T04:20:35.384" v="1190" actId="1076"/>
          <ac:spMkLst>
            <pc:docMk/>
            <pc:sldMk cId="2964526825" sldId="1273"/>
            <ac:spMk id="2" creationId="{7F360025-2B1D-4190-9C7B-0C3000C14ADB}"/>
          </ac:spMkLst>
        </pc:spChg>
      </pc:sldChg>
      <pc:sldChg chg="modSp add mod">
        <pc:chgData name="Norbey Muñoz" userId="b7e811e8891ccd42" providerId="LiveId" clId="{2482167B-ADD3-4E68-AB8B-ADE9CECE27D0}" dt="2026-05-27T04:21:00.456" v="1192" actId="1076"/>
        <pc:sldMkLst>
          <pc:docMk/>
          <pc:sldMk cId="3633946859" sldId="1328"/>
        </pc:sldMkLst>
        <pc:spChg chg="mod">
          <ac:chgData name="Norbey Muñoz" userId="b7e811e8891ccd42" providerId="LiveId" clId="{2482167B-ADD3-4E68-AB8B-ADE9CECE27D0}" dt="2026-05-27T04:21:00.456" v="1192" actId="1076"/>
          <ac:spMkLst>
            <pc:docMk/>
            <pc:sldMk cId="3633946859" sldId="1328"/>
            <ac:spMk id="7" creationId="{FA8B5F68-BECE-C453-D1B5-C62D0F72CC95}"/>
          </ac:spMkLst>
        </pc:spChg>
      </pc:sldChg>
      <pc:sldChg chg="addSp delSp modSp add del mod setBg delDesignElem">
        <pc:chgData name="Norbey Muñoz" userId="b7e811e8891ccd42" providerId="LiveId" clId="{2482167B-ADD3-4E68-AB8B-ADE9CECE27D0}" dt="2026-05-27T11:42:10.949" v="1201" actId="20577"/>
        <pc:sldMkLst>
          <pc:docMk/>
          <pc:sldMk cId="1897500171" sldId="1336"/>
        </pc:sldMkLst>
        <pc:spChg chg="mod">
          <ac:chgData name="Norbey Muñoz" userId="b7e811e8891ccd42" providerId="LiveId" clId="{2482167B-ADD3-4E68-AB8B-ADE9CECE27D0}" dt="2026-05-27T11:42:10.949" v="1201" actId="20577"/>
          <ac:spMkLst>
            <pc:docMk/>
            <pc:sldMk cId="1897500171" sldId="1336"/>
            <ac:spMk id="4" creationId="{1251AF9C-871D-4AEB-8BFB-9943AA2D2FC8}"/>
          </ac:spMkLst>
        </pc:spChg>
      </pc:sldChg>
      <pc:sldChg chg="addSp delSp modSp add del mod setBg delDesignElem">
        <pc:chgData name="Norbey Muñoz" userId="b7e811e8891ccd42" providerId="LiveId" clId="{2482167B-ADD3-4E68-AB8B-ADE9CECE27D0}" dt="2026-05-13T13:08:38.713" v="874" actId="20577"/>
        <pc:sldMkLst>
          <pc:docMk/>
          <pc:sldMk cId="3157037647" sldId="1338"/>
        </pc:sldMkLst>
        <pc:spChg chg="mod">
          <ac:chgData name="Norbey Muñoz" userId="b7e811e8891ccd42" providerId="LiveId" clId="{2482167B-ADD3-4E68-AB8B-ADE9CECE27D0}" dt="2026-05-13T13:08:38.713" v="874" actId="20577"/>
          <ac:spMkLst>
            <pc:docMk/>
            <pc:sldMk cId="3157037647" sldId="1338"/>
            <ac:spMk id="3" creationId="{034308E2-9126-4034-A1BA-C4CF01E48151}"/>
          </ac:spMkLst>
        </pc:spChg>
      </pc:sldChg>
      <pc:sldChg chg="addSp delSp modSp add mod">
        <pc:chgData name="Norbey Muñoz" userId="b7e811e8891ccd42" providerId="LiveId" clId="{2482167B-ADD3-4E68-AB8B-ADE9CECE27D0}" dt="2026-05-25T04:54:22.525" v="1142" actId="1076"/>
        <pc:sldMkLst>
          <pc:docMk/>
          <pc:sldMk cId="1404932128" sldId="1339"/>
        </pc:sldMkLst>
        <pc:picChg chg="add mod">
          <ac:chgData name="Norbey Muñoz" userId="b7e811e8891ccd42" providerId="LiveId" clId="{2482167B-ADD3-4E68-AB8B-ADE9CECE27D0}" dt="2026-05-25T04:54:22.525" v="1142" actId="1076"/>
          <ac:picMkLst>
            <pc:docMk/>
            <pc:sldMk cId="1404932128" sldId="1339"/>
            <ac:picMk id="9" creationId="{9B72DEA6-9022-CA70-6D41-E2FF07830D0B}"/>
          </ac:picMkLst>
        </pc:picChg>
      </pc:sldChg>
      <pc:sldChg chg="addSp delSp modSp add mod">
        <pc:chgData name="Norbey Muñoz" userId="b7e811e8891ccd42" providerId="LiveId" clId="{2482167B-ADD3-4E68-AB8B-ADE9CECE27D0}" dt="2026-05-25T13:19:14.009" v="1147" actId="22"/>
        <pc:sldMkLst>
          <pc:docMk/>
          <pc:sldMk cId="1332985649" sldId="1340"/>
        </pc:sldMkLst>
        <pc:picChg chg="add">
          <ac:chgData name="Norbey Muñoz" userId="b7e811e8891ccd42" providerId="LiveId" clId="{2482167B-ADD3-4E68-AB8B-ADE9CECE27D0}" dt="2026-05-25T13:19:14.009" v="1147" actId="22"/>
          <ac:picMkLst>
            <pc:docMk/>
            <pc:sldMk cId="1332985649" sldId="1340"/>
            <ac:picMk id="8" creationId="{76F95CDA-F879-7D77-A997-34CEACD0063B}"/>
          </ac:picMkLst>
        </pc:picChg>
      </pc:sldChg>
      <pc:sldChg chg="addSp delSp add mod">
        <pc:chgData name="Norbey Muñoz" userId="b7e811e8891ccd42" providerId="LiveId" clId="{2482167B-ADD3-4E68-AB8B-ADE9CECE27D0}" dt="2026-05-25T13:19:32.332" v="1150" actId="22"/>
        <pc:sldMkLst>
          <pc:docMk/>
          <pc:sldMk cId="548308065" sldId="1341"/>
        </pc:sldMkLst>
        <pc:picChg chg="add">
          <ac:chgData name="Norbey Muñoz" userId="b7e811e8891ccd42" providerId="LiveId" clId="{2482167B-ADD3-4E68-AB8B-ADE9CECE27D0}" dt="2026-05-25T13:19:32.332" v="1150" actId="22"/>
          <ac:picMkLst>
            <pc:docMk/>
            <pc:sldMk cId="548308065" sldId="1341"/>
            <ac:picMk id="5" creationId="{4F05D9EF-29BD-BEC9-0127-0DE70CAC2AFC}"/>
          </ac:picMkLst>
        </pc:picChg>
      </pc:sldChg>
      <pc:sldChg chg="addSp delSp modSp add mod ord">
        <pc:chgData name="Norbey Muñoz" userId="b7e811e8891ccd42" providerId="LiveId" clId="{2482167B-ADD3-4E68-AB8B-ADE9CECE27D0}" dt="2026-05-27T11:51:47.408" v="1274"/>
        <pc:sldMkLst>
          <pc:docMk/>
          <pc:sldMk cId="853653929" sldId="1342"/>
        </pc:sldMkLst>
        <pc:picChg chg="add mod">
          <ac:chgData name="Norbey Muñoz" userId="b7e811e8891ccd42" providerId="LiveId" clId="{2482167B-ADD3-4E68-AB8B-ADE9CECE27D0}" dt="2026-05-27T04:16:15.138" v="1156" actId="1076"/>
          <ac:picMkLst>
            <pc:docMk/>
            <pc:sldMk cId="853653929" sldId="1342"/>
            <ac:picMk id="4" creationId="{55D534F2-10B3-E917-E549-C53B1344EC9E}"/>
          </ac:picMkLst>
        </pc:picChg>
      </pc:sldChg>
      <pc:sldChg chg="addSp delSp modSp add mod">
        <pc:chgData name="Norbey Muñoz" userId="b7e811e8891ccd42" providerId="LiveId" clId="{2482167B-ADD3-4E68-AB8B-ADE9CECE27D0}" dt="2026-05-27T11:56:41.583" v="1300" actId="1076"/>
        <pc:sldMkLst>
          <pc:docMk/>
          <pc:sldMk cId="1815311073" sldId="1344"/>
        </pc:sldMkLst>
        <pc:picChg chg="add mod">
          <ac:chgData name="Norbey Muñoz" userId="b7e811e8891ccd42" providerId="LiveId" clId="{2482167B-ADD3-4E68-AB8B-ADE9CECE27D0}" dt="2026-05-27T11:56:41.583" v="1300" actId="1076"/>
          <ac:picMkLst>
            <pc:docMk/>
            <pc:sldMk cId="1815311073" sldId="1344"/>
            <ac:picMk id="4" creationId="{1D4607F8-A200-9605-E7D7-21F2BCDEAAA1}"/>
          </ac:picMkLst>
        </pc:picChg>
      </pc:sldChg>
      <pc:sldChg chg="modSp add">
        <pc:chgData name="Norbey Muñoz" userId="b7e811e8891ccd42" providerId="LiveId" clId="{2482167B-ADD3-4E68-AB8B-ADE9CECE27D0}" dt="2026-05-27T11:42:20.086" v="1203" actId="120"/>
        <pc:sldMkLst>
          <pc:docMk/>
          <pc:sldMk cId="1748820792" sldId="1345"/>
        </pc:sldMkLst>
        <pc:spChg chg="mod">
          <ac:chgData name="Norbey Muñoz" userId="b7e811e8891ccd42" providerId="LiveId" clId="{2482167B-ADD3-4E68-AB8B-ADE9CECE27D0}" dt="2026-05-27T11:42:20.086" v="1203" actId="120"/>
          <ac:spMkLst>
            <pc:docMk/>
            <pc:sldMk cId="1748820792" sldId="1345"/>
            <ac:spMk id="4" creationId="{615B2154-BE67-0303-DB45-DD64F066F0CD}"/>
          </ac:spMkLst>
        </pc:spChg>
      </pc:sldChg>
      <pc:sldChg chg="add">
        <pc:chgData name="Norbey Muñoz" userId="b7e811e8891ccd42" providerId="LiveId" clId="{2482167B-ADD3-4E68-AB8B-ADE9CECE27D0}" dt="2026-05-27T11:51:21.115" v="1272"/>
        <pc:sldMkLst>
          <pc:docMk/>
          <pc:sldMk cId="361036773" sldId="1350"/>
        </pc:sldMkLst>
      </pc:sldChg>
      <pc:sldChg chg="modSp add mod">
        <pc:chgData name="Norbey Muñoz" userId="b7e811e8891ccd42" providerId="LiveId" clId="{2482167B-ADD3-4E68-AB8B-ADE9CECE27D0}" dt="2026-05-27T11:52:25.248" v="1290" actId="20577"/>
        <pc:sldMkLst>
          <pc:docMk/>
          <pc:sldMk cId="737332130" sldId="1351"/>
        </pc:sldMkLst>
        <pc:spChg chg="mod">
          <ac:chgData name="Norbey Muñoz" userId="b7e811e8891ccd42" providerId="LiveId" clId="{2482167B-ADD3-4E68-AB8B-ADE9CECE27D0}" dt="2026-05-27T11:52:25.248" v="1290" actId="20577"/>
          <ac:spMkLst>
            <pc:docMk/>
            <pc:sldMk cId="737332130" sldId="1351"/>
            <ac:spMk id="2" creationId="{6FB609C7-CB7C-4959-AC1B-48DB8D19E1F0}"/>
          </ac:spMkLst>
        </pc:spChg>
      </pc:sldChg>
      <pc:sldChg chg="add">
        <pc:chgData name="Norbey Muñoz" userId="b7e811e8891ccd42" providerId="LiveId" clId="{2482167B-ADD3-4E68-AB8B-ADE9CECE27D0}" dt="2026-05-27T11:56:21.432" v="1295" actId="2890"/>
        <pc:sldMkLst>
          <pc:docMk/>
          <pc:sldMk cId="3281016310" sldId="1352"/>
        </pc:sldMkLst>
      </pc:sldChg>
      <pc:sldChg chg="addSp delSp modSp add mod ord">
        <pc:chgData name="Norbey Muñoz" userId="b7e811e8891ccd42" providerId="LiveId" clId="{2482167B-ADD3-4E68-AB8B-ADE9CECE27D0}" dt="2026-05-31T04:01:47.971" v="1532"/>
        <pc:sldMkLst>
          <pc:docMk/>
          <pc:sldMk cId="2150215049" sldId="1353"/>
        </pc:sldMkLst>
        <pc:spChg chg="mod">
          <ac:chgData name="Norbey Muñoz" userId="b7e811e8891ccd42" providerId="LiveId" clId="{2482167B-ADD3-4E68-AB8B-ADE9CECE27D0}" dt="2026-05-31T04:00:49.828" v="1530" actId="123"/>
          <ac:spMkLst>
            <pc:docMk/>
            <pc:sldMk cId="2150215049" sldId="1353"/>
            <ac:spMk id="4" creationId="{68CE27B0-C11A-6FEA-A0F5-146B93B02BBD}"/>
          </ac:spMkLst>
        </pc:spChg>
        <pc:spChg chg="mod">
          <ac:chgData name="Norbey Muñoz" userId="b7e811e8891ccd42" providerId="LiveId" clId="{2482167B-ADD3-4E68-AB8B-ADE9CECE27D0}" dt="2026-05-31T03:57:13.551" v="1504" actId="14100"/>
          <ac:spMkLst>
            <pc:docMk/>
            <pc:sldMk cId="2150215049" sldId="1353"/>
            <ac:spMk id="5" creationId="{B26639BE-2ED3-97E4-8F4E-DA82573E8018}"/>
          </ac:spMkLst>
        </pc:spChg>
        <pc:spChg chg="del">
          <ac:chgData name="Norbey Muñoz" userId="b7e811e8891ccd42" providerId="LiveId" clId="{2482167B-ADD3-4E68-AB8B-ADE9CECE27D0}" dt="2026-05-31T03:57:17.543" v="1506" actId="478"/>
          <ac:spMkLst>
            <pc:docMk/>
            <pc:sldMk cId="2150215049" sldId="1353"/>
            <ac:spMk id="9" creationId="{B4437014-18EB-E1F1-11A0-44DE0A805C61}"/>
          </ac:spMkLst>
        </pc:spChg>
        <pc:spChg chg="del">
          <ac:chgData name="Norbey Muñoz" userId="b7e811e8891ccd42" providerId="LiveId" clId="{2482167B-ADD3-4E68-AB8B-ADE9CECE27D0}" dt="2026-05-31T03:57:17.543" v="1506" actId="478"/>
          <ac:spMkLst>
            <pc:docMk/>
            <pc:sldMk cId="2150215049" sldId="1353"/>
            <ac:spMk id="10" creationId="{F4122ECC-AB7F-19A9-74F1-9062F0B2ED41}"/>
          </ac:spMkLst>
        </pc:spChg>
        <pc:spChg chg="del">
          <ac:chgData name="Norbey Muñoz" userId="b7e811e8891ccd42" providerId="LiveId" clId="{2482167B-ADD3-4E68-AB8B-ADE9CECE27D0}" dt="2026-05-31T03:57:17.543" v="1506" actId="478"/>
          <ac:spMkLst>
            <pc:docMk/>
            <pc:sldMk cId="2150215049" sldId="1353"/>
            <ac:spMk id="11" creationId="{552A8E36-B55E-3AE8-8AEB-518C68E0D54B}"/>
          </ac:spMkLst>
        </pc:spChg>
        <pc:spChg chg="del">
          <ac:chgData name="Norbey Muñoz" userId="b7e811e8891ccd42" providerId="LiveId" clId="{2482167B-ADD3-4E68-AB8B-ADE9CECE27D0}" dt="2026-05-31T03:57:17.543" v="1506" actId="478"/>
          <ac:spMkLst>
            <pc:docMk/>
            <pc:sldMk cId="2150215049" sldId="1353"/>
            <ac:spMk id="12" creationId="{9EE53910-B932-B2C4-F960-95D1833707D7}"/>
          </ac:spMkLst>
        </pc:spChg>
        <pc:spChg chg="del">
          <ac:chgData name="Norbey Muñoz" userId="b7e811e8891ccd42" providerId="LiveId" clId="{2482167B-ADD3-4E68-AB8B-ADE9CECE27D0}" dt="2026-05-31T03:57:17.543" v="1506" actId="478"/>
          <ac:spMkLst>
            <pc:docMk/>
            <pc:sldMk cId="2150215049" sldId="1353"/>
            <ac:spMk id="13" creationId="{96860539-C63F-94D1-4970-46CD695578B0}"/>
          </ac:spMkLst>
        </pc:spChg>
        <pc:spChg chg="del">
          <ac:chgData name="Norbey Muñoz" userId="b7e811e8891ccd42" providerId="LiveId" clId="{2482167B-ADD3-4E68-AB8B-ADE9CECE27D0}" dt="2026-05-31T03:57:17.543" v="1506" actId="478"/>
          <ac:spMkLst>
            <pc:docMk/>
            <pc:sldMk cId="2150215049" sldId="1353"/>
            <ac:spMk id="14" creationId="{92B90525-215A-F3A7-AD98-590A959292A3}"/>
          </ac:spMkLst>
        </pc:spChg>
        <pc:spChg chg="del">
          <ac:chgData name="Norbey Muñoz" userId="b7e811e8891ccd42" providerId="LiveId" clId="{2482167B-ADD3-4E68-AB8B-ADE9CECE27D0}" dt="2026-05-31T03:57:17.543" v="1506" actId="478"/>
          <ac:spMkLst>
            <pc:docMk/>
            <pc:sldMk cId="2150215049" sldId="1353"/>
            <ac:spMk id="15" creationId="{16E432DC-DE54-D77F-E7B8-E33F47992E69}"/>
          </ac:spMkLst>
        </pc:spChg>
        <pc:spChg chg="del">
          <ac:chgData name="Norbey Muñoz" userId="b7e811e8891ccd42" providerId="LiveId" clId="{2482167B-ADD3-4E68-AB8B-ADE9CECE27D0}" dt="2026-05-31T03:57:17.543" v="1506" actId="478"/>
          <ac:spMkLst>
            <pc:docMk/>
            <pc:sldMk cId="2150215049" sldId="1353"/>
            <ac:spMk id="16" creationId="{A251309B-F8FB-44AB-E3CA-BD0184EAD65C}"/>
          </ac:spMkLst>
        </pc:spChg>
        <pc:spChg chg="del">
          <ac:chgData name="Norbey Muñoz" userId="b7e811e8891ccd42" providerId="LiveId" clId="{2482167B-ADD3-4E68-AB8B-ADE9CECE27D0}" dt="2026-05-31T03:57:17.543" v="1506" actId="478"/>
          <ac:spMkLst>
            <pc:docMk/>
            <pc:sldMk cId="2150215049" sldId="1353"/>
            <ac:spMk id="17" creationId="{2554D62C-01D8-D1C3-A15E-C6D69C6A2071}"/>
          </ac:spMkLst>
        </pc:spChg>
        <pc:grpChg chg="del">
          <ac:chgData name="Norbey Muñoz" userId="b7e811e8891ccd42" providerId="LiveId" clId="{2482167B-ADD3-4E68-AB8B-ADE9CECE27D0}" dt="2026-05-31T03:57:15.372" v="1505" actId="478"/>
          <ac:grpSpMkLst>
            <pc:docMk/>
            <pc:sldMk cId="2150215049" sldId="1353"/>
            <ac:grpSpMk id="6" creationId="{DA1D5FBB-1D07-8F1C-7092-07DBC060AB84}"/>
          </ac:grpSpMkLst>
        </pc:grpChg>
        <pc:picChg chg="add del mod">
          <ac:chgData name="Norbey Muñoz" userId="b7e811e8891ccd42" providerId="LiveId" clId="{2482167B-ADD3-4E68-AB8B-ADE9CECE27D0}" dt="2026-05-31T03:59:24.582" v="1512" actId="478"/>
          <ac:picMkLst>
            <pc:docMk/>
            <pc:sldMk cId="2150215049" sldId="1353"/>
            <ac:picMk id="19" creationId="{220C7595-787D-5BAC-2340-B8E73B47A446}"/>
          </ac:picMkLst>
        </pc:picChg>
        <pc:picChg chg="add mod">
          <ac:chgData name="Norbey Muñoz" userId="b7e811e8891ccd42" providerId="LiveId" clId="{2482167B-ADD3-4E68-AB8B-ADE9CECE27D0}" dt="2026-05-31T04:00:39.988" v="1527" actId="1076"/>
          <ac:picMkLst>
            <pc:docMk/>
            <pc:sldMk cId="2150215049" sldId="1353"/>
            <ac:picMk id="21" creationId="{E5DAC2BA-E837-75CF-FA0D-E60EA7F6C288}"/>
          </ac:picMkLst>
        </pc:picChg>
        <pc:picChg chg="add del mod">
          <ac:chgData name="Norbey Muñoz" userId="b7e811e8891ccd42" providerId="LiveId" clId="{2482167B-ADD3-4E68-AB8B-ADE9CECE27D0}" dt="2026-05-31T03:57:24.257" v="1509" actId="478"/>
          <ac:picMkLst>
            <pc:docMk/>
            <pc:sldMk cId="2150215049" sldId="1353"/>
            <ac:picMk id="2050" creationId="{B884AAD2-03A1-93A5-EA91-1BFDB570D65E}"/>
          </ac:picMkLst>
        </pc:picChg>
      </pc:sldChg>
      <pc:sldChg chg="addSp delSp modSp add mod">
        <pc:chgData name="Norbey Muñoz" userId="b7e811e8891ccd42" providerId="LiveId" clId="{2482167B-ADD3-4E68-AB8B-ADE9CECE27D0}" dt="2026-05-31T04:02:35.399" v="1543" actId="1076"/>
        <pc:sldMkLst>
          <pc:docMk/>
          <pc:sldMk cId="4223243773" sldId="1354"/>
        </pc:sldMkLst>
        <pc:spChg chg="del">
          <ac:chgData name="Norbey Muñoz" userId="b7e811e8891ccd42" providerId="LiveId" clId="{2482167B-ADD3-4E68-AB8B-ADE9CECE27D0}" dt="2026-05-31T04:02:05.846" v="1534" actId="478"/>
          <ac:spMkLst>
            <pc:docMk/>
            <pc:sldMk cId="4223243773" sldId="1354"/>
            <ac:spMk id="3" creationId="{5366D209-31B9-9E9B-849A-0578C0BE6D92}"/>
          </ac:spMkLst>
        </pc:spChg>
        <pc:picChg chg="add mod">
          <ac:chgData name="Norbey Muñoz" userId="b7e811e8891ccd42" providerId="LiveId" clId="{2482167B-ADD3-4E68-AB8B-ADE9CECE27D0}" dt="2026-05-31T04:02:35.399" v="1543" actId="1076"/>
          <ac:picMkLst>
            <pc:docMk/>
            <pc:sldMk cId="4223243773" sldId="1354"/>
            <ac:picMk id="3074" creationId="{63CD0FA8-84E8-BF12-A9B1-8492F7D76516}"/>
          </ac:picMkLst>
        </pc:picChg>
      </pc:sldChg>
      <pc:sldChg chg="addSp delSp modSp add mod">
        <pc:chgData name="Norbey Muñoz" userId="b7e811e8891ccd42" providerId="LiveId" clId="{2482167B-ADD3-4E68-AB8B-ADE9CECE27D0}" dt="2026-05-31T04:09:23.434" v="1563" actId="1076"/>
        <pc:sldMkLst>
          <pc:docMk/>
          <pc:sldMk cId="2727756628" sldId="1355"/>
        </pc:sldMkLst>
        <pc:spChg chg="del">
          <ac:chgData name="Norbey Muñoz" userId="b7e811e8891ccd42" providerId="LiveId" clId="{2482167B-ADD3-4E68-AB8B-ADE9CECE27D0}" dt="2026-05-31T04:09:18.776" v="1561" actId="478"/>
          <ac:spMkLst>
            <pc:docMk/>
            <pc:sldMk cId="2727756628" sldId="1355"/>
            <ac:spMk id="4" creationId="{64999426-A4F3-D0CA-D1F6-8DD959352721}"/>
          </ac:spMkLst>
        </pc:spChg>
        <pc:picChg chg="del">
          <ac:chgData name="Norbey Muñoz" userId="b7e811e8891ccd42" providerId="LiveId" clId="{2482167B-ADD3-4E68-AB8B-ADE9CECE27D0}" dt="2026-05-31T04:09:17.473" v="1560" actId="478"/>
          <ac:picMkLst>
            <pc:docMk/>
            <pc:sldMk cId="2727756628" sldId="1355"/>
            <ac:picMk id="5" creationId="{FAE0C44E-5F3C-EE75-B71A-C206B31B75D5}"/>
          </ac:picMkLst>
        </pc:picChg>
        <pc:picChg chg="add mod">
          <ac:chgData name="Norbey Muñoz" userId="b7e811e8891ccd42" providerId="LiveId" clId="{2482167B-ADD3-4E68-AB8B-ADE9CECE27D0}" dt="2026-05-31T04:09:23.434" v="1563" actId="1076"/>
          <ac:picMkLst>
            <pc:docMk/>
            <pc:sldMk cId="2727756628" sldId="1355"/>
            <ac:picMk id="4098" creationId="{0B3C6304-ABCE-476D-B125-A2A8919A80E3}"/>
          </ac:picMkLst>
        </pc:picChg>
      </pc:sldChg>
      <pc:sldChg chg="addSp delSp modSp add mod">
        <pc:chgData name="Norbey Muñoz" userId="b7e811e8891ccd42" providerId="LiveId" clId="{2482167B-ADD3-4E68-AB8B-ADE9CECE27D0}" dt="2026-05-31T04:19:56.134" v="1583" actId="113"/>
        <pc:sldMkLst>
          <pc:docMk/>
          <pc:sldMk cId="1946576890" sldId="1356"/>
        </pc:sldMkLst>
        <pc:spChg chg="del">
          <ac:chgData name="Norbey Muñoz" userId="b7e811e8891ccd42" providerId="LiveId" clId="{2482167B-ADD3-4E68-AB8B-ADE9CECE27D0}" dt="2026-05-31T04:12:57.598" v="1566" actId="478"/>
          <ac:spMkLst>
            <pc:docMk/>
            <pc:sldMk cId="1946576890" sldId="1356"/>
            <ac:spMk id="3" creationId="{1101C227-1F1B-B0E1-3162-5DE204489758}"/>
          </ac:spMkLst>
        </pc:spChg>
        <pc:spChg chg="add del mod">
          <ac:chgData name="Norbey Muñoz" userId="b7e811e8891ccd42" providerId="LiveId" clId="{2482167B-ADD3-4E68-AB8B-ADE9CECE27D0}" dt="2026-05-31T04:18:40.708" v="1569" actId="478"/>
          <ac:spMkLst>
            <pc:docMk/>
            <pc:sldMk cId="1946576890" sldId="1356"/>
            <ac:spMk id="4" creationId="{30D95787-1B81-C1F0-C27F-AF9091BDF55A}"/>
          </ac:spMkLst>
        </pc:spChg>
        <pc:graphicFrameChg chg="add mod modGraphic">
          <ac:chgData name="Norbey Muñoz" userId="b7e811e8891ccd42" providerId="LiveId" clId="{2482167B-ADD3-4E68-AB8B-ADE9CECE27D0}" dt="2026-05-31T04:19:56.134" v="1583" actId="113"/>
          <ac:graphicFrameMkLst>
            <pc:docMk/>
            <pc:sldMk cId="1946576890" sldId="1356"/>
            <ac:graphicFrameMk id="5" creationId="{34F232B5-05A3-1309-0D17-4944B3A6E57E}"/>
          </ac:graphicFrameMkLst>
        </pc:graphicFrameChg>
        <pc:picChg chg="del">
          <ac:chgData name="Norbey Muñoz" userId="b7e811e8891ccd42" providerId="LiveId" clId="{2482167B-ADD3-4E68-AB8B-ADE9CECE27D0}" dt="2026-05-31T04:12:56.287" v="1565" actId="478"/>
          <ac:picMkLst>
            <pc:docMk/>
            <pc:sldMk cId="1946576890" sldId="1356"/>
            <ac:picMk id="4098" creationId="{8AD1652A-389D-D20C-7D13-17F90A679A88}"/>
          </ac:picMkLst>
        </pc:picChg>
      </pc:sldChg>
      <pc:sldMasterChg chg="delSldLayout">
        <pc:chgData name="Norbey Muñoz" userId="b7e811e8891ccd42" providerId="LiveId" clId="{2482167B-ADD3-4E68-AB8B-ADE9CECE27D0}" dt="2026-05-13T12:49:39.582" v="678" actId="47"/>
        <pc:sldMasterMkLst>
          <pc:docMk/>
          <pc:sldMasterMk cId="0" sldId="2147483648"/>
        </pc:sldMasterMkLst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2FCCD2-F6CA-473B-88A3-8B2E2B36BA48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5C2843E-CEA3-4132-ABB3-39E88AFDD2E2}">
      <dgm:prSet/>
      <dgm:spPr/>
      <dgm:t>
        <a:bodyPr/>
        <a:lstStyle/>
        <a:p>
          <a:pPr algn="just"/>
          <a:r>
            <a:rPr lang="es-CO" dirty="0"/>
            <a:t>Dato Estructurado</a:t>
          </a:r>
          <a:endParaRPr lang="en-US" dirty="0"/>
        </a:p>
      </dgm:t>
    </dgm:pt>
    <dgm:pt modelId="{0A7E0690-696D-41DF-A140-DB6D0D1405E6}" type="parTrans" cxnId="{1D553E79-369C-44B6-850D-E11E95A8FE9B}">
      <dgm:prSet/>
      <dgm:spPr/>
      <dgm:t>
        <a:bodyPr/>
        <a:lstStyle/>
        <a:p>
          <a:pPr algn="just"/>
          <a:endParaRPr lang="en-US"/>
        </a:p>
      </dgm:t>
    </dgm:pt>
    <dgm:pt modelId="{A858D757-5212-4E2C-BA4D-1626C32D970B}" type="sibTrans" cxnId="{1D553E79-369C-44B6-850D-E11E95A8FE9B}">
      <dgm:prSet/>
      <dgm:spPr/>
      <dgm:t>
        <a:bodyPr/>
        <a:lstStyle/>
        <a:p>
          <a:pPr algn="just"/>
          <a:endParaRPr lang="en-US"/>
        </a:p>
      </dgm:t>
    </dgm:pt>
    <dgm:pt modelId="{F02289FF-9DF9-42EC-9A48-F84D239FF492}">
      <dgm:prSet/>
      <dgm:spPr/>
      <dgm:t>
        <a:bodyPr/>
        <a:lstStyle/>
        <a:p>
          <a:pPr algn="just"/>
          <a:r>
            <a:rPr lang="es-CO" dirty="0"/>
            <a:t>Son los datos que se encuentran en las bases de datos transaccionales y operativas del negocio. </a:t>
          </a:r>
          <a:endParaRPr lang="en-US" dirty="0"/>
        </a:p>
      </dgm:t>
    </dgm:pt>
    <dgm:pt modelId="{DB39490E-9E68-4F1B-B195-4CA42CC6904B}" type="parTrans" cxnId="{DC0543FD-3F01-48CB-BB8E-A6103BE5BA53}">
      <dgm:prSet/>
      <dgm:spPr/>
      <dgm:t>
        <a:bodyPr/>
        <a:lstStyle/>
        <a:p>
          <a:pPr algn="just"/>
          <a:endParaRPr lang="en-US"/>
        </a:p>
      </dgm:t>
    </dgm:pt>
    <dgm:pt modelId="{1D90C5C1-9EF1-453F-9990-A27A825037F1}" type="sibTrans" cxnId="{DC0543FD-3F01-48CB-BB8E-A6103BE5BA53}">
      <dgm:prSet/>
      <dgm:spPr/>
      <dgm:t>
        <a:bodyPr/>
        <a:lstStyle/>
        <a:p>
          <a:pPr algn="just"/>
          <a:endParaRPr lang="en-US"/>
        </a:p>
      </dgm:t>
    </dgm:pt>
    <dgm:pt modelId="{400860D2-D762-4B26-8CA7-B1D9C5982B7C}">
      <dgm:prSet/>
      <dgm:spPr/>
      <dgm:t>
        <a:bodyPr/>
        <a:lstStyle/>
        <a:p>
          <a:pPr algn="just"/>
          <a:r>
            <a:rPr lang="es-CO"/>
            <a:t>Su organización principal es en filas y columnas con estructuras definidas previamente. </a:t>
          </a:r>
          <a:endParaRPr lang="en-US"/>
        </a:p>
      </dgm:t>
    </dgm:pt>
    <dgm:pt modelId="{7E3194A9-BD0C-4CC5-A096-65B2CE01C98E}" type="parTrans" cxnId="{F309448F-1067-456B-B28E-AABE0AEF78BD}">
      <dgm:prSet/>
      <dgm:spPr/>
      <dgm:t>
        <a:bodyPr/>
        <a:lstStyle/>
        <a:p>
          <a:pPr algn="just"/>
          <a:endParaRPr lang="en-US"/>
        </a:p>
      </dgm:t>
    </dgm:pt>
    <dgm:pt modelId="{81B2FA8F-E13B-4C8F-8A2E-663C0515419E}" type="sibTrans" cxnId="{F309448F-1067-456B-B28E-AABE0AEF78BD}">
      <dgm:prSet/>
      <dgm:spPr/>
      <dgm:t>
        <a:bodyPr/>
        <a:lstStyle/>
        <a:p>
          <a:pPr algn="just"/>
          <a:endParaRPr lang="en-US"/>
        </a:p>
      </dgm:t>
    </dgm:pt>
    <dgm:pt modelId="{17C4F558-A83D-4E7F-9D63-ED02F2717D30}">
      <dgm:prSet/>
      <dgm:spPr/>
      <dgm:t>
        <a:bodyPr/>
        <a:lstStyle/>
        <a:p>
          <a:pPr algn="just"/>
          <a:r>
            <a:rPr lang="es-CO"/>
            <a:t>Son datos que pueden ser ordenados y procesados en las herramientas de análisis de datos.</a:t>
          </a:r>
          <a:endParaRPr lang="en-US"/>
        </a:p>
      </dgm:t>
    </dgm:pt>
    <dgm:pt modelId="{09596FC2-9416-44B5-9932-3BA218935906}" type="parTrans" cxnId="{F7BDF66C-D60A-4857-B89E-9780574F43E5}">
      <dgm:prSet/>
      <dgm:spPr/>
      <dgm:t>
        <a:bodyPr/>
        <a:lstStyle/>
        <a:p>
          <a:pPr algn="just"/>
          <a:endParaRPr lang="en-US"/>
        </a:p>
      </dgm:t>
    </dgm:pt>
    <dgm:pt modelId="{CD55E14C-9F6F-415D-9AC2-2E1FE555E583}" type="sibTrans" cxnId="{F7BDF66C-D60A-4857-B89E-9780574F43E5}">
      <dgm:prSet/>
      <dgm:spPr/>
      <dgm:t>
        <a:bodyPr/>
        <a:lstStyle/>
        <a:p>
          <a:pPr algn="just"/>
          <a:endParaRPr lang="en-US"/>
        </a:p>
      </dgm:t>
    </dgm:pt>
    <dgm:pt modelId="{37F7F49B-C169-4EF9-855D-6559A8941801}">
      <dgm:prSet/>
      <dgm:spPr/>
      <dgm:t>
        <a:bodyPr/>
        <a:lstStyle/>
        <a:p>
          <a:pPr algn="just"/>
          <a:r>
            <a:rPr lang="es-CO" dirty="0"/>
            <a:t>Dato No Estructurado</a:t>
          </a:r>
          <a:endParaRPr lang="en-US" dirty="0"/>
        </a:p>
      </dgm:t>
    </dgm:pt>
    <dgm:pt modelId="{9B752694-E1D3-45A5-84D3-6D6EBDECFCDD}" type="parTrans" cxnId="{3EBA67B5-9304-44C7-8105-92E3E79C7B22}">
      <dgm:prSet/>
      <dgm:spPr/>
      <dgm:t>
        <a:bodyPr/>
        <a:lstStyle/>
        <a:p>
          <a:pPr algn="just"/>
          <a:endParaRPr lang="en-US"/>
        </a:p>
      </dgm:t>
    </dgm:pt>
    <dgm:pt modelId="{40A4158C-66B5-41F1-A94C-B48C6B24FFC8}" type="sibTrans" cxnId="{3EBA67B5-9304-44C7-8105-92E3E79C7B22}">
      <dgm:prSet/>
      <dgm:spPr/>
      <dgm:t>
        <a:bodyPr/>
        <a:lstStyle/>
        <a:p>
          <a:pPr algn="just"/>
          <a:endParaRPr lang="en-US"/>
        </a:p>
      </dgm:t>
    </dgm:pt>
    <dgm:pt modelId="{AF1DF363-1198-4F2D-B4E6-5F70B6A178B9}">
      <dgm:prSet/>
      <dgm:spPr/>
      <dgm:t>
        <a:bodyPr/>
        <a:lstStyle/>
        <a:p>
          <a:pPr algn="just"/>
          <a:r>
            <a:rPr lang="es-CO"/>
            <a:t>Los datos no estructurados no tienen estructura interna identificable. </a:t>
          </a:r>
          <a:endParaRPr lang="en-US"/>
        </a:p>
      </dgm:t>
    </dgm:pt>
    <dgm:pt modelId="{77F3712F-2FAE-4715-BEC7-8A9109A776B0}" type="parTrans" cxnId="{DA72533B-D7D8-47A5-A9B1-746F127F55D1}">
      <dgm:prSet/>
      <dgm:spPr/>
      <dgm:t>
        <a:bodyPr/>
        <a:lstStyle/>
        <a:p>
          <a:pPr algn="just"/>
          <a:endParaRPr lang="en-US"/>
        </a:p>
      </dgm:t>
    </dgm:pt>
    <dgm:pt modelId="{01C3A89D-A21D-464A-BB5A-917C2BD032F8}" type="sibTrans" cxnId="{DA72533B-D7D8-47A5-A9B1-746F127F55D1}">
      <dgm:prSet/>
      <dgm:spPr/>
      <dgm:t>
        <a:bodyPr/>
        <a:lstStyle/>
        <a:p>
          <a:pPr algn="just"/>
          <a:endParaRPr lang="en-US"/>
        </a:p>
      </dgm:t>
    </dgm:pt>
    <dgm:pt modelId="{DD6A46CD-9D0E-4690-A87A-777358697050}">
      <dgm:prSet/>
      <dgm:spPr/>
      <dgm:t>
        <a:bodyPr/>
        <a:lstStyle/>
        <a:p>
          <a:pPr algn="just"/>
          <a:r>
            <a:rPr lang="es-CO" dirty="0"/>
            <a:t>Son masivos y desorganizados que no tienen valor hasta que se procesan y se sacan datos estructurados de ellos a través de técnicas como: </a:t>
          </a:r>
          <a:r>
            <a:rPr lang="en-US" dirty="0"/>
            <a:t>Image Processing, NLP, Voice Recognition</a:t>
          </a:r>
        </a:p>
      </dgm:t>
    </dgm:pt>
    <dgm:pt modelId="{AFD1E0F1-9C19-4188-B90F-A2CB29B47F6A}" type="parTrans" cxnId="{FB78A3BD-E176-4C46-B959-28BD47E7798C}">
      <dgm:prSet/>
      <dgm:spPr/>
      <dgm:t>
        <a:bodyPr/>
        <a:lstStyle/>
        <a:p>
          <a:pPr algn="just"/>
          <a:endParaRPr lang="en-US"/>
        </a:p>
      </dgm:t>
    </dgm:pt>
    <dgm:pt modelId="{60DE2980-8794-47C0-921B-730A619766E3}" type="sibTrans" cxnId="{FB78A3BD-E176-4C46-B959-28BD47E7798C}">
      <dgm:prSet/>
      <dgm:spPr/>
      <dgm:t>
        <a:bodyPr/>
        <a:lstStyle/>
        <a:p>
          <a:pPr algn="just"/>
          <a:endParaRPr lang="en-US"/>
        </a:p>
      </dgm:t>
    </dgm:pt>
    <dgm:pt modelId="{D4719EE8-B42A-423D-910A-7E3019D1E7EB}">
      <dgm:prSet/>
      <dgm:spPr/>
      <dgm:t>
        <a:bodyPr/>
        <a:lstStyle/>
        <a:p>
          <a:pPr algn="just"/>
          <a:r>
            <a:rPr lang="es-CO"/>
            <a:t>Conocida como el contenido</a:t>
          </a:r>
          <a:endParaRPr lang="en-US"/>
        </a:p>
      </dgm:t>
    </dgm:pt>
    <dgm:pt modelId="{6598F272-62C7-498C-ACEB-E37C233E4280}" type="parTrans" cxnId="{27BEEAB3-E097-49BF-B18B-77E3D56D1AEF}">
      <dgm:prSet/>
      <dgm:spPr/>
      <dgm:t>
        <a:bodyPr/>
        <a:lstStyle/>
        <a:p>
          <a:pPr algn="just"/>
          <a:endParaRPr lang="en-US"/>
        </a:p>
      </dgm:t>
    </dgm:pt>
    <dgm:pt modelId="{F51CFAFA-956F-47CC-B42D-48E800DB7928}" type="sibTrans" cxnId="{27BEEAB3-E097-49BF-B18B-77E3D56D1AEF}">
      <dgm:prSet/>
      <dgm:spPr/>
      <dgm:t>
        <a:bodyPr/>
        <a:lstStyle/>
        <a:p>
          <a:pPr algn="just"/>
          <a:endParaRPr lang="en-US"/>
        </a:p>
      </dgm:t>
    </dgm:pt>
    <dgm:pt modelId="{AA06F42F-A9E6-430D-BE93-45C1D562A0E9}" type="pres">
      <dgm:prSet presAssocID="{AA2FCCD2-F6CA-473B-88A3-8B2E2B36BA48}" presName="linear" presStyleCnt="0">
        <dgm:presLayoutVars>
          <dgm:dir/>
          <dgm:animLvl val="lvl"/>
          <dgm:resizeHandles val="exact"/>
        </dgm:presLayoutVars>
      </dgm:prSet>
      <dgm:spPr/>
    </dgm:pt>
    <dgm:pt modelId="{0D2F8A2E-403D-44CB-8D55-A191FAE774F3}" type="pres">
      <dgm:prSet presAssocID="{65C2843E-CEA3-4132-ABB3-39E88AFDD2E2}" presName="parentLin" presStyleCnt="0"/>
      <dgm:spPr/>
    </dgm:pt>
    <dgm:pt modelId="{783EB65C-9AC9-45FD-85D3-D0AB7060E0ED}" type="pres">
      <dgm:prSet presAssocID="{65C2843E-CEA3-4132-ABB3-39E88AFDD2E2}" presName="parentLeftMargin" presStyleLbl="node1" presStyleIdx="0" presStyleCnt="2"/>
      <dgm:spPr/>
    </dgm:pt>
    <dgm:pt modelId="{C7A8AD1F-0528-4581-BCA8-AFA87CF5D2B9}" type="pres">
      <dgm:prSet presAssocID="{65C2843E-CEA3-4132-ABB3-39E88AFDD2E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87FD634-F455-4A72-8F14-5AD223FBA8DC}" type="pres">
      <dgm:prSet presAssocID="{65C2843E-CEA3-4132-ABB3-39E88AFDD2E2}" presName="negativeSpace" presStyleCnt="0"/>
      <dgm:spPr/>
    </dgm:pt>
    <dgm:pt modelId="{987E3C4F-7F88-4A17-A05F-C65E81C7DD60}" type="pres">
      <dgm:prSet presAssocID="{65C2843E-CEA3-4132-ABB3-39E88AFDD2E2}" presName="childText" presStyleLbl="conFgAcc1" presStyleIdx="0" presStyleCnt="2">
        <dgm:presLayoutVars>
          <dgm:bulletEnabled val="1"/>
        </dgm:presLayoutVars>
      </dgm:prSet>
      <dgm:spPr/>
    </dgm:pt>
    <dgm:pt modelId="{4A11F172-574A-45B9-97CC-42341E1C805E}" type="pres">
      <dgm:prSet presAssocID="{A858D757-5212-4E2C-BA4D-1626C32D970B}" presName="spaceBetweenRectangles" presStyleCnt="0"/>
      <dgm:spPr/>
    </dgm:pt>
    <dgm:pt modelId="{49B0FB69-7848-43BD-A63D-37AA2DA558F8}" type="pres">
      <dgm:prSet presAssocID="{37F7F49B-C169-4EF9-855D-6559A8941801}" presName="parentLin" presStyleCnt="0"/>
      <dgm:spPr/>
    </dgm:pt>
    <dgm:pt modelId="{70DD6389-82E7-4CB0-857F-EE0A673BAB35}" type="pres">
      <dgm:prSet presAssocID="{37F7F49B-C169-4EF9-855D-6559A8941801}" presName="parentLeftMargin" presStyleLbl="node1" presStyleIdx="0" presStyleCnt="2"/>
      <dgm:spPr/>
    </dgm:pt>
    <dgm:pt modelId="{2C8DB236-B0CC-4D4D-9CEB-92F71492C64D}" type="pres">
      <dgm:prSet presAssocID="{37F7F49B-C169-4EF9-855D-6559A894180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A874745-B708-4E85-8D0A-5FA9DC22D936}" type="pres">
      <dgm:prSet presAssocID="{37F7F49B-C169-4EF9-855D-6559A8941801}" presName="negativeSpace" presStyleCnt="0"/>
      <dgm:spPr/>
    </dgm:pt>
    <dgm:pt modelId="{F92B3DD2-8B7B-4E0C-A08A-DC5041D056FC}" type="pres">
      <dgm:prSet presAssocID="{37F7F49B-C169-4EF9-855D-6559A8941801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C6940814-4350-473E-811B-D0AC1F497683}" type="presOf" srcId="{DD6A46CD-9D0E-4690-A87A-777358697050}" destId="{F92B3DD2-8B7B-4E0C-A08A-DC5041D056FC}" srcOrd="0" destOrd="1" presId="urn:microsoft.com/office/officeart/2005/8/layout/list1"/>
    <dgm:cxn modelId="{DA72533B-D7D8-47A5-A9B1-746F127F55D1}" srcId="{37F7F49B-C169-4EF9-855D-6559A8941801}" destId="{AF1DF363-1198-4F2D-B4E6-5F70B6A178B9}" srcOrd="0" destOrd="0" parTransId="{77F3712F-2FAE-4715-BEC7-8A9109A776B0}" sibTransId="{01C3A89D-A21D-464A-BB5A-917C2BD032F8}"/>
    <dgm:cxn modelId="{05F99C40-B02D-4235-95DD-2316E0A67831}" type="presOf" srcId="{AA2FCCD2-F6CA-473B-88A3-8B2E2B36BA48}" destId="{AA06F42F-A9E6-430D-BE93-45C1D562A0E9}" srcOrd="0" destOrd="0" presId="urn:microsoft.com/office/officeart/2005/8/layout/list1"/>
    <dgm:cxn modelId="{F12FD864-3993-430B-863E-D822FE8D5051}" type="presOf" srcId="{65C2843E-CEA3-4132-ABB3-39E88AFDD2E2}" destId="{783EB65C-9AC9-45FD-85D3-D0AB7060E0ED}" srcOrd="0" destOrd="0" presId="urn:microsoft.com/office/officeart/2005/8/layout/list1"/>
    <dgm:cxn modelId="{F7BDF66C-D60A-4857-B89E-9780574F43E5}" srcId="{65C2843E-CEA3-4132-ABB3-39E88AFDD2E2}" destId="{17C4F558-A83D-4E7F-9D63-ED02F2717D30}" srcOrd="2" destOrd="0" parTransId="{09596FC2-9416-44B5-9932-3BA218935906}" sibTransId="{CD55E14C-9F6F-415D-9AC2-2E1FE555E583}"/>
    <dgm:cxn modelId="{1D553E79-369C-44B6-850D-E11E95A8FE9B}" srcId="{AA2FCCD2-F6CA-473B-88A3-8B2E2B36BA48}" destId="{65C2843E-CEA3-4132-ABB3-39E88AFDD2E2}" srcOrd="0" destOrd="0" parTransId="{0A7E0690-696D-41DF-A140-DB6D0D1405E6}" sibTransId="{A858D757-5212-4E2C-BA4D-1626C32D970B}"/>
    <dgm:cxn modelId="{22799783-0BEF-436B-89CC-AE109A5959FA}" type="presOf" srcId="{AF1DF363-1198-4F2D-B4E6-5F70B6A178B9}" destId="{F92B3DD2-8B7B-4E0C-A08A-DC5041D056FC}" srcOrd="0" destOrd="0" presId="urn:microsoft.com/office/officeart/2005/8/layout/list1"/>
    <dgm:cxn modelId="{F309448F-1067-456B-B28E-AABE0AEF78BD}" srcId="{65C2843E-CEA3-4132-ABB3-39E88AFDD2E2}" destId="{400860D2-D762-4B26-8CA7-B1D9C5982B7C}" srcOrd="1" destOrd="0" parTransId="{7E3194A9-BD0C-4CC5-A096-65B2CE01C98E}" sibTransId="{81B2FA8F-E13B-4C8F-8A2E-663C0515419E}"/>
    <dgm:cxn modelId="{5C00789B-48CD-42C1-9369-FA197A1E539A}" type="presOf" srcId="{D4719EE8-B42A-423D-910A-7E3019D1E7EB}" destId="{F92B3DD2-8B7B-4E0C-A08A-DC5041D056FC}" srcOrd="0" destOrd="2" presId="urn:microsoft.com/office/officeart/2005/8/layout/list1"/>
    <dgm:cxn modelId="{0D2DF1B0-73E3-489C-B491-90BB827DE1C0}" type="presOf" srcId="{17C4F558-A83D-4E7F-9D63-ED02F2717D30}" destId="{987E3C4F-7F88-4A17-A05F-C65E81C7DD60}" srcOrd="0" destOrd="2" presId="urn:microsoft.com/office/officeart/2005/8/layout/list1"/>
    <dgm:cxn modelId="{27BEEAB3-E097-49BF-B18B-77E3D56D1AEF}" srcId="{37F7F49B-C169-4EF9-855D-6559A8941801}" destId="{D4719EE8-B42A-423D-910A-7E3019D1E7EB}" srcOrd="2" destOrd="0" parTransId="{6598F272-62C7-498C-ACEB-E37C233E4280}" sibTransId="{F51CFAFA-956F-47CC-B42D-48E800DB7928}"/>
    <dgm:cxn modelId="{3EBA67B5-9304-44C7-8105-92E3E79C7B22}" srcId="{AA2FCCD2-F6CA-473B-88A3-8B2E2B36BA48}" destId="{37F7F49B-C169-4EF9-855D-6559A8941801}" srcOrd="1" destOrd="0" parTransId="{9B752694-E1D3-45A5-84D3-6D6EBDECFCDD}" sibTransId="{40A4158C-66B5-41F1-A94C-B48C6B24FFC8}"/>
    <dgm:cxn modelId="{C52FC8BC-0BA0-4C98-AAAC-A421B010760F}" type="presOf" srcId="{37F7F49B-C169-4EF9-855D-6559A8941801}" destId="{70DD6389-82E7-4CB0-857F-EE0A673BAB35}" srcOrd="0" destOrd="0" presId="urn:microsoft.com/office/officeart/2005/8/layout/list1"/>
    <dgm:cxn modelId="{FB78A3BD-E176-4C46-B959-28BD47E7798C}" srcId="{37F7F49B-C169-4EF9-855D-6559A8941801}" destId="{DD6A46CD-9D0E-4690-A87A-777358697050}" srcOrd="1" destOrd="0" parTransId="{AFD1E0F1-9C19-4188-B90F-A2CB29B47F6A}" sibTransId="{60DE2980-8794-47C0-921B-730A619766E3}"/>
    <dgm:cxn modelId="{F52A72DB-2AC4-4212-B72F-C324B442A12F}" type="presOf" srcId="{F02289FF-9DF9-42EC-9A48-F84D239FF492}" destId="{987E3C4F-7F88-4A17-A05F-C65E81C7DD60}" srcOrd="0" destOrd="0" presId="urn:microsoft.com/office/officeart/2005/8/layout/list1"/>
    <dgm:cxn modelId="{C891ABF7-E199-4042-BA6B-D729CBA307A4}" type="presOf" srcId="{65C2843E-CEA3-4132-ABB3-39E88AFDD2E2}" destId="{C7A8AD1F-0528-4581-BCA8-AFA87CF5D2B9}" srcOrd="1" destOrd="0" presId="urn:microsoft.com/office/officeart/2005/8/layout/list1"/>
    <dgm:cxn modelId="{DC0543FD-3F01-48CB-BB8E-A6103BE5BA53}" srcId="{65C2843E-CEA3-4132-ABB3-39E88AFDD2E2}" destId="{F02289FF-9DF9-42EC-9A48-F84D239FF492}" srcOrd="0" destOrd="0" parTransId="{DB39490E-9E68-4F1B-B195-4CA42CC6904B}" sibTransId="{1D90C5C1-9EF1-453F-9990-A27A825037F1}"/>
    <dgm:cxn modelId="{F6F9CEFD-3E09-4EE1-B964-DAC18B91AA8C}" type="presOf" srcId="{400860D2-D762-4B26-8CA7-B1D9C5982B7C}" destId="{987E3C4F-7F88-4A17-A05F-C65E81C7DD60}" srcOrd="0" destOrd="1" presId="urn:microsoft.com/office/officeart/2005/8/layout/list1"/>
    <dgm:cxn modelId="{6CB01EFF-8F14-4EBF-B6F3-9A3A3533A789}" type="presOf" srcId="{37F7F49B-C169-4EF9-855D-6559A8941801}" destId="{2C8DB236-B0CC-4D4D-9CEB-92F71492C64D}" srcOrd="1" destOrd="0" presId="urn:microsoft.com/office/officeart/2005/8/layout/list1"/>
    <dgm:cxn modelId="{72B643A1-CD3E-428C-A832-3A3EEC96D473}" type="presParOf" srcId="{AA06F42F-A9E6-430D-BE93-45C1D562A0E9}" destId="{0D2F8A2E-403D-44CB-8D55-A191FAE774F3}" srcOrd="0" destOrd="0" presId="urn:microsoft.com/office/officeart/2005/8/layout/list1"/>
    <dgm:cxn modelId="{17155EA6-5AD8-4E40-B970-97016C136972}" type="presParOf" srcId="{0D2F8A2E-403D-44CB-8D55-A191FAE774F3}" destId="{783EB65C-9AC9-45FD-85D3-D0AB7060E0ED}" srcOrd="0" destOrd="0" presId="urn:microsoft.com/office/officeart/2005/8/layout/list1"/>
    <dgm:cxn modelId="{11BF30C0-7B46-4CEA-925A-018929CB5C37}" type="presParOf" srcId="{0D2F8A2E-403D-44CB-8D55-A191FAE774F3}" destId="{C7A8AD1F-0528-4581-BCA8-AFA87CF5D2B9}" srcOrd="1" destOrd="0" presId="urn:microsoft.com/office/officeart/2005/8/layout/list1"/>
    <dgm:cxn modelId="{5A3BBFA2-DFB9-4ADE-835F-40489F11E393}" type="presParOf" srcId="{AA06F42F-A9E6-430D-BE93-45C1D562A0E9}" destId="{087FD634-F455-4A72-8F14-5AD223FBA8DC}" srcOrd="1" destOrd="0" presId="urn:microsoft.com/office/officeart/2005/8/layout/list1"/>
    <dgm:cxn modelId="{A2329AC0-25C6-4F03-BAF9-AF4CE3DB076D}" type="presParOf" srcId="{AA06F42F-A9E6-430D-BE93-45C1D562A0E9}" destId="{987E3C4F-7F88-4A17-A05F-C65E81C7DD60}" srcOrd="2" destOrd="0" presId="urn:microsoft.com/office/officeart/2005/8/layout/list1"/>
    <dgm:cxn modelId="{42300F22-EEEC-4398-B663-859DD8812B3D}" type="presParOf" srcId="{AA06F42F-A9E6-430D-BE93-45C1D562A0E9}" destId="{4A11F172-574A-45B9-97CC-42341E1C805E}" srcOrd="3" destOrd="0" presId="urn:microsoft.com/office/officeart/2005/8/layout/list1"/>
    <dgm:cxn modelId="{D953F6D6-2777-4EB8-BBC9-A08EAE990F6A}" type="presParOf" srcId="{AA06F42F-A9E6-430D-BE93-45C1D562A0E9}" destId="{49B0FB69-7848-43BD-A63D-37AA2DA558F8}" srcOrd="4" destOrd="0" presId="urn:microsoft.com/office/officeart/2005/8/layout/list1"/>
    <dgm:cxn modelId="{D8EC1CCE-8CA0-4E01-B497-93496E7EB7BE}" type="presParOf" srcId="{49B0FB69-7848-43BD-A63D-37AA2DA558F8}" destId="{70DD6389-82E7-4CB0-857F-EE0A673BAB35}" srcOrd="0" destOrd="0" presId="urn:microsoft.com/office/officeart/2005/8/layout/list1"/>
    <dgm:cxn modelId="{B4CBAD8B-0E21-4E0F-8D7A-B9F301098BA9}" type="presParOf" srcId="{49B0FB69-7848-43BD-A63D-37AA2DA558F8}" destId="{2C8DB236-B0CC-4D4D-9CEB-92F71492C64D}" srcOrd="1" destOrd="0" presId="urn:microsoft.com/office/officeart/2005/8/layout/list1"/>
    <dgm:cxn modelId="{97BAF189-DF28-4B91-A213-E1E780AEAEC0}" type="presParOf" srcId="{AA06F42F-A9E6-430D-BE93-45C1D562A0E9}" destId="{7A874745-B708-4E85-8D0A-5FA9DC22D936}" srcOrd="5" destOrd="0" presId="urn:microsoft.com/office/officeart/2005/8/layout/list1"/>
    <dgm:cxn modelId="{CE727F24-0277-49EA-95B2-158A1C6C99E8}" type="presParOf" srcId="{AA06F42F-A9E6-430D-BE93-45C1D562A0E9}" destId="{F92B3DD2-8B7B-4E0C-A08A-DC5041D056F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0E58F1-E490-4AF6-B3AA-A5BFE390980A}" type="doc">
      <dgm:prSet loTypeId="urn:microsoft.com/office/officeart/2005/8/layout/hierarchy1" loCatId="hierarchy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2DA76DF-7EB5-4A73-A8F1-2762C6D8489D}">
      <dgm:prSet/>
      <dgm:spPr/>
      <dgm:t>
        <a:bodyPr/>
        <a:lstStyle/>
        <a:p>
          <a:r>
            <a:rPr lang="es-CO" dirty="0"/>
            <a:t>Es uno de los resultados del Análisis Exploratorio de Datos - EDA</a:t>
          </a:r>
          <a:endParaRPr lang="en-US" dirty="0"/>
        </a:p>
      </dgm:t>
    </dgm:pt>
    <dgm:pt modelId="{36EDFAC9-13A6-4E40-9DE8-45030C8DBF75}" type="parTrans" cxnId="{811AAAC5-8ECF-46AD-8F83-13843480A534}">
      <dgm:prSet/>
      <dgm:spPr/>
      <dgm:t>
        <a:bodyPr/>
        <a:lstStyle/>
        <a:p>
          <a:endParaRPr lang="en-US"/>
        </a:p>
      </dgm:t>
    </dgm:pt>
    <dgm:pt modelId="{A4880F65-1A7C-4642-99CB-8B9DE547D73F}" type="sibTrans" cxnId="{811AAAC5-8ECF-46AD-8F83-13843480A534}">
      <dgm:prSet/>
      <dgm:spPr/>
      <dgm:t>
        <a:bodyPr/>
        <a:lstStyle/>
        <a:p>
          <a:endParaRPr lang="en-US"/>
        </a:p>
      </dgm:t>
    </dgm:pt>
    <dgm:pt modelId="{9338003F-E3C0-46E0-A200-8C13A7C319B1}">
      <dgm:prSet/>
      <dgm:spPr/>
      <dgm:t>
        <a:bodyPr/>
        <a:lstStyle/>
        <a:p>
          <a:r>
            <a:rPr lang="es-CO"/>
            <a:t>También se podría realizar como un proceso independiente de la Gestión de Datos</a:t>
          </a:r>
          <a:endParaRPr lang="en-US"/>
        </a:p>
      </dgm:t>
    </dgm:pt>
    <dgm:pt modelId="{7303BCE3-C1D5-4102-B16D-E69926645E63}" type="parTrans" cxnId="{B10ADBA9-33A5-47C7-BDEB-A34BA72CD081}">
      <dgm:prSet/>
      <dgm:spPr/>
      <dgm:t>
        <a:bodyPr/>
        <a:lstStyle/>
        <a:p>
          <a:endParaRPr lang="en-US"/>
        </a:p>
      </dgm:t>
    </dgm:pt>
    <dgm:pt modelId="{48C88B63-EE90-4382-B47C-8516371B3B79}" type="sibTrans" cxnId="{B10ADBA9-33A5-47C7-BDEB-A34BA72CD081}">
      <dgm:prSet/>
      <dgm:spPr/>
      <dgm:t>
        <a:bodyPr/>
        <a:lstStyle/>
        <a:p>
          <a:endParaRPr lang="en-US"/>
        </a:p>
      </dgm:t>
    </dgm:pt>
    <dgm:pt modelId="{F5E73617-EDF5-4B41-B85D-2D6B33770675}" type="pres">
      <dgm:prSet presAssocID="{F30E58F1-E490-4AF6-B3AA-A5BFE390980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81468979-1BE0-45BC-A4A5-E7623F451548}" type="pres">
      <dgm:prSet presAssocID="{B2DA76DF-7EB5-4A73-A8F1-2762C6D8489D}" presName="hierRoot1" presStyleCnt="0"/>
      <dgm:spPr/>
    </dgm:pt>
    <dgm:pt modelId="{A7AF82CC-4B42-4805-9397-F07265178A37}" type="pres">
      <dgm:prSet presAssocID="{B2DA76DF-7EB5-4A73-A8F1-2762C6D8489D}" presName="composite" presStyleCnt="0"/>
      <dgm:spPr/>
    </dgm:pt>
    <dgm:pt modelId="{032E1589-0C24-48A3-9499-B6370ED6BCFC}" type="pres">
      <dgm:prSet presAssocID="{B2DA76DF-7EB5-4A73-A8F1-2762C6D8489D}" presName="background" presStyleLbl="node0" presStyleIdx="0" presStyleCnt="2"/>
      <dgm:spPr/>
    </dgm:pt>
    <dgm:pt modelId="{49445FF9-A054-43D0-AD2A-A45EE9E5394F}" type="pres">
      <dgm:prSet presAssocID="{B2DA76DF-7EB5-4A73-A8F1-2762C6D8489D}" presName="text" presStyleLbl="fgAcc0" presStyleIdx="0" presStyleCnt="2">
        <dgm:presLayoutVars>
          <dgm:chPref val="3"/>
        </dgm:presLayoutVars>
      </dgm:prSet>
      <dgm:spPr/>
    </dgm:pt>
    <dgm:pt modelId="{3F544D86-AD5A-411C-86E3-E233F13D7ED2}" type="pres">
      <dgm:prSet presAssocID="{B2DA76DF-7EB5-4A73-A8F1-2762C6D8489D}" presName="hierChild2" presStyleCnt="0"/>
      <dgm:spPr/>
    </dgm:pt>
    <dgm:pt modelId="{BD80A09E-46A0-43A9-8B71-79C49452C1F5}" type="pres">
      <dgm:prSet presAssocID="{9338003F-E3C0-46E0-A200-8C13A7C319B1}" presName="hierRoot1" presStyleCnt="0"/>
      <dgm:spPr/>
    </dgm:pt>
    <dgm:pt modelId="{DCFA09F4-C2D2-488D-BFCE-86AF25D6FAF8}" type="pres">
      <dgm:prSet presAssocID="{9338003F-E3C0-46E0-A200-8C13A7C319B1}" presName="composite" presStyleCnt="0"/>
      <dgm:spPr/>
    </dgm:pt>
    <dgm:pt modelId="{09249D34-C973-4EB5-829A-B4FA7237AFBE}" type="pres">
      <dgm:prSet presAssocID="{9338003F-E3C0-46E0-A200-8C13A7C319B1}" presName="background" presStyleLbl="node0" presStyleIdx="1" presStyleCnt="2"/>
      <dgm:spPr/>
    </dgm:pt>
    <dgm:pt modelId="{913B9C0B-2A7C-42D9-B7E2-EE03A3D49AAC}" type="pres">
      <dgm:prSet presAssocID="{9338003F-E3C0-46E0-A200-8C13A7C319B1}" presName="text" presStyleLbl="fgAcc0" presStyleIdx="1" presStyleCnt="2">
        <dgm:presLayoutVars>
          <dgm:chPref val="3"/>
        </dgm:presLayoutVars>
      </dgm:prSet>
      <dgm:spPr/>
    </dgm:pt>
    <dgm:pt modelId="{2805F16D-F104-4D7E-B99F-82D523D6FBA4}" type="pres">
      <dgm:prSet presAssocID="{9338003F-E3C0-46E0-A200-8C13A7C319B1}" presName="hierChild2" presStyleCnt="0"/>
      <dgm:spPr/>
    </dgm:pt>
  </dgm:ptLst>
  <dgm:cxnLst>
    <dgm:cxn modelId="{A8B56E28-87D6-48D2-92B1-0A75891AF276}" type="presOf" srcId="{B2DA76DF-7EB5-4A73-A8F1-2762C6D8489D}" destId="{49445FF9-A054-43D0-AD2A-A45EE9E5394F}" srcOrd="0" destOrd="0" presId="urn:microsoft.com/office/officeart/2005/8/layout/hierarchy1"/>
    <dgm:cxn modelId="{6D772D65-2C9B-458C-8898-81519346AE59}" type="presOf" srcId="{9338003F-E3C0-46E0-A200-8C13A7C319B1}" destId="{913B9C0B-2A7C-42D9-B7E2-EE03A3D49AAC}" srcOrd="0" destOrd="0" presId="urn:microsoft.com/office/officeart/2005/8/layout/hierarchy1"/>
    <dgm:cxn modelId="{C3D3689A-CAAC-4590-97A6-1D005D566307}" type="presOf" srcId="{F30E58F1-E490-4AF6-B3AA-A5BFE390980A}" destId="{F5E73617-EDF5-4B41-B85D-2D6B33770675}" srcOrd="0" destOrd="0" presId="urn:microsoft.com/office/officeart/2005/8/layout/hierarchy1"/>
    <dgm:cxn modelId="{B10ADBA9-33A5-47C7-BDEB-A34BA72CD081}" srcId="{F30E58F1-E490-4AF6-B3AA-A5BFE390980A}" destId="{9338003F-E3C0-46E0-A200-8C13A7C319B1}" srcOrd="1" destOrd="0" parTransId="{7303BCE3-C1D5-4102-B16D-E69926645E63}" sibTransId="{48C88B63-EE90-4382-B47C-8516371B3B79}"/>
    <dgm:cxn modelId="{811AAAC5-8ECF-46AD-8F83-13843480A534}" srcId="{F30E58F1-E490-4AF6-B3AA-A5BFE390980A}" destId="{B2DA76DF-7EB5-4A73-A8F1-2762C6D8489D}" srcOrd="0" destOrd="0" parTransId="{36EDFAC9-13A6-4E40-9DE8-45030C8DBF75}" sibTransId="{A4880F65-1A7C-4642-99CB-8B9DE547D73F}"/>
    <dgm:cxn modelId="{CBC8342B-3887-40D6-A318-75F8DB77E134}" type="presParOf" srcId="{F5E73617-EDF5-4B41-B85D-2D6B33770675}" destId="{81468979-1BE0-45BC-A4A5-E7623F451548}" srcOrd="0" destOrd="0" presId="urn:microsoft.com/office/officeart/2005/8/layout/hierarchy1"/>
    <dgm:cxn modelId="{F88A97AE-94EB-4202-8821-2E317FF5BAE8}" type="presParOf" srcId="{81468979-1BE0-45BC-A4A5-E7623F451548}" destId="{A7AF82CC-4B42-4805-9397-F07265178A37}" srcOrd="0" destOrd="0" presId="urn:microsoft.com/office/officeart/2005/8/layout/hierarchy1"/>
    <dgm:cxn modelId="{DFD42D59-1D27-461E-9876-BF0BB3B16ED3}" type="presParOf" srcId="{A7AF82CC-4B42-4805-9397-F07265178A37}" destId="{032E1589-0C24-48A3-9499-B6370ED6BCFC}" srcOrd="0" destOrd="0" presId="urn:microsoft.com/office/officeart/2005/8/layout/hierarchy1"/>
    <dgm:cxn modelId="{F0A7ED77-2DA0-4E8F-8971-CDBCF0386D3C}" type="presParOf" srcId="{A7AF82CC-4B42-4805-9397-F07265178A37}" destId="{49445FF9-A054-43D0-AD2A-A45EE9E5394F}" srcOrd="1" destOrd="0" presId="urn:microsoft.com/office/officeart/2005/8/layout/hierarchy1"/>
    <dgm:cxn modelId="{B1D82D19-4F4B-4BA1-84AA-78842D847787}" type="presParOf" srcId="{81468979-1BE0-45BC-A4A5-E7623F451548}" destId="{3F544D86-AD5A-411C-86E3-E233F13D7ED2}" srcOrd="1" destOrd="0" presId="urn:microsoft.com/office/officeart/2005/8/layout/hierarchy1"/>
    <dgm:cxn modelId="{D18C3CD6-CC00-4CB9-8270-BE8BABE9FFCA}" type="presParOf" srcId="{F5E73617-EDF5-4B41-B85D-2D6B33770675}" destId="{BD80A09E-46A0-43A9-8B71-79C49452C1F5}" srcOrd="1" destOrd="0" presId="urn:microsoft.com/office/officeart/2005/8/layout/hierarchy1"/>
    <dgm:cxn modelId="{199E98C6-F276-4614-A2E8-1C287E9B4823}" type="presParOf" srcId="{BD80A09E-46A0-43A9-8B71-79C49452C1F5}" destId="{DCFA09F4-C2D2-488D-BFCE-86AF25D6FAF8}" srcOrd="0" destOrd="0" presId="urn:microsoft.com/office/officeart/2005/8/layout/hierarchy1"/>
    <dgm:cxn modelId="{D41A2851-EC7D-4F43-A7CA-94960953ADBF}" type="presParOf" srcId="{DCFA09F4-C2D2-488D-BFCE-86AF25D6FAF8}" destId="{09249D34-C973-4EB5-829A-B4FA7237AFBE}" srcOrd="0" destOrd="0" presId="urn:microsoft.com/office/officeart/2005/8/layout/hierarchy1"/>
    <dgm:cxn modelId="{D33F0870-4603-4E1C-859D-804F2AA863EA}" type="presParOf" srcId="{DCFA09F4-C2D2-488D-BFCE-86AF25D6FAF8}" destId="{913B9C0B-2A7C-42D9-B7E2-EE03A3D49AAC}" srcOrd="1" destOrd="0" presId="urn:microsoft.com/office/officeart/2005/8/layout/hierarchy1"/>
    <dgm:cxn modelId="{88181820-17ED-4FAA-9643-03F32225FF9D}" type="presParOf" srcId="{BD80A09E-46A0-43A9-8B71-79C49452C1F5}" destId="{2805F16D-F104-4D7E-B99F-82D523D6FBA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70C1E54-5B81-4E7D-A1C8-863F7B1DAD99}" type="doc">
      <dgm:prSet loTypeId="urn:microsoft.com/office/officeart/2005/8/layout/hProcess9" loCatId="process" qsTypeId="urn:microsoft.com/office/officeart/2005/8/quickstyle/simple2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B1E231D-8300-4BD0-9109-929D23097372}">
      <dgm:prSet/>
      <dgm:spPr/>
      <dgm:t>
        <a:bodyPr/>
        <a:lstStyle/>
        <a:p>
          <a:r>
            <a:rPr lang="es-CO" dirty="0"/>
            <a:t>Análisis Exploratorio</a:t>
          </a:r>
        </a:p>
        <a:p>
          <a:r>
            <a:rPr lang="es-CO" dirty="0"/>
            <a:t>EDA</a:t>
          </a:r>
          <a:endParaRPr lang="en-US" dirty="0"/>
        </a:p>
      </dgm:t>
    </dgm:pt>
    <dgm:pt modelId="{09CA2421-5F7A-4052-9D2A-2B16977DDE5A}" type="parTrans" cxnId="{8BFE76D5-D75D-44EA-933C-9C9BC924FC8D}">
      <dgm:prSet/>
      <dgm:spPr/>
      <dgm:t>
        <a:bodyPr/>
        <a:lstStyle/>
        <a:p>
          <a:endParaRPr lang="en-US"/>
        </a:p>
      </dgm:t>
    </dgm:pt>
    <dgm:pt modelId="{13F9983C-524B-4B77-BD1D-105F8657D10E}" type="sibTrans" cxnId="{8BFE76D5-D75D-44EA-933C-9C9BC924FC8D}">
      <dgm:prSet/>
      <dgm:spPr/>
      <dgm:t>
        <a:bodyPr/>
        <a:lstStyle/>
        <a:p>
          <a:endParaRPr lang="en-US"/>
        </a:p>
      </dgm:t>
    </dgm:pt>
    <dgm:pt modelId="{2535E0CE-E478-4C86-BAAD-0B23E92A51F0}">
      <dgm:prSet/>
      <dgm:spPr/>
      <dgm:t>
        <a:bodyPr/>
        <a:lstStyle/>
        <a:p>
          <a:r>
            <a:rPr lang="es-CO" dirty="0"/>
            <a:t>Construcción de modelos diagnósticos y de aprendizaje de máquina</a:t>
          </a:r>
          <a:endParaRPr lang="en-US" dirty="0"/>
        </a:p>
      </dgm:t>
    </dgm:pt>
    <dgm:pt modelId="{8602DF8F-9663-4B8D-953E-177215636281}" type="parTrans" cxnId="{991707D7-0197-49F6-A7DD-B5C067883304}">
      <dgm:prSet/>
      <dgm:spPr/>
      <dgm:t>
        <a:bodyPr/>
        <a:lstStyle/>
        <a:p>
          <a:endParaRPr lang="en-US"/>
        </a:p>
      </dgm:t>
    </dgm:pt>
    <dgm:pt modelId="{C7F0C6D2-DFA4-43AC-BDFA-8C1A94F02E94}" type="sibTrans" cxnId="{991707D7-0197-49F6-A7DD-B5C067883304}">
      <dgm:prSet/>
      <dgm:spPr/>
      <dgm:t>
        <a:bodyPr/>
        <a:lstStyle/>
        <a:p>
          <a:endParaRPr lang="en-US"/>
        </a:p>
      </dgm:t>
    </dgm:pt>
    <dgm:pt modelId="{2E733524-07F7-4691-A6A0-E825FB02F954}" type="pres">
      <dgm:prSet presAssocID="{470C1E54-5B81-4E7D-A1C8-863F7B1DAD99}" presName="CompostProcess" presStyleCnt="0">
        <dgm:presLayoutVars>
          <dgm:dir/>
          <dgm:resizeHandles val="exact"/>
        </dgm:presLayoutVars>
      </dgm:prSet>
      <dgm:spPr/>
    </dgm:pt>
    <dgm:pt modelId="{F4917A51-037C-412A-ADD8-57689D964CCF}" type="pres">
      <dgm:prSet presAssocID="{470C1E54-5B81-4E7D-A1C8-863F7B1DAD99}" presName="arrow" presStyleLbl="bgShp" presStyleIdx="0" presStyleCnt="1"/>
      <dgm:spPr/>
    </dgm:pt>
    <dgm:pt modelId="{9B328C97-8852-4E55-831B-BF752B0D56CA}" type="pres">
      <dgm:prSet presAssocID="{470C1E54-5B81-4E7D-A1C8-863F7B1DAD99}" presName="linearProcess" presStyleCnt="0"/>
      <dgm:spPr/>
    </dgm:pt>
    <dgm:pt modelId="{AC2E9C42-DB2F-4637-8852-C318AB27E018}" type="pres">
      <dgm:prSet presAssocID="{2B1E231D-8300-4BD0-9109-929D23097372}" presName="textNode" presStyleLbl="node1" presStyleIdx="0" presStyleCnt="2">
        <dgm:presLayoutVars>
          <dgm:bulletEnabled val="1"/>
        </dgm:presLayoutVars>
      </dgm:prSet>
      <dgm:spPr/>
    </dgm:pt>
    <dgm:pt modelId="{CF35E032-F0FB-46B4-A858-ACDEC6CEB9EB}" type="pres">
      <dgm:prSet presAssocID="{13F9983C-524B-4B77-BD1D-105F8657D10E}" presName="sibTrans" presStyleCnt="0"/>
      <dgm:spPr/>
    </dgm:pt>
    <dgm:pt modelId="{2D10D812-3829-455F-BCFD-E3A50E32F42B}" type="pres">
      <dgm:prSet presAssocID="{2535E0CE-E478-4C86-BAAD-0B23E92A51F0}" presName="textNode" presStyleLbl="node1" presStyleIdx="1" presStyleCnt="2">
        <dgm:presLayoutVars>
          <dgm:bulletEnabled val="1"/>
        </dgm:presLayoutVars>
      </dgm:prSet>
      <dgm:spPr/>
    </dgm:pt>
  </dgm:ptLst>
  <dgm:cxnLst>
    <dgm:cxn modelId="{2CDAA42C-37A0-4CE3-80BC-06D0E028DD2B}" type="presOf" srcId="{2B1E231D-8300-4BD0-9109-929D23097372}" destId="{AC2E9C42-DB2F-4637-8852-C318AB27E018}" srcOrd="0" destOrd="0" presId="urn:microsoft.com/office/officeart/2005/8/layout/hProcess9"/>
    <dgm:cxn modelId="{ED454836-43B4-4C00-B7AD-E2ECDB0A02B3}" type="presOf" srcId="{470C1E54-5B81-4E7D-A1C8-863F7B1DAD99}" destId="{2E733524-07F7-4691-A6A0-E825FB02F954}" srcOrd="0" destOrd="0" presId="urn:microsoft.com/office/officeart/2005/8/layout/hProcess9"/>
    <dgm:cxn modelId="{E022CB71-E7BA-49A1-B3BD-70FABC8EE2D0}" type="presOf" srcId="{2535E0CE-E478-4C86-BAAD-0B23E92A51F0}" destId="{2D10D812-3829-455F-BCFD-E3A50E32F42B}" srcOrd="0" destOrd="0" presId="urn:microsoft.com/office/officeart/2005/8/layout/hProcess9"/>
    <dgm:cxn modelId="{8BFE76D5-D75D-44EA-933C-9C9BC924FC8D}" srcId="{470C1E54-5B81-4E7D-A1C8-863F7B1DAD99}" destId="{2B1E231D-8300-4BD0-9109-929D23097372}" srcOrd="0" destOrd="0" parTransId="{09CA2421-5F7A-4052-9D2A-2B16977DDE5A}" sibTransId="{13F9983C-524B-4B77-BD1D-105F8657D10E}"/>
    <dgm:cxn modelId="{991707D7-0197-49F6-A7DD-B5C067883304}" srcId="{470C1E54-5B81-4E7D-A1C8-863F7B1DAD99}" destId="{2535E0CE-E478-4C86-BAAD-0B23E92A51F0}" srcOrd="1" destOrd="0" parTransId="{8602DF8F-9663-4B8D-953E-177215636281}" sibTransId="{C7F0C6D2-DFA4-43AC-BDFA-8C1A94F02E94}"/>
    <dgm:cxn modelId="{0A1C88DA-DDC5-4CA9-8CB7-8BC81FA88A64}" type="presParOf" srcId="{2E733524-07F7-4691-A6A0-E825FB02F954}" destId="{F4917A51-037C-412A-ADD8-57689D964CCF}" srcOrd="0" destOrd="0" presId="urn:microsoft.com/office/officeart/2005/8/layout/hProcess9"/>
    <dgm:cxn modelId="{9F9649AE-DC05-4D85-84B7-C6E7145BBD4E}" type="presParOf" srcId="{2E733524-07F7-4691-A6A0-E825FB02F954}" destId="{9B328C97-8852-4E55-831B-BF752B0D56CA}" srcOrd="1" destOrd="0" presId="urn:microsoft.com/office/officeart/2005/8/layout/hProcess9"/>
    <dgm:cxn modelId="{329AAC06-6A84-4F7D-A220-A70121502C5F}" type="presParOf" srcId="{9B328C97-8852-4E55-831B-BF752B0D56CA}" destId="{AC2E9C42-DB2F-4637-8852-C318AB27E018}" srcOrd="0" destOrd="0" presId="urn:microsoft.com/office/officeart/2005/8/layout/hProcess9"/>
    <dgm:cxn modelId="{D592833E-A12C-43F7-AEE1-D4FA68721F69}" type="presParOf" srcId="{9B328C97-8852-4E55-831B-BF752B0D56CA}" destId="{CF35E032-F0FB-46B4-A858-ACDEC6CEB9EB}" srcOrd="1" destOrd="0" presId="urn:microsoft.com/office/officeart/2005/8/layout/hProcess9"/>
    <dgm:cxn modelId="{4ECCF216-0792-4EF0-B32F-4FD64721D6A1}" type="presParOf" srcId="{9B328C97-8852-4E55-831B-BF752B0D56CA}" destId="{2D10D812-3829-455F-BCFD-E3A50E32F42B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86D6129-74B9-49D7-B1A6-2B0821DDFE63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O"/>
        </a:p>
      </dgm:t>
    </dgm:pt>
    <dgm:pt modelId="{ADE83331-5E4F-46D2-8E6A-FDE300B478EC}">
      <dgm:prSet phldrT="[Text]"/>
      <dgm:spPr/>
      <dgm:t>
        <a:bodyPr/>
        <a:lstStyle/>
        <a:p>
          <a:r>
            <a:rPr lang="es-CO"/>
            <a:t>Estadística</a:t>
          </a:r>
        </a:p>
      </dgm:t>
    </dgm:pt>
    <dgm:pt modelId="{E62C5FD7-D456-461D-9BA9-F4F3457938CE}" type="parTrans" cxnId="{2AE6A181-D739-4D04-B8B7-B6F8FF4AFAD2}">
      <dgm:prSet/>
      <dgm:spPr/>
      <dgm:t>
        <a:bodyPr/>
        <a:lstStyle/>
        <a:p>
          <a:endParaRPr lang="es-CO"/>
        </a:p>
      </dgm:t>
    </dgm:pt>
    <dgm:pt modelId="{56E30C7B-6B43-44EB-8EC5-CCBF8EDB826F}" type="sibTrans" cxnId="{2AE6A181-D739-4D04-B8B7-B6F8FF4AFAD2}">
      <dgm:prSet/>
      <dgm:spPr/>
      <dgm:t>
        <a:bodyPr/>
        <a:lstStyle/>
        <a:p>
          <a:r>
            <a:rPr lang="es-CO"/>
            <a:t>Es la ciencia de recopilar, organizar, resumir, analizar e interpretar datos.</a:t>
          </a:r>
        </a:p>
      </dgm:t>
    </dgm:pt>
    <dgm:pt modelId="{8EFF9D78-1F50-48F9-96FF-45D0B564F353}">
      <dgm:prSet phldrT="[Text]"/>
      <dgm:spPr/>
      <dgm:t>
        <a:bodyPr/>
        <a:lstStyle/>
        <a:p>
          <a:r>
            <a:rPr lang="es-CO"/>
            <a:t>Descriptiva</a:t>
          </a:r>
        </a:p>
      </dgm:t>
    </dgm:pt>
    <dgm:pt modelId="{0FEF5721-3283-484E-BE58-B6B27C8B0EFF}" type="parTrans" cxnId="{8E3C8F32-79F8-48DD-9688-026327D30020}">
      <dgm:prSet/>
      <dgm:spPr/>
      <dgm:t>
        <a:bodyPr/>
        <a:lstStyle/>
        <a:p>
          <a:endParaRPr lang="es-CO"/>
        </a:p>
      </dgm:t>
    </dgm:pt>
    <dgm:pt modelId="{55FE595C-3CC1-4870-A9F1-0A4AFAE1252D}" type="sibTrans" cxnId="{8E3C8F32-79F8-48DD-9688-026327D30020}">
      <dgm:prSet/>
      <dgm:spPr/>
      <dgm:t>
        <a:bodyPr/>
        <a:lstStyle/>
        <a:p>
          <a:r>
            <a:rPr lang="es-CO"/>
            <a:t>Análisis Descriptivo</a:t>
          </a:r>
        </a:p>
      </dgm:t>
    </dgm:pt>
    <dgm:pt modelId="{97B36D29-ED12-489B-929E-700C78AF1C83}">
      <dgm:prSet phldrT="[Text]"/>
      <dgm:spPr/>
      <dgm:t>
        <a:bodyPr/>
        <a:lstStyle/>
        <a:p>
          <a:r>
            <a:rPr lang="es-CO"/>
            <a:t>Inferencial</a:t>
          </a:r>
        </a:p>
      </dgm:t>
    </dgm:pt>
    <dgm:pt modelId="{98F7EC6F-3375-4145-B748-B9ED7F9FFECA}" type="parTrans" cxnId="{EFEA6A2C-802E-42A1-8C35-9067ADF9157B}">
      <dgm:prSet/>
      <dgm:spPr/>
      <dgm:t>
        <a:bodyPr/>
        <a:lstStyle/>
        <a:p>
          <a:endParaRPr lang="es-CO"/>
        </a:p>
      </dgm:t>
    </dgm:pt>
    <dgm:pt modelId="{136DFA3D-D218-4278-8744-96FB76638A46}" type="sibTrans" cxnId="{EFEA6A2C-802E-42A1-8C35-9067ADF9157B}">
      <dgm:prSet/>
      <dgm:spPr/>
      <dgm:t>
        <a:bodyPr/>
        <a:lstStyle/>
        <a:p>
          <a:r>
            <a:rPr lang="es-CO"/>
            <a:t>Análisis Diagnóstico</a:t>
          </a:r>
        </a:p>
      </dgm:t>
    </dgm:pt>
    <dgm:pt modelId="{28E9EA41-F654-43EC-8140-CD4FFBA4C9C8}" type="pres">
      <dgm:prSet presAssocID="{886D6129-74B9-49D7-B1A6-2B0821DDFE63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E653EC45-9A76-4A87-BCAA-E2316EEF24AD}" type="pres">
      <dgm:prSet presAssocID="{ADE83331-5E4F-46D2-8E6A-FDE300B478EC}" presName="hierRoot1" presStyleCnt="0">
        <dgm:presLayoutVars>
          <dgm:hierBranch val="init"/>
        </dgm:presLayoutVars>
      </dgm:prSet>
      <dgm:spPr/>
    </dgm:pt>
    <dgm:pt modelId="{0E172A26-5A5D-4430-9D73-EECF208337AA}" type="pres">
      <dgm:prSet presAssocID="{ADE83331-5E4F-46D2-8E6A-FDE300B478EC}" presName="rootComposite1" presStyleCnt="0"/>
      <dgm:spPr/>
    </dgm:pt>
    <dgm:pt modelId="{3E4FACD3-EF11-42CF-96BA-070686279D70}" type="pres">
      <dgm:prSet presAssocID="{ADE83331-5E4F-46D2-8E6A-FDE300B478EC}" presName="rootText1" presStyleLbl="node0" presStyleIdx="0" presStyleCnt="1">
        <dgm:presLayoutVars>
          <dgm:chMax/>
          <dgm:chPref val="3"/>
        </dgm:presLayoutVars>
      </dgm:prSet>
      <dgm:spPr/>
    </dgm:pt>
    <dgm:pt modelId="{EAD9CA1A-786A-43D6-93F5-95F28432FB67}" type="pres">
      <dgm:prSet presAssocID="{ADE83331-5E4F-46D2-8E6A-FDE300B478EC}" presName="titleText1" presStyleLbl="fgAcc0" presStyleIdx="0" presStyleCnt="1">
        <dgm:presLayoutVars>
          <dgm:chMax val="0"/>
          <dgm:chPref val="0"/>
        </dgm:presLayoutVars>
      </dgm:prSet>
      <dgm:spPr/>
    </dgm:pt>
    <dgm:pt modelId="{9F69D325-43C7-4090-9D52-1010DA6C7652}" type="pres">
      <dgm:prSet presAssocID="{ADE83331-5E4F-46D2-8E6A-FDE300B478EC}" presName="rootConnector1" presStyleLbl="node1" presStyleIdx="0" presStyleCnt="2"/>
      <dgm:spPr/>
    </dgm:pt>
    <dgm:pt modelId="{7E384A31-BA2B-4F18-A233-AE634537C75D}" type="pres">
      <dgm:prSet presAssocID="{ADE83331-5E4F-46D2-8E6A-FDE300B478EC}" presName="hierChild2" presStyleCnt="0"/>
      <dgm:spPr/>
    </dgm:pt>
    <dgm:pt modelId="{8F3FF899-90E0-4B85-A71D-172E1D40533A}" type="pres">
      <dgm:prSet presAssocID="{0FEF5721-3283-484E-BE58-B6B27C8B0EFF}" presName="Name37" presStyleLbl="parChTrans1D2" presStyleIdx="0" presStyleCnt="2"/>
      <dgm:spPr/>
    </dgm:pt>
    <dgm:pt modelId="{0AA9373E-5765-44A8-8F5B-D35C462B1E04}" type="pres">
      <dgm:prSet presAssocID="{8EFF9D78-1F50-48F9-96FF-45D0B564F353}" presName="hierRoot2" presStyleCnt="0">
        <dgm:presLayoutVars>
          <dgm:hierBranch val="init"/>
        </dgm:presLayoutVars>
      </dgm:prSet>
      <dgm:spPr/>
    </dgm:pt>
    <dgm:pt modelId="{2791AF91-1C48-47FB-BC1C-DEF848A1B2A7}" type="pres">
      <dgm:prSet presAssocID="{8EFF9D78-1F50-48F9-96FF-45D0B564F353}" presName="rootComposite" presStyleCnt="0"/>
      <dgm:spPr/>
    </dgm:pt>
    <dgm:pt modelId="{AC068729-2071-4EE1-92D3-1349167BD797}" type="pres">
      <dgm:prSet presAssocID="{8EFF9D78-1F50-48F9-96FF-45D0B564F353}" presName="rootText" presStyleLbl="node1" presStyleIdx="0" presStyleCnt="2">
        <dgm:presLayoutVars>
          <dgm:chMax/>
          <dgm:chPref val="3"/>
        </dgm:presLayoutVars>
      </dgm:prSet>
      <dgm:spPr/>
    </dgm:pt>
    <dgm:pt modelId="{7F59901C-BB2E-4219-AA3A-9EC61CC56832}" type="pres">
      <dgm:prSet presAssocID="{8EFF9D78-1F50-48F9-96FF-45D0B564F353}" presName="titleText2" presStyleLbl="fgAcc1" presStyleIdx="0" presStyleCnt="2">
        <dgm:presLayoutVars>
          <dgm:chMax val="0"/>
          <dgm:chPref val="0"/>
        </dgm:presLayoutVars>
      </dgm:prSet>
      <dgm:spPr/>
    </dgm:pt>
    <dgm:pt modelId="{7BDC4266-4B3B-4DB8-928F-7FE828A80E78}" type="pres">
      <dgm:prSet presAssocID="{8EFF9D78-1F50-48F9-96FF-45D0B564F353}" presName="rootConnector" presStyleLbl="node2" presStyleIdx="0" presStyleCnt="0"/>
      <dgm:spPr/>
    </dgm:pt>
    <dgm:pt modelId="{223F829F-4EBB-4A1B-850F-A6B0C338EC50}" type="pres">
      <dgm:prSet presAssocID="{8EFF9D78-1F50-48F9-96FF-45D0B564F353}" presName="hierChild4" presStyleCnt="0"/>
      <dgm:spPr/>
    </dgm:pt>
    <dgm:pt modelId="{8998413A-A029-40B8-B314-1CA880744DB1}" type="pres">
      <dgm:prSet presAssocID="{8EFF9D78-1F50-48F9-96FF-45D0B564F353}" presName="hierChild5" presStyleCnt="0"/>
      <dgm:spPr/>
    </dgm:pt>
    <dgm:pt modelId="{50994ECB-0FC1-49A1-9D17-1DDE1DE12EB9}" type="pres">
      <dgm:prSet presAssocID="{98F7EC6F-3375-4145-B748-B9ED7F9FFECA}" presName="Name37" presStyleLbl="parChTrans1D2" presStyleIdx="1" presStyleCnt="2"/>
      <dgm:spPr/>
    </dgm:pt>
    <dgm:pt modelId="{308F6E05-B74D-45F7-9310-8744A6413D76}" type="pres">
      <dgm:prSet presAssocID="{97B36D29-ED12-489B-929E-700C78AF1C83}" presName="hierRoot2" presStyleCnt="0">
        <dgm:presLayoutVars>
          <dgm:hierBranch val="init"/>
        </dgm:presLayoutVars>
      </dgm:prSet>
      <dgm:spPr/>
    </dgm:pt>
    <dgm:pt modelId="{7DC6603B-D4E6-4DA6-83F9-E8AB652D340A}" type="pres">
      <dgm:prSet presAssocID="{97B36D29-ED12-489B-929E-700C78AF1C83}" presName="rootComposite" presStyleCnt="0"/>
      <dgm:spPr/>
    </dgm:pt>
    <dgm:pt modelId="{7D57F046-5EA3-49AB-A437-14D3BFA70057}" type="pres">
      <dgm:prSet presAssocID="{97B36D29-ED12-489B-929E-700C78AF1C83}" presName="rootText" presStyleLbl="node1" presStyleIdx="1" presStyleCnt="2">
        <dgm:presLayoutVars>
          <dgm:chMax/>
          <dgm:chPref val="3"/>
        </dgm:presLayoutVars>
      </dgm:prSet>
      <dgm:spPr/>
    </dgm:pt>
    <dgm:pt modelId="{A594C763-DA5C-45D7-A5B8-664F9B18845A}" type="pres">
      <dgm:prSet presAssocID="{97B36D29-ED12-489B-929E-700C78AF1C83}" presName="titleText2" presStyleLbl="fgAcc1" presStyleIdx="1" presStyleCnt="2">
        <dgm:presLayoutVars>
          <dgm:chMax val="0"/>
          <dgm:chPref val="0"/>
        </dgm:presLayoutVars>
      </dgm:prSet>
      <dgm:spPr/>
    </dgm:pt>
    <dgm:pt modelId="{51D3C815-8946-48E6-8451-943580E3B515}" type="pres">
      <dgm:prSet presAssocID="{97B36D29-ED12-489B-929E-700C78AF1C83}" presName="rootConnector" presStyleLbl="node2" presStyleIdx="0" presStyleCnt="0"/>
      <dgm:spPr/>
    </dgm:pt>
    <dgm:pt modelId="{12983D58-0709-4A09-9CC7-7822F3CD0A25}" type="pres">
      <dgm:prSet presAssocID="{97B36D29-ED12-489B-929E-700C78AF1C83}" presName="hierChild4" presStyleCnt="0"/>
      <dgm:spPr/>
    </dgm:pt>
    <dgm:pt modelId="{D6B4B26D-2EB6-41D8-8A21-A42056A834B7}" type="pres">
      <dgm:prSet presAssocID="{97B36D29-ED12-489B-929E-700C78AF1C83}" presName="hierChild5" presStyleCnt="0"/>
      <dgm:spPr/>
    </dgm:pt>
    <dgm:pt modelId="{9BCAC9A1-4E92-408D-B086-695C773B2E56}" type="pres">
      <dgm:prSet presAssocID="{ADE83331-5E4F-46D2-8E6A-FDE300B478EC}" presName="hierChild3" presStyleCnt="0"/>
      <dgm:spPr/>
    </dgm:pt>
  </dgm:ptLst>
  <dgm:cxnLst>
    <dgm:cxn modelId="{521B3002-77DC-4B32-A5B8-1108F14D70AD}" type="presOf" srcId="{98F7EC6F-3375-4145-B748-B9ED7F9FFECA}" destId="{50994ECB-0FC1-49A1-9D17-1DDE1DE12EB9}" srcOrd="0" destOrd="0" presId="urn:microsoft.com/office/officeart/2008/layout/NameandTitleOrganizationalChart"/>
    <dgm:cxn modelId="{EFEA6A2C-802E-42A1-8C35-9067ADF9157B}" srcId="{ADE83331-5E4F-46D2-8E6A-FDE300B478EC}" destId="{97B36D29-ED12-489B-929E-700C78AF1C83}" srcOrd="1" destOrd="0" parTransId="{98F7EC6F-3375-4145-B748-B9ED7F9FFECA}" sibTransId="{136DFA3D-D218-4278-8744-96FB76638A46}"/>
    <dgm:cxn modelId="{8E3C8F32-79F8-48DD-9688-026327D30020}" srcId="{ADE83331-5E4F-46D2-8E6A-FDE300B478EC}" destId="{8EFF9D78-1F50-48F9-96FF-45D0B564F353}" srcOrd="0" destOrd="0" parTransId="{0FEF5721-3283-484E-BE58-B6B27C8B0EFF}" sibTransId="{55FE595C-3CC1-4870-A9F1-0A4AFAE1252D}"/>
    <dgm:cxn modelId="{D1D6D74D-72B0-43AF-8756-633B2D8E55C1}" type="presOf" srcId="{97B36D29-ED12-489B-929E-700C78AF1C83}" destId="{51D3C815-8946-48E6-8451-943580E3B515}" srcOrd="1" destOrd="0" presId="urn:microsoft.com/office/officeart/2008/layout/NameandTitleOrganizationalChart"/>
    <dgm:cxn modelId="{74667F70-A49B-4FE1-B1AD-4F30FD00349D}" type="presOf" srcId="{97B36D29-ED12-489B-929E-700C78AF1C83}" destId="{7D57F046-5EA3-49AB-A437-14D3BFA70057}" srcOrd="0" destOrd="0" presId="urn:microsoft.com/office/officeart/2008/layout/NameandTitleOrganizationalChart"/>
    <dgm:cxn modelId="{1310C254-5007-40B6-97C4-40298E526CB1}" type="presOf" srcId="{56E30C7B-6B43-44EB-8EC5-CCBF8EDB826F}" destId="{EAD9CA1A-786A-43D6-93F5-95F28432FB67}" srcOrd="0" destOrd="0" presId="urn:microsoft.com/office/officeart/2008/layout/NameandTitleOrganizationalChart"/>
    <dgm:cxn modelId="{04295559-1D72-49E4-989D-A475BE345A68}" type="presOf" srcId="{8EFF9D78-1F50-48F9-96FF-45D0B564F353}" destId="{AC068729-2071-4EE1-92D3-1349167BD797}" srcOrd="0" destOrd="0" presId="urn:microsoft.com/office/officeart/2008/layout/NameandTitleOrganizationalChart"/>
    <dgm:cxn modelId="{3E7FED59-631F-4BFC-94DC-74C2D3C87D97}" type="presOf" srcId="{ADE83331-5E4F-46D2-8E6A-FDE300B478EC}" destId="{9F69D325-43C7-4090-9D52-1010DA6C7652}" srcOrd="1" destOrd="0" presId="urn:microsoft.com/office/officeart/2008/layout/NameandTitleOrganizationalChart"/>
    <dgm:cxn modelId="{2AE6A181-D739-4D04-B8B7-B6F8FF4AFAD2}" srcId="{886D6129-74B9-49D7-B1A6-2B0821DDFE63}" destId="{ADE83331-5E4F-46D2-8E6A-FDE300B478EC}" srcOrd="0" destOrd="0" parTransId="{E62C5FD7-D456-461D-9BA9-F4F3457938CE}" sibTransId="{56E30C7B-6B43-44EB-8EC5-CCBF8EDB826F}"/>
    <dgm:cxn modelId="{234717A4-E9FC-499A-B96B-C3F923A981ED}" type="presOf" srcId="{886D6129-74B9-49D7-B1A6-2B0821DDFE63}" destId="{28E9EA41-F654-43EC-8140-CD4FFBA4C9C8}" srcOrd="0" destOrd="0" presId="urn:microsoft.com/office/officeart/2008/layout/NameandTitleOrganizationalChart"/>
    <dgm:cxn modelId="{EEAD46CE-0080-406E-8022-95589704A3A7}" type="presOf" srcId="{136DFA3D-D218-4278-8744-96FB76638A46}" destId="{A594C763-DA5C-45D7-A5B8-664F9B18845A}" srcOrd="0" destOrd="0" presId="urn:microsoft.com/office/officeart/2008/layout/NameandTitleOrganizationalChart"/>
    <dgm:cxn modelId="{EC60B7DB-5C39-4BAB-83C9-48F9382042B8}" type="presOf" srcId="{8EFF9D78-1F50-48F9-96FF-45D0B564F353}" destId="{7BDC4266-4B3B-4DB8-928F-7FE828A80E78}" srcOrd="1" destOrd="0" presId="urn:microsoft.com/office/officeart/2008/layout/NameandTitleOrganizationalChart"/>
    <dgm:cxn modelId="{EA9376E5-5C84-412E-B49D-D96A66450E36}" type="presOf" srcId="{55FE595C-3CC1-4870-A9F1-0A4AFAE1252D}" destId="{7F59901C-BB2E-4219-AA3A-9EC61CC56832}" srcOrd="0" destOrd="0" presId="urn:microsoft.com/office/officeart/2008/layout/NameandTitleOrganizationalChart"/>
    <dgm:cxn modelId="{3384E8F9-7C78-497D-96CA-89CFE2EFE36F}" type="presOf" srcId="{0FEF5721-3283-484E-BE58-B6B27C8B0EFF}" destId="{8F3FF899-90E0-4B85-A71D-172E1D40533A}" srcOrd="0" destOrd="0" presId="urn:microsoft.com/office/officeart/2008/layout/NameandTitleOrganizationalChart"/>
    <dgm:cxn modelId="{977444FD-BAE3-4347-8637-5CB3EFE93645}" type="presOf" srcId="{ADE83331-5E4F-46D2-8E6A-FDE300B478EC}" destId="{3E4FACD3-EF11-42CF-96BA-070686279D70}" srcOrd="0" destOrd="0" presId="urn:microsoft.com/office/officeart/2008/layout/NameandTitleOrganizationalChart"/>
    <dgm:cxn modelId="{2E011FD0-82A6-44A4-B0B6-0A99BB77E552}" type="presParOf" srcId="{28E9EA41-F654-43EC-8140-CD4FFBA4C9C8}" destId="{E653EC45-9A76-4A87-BCAA-E2316EEF24AD}" srcOrd="0" destOrd="0" presId="urn:microsoft.com/office/officeart/2008/layout/NameandTitleOrganizationalChart"/>
    <dgm:cxn modelId="{FE140B9A-DC9F-4D97-909C-A0B68FD206A2}" type="presParOf" srcId="{E653EC45-9A76-4A87-BCAA-E2316EEF24AD}" destId="{0E172A26-5A5D-4430-9D73-EECF208337AA}" srcOrd="0" destOrd="0" presId="urn:microsoft.com/office/officeart/2008/layout/NameandTitleOrganizationalChart"/>
    <dgm:cxn modelId="{F95B94DC-4F91-47A9-A5D7-E31AE2D06D55}" type="presParOf" srcId="{0E172A26-5A5D-4430-9D73-EECF208337AA}" destId="{3E4FACD3-EF11-42CF-96BA-070686279D70}" srcOrd="0" destOrd="0" presId="urn:microsoft.com/office/officeart/2008/layout/NameandTitleOrganizationalChart"/>
    <dgm:cxn modelId="{20335E08-EA95-478B-A015-DC040C9E7232}" type="presParOf" srcId="{0E172A26-5A5D-4430-9D73-EECF208337AA}" destId="{EAD9CA1A-786A-43D6-93F5-95F28432FB67}" srcOrd="1" destOrd="0" presId="urn:microsoft.com/office/officeart/2008/layout/NameandTitleOrganizationalChart"/>
    <dgm:cxn modelId="{99734750-7B33-4B0A-8766-E054100F3D63}" type="presParOf" srcId="{0E172A26-5A5D-4430-9D73-EECF208337AA}" destId="{9F69D325-43C7-4090-9D52-1010DA6C7652}" srcOrd="2" destOrd="0" presId="urn:microsoft.com/office/officeart/2008/layout/NameandTitleOrganizationalChart"/>
    <dgm:cxn modelId="{B7396DA9-4517-4F06-B1FD-5936A3F70BAD}" type="presParOf" srcId="{E653EC45-9A76-4A87-BCAA-E2316EEF24AD}" destId="{7E384A31-BA2B-4F18-A233-AE634537C75D}" srcOrd="1" destOrd="0" presId="urn:microsoft.com/office/officeart/2008/layout/NameandTitleOrganizationalChart"/>
    <dgm:cxn modelId="{AA251807-68C3-40BB-916A-4766078CD46B}" type="presParOf" srcId="{7E384A31-BA2B-4F18-A233-AE634537C75D}" destId="{8F3FF899-90E0-4B85-A71D-172E1D40533A}" srcOrd="0" destOrd="0" presId="urn:microsoft.com/office/officeart/2008/layout/NameandTitleOrganizationalChart"/>
    <dgm:cxn modelId="{235D73D0-08C5-463D-91D1-5B733ED0B95A}" type="presParOf" srcId="{7E384A31-BA2B-4F18-A233-AE634537C75D}" destId="{0AA9373E-5765-44A8-8F5B-D35C462B1E04}" srcOrd="1" destOrd="0" presId="urn:microsoft.com/office/officeart/2008/layout/NameandTitleOrganizationalChart"/>
    <dgm:cxn modelId="{A2A8458E-42F6-4349-B6BD-79E2AAD2D4F5}" type="presParOf" srcId="{0AA9373E-5765-44A8-8F5B-D35C462B1E04}" destId="{2791AF91-1C48-47FB-BC1C-DEF848A1B2A7}" srcOrd="0" destOrd="0" presId="urn:microsoft.com/office/officeart/2008/layout/NameandTitleOrganizationalChart"/>
    <dgm:cxn modelId="{71B53FFE-ED46-4ED0-A7FF-FD2349EBA369}" type="presParOf" srcId="{2791AF91-1C48-47FB-BC1C-DEF848A1B2A7}" destId="{AC068729-2071-4EE1-92D3-1349167BD797}" srcOrd="0" destOrd="0" presId="urn:microsoft.com/office/officeart/2008/layout/NameandTitleOrganizationalChart"/>
    <dgm:cxn modelId="{81D1EA91-937E-4AA0-BED1-546B4BEF6837}" type="presParOf" srcId="{2791AF91-1C48-47FB-BC1C-DEF848A1B2A7}" destId="{7F59901C-BB2E-4219-AA3A-9EC61CC56832}" srcOrd="1" destOrd="0" presId="urn:microsoft.com/office/officeart/2008/layout/NameandTitleOrganizationalChart"/>
    <dgm:cxn modelId="{192C5924-77DC-46FD-A274-4F727F7B5713}" type="presParOf" srcId="{2791AF91-1C48-47FB-BC1C-DEF848A1B2A7}" destId="{7BDC4266-4B3B-4DB8-928F-7FE828A80E78}" srcOrd="2" destOrd="0" presId="urn:microsoft.com/office/officeart/2008/layout/NameandTitleOrganizationalChart"/>
    <dgm:cxn modelId="{22DEE57E-EE17-4AEC-9CF5-112D99D33DA3}" type="presParOf" srcId="{0AA9373E-5765-44A8-8F5B-D35C462B1E04}" destId="{223F829F-4EBB-4A1B-850F-A6B0C338EC50}" srcOrd="1" destOrd="0" presId="urn:microsoft.com/office/officeart/2008/layout/NameandTitleOrganizationalChart"/>
    <dgm:cxn modelId="{42999EF3-076A-4A65-B991-97B179AB264E}" type="presParOf" srcId="{0AA9373E-5765-44A8-8F5B-D35C462B1E04}" destId="{8998413A-A029-40B8-B314-1CA880744DB1}" srcOrd="2" destOrd="0" presId="urn:microsoft.com/office/officeart/2008/layout/NameandTitleOrganizationalChart"/>
    <dgm:cxn modelId="{99A54BAF-3FE5-4AFA-AAC3-4DC14A2F9B42}" type="presParOf" srcId="{7E384A31-BA2B-4F18-A233-AE634537C75D}" destId="{50994ECB-0FC1-49A1-9D17-1DDE1DE12EB9}" srcOrd="2" destOrd="0" presId="urn:microsoft.com/office/officeart/2008/layout/NameandTitleOrganizationalChart"/>
    <dgm:cxn modelId="{6AAF165D-BE91-4103-A4AD-A0F3658A0D25}" type="presParOf" srcId="{7E384A31-BA2B-4F18-A233-AE634537C75D}" destId="{308F6E05-B74D-45F7-9310-8744A6413D76}" srcOrd="3" destOrd="0" presId="urn:microsoft.com/office/officeart/2008/layout/NameandTitleOrganizationalChart"/>
    <dgm:cxn modelId="{B09610C5-AB3A-4ABD-8108-2D5602A2F117}" type="presParOf" srcId="{308F6E05-B74D-45F7-9310-8744A6413D76}" destId="{7DC6603B-D4E6-4DA6-83F9-E8AB652D340A}" srcOrd="0" destOrd="0" presId="urn:microsoft.com/office/officeart/2008/layout/NameandTitleOrganizationalChart"/>
    <dgm:cxn modelId="{4892010C-100A-4CCC-AC0A-49D26719FE4B}" type="presParOf" srcId="{7DC6603B-D4E6-4DA6-83F9-E8AB652D340A}" destId="{7D57F046-5EA3-49AB-A437-14D3BFA70057}" srcOrd="0" destOrd="0" presId="urn:microsoft.com/office/officeart/2008/layout/NameandTitleOrganizationalChart"/>
    <dgm:cxn modelId="{6A2ED478-6741-41D1-ABB6-1002F1BACA76}" type="presParOf" srcId="{7DC6603B-D4E6-4DA6-83F9-E8AB652D340A}" destId="{A594C763-DA5C-45D7-A5B8-664F9B18845A}" srcOrd="1" destOrd="0" presId="urn:microsoft.com/office/officeart/2008/layout/NameandTitleOrganizationalChart"/>
    <dgm:cxn modelId="{528CD8C7-8EDA-43C4-B3D1-8722EB3E8791}" type="presParOf" srcId="{7DC6603B-D4E6-4DA6-83F9-E8AB652D340A}" destId="{51D3C815-8946-48E6-8451-943580E3B515}" srcOrd="2" destOrd="0" presId="urn:microsoft.com/office/officeart/2008/layout/NameandTitleOrganizationalChart"/>
    <dgm:cxn modelId="{402050C5-5A4A-4E3E-8473-6E396384BF11}" type="presParOf" srcId="{308F6E05-B74D-45F7-9310-8744A6413D76}" destId="{12983D58-0709-4A09-9CC7-7822F3CD0A25}" srcOrd="1" destOrd="0" presId="urn:microsoft.com/office/officeart/2008/layout/NameandTitleOrganizationalChart"/>
    <dgm:cxn modelId="{6F2BF4A2-4919-4E31-9875-04554A25BDF9}" type="presParOf" srcId="{308F6E05-B74D-45F7-9310-8744A6413D76}" destId="{D6B4B26D-2EB6-41D8-8A21-A42056A834B7}" srcOrd="2" destOrd="0" presId="urn:microsoft.com/office/officeart/2008/layout/NameandTitleOrganizationalChart"/>
    <dgm:cxn modelId="{9C8EA296-E4F9-46D8-B5C4-AFAF43A9CBDC}" type="presParOf" srcId="{E653EC45-9A76-4A87-BCAA-E2316EEF24AD}" destId="{9BCAC9A1-4E92-408D-B086-695C773B2E56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DCE9F7C-04D6-4253-9675-00E7B818F9D6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514A93F-F666-493D-BD7D-40E6B0D1556F}">
      <dgm:prSet/>
      <dgm:spPr/>
      <dgm:t>
        <a:bodyPr/>
        <a:lstStyle/>
        <a:p>
          <a:r>
            <a:rPr lang="es-ES"/>
            <a:t>Variables Numéricas</a:t>
          </a:r>
          <a:endParaRPr lang="en-US"/>
        </a:p>
      </dgm:t>
    </dgm:pt>
    <dgm:pt modelId="{488A3E06-0F03-43A9-80A5-86E30E23F1D7}" type="parTrans" cxnId="{8D9224CB-8821-48FB-A615-60248900001C}">
      <dgm:prSet/>
      <dgm:spPr/>
      <dgm:t>
        <a:bodyPr/>
        <a:lstStyle/>
        <a:p>
          <a:endParaRPr lang="en-US"/>
        </a:p>
      </dgm:t>
    </dgm:pt>
    <dgm:pt modelId="{AC1EFA56-27AC-4850-B16E-2089F4E24655}" type="sibTrans" cxnId="{8D9224CB-8821-48FB-A615-60248900001C}">
      <dgm:prSet/>
      <dgm:spPr/>
      <dgm:t>
        <a:bodyPr/>
        <a:lstStyle/>
        <a:p>
          <a:endParaRPr lang="en-US"/>
        </a:p>
      </dgm:t>
    </dgm:pt>
    <dgm:pt modelId="{3A08FA46-79B8-4009-AA53-7D449F7CB2A3}">
      <dgm:prSet/>
      <dgm:spPr/>
      <dgm:t>
        <a:bodyPr/>
        <a:lstStyle/>
        <a:p>
          <a:r>
            <a:rPr lang="es-ES"/>
            <a:t>De la mitad (Media o Promedio, Mediana y Moda)</a:t>
          </a:r>
          <a:endParaRPr lang="en-US"/>
        </a:p>
      </dgm:t>
    </dgm:pt>
    <dgm:pt modelId="{945E79D0-92DC-4A67-ADD1-921EC0107EA4}" type="parTrans" cxnId="{E9FD5F01-4D3D-4F5C-AE1E-5609960F527B}">
      <dgm:prSet/>
      <dgm:spPr/>
      <dgm:t>
        <a:bodyPr/>
        <a:lstStyle/>
        <a:p>
          <a:endParaRPr lang="en-US"/>
        </a:p>
      </dgm:t>
    </dgm:pt>
    <dgm:pt modelId="{08FEC6D5-1213-4646-808B-7B05DC42D929}" type="sibTrans" cxnId="{E9FD5F01-4D3D-4F5C-AE1E-5609960F527B}">
      <dgm:prSet/>
      <dgm:spPr/>
      <dgm:t>
        <a:bodyPr/>
        <a:lstStyle/>
        <a:p>
          <a:endParaRPr lang="en-US"/>
        </a:p>
      </dgm:t>
    </dgm:pt>
    <dgm:pt modelId="{E3837D28-DBE7-4FC2-ACC2-E3AFD19A6936}">
      <dgm:prSet/>
      <dgm:spPr/>
      <dgm:t>
        <a:bodyPr/>
        <a:lstStyle/>
        <a:p>
          <a:r>
            <a:rPr lang="es-ES"/>
            <a:t>Rangos: Máximo y Mínimo, Inter cuartiles, percentiles</a:t>
          </a:r>
          <a:endParaRPr lang="en-US"/>
        </a:p>
      </dgm:t>
    </dgm:pt>
    <dgm:pt modelId="{B68E5635-6FE3-4635-B16A-D767B42DC6BC}" type="parTrans" cxnId="{58909E82-FDB4-41FC-8B62-EF42B03A12B3}">
      <dgm:prSet/>
      <dgm:spPr/>
      <dgm:t>
        <a:bodyPr/>
        <a:lstStyle/>
        <a:p>
          <a:endParaRPr lang="en-US"/>
        </a:p>
      </dgm:t>
    </dgm:pt>
    <dgm:pt modelId="{E156545B-82FD-4ACE-B7E6-AB0FEF3965A1}" type="sibTrans" cxnId="{58909E82-FDB4-41FC-8B62-EF42B03A12B3}">
      <dgm:prSet/>
      <dgm:spPr/>
      <dgm:t>
        <a:bodyPr/>
        <a:lstStyle/>
        <a:p>
          <a:endParaRPr lang="en-US"/>
        </a:p>
      </dgm:t>
    </dgm:pt>
    <dgm:pt modelId="{D3C6ADBC-F39D-43F4-8D72-40E20B0CEE4F}">
      <dgm:prSet/>
      <dgm:spPr/>
      <dgm:t>
        <a:bodyPr/>
        <a:lstStyle/>
        <a:p>
          <a:r>
            <a:rPr lang="es-ES"/>
            <a:t>Desviaciones Estándar</a:t>
          </a:r>
          <a:endParaRPr lang="en-US"/>
        </a:p>
      </dgm:t>
    </dgm:pt>
    <dgm:pt modelId="{51360DDC-291D-4824-A52B-2A84C0E78E2E}" type="parTrans" cxnId="{7E6E6F93-B97E-4016-8BA9-5E592363CD8E}">
      <dgm:prSet/>
      <dgm:spPr/>
      <dgm:t>
        <a:bodyPr/>
        <a:lstStyle/>
        <a:p>
          <a:endParaRPr lang="en-US"/>
        </a:p>
      </dgm:t>
    </dgm:pt>
    <dgm:pt modelId="{52A07E38-BBB7-4DFD-B693-F72FA56654A8}" type="sibTrans" cxnId="{7E6E6F93-B97E-4016-8BA9-5E592363CD8E}">
      <dgm:prSet/>
      <dgm:spPr/>
      <dgm:t>
        <a:bodyPr/>
        <a:lstStyle/>
        <a:p>
          <a:endParaRPr lang="en-US"/>
        </a:p>
      </dgm:t>
    </dgm:pt>
    <dgm:pt modelId="{D9B8D600-35D3-4395-B8A6-077851F3DE5C}">
      <dgm:prSet/>
      <dgm:spPr/>
      <dgm:t>
        <a:bodyPr/>
        <a:lstStyle/>
        <a:p>
          <a:r>
            <a:rPr lang="es-ES"/>
            <a:t>Variables Categorías</a:t>
          </a:r>
          <a:endParaRPr lang="en-US"/>
        </a:p>
      </dgm:t>
    </dgm:pt>
    <dgm:pt modelId="{66254D7B-53CC-4101-A883-380C96F16756}" type="parTrans" cxnId="{4E4633A6-C4AB-424C-BEB8-9069AE890434}">
      <dgm:prSet/>
      <dgm:spPr/>
      <dgm:t>
        <a:bodyPr/>
        <a:lstStyle/>
        <a:p>
          <a:endParaRPr lang="en-US"/>
        </a:p>
      </dgm:t>
    </dgm:pt>
    <dgm:pt modelId="{CA08BF5F-6FF6-4ED3-B363-FF9CD3BAD5A1}" type="sibTrans" cxnId="{4E4633A6-C4AB-424C-BEB8-9069AE890434}">
      <dgm:prSet/>
      <dgm:spPr/>
      <dgm:t>
        <a:bodyPr/>
        <a:lstStyle/>
        <a:p>
          <a:endParaRPr lang="en-US"/>
        </a:p>
      </dgm:t>
    </dgm:pt>
    <dgm:pt modelId="{27FD30A8-48C7-4832-BE97-0EDE8619277F}">
      <dgm:prSet/>
      <dgm:spPr/>
      <dgm:t>
        <a:bodyPr/>
        <a:lstStyle/>
        <a:p>
          <a:r>
            <a:rPr lang="es-ES"/>
            <a:t>Frecuencias Relativas (Probabilidades frecuentistas)</a:t>
          </a:r>
          <a:endParaRPr lang="en-US"/>
        </a:p>
      </dgm:t>
    </dgm:pt>
    <dgm:pt modelId="{A979B090-6F32-46E9-B500-D1C7F60F8F86}" type="parTrans" cxnId="{A8CD57FE-30CB-4372-85F4-6592F249155D}">
      <dgm:prSet/>
      <dgm:spPr/>
      <dgm:t>
        <a:bodyPr/>
        <a:lstStyle/>
        <a:p>
          <a:endParaRPr lang="en-US"/>
        </a:p>
      </dgm:t>
    </dgm:pt>
    <dgm:pt modelId="{A56851AB-F907-4AA8-A8F8-573D5AB2FB90}" type="sibTrans" cxnId="{A8CD57FE-30CB-4372-85F4-6592F249155D}">
      <dgm:prSet/>
      <dgm:spPr/>
      <dgm:t>
        <a:bodyPr/>
        <a:lstStyle/>
        <a:p>
          <a:endParaRPr lang="en-US"/>
        </a:p>
      </dgm:t>
    </dgm:pt>
    <dgm:pt modelId="{EDE92924-2955-4F2A-B277-75E618868573}" type="pres">
      <dgm:prSet presAssocID="{CDCE9F7C-04D6-4253-9675-00E7B818F9D6}" presName="linear" presStyleCnt="0">
        <dgm:presLayoutVars>
          <dgm:dir/>
          <dgm:animLvl val="lvl"/>
          <dgm:resizeHandles val="exact"/>
        </dgm:presLayoutVars>
      </dgm:prSet>
      <dgm:spPr/>
    </dgm:pt>
    <dgm:pt modelId="{F46E0DC5-7003-42AB-9880-78928C9EFF1B}" type="pres">
      <dgm:prSet presAssocID="{E514A93F-F666-493D-BD7D-40E6B0D1556F}" presName="parentLin" presStyleCnt="0"/>
      <dgm:spPr/>
    </dgm:pt>
    <dgm:pt modelId="{E8154650-53FA-4D8D-A691-C1D5CAA0B704}" type="pres">
      <dgm:prSet presAssocID="{E514A93F-F666-493D-BD7D-40E6B0D1556F}" presName="parentLeftMargin" presStyleLbl="node1" presStyleIdx="0" presStyleCnt="2"/>
      <dgm:spPr/>
    </dgm:pt>
    <dgm:pt modelId="{0EE0EF70-2102-4632-97FF-B36288B829ED}" type="pres">
      <dgm:prSet presAssocID="{E514A93F-F666-493D-BD7D-40E6B0D1556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17F9D99-089A-450C-BA66-830B05C1B800}" type="pres">
      <dgm:prSet presAssocID="{E514A93F-F666-493D-BD7D-40E6B0D1556F}" presName="negativeSpace" presStyleCnt="0"/>
      <dgm:spPr/>
    </dgm:pt>
    <dgm:pt modelId="{BFD233BF-A653-49EF-AD8A-0F8FC95625A9}" type="pres">
      <dgm:prSet presAssocID="{E514A93F-F666-493D-BD7D-40E6B0D1556F}" presName="childText" presStyleLbl="conFgAcc1" presStyleIdx="0" presStyleCnt="2">
        <dgm:presLayoutVars>
          <dgm:bulletEnabled val="1"/>
        </dgm:presLayoutVars>
      </dgm:prSet>
      <dgm:spPr/>
    </dgm:pt>
    <dgm:pt modelId="{B9AD2574-7416-4176-86E1-5A0EBD9B4CF3}" type="pres">
      <dgm:prSet presAssocID="{AC1EFA56-27AC-4850-B16E-2089F4E24655}" presName="spaceBetweenRectangles" presStyleCnt="0"/>
      <dgm:spPr/>
    </dgm:pt>
    <dgm:pt modelId="{A3B48044-1E10-439D-8C6E-281E6952EC5D}" type="pres">
      <dgm:prSet presAssocID="{D9B8D600-35D3-4395-B8A6-077851F3DE5C}" presName="parentLin" presStyleCnt="0"/>
      <dgm:spPr/>
    </dgm:pt>
    <dgm:pt modelId="{EA71C629-52DB-4BF0-8DC6-B23F736296E3}" type="pres">
      <dgm:prSet presAssocID="{D9B8D600-35D3-4395-B8A6-077851F3DE5C}" presName="parentLeftMargin" presStyleLbl="node1" presStyleIdx="0" presStyleCnt="2"/>
      <dgm:spPr/>
    </dgm:pt>
    <dgm:pt modelId="{0551D5C4-95C4-47E5-91B4-81D1078E2392}" type="pres">
      <dgm:prSet presAssocID="{D9B8D600-35D3-4395-B8A6-077851F3DE5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6D6782C-E923-47C3-A671-4C7724D6211E}" type="pres">
      <dgm:prSet presAssocID="{D9B8D600-35D3-4395-B8A6-077851F3DE5C}" presName="negativeSpace" presStyleCnt="0"/>
      <dgm:spPr/>
    </dgm:pt>
    <dgm:pt modelId="{890CBB62-61D2-4695-9BC2-0E98CFF4FFB5}" type="pres">
      <dgm:prSet presAssocID="{D9B8D600-35D3-4395-B8A6-077851F3DE5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E9FD5F01-4D3D-4F5C-AE1E-5609960F527B}" srcId="{E514A93F-F666-493D-BD7D-40E6B0D1556F}" destId="{3A08FA46-79B8-4009-AA53-7D449F7CB2A3}" srcOrd="0" destOrd="0" parTransId="{945E79D0-92DC-4A67-ADD1-921EC0107EA4}" sibTransId="{08FEC6D5-1213-4646-808B-7B05DC42D929}"/>
    <dgm:cxn modelId="{2C694528-96BE-46F5-8339-2B3BFA6EF2E1}" type="presOf" srcId="{E514A93F-F666-493D-BD7D-40E6B0D1556F}" destId="{E8154650-53FA-4D8D-A691-C1D5CAA0B704}" srcOrd="0" destOrd="0" presId="urn:microsoft.com/office/officeart/2005/8/layout/list1"/>
    <dgm:cxn modelId="{9209C73E-57D0-47C4-9FE9-7CFBF21876AD}" type="presOf" srcId="{D9B8D600-35D3-4395-B8A6-077851F3DE5C}" destId="{0551D5C4-95C4-47E5-91B4-81D1078E2392}" srcOrd="1" destOrd="0" presId="urn:microsoft.com/office/officeart/2005/8/layout/list1"/>
    <dgm:cxn modelId="{D72EC440-1083-46FD-88D8-451082C32A34}" type="presOf" srcId="{3A08FA46-79B8-4009-AA53-7D449F7CB2A3}" destId="{BFD233BF-A653-49EF-AD8A-0F8FC95625A9}" srcOrd="0" destOrd="0" presId="urn:microsoft.com/office/officeart/2005/8/layout/list1"/>
    <dgm:cxn modelId="{BAA72653-B6F3-4F3F-B6D6-8A1F33B60695}" type="presOf" srcId="{D3C6ADBC-F39D-43F4-8D72-40E20B0CEE4F}" destId="{BFD233BF-A653-49EF-AD8A-0F8FC95625A9}" srcOrd="0" destOrd="2" presId="urn:microsoft.com/office/officeart/2005/8/layout/list1"/>
    <dgm:cxn modelId="{26B9DA53-1903-473B-AFC0-4BDE410283C5}" type="presOf" srcId="{27FD30A8-48C7-4832-BE97-0EDE8619277F}" destId="{890CBB62-61D2-4695-9BC2-0E98CFF4FFB5}" srcOrd="0" destOrd="0" presId="urn:microsoft.com/office/officeart/2005/8/layout/list1"/>
    <dgm:cxn modelId="{58909E82-FDB4-41FC-8B62-EF42B03A12B3}" srcId="{E514A93F-F666-493D-BD7D-40E6B0D1556F}" destId="{E3837D28-DBE7-4FC2-ACC2-E3AFD19A6936}" srcOrd="1" destOrd="0" parTransId="{B68E5635-6FE3-4635-B16A-D767B42DC6BC}" sibTransId="{E156545B-82FD-4ACE-B7E6-AB0FEF3965A1}"/>
    <dgm:cxn modelId="{7E6E6F93-B97E-4016-8BA9-5E592363CD8E}" srcId="{E514A93F-F666-493D-BD7D-40E6B0D1556F}" destId="{D3C6ADBC-F39D-43F4-8D72-40E20B0CEE4F}" srcOrd="2" destOrd="0" parTransId="{51360DDC-291D-4824-A52B-2A84C0E78E2E}" sibTransId="{52A07E38-BBB7-4DFD-B693-F72FA56654A8}"/>
    <dgm:cxn modelId="{15441F9F-084B-484A-87D3-1ABA5E722DE7}" type="presOf" srcId="{CDCE9F7C-04D6-4253-9675-00E7B818F9D6}" destId="{EDE92924-2955-4F2A-B277-75E618868573}" srcOrd="0" destOrd="0" presId="urn:microsoft.com/office/officeart/2005/8/layout/list1"/>
    <dgm:cxn modelId="{FD09F7A3-49C9-456A-99B6-1AF344F8D9B5}" type="presOf" srcId="{E514A93F-F666-493D-BD7D-40E6B0D1556F}" destId="{0EE0EF70-2102-4632-97FF-B36288B829ED}" srcOrd="1" destOrd="0" presId="urn:microsoft.com/office/officeart/2005/8/layout/list1"/>
    <dgm:cxn modelId="{4E4633A6-C4AB-424C-BEB8-9069AE890434}" srcId="{CDCE9F7C-04D6-4253-9675-00E7B818F9D6}" destId="{D9B8D600-35D3-4395-B8A6-077851F3DE5C}" srcOrd="1" destOrd="0" parTransId="{66254D7B-53CC-4101-A883-380C96F16756}" sibTransId="{CA08BF5F-6FF6-4ED3-B363-FF9CD3BAD5A1}"/>
    <dgm:cxn modelId="{8D9224CB-8821-48FB-A615-60248900001C}" srcId="{CDCE9F7C-04D6-4253-9675-00E7B818F9D6}" destId="{E514A93F-F666-493D-BD7D-40E6B0D1556F}" srcOrd="0" destOrd="0" parTransId="{488A3E06-0F03-43A9-80A5-86E30E23F1D7}" sibTransId="{AC1EFA56-27AC-4850-B16E-2089F4E24655}"/>
    <dgm:cxn modelId="{22F0BDE8-3E3C-42F5-9AC2-39307C34AB21}" type="presOf" srcId="{E3837D28-DBE7-4FC2-ACC2-E3AFD19A6936}" destId="{BFD233BF-A653-49EF-AD8A-0F8FC95625A9}" srcOrd="0" destOrd="1" presId="urn:microsoft.com/office/officeart/2005/8/layout/list1"/>
    <dgm:cxn modelId="{53C462EE-C109-434B-9A55-37803E365C2D}" type="presOf" srcId="{D9B8D600-35D3-4395-B8A6-077851F3DE5C}" destId="{EA71C629-52DB-4BF0-8DC6-B23F736296E3}" srcOrd="0" destOrd="0" presId="urn:microsoft.com/office/officeart/2005/8/layout/list1"/>
    <dgm:cxn modelId="{A8CD57FE-30CB-4372-85F4-6592F249155D}" srcId="{D9B8D600-35D3-4395-B8A6-077851F3DE5C}" destId="{27FD30A8-48C7-4832-BE97-0EDE8619277F}" srcOrd="0" destOrd="0" parTransId="{A979B090-6F32-46E9-B500-D1C7F60F8F86}" sibTransId="{A56851AB-F907-4AA8-A8F8-573D5AB2FB90}"/>
    <dgm:cxn modelId="{07800561-9D70-4B17-A917-474DA1A2FF47}" type="presParOf" srcId="{EDE92924-2955-4F2A-B277-75E618868573}" destId="{F46E0DC5-7003-42AB-9880-78928C9EFF1B}" srcOrd="0" destOrd="0" presId="urn:microsoft.com/office/officeart/2005/8/layout/list1"/>
    <dgm:cxn modelId="{355A579B-BF23-456B-B3A6-D4F461B7B275}" type="presParOf" srcId="{F46E0DC5-7003-42AB-9880-78928C9EFF1B}" destId="{E8154650-53FA-4D8D-A691-C1D5CAA0B704}" srcOrd="0" destOrd="0" presId="urn:microsoft.com/office/officeart/2005/8/layout/list1"/>
    <dgm:cxn modelId="{06FDD87F-69E7-4933-8199-B49D82E35FFB}" type="presParOf" srcId="{F46E0DC5-7003-42AB-9880-78928C9EFF1B}" destId="{0EE0EF70-2102-4632-97FF-B36288B829ED}" srcOrd="1" destOrd="0" presId="urn:microsoft.com/office/officeart/2005/8/layout/list1"/>
    <dgm:cxn modelId="{61BAB525-9275-48DF-BA0F-7D44FD3623D3}" type="presParOf" srcId="{EDE92924-2955-4F2A-B277-75E618868573}" destId="{917F9D99-089A-450C-BA66-830B05C1B800}" srcOrd="1" destOrd="0" presId="urn:microsoft.com/office/officeart/2005/8/layout/list1"/>
    <dgm:cxn modelId="{44C72003-9061-4F67-AA0E-A333FBDDC3B8}" type="presParOf" srcId="{EDE92924-2955-4F2A-B277-75E618868573}" destId="{BFD233BF-A653-49EF-AD8A-0F8FC95625A9}" srcOrd="2" destOrd="0" presId="urn:microsoft.com/office/officeart/2005/8/layout/list1"/>
    <dgm:cxn modelId="{F7A0BEF1-5B1E-4D4C-A170-345DFA2F8971}" type="presParOf" srcId="{EDE92924-2955-4F2A-B277-75E618868573}" destId="{B9AD2574-7416-4176-86E1-5A0EBD9B4CF3}" srcOrd="3" destOrd="0" presId="urn:microsoft.com/office/officeart/2005/8/layout/list1"/>
    <dgm:cxn modelId="{AA79DB35-3CFF-4C86-AA49-98ABF218DF70}" type="presParOf" srcId="{EDE92924-2955-4F2A-B277-75E618868573}" destId="{A3B48044-1E10-439D-8C6E-281E6952EC5D}" srcOrd="4" destOrd="0" presId="urn:microsoft.com/office/officeart/2005/8/layout/list1"/>
    <dgm:cxn modelId="{A5C14CCF-4435-4736-9625-A5C4F201E310}" type="presParOf" srcId="{A3B48044-1E10-439D-8C6E-281E6952EC5D}" destId="{EA71C629-52DB-4BF0-8DC6-B23F736296E3}" srcOrd="0" destOrd="0" presId="urn:microsoft.com/office/officeart/2005/8/layout/list1"/>
    <dgm:cxn modelId="{99BB926A-F9D3-4997-A71C-98C9D249F912}" type="presParOf" srcId="{A3B48044-1E10-439D-8C6E-281E6952EC5D}" destId="{0551D5C4-95C4-47E5-91B4-81D1078E2392}" srcOrd="1" destOrd="0" presId="urn:microsoft.com/office/officeart/2005/8/layout/list1"/>
    <dgm:cxn modelId="{E211257F-D369-4ABD-B645-2E14FE5A1B28}" type="presParOf" srcId="{EDE92924-2955-4F2A-B277-75E618868573}" destId="{06D6782C-E923-47C3-A671-4C7724D6211E}" srcOrd="5" destOrd="0" presId="urn:microsoft.com/office/officeart/2005/8/layout/list1"/>
    <dgm:cxn modelId="{8A960309-CDCB-459B-BC87-EF77B1F42F72}" type="presParOf" srcId="{EDE92924-2955-4F2A-B277-75E618868573}" destId="{890CBB62-61D2-4695-9BC2-0E98CFF4FFB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C25C624-02AD-4508-812A-87F87EE7382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C656783-DBAB-4FA0-B558-B229893DACCE}">
      <dgm:prSet/>
      <dgm:spPr/>
      <dgm:t>
        <a:bodyPr/>
        <a:lstStyle/>
        <a:p>
          <a:r>
            <a:rPr lang="es-ES"/>
            <a:t>En el mundo de los datos, las herramientas y tecnologías de visualización de datos son esenciales para analizar cantidades masivas de información y tomar decisiones basadas en datos.</a:t>
          </a:r>
          <a:endParaRPr lang="en-US"/>
        </a:p>
      </dgm:t>
    </dgm:pt>
    <dgm:pt modelId="{7C62AAFF-8FA5-4E1D-9995-8A2EDC0D7028}" type="parTrans" cxnId="{A5C2CADB-2093-4263-A4B1-9C8BD2CE8EC0}">
      <dgm:prSet/>
      <dgm:spPr/>
      <dgm:t>
        <a:bodyPr/>
        <a:lstStyle/>
        <a:p>
          <a:endParaRPr lang="en-US"/>
        </a:p>
      </dgm:t>
    </dgm:pt>
    <dgm:pt modelId="{483F3E67-0EEC-4390-9BA9-A789A0C290D2}" type="sibTrans" cxnId="{A5C2CADB-2093-4263-A4B1-9C8BD2CE8EC0}">
      <dgm:prSet/>
      <dgm:spPr/>
      <dgm:t>
        <a:bodyPr/>
        <a:lstStyle/>
        <a:p>
          <a:endParaRPr lang="en-US"/>
        </a:p>
      </dgm:t>
    </dgm:pt>
    <dgm:pt modelId="{72124294-F878-4EE3-A1A7-F02B4CBB4B88}">
      <dgm:prSet/>
      <dgm:spPr/>
      <dgm:t>
        <a:bodyPr/>
        <a:lstStyle/>
        <a:p>
          <a:r>
            <a:rPr lang="es-ES"/>
            <a:t>Nuestros ojos se sienten atraídos por los colores y los patrones. Podemos identificar rápidamente el rojo del azul, el cuadrado del círculo. Nuestra cultura es visual, que incluye todo, desde arte y publicidad hasta películas.</a:t>
          </a:r>
          <a:endParaRPr lang="en-US"/>
        </a:p>
      </dgm:t>
    </dgm:pt>
    <dgm:pt modelId="{79FE7392-8A89-48C5-B286-1A2F1E99E334}" type="parTrans" cxnId="{C3CFBE56-E8C3-4FE7-AF90-C215BA1AB667}">
      <dgm:prSet/>
      <dgm:spPr/>
      <dgm:t>
        <a:bodyPr/>
        <a:lstStyle/>
        <a:p>
          <a:endParaRPr lang="en-US"/>
        </a:p>
      </dgm:t>
    </dgm:pt>
    <dgm:pt modelId="{9647B699-1D7F-457E-BC81-F6684562FEFA}" type="sibTrans" cxnId="{C3CFBE56-E8C3-4FE7-AF90-C215BA1AB667}">
      <dgm:prSet/>
      <dgm:spPr/>
      <dgm:t>
        <a:bodyPr/>
        <a:lstStyle/>
        <a:p>
          <a:endParaRPr lang="en-US"/>
        </a:p>
      </dgm:t>
    </dgm:pt>
    <dgm:pt modelId="{2C6F3444-20FD-4A72-ACFF-8A163491F59C}" type="pres">
      <dgm:prSet presAssocID="{5C25C624-02AD-4508-812A-87F87EE7382F}" presName="vert0" presStyleCnt="0">
        <dgm:presLayoutVars>
          <dgm:dir/>
          <dgm:animOne val="branch"/>
          <dgm:animLvl val="lvl"/>
        </dgm:presLayoutVars>
      </dgm:prSet>
      <dgm:spPr/>
    </dgm:pt>
    <dgm:pt modelId="{F05BF8FD-3D06-467C-BC0B-659F7F30E5E0}" type="pres">
      <dgm:prSet presAssocID="{EC656783-DBAB-4FA0-B558-B229893DACCE}" presName="thickLine" presStyleLbl="alignNode1" presStyleIdx="0" presStyleCnt="2"/>
      <dgm:spPr/>
    </dgm:pt>
    <dgm:pt modelId="{43F59DDE-BD0F-4B14-9732-7142733703A5}" type="pres">
      <dgm:prSet presAssocID="{EC656783-DBAB-4FA0-B558-B229893DACCE}" presName="horz1" presStyleCnt="0"/>
      <dgm:spPr/>
    </dgm:pt>
    <dgm:pt modelId="{224D33FF-992B-464A-9F33-083F5A30BFC3}" type="pres">
      <dgm:prSet presAssocID="{EC656783-DBAB-4FA0-B558-B229893DACCE}" presName="tx1" presStyleLbl="revTx" presStyleIdx="0" presStyleCnt="2"/>
      <dgm:spPr/>
    </dgm:pt>
    <dgm:pt modelId="{4431FD33-38C5-46E1-8DCC-C9FC08ACCB7A}" type="pres">
      <dgm:prSet presAssocID="{EC656783-DBAB-4FA0-B558-B229893DACCE}" presName="vert1" presStyleCnt="0"/>
      <dgm:spPr/>
    </dgm:pt>
    <dgm:pt modelId="{BAFC1534-41F3-4068-9E3E-BCB44ACBA6E9}" type="pres">
      <dgm:prSet presAssocID="{72124294-F878-4EE3-A1A7-F02B4CBB4B88}" presName="thickLine" presStyleLbl="alignNode1" presStyleIdx="1" presStyleCnt="2"/>
      <dgm:spPr/>
    </dgm:pt>
    <dgm:pt modelId="{297CE2C8-13DB-4F54-976B-3B1652211AF8}" type="pres">
      <dgm:prSet presAssocID="{72124294-F878-4EE3-A1A7-F02B4CBB4B88}" presName="horz1" presStyleCnt="0"/>
      <dgm:spPr/>
    </dgm:pt>
    <dgm:pt modelId="{58EF79C9-4437-4D51-971D-543CBCFA80FC}" type="pres">
      <dgm:prSet presAssocID="{72124294-F878-4EE3-A1A7-F02B4CBB4B88}" presName="tx1" presStyleLbl="revTx" presStyleIdx="1" presStyleCnt="2"/>
      <dgm:spPr/>
    </dgm:pt>
    <dgm:pt modelId="{63976B31-DA55-45F9-A072-B42B9AEFA69E}" type="pres">
      <dgm:prSet presAssocID="{72124294-F878-4EE3-A1A7-F02B4CBB4B88}" presName="vert1" presStyleCnt="0"/>
      <dgm:spPr/>
    </dgm:pt>
  </dgm:ptLst>
  <dgm:cxnLst>
    <dgm:cxn modelId="{D9527C2B-C369-4730-AFE3-58373C2941BA}" type="presOf" srcId="{EC656783-DBAB-4FA0-B558-B229893DACCE}" destId="{224D33FF-992B-464A-9F33-083F5A30BFC3}" srcOrd="0" destOrd="0" presId="urn:microsoft.com/office/officeart/2008/layout/LinedList"/>
    <dgm:cxn modelId="{C3CFBE56-E8C3-4FE7-AF90-C215BA1AB667}" srcId="{5C25C624-02AD-4508-812A-87F87EE7382F}" destId="{72124294-F878-4EE3-A1A7-F02B4CBB4B88}" srcOrd="1" destOrd="0" parTransId="{79FE7392-8A89-48C5-B286-1A2F1E99E334}" sibTransId="{9647B699-1D7F-457E-BC81-F6684562FEFA}"/>
    <dgm:cxn modelId="{56937A95-DE69-4253-8C46-B67B0ACD1A81}" type="presOf" srcId="{5C25C624-02AD-4508-812A-87F87EE7382F}" destId="{2C6F3444-20FD-4A72-ACFF-8A163491F59C}" srcOrd="0" destOrd="0" presId="urn:microsoft.com/office/officeart/2008/layout/LinedList"/>
    <dgm:cxn modelId="{341C26DB-D223-493C-BDA0-AAB3B1B696F2}" type="presOf" srcId="{72124294-F878-4EE3-A1A7-F02B4CBB4B88}" destId="{58EF79C9-4437-4D51-971D-543CBCFA80FC}" srcOrd="0" destOrd="0" presId="urn:microsoft.com/office/officeart/2008/layout/LinedList"/>
    <dgm:cxn modelId="{A5C2CADB-2093-4263-A4B1-9C8BD2CE8EC0}" srcId="{5C25C624-02AD-4508-812A-87F87EE7382F}" destId="{EC656783-DBAB-4FA0-B558-B229893DACCE}" srcOrd="0" destOrd="0" parTransId="{7C62AAFF-8FA5-4E1D-9995-8A2EDC0D7028}" sibTransId="{483F3E67-0EEC-4390-9BA9-A789A0C290D2}"/>
    <dgm:cxn modelId="{C09E0760-9798-4261-8EF9-3BCEB21722C0}" type="presParOf" srcId="{2C6F3444-20FD-4A72-ACFF-8A163491F59C}" destId="{F05BF8FD-3D06-467C-BC0B-659F7F30E5E0}" srcOrd="0" destOrd="0" presId="urn:microsoft.com/office/officeart/2008/layout/LinedList"/>
    <dgm:cxn modelId="{8ACBF1E1-C1FF-4E4C-98FA-C386460D7F2B}" type="presParOf" srcId="{2C6F3444-20FD-4A72-ACFF-8A163491F59C}" destId="{43F59DDE-BD0F-4B14-9732-7142733703A5}" srcOrd="1" destOrd="0" presId="urn:microsoft.com/office/officeart/2008/layout/LinedList"/>
    <dgm:cxn modelId="{344352BC-1619-4084-9B42-C0E3804A4BB5}" type="presParOf" srcId="{43F59DDE-BD0F-4B14-9732-7142733703A5}" destId="{224D33FF-992B-464A-9F33-083F5A30BFC3}" srcOrd="0" destOrd="0" presId="urn:microsoft.com/office/officeart/2008/layout/LinedList"/>
    <dgm:cxn modelId="{9E115025-35A9-4CE1-B8FA-05296C29D02A}" type="presParOf" srcId="{43F59DDE-BD0F-4B14-9732-7142733703A5}" destId="{4431FD33-38C5-46E1-8DCC-C9FC08ACCB7A}" srcOrd="1" destOrd="0" presId="urn:microsoft.com/office/officeart/2008/layout/LinedList"/>
    <dgm:cxn modelId="{74ED9415-3839-4764-A51B-911D764C0A99}" type="presParOf" srcId="{2C6F3444-20FD-4A72-ACFF-8A163491F59C}" destId="{BAFC1534-41F3-4068-9E3E-BCB44ACBA6E9}" srcOrd="2" destOrd="0" presId="urn:microsoft.com/office/officeart/2008/layout/LinedList"/>
    <dgm:cxn modelId="{2F264E1E-1D5E-435D-8969-5E50F8F34F5F}" type="presParOf" srcId="{2C6F3444-20FD-4A72-ACFF-8A163491F59C}" destId="{297CE2C8-13DB-4F54-976B-3B1652211AF8}" srcOrd="3" destOrd="0" presId="urn:microsoft.com/office/officeart/2008/layout/LinedList"/>
    <dgm:cxn modelId="{161EFC48-9C72-47ED-A2CE-D7AA165A0ECC}" type="presParOf" srcId="{297CE2C8-13DB-4F54-976B-3B1652211AF8}" destId="{58EF79C9-4437-4D51-971D-543CBCFA80FC}" srcOrd="0" destOrd="0" presId="urn:microsoft.com/office/officeart/2008/layout/LinedList"/>
    <dgm:cxn modelId="{BACADA20-9096-4405-BDBC-8BB55943F7B1}" type="presParOf" srcId="{297CE2C8-13DB-4F54-976B-3B1652211AF8}" destId="{63976B31-DA55-45F9-A072-B42B9AEFA69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DCE9F7C-04D6-4253-9675-00E7B818F9D6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514A93F-F666-493D-BD7D-40E6B0D1556F}">
      <dgm:prSet/>
      <dgm:spPr/>
      <dgm:t>
        <a:bodyPr/>
        <a:lstStyle/>
        <a:p>
          <a:r>
            <a:rPr lang="es-ES"/>
            <a:t>Variables Numéricas</a:t>
          </a:r>
          <a:endParaRPr lang="en-US"/>
        </a:p>
      </dgm:t>
    </dgm:pt>
    <dgm:pt modelId="{488A3E06-0F03-43A9-80A5-86E30E23F1D7}" type="parTrans" cxnId="{8D9224CB-8821-48FB-A615-60248900001C}">
      <dgm:prSet/>
      <dgm:spPr/>
      <dgm:t>
        <a:bodyPr/>
        <a:lstStyle/>
        <a:p>
          <a:endParaRPr lang="en-US"/>
        </a:p>
      </dgm:t>
    </dgm:pt>
    <dgm:pt modelId="{AC1EFA56-27AC-4850-B16E-2089F4E24655}" type="sibTrans" cxnId="{8D9224CB-8821-48FB-A615-60248900001C}">
      <dgm:prSet/>
      <dgm:spPr/>
      <dgm:t>
        <a:bodyPr/>
        <a:lstStyle/>
        <a:p>
          <a:endParaRPr lang="en-US"/>
        </a:p>
      </dgm:t>
    </dgm:pt>
    <dgm:pt modelId="{3A08FA46-79B8-4009-AA53-7D449F7CB2A3}">
      <dgm:prSet/>
      <dgm:spPr/>
      <dgm:t>
        <a:bodyPr/>
        <a:lstStyle/>
        <a:p>
          <a:r>
            <a:rPr lang="es-ES"/>
            <a:t>Correlación (-1, 0, 1)</a:t>
          </a:r>
          <a:endParaRPr lang="en-US"/>
        </a:p>
      </dgm:t>
    </dgm:pt>
    <dgm:pt modelId="{945E79D0-92DC-4A67-ADD1-921EC0107EA4}" type="parTrans" cxnId="{E9FD5F01-4D3D-4F5C-AE1E-5609960F527B}">
      <dgm:prSet/>
      <dgm:spPr/>
      <dgm:t>
        <a:bodyPr/>
        <a:lstStyle/>
        <a:p>
          <a:endParaRPr lang="en-US"/>
        </a:p>
      </dgm:t>
    </dgm:pt>
    <dgm:pt modelId="{08FEC6D5-1213-4646-808B-7B05DC42D929}" type="sibTrans" cxnId="{E9FD5F01-4D3D-4F5C-AE1E-5609960F527B}">
      <dgm:prSet/>
      <dgm:spPr/>
      <dgm:t>
        <a:bodyPr/>
        <a:lstStyle/>
        <a:p>
          <a:endParaRPr lang="en-US"/>
        </a:p>
      </dgm:t>
    </dgm:pt>
    <dgm:pt modelId="{D9B8D600-35D3-4395-B8A6-077851F3DE5C}">
      <dgm:prSet/>
      <dgm:spPr/>
      <dgm:t>
        <a:bodyPr/>
        <a:lstStyle/>
        <a:p>
          <a:r>
            <a:rPr lang="es-ES"/>
            <a:t>Variables Categorías</a:t>
          </a:r>
          <a:endParaRPr lang="en-US"/>
        </a:p>
      </dgm:t>
    </dgm:pt>
    <dgm:pt modelId="{66254D7B-53CC-4101-A883-380C96F16756}" type="parTrans" cxnId="{4E4633A6-C4AB-424C-BEB8-9069AE890434}">
      <dgm:prSet/>
      <dgm:spPr/>
      <dgm:t>
        <a:bodyPr/>
        <a:lstStyle/>
        <a:p>
          <a:endParaRPr lang="en-US"/>
        </a:p>
      </dgm:t>
    </dgm:pt>
    <dgm:pt modelId="{CA08BF5F-6FF6-4ED3-B363-FF9CD3BAD5A1}" type="sibTrans" cxnId="{4E4633A6-C4AB-424C-BEB8-9069AE890434}">
      <dgm:prSet/>
      <dgm:spPr/>
      <dgm:t>
        <a:bodyPr/>
        <a:lstStyle/>
        <a:p>
          <a:endParaRPr lang="en-US"/>
        </a:p>
      </dgm:t>
    </dgm:pt>
    <dgm:pt modelId="{27FD30A8-48C7-4832-BE97-0EDE8619277F}">
      <dgm:prSet/>
      <dgm:spPr/>
      <dgm:t>
        <a:bodyPr/>
        <a:lstStyle/>
        <a:p>
          <a:r>
            <a:rPr lang="es-ES"/>
            <a:t>Tabla de distribución de frecuencias. </a:t>
          </a:r>
          <a:endParaRPr lang="en-US"/>
        </a:p>
      </dgm:t>
    </dgm:pt>
    <dgm:pt modelId="{A979B090-6F32-46E9-B500-D1C7F60F8F86}" type="parTrans" cxnId="{A8CD57FE-30CB-4372-85F4-6592F249155D}">
      <dgm:prSet/>
      <dgm:spPr/>
      <dgm:t>
        <a:bodyPr/>
        <a:lstStyle/>
        <a:p>
          <a:endParaRPr lang="en-US"/>
        </a:p>
      </dgm:t>
    </dgm:pt>
    <dgm:pt modelId="{A56851AB-F907-4AA8-A8F8-573D5AB2FB90}" type="sibTrans" cxnId="{A8CD57FE-30CB-4372-85F4-6592F249155D}">
      <dgm:prSet/>
      <dgm:spPr/>
      <dgm:t>
        <a:bodyPr/>
        <a:lstStyle/>
        <a:p>
          <a:endParaRPr lang="en-US"/>
        </a:p>
      </dgm:t>
    </dgm:pt>
    <dgm:pt modelId="{32E2EF28-3EE3-4836-B445-D81816F59A1B}">
      <dgm:prSet/>
      <dgm:spPr/>
      <dgm:t>
        <a:bodyPr/>
        <a:lstStyle/>
        <a:p>
          <a:r>
            <a:rPr lang="es-CO" noProof="0"/>
            <a:t>Correlación no significa causalidad</a:t>
          </a:r>
        </a:p>
      </dgm:t>
    </dgm:pt>
    <dgm:pt modelId="{0569FF7D-A5BF-4FD9-B5C9-1A2DFAF20D37}" type="parTrans" cxnId="{33606F43-47DB-46A9-9BFA-407A571B9BB9}">
      <dgm:prSet/>
      <dgm:spPr/>
      <dgm:t>
        <a:bodyPr/>
        <a:lstStyle/>
        <a:p>
          <a:endParaRPr lang="es-CO"/>
        </a:p>
      </dgm:t>
    </dgm:pt>
    <dgm:pt modelId="{5A4FF7D1-681B-4DD6-964D-C51210765902}" type="sibTrans" cxnId="{33606F43-47DB-46A9-9BFA-407A571B9BB9}">
      <dgm:prSet/>
      <dgm:spPr/>
      <dgm:t>
        <a:bodyPr/>
        <a:lstStyle/>
        <a:p>
          <a:endParaRPr lang="es-CO"/>
        </a:p>
      </dgm:t>
    </dgm:pt>
    <dgm:pt modelId="{A76E37B5-A2F4-4AAD-8DBC-4BA0F152628D}">
      <dgm:prSet/>
      <dgm:spPr/>
      <dgm:t>
        <a:bodyPr/>
        <a:lstStyle/>
        <a:p>
          <a:r>
            <a:rPr lang="en-US" noProof="0"/>
            <a:t>Spurious correlation</a:t>
          </a:r>
        </a:p>
      </dgm:t>
    </dgm:pt>
    <dgm:pt modelId="{DADD0916-3D29-43BA-80A6-FBFBD473C791}" type="parTrans" cxnId="{A039D3AE-5540-4F78-A361-7A122D80F192}">
      <dgm:prSet/>
      <dgm:spPr/>
      <dgm:t>
        <a:bodyPr/>
        <a:lstStyle/>
        <a:p>
          <a:endParaRPr lang="es-CO"/>
        </a:p>
      </dgm:t>
    </dgm:pt>
    <dgm:pt modelId="{0307740E-A3BE-4F41-A640-D2B33D200AAE}" type="sibTrans" cxnId="{A039D3AE-5540-4F78-A361-7A122D80F192}">
      <dgm:prSet/>
      <dgm:spPr/>
      <dgm:t>
        <a:bodyPr/>
        <a:lstStyle/>
        <a:p>
          <a:endParaRPr lang="es-CO"/>
        </a:p>
      </dgm:t>
    </dgm:pt>
    <dgm:pt modelId="{2E056FF9-C4DC-42CF-ADE5-3E7EC6BA1567}">
      <dgm:prSet/>
      <dgm:spPr/>
      <dgm:t>
        <a:bodyPr/>
        <a:lstStyle/>
        <a:p>
          <a:r>
            <a:rPr lang="es-CO" noProof="0"/>
            <a:t>Ejemplo:</a:t>
          </a:r>
        </a:p>
      </dgm:t>
    </dgm:pt>
    <dgm:pt modelId="{011C581A-E680-417F-8719-437FB59D95DF}" type="parTrans" cxnId="{D1A679BF-5576-448E-8D80-543FC25E4066}">
      <dgm:prSet/>
      <dgm:spPr/>
    </dgm:pt>
    <dgm:pt modelId="{1BE11542-3E8A-40CF-906B-B1CA438CC954}" type="sibTrans" cxnId="{D1A679BF-5576-448E-8D80-543FC25E4066}">
      <dgm:prSet/>
      <dgm:spPr/>
    </dgm:pt>
    <dgm:pt modelId="{52CA3577-DEA6-41DC-93F0-BB41FC4A274A}">
      <dgm:prSet/>
      <dgm:spPr/>
      <dgm:t>
        <a:bodyPr/>
        <a:lstStyle/>
        <a:p>
          <a:r>
            <a:rPr lang="en-US" noProof="0"/>
            <a:t>(</a:t>
          </a:r>
          <a:r>
            <a:rPr lang="es-CO" noProof="0"/>
            <a:t>Precio de venta</a:t>
          </a:r>
          <a:r>
            <a:rPr lang="en-US" noProof="0"/>
            <a:t>, </a:t>
          </a:r>
          <a:r>
            <a:rPr lang="es-CO" noProof="0" err="1"/>
            <a:t>area</a:t>
          </a:r>
          <a:r>
            <a:rPr lang="es-CO" noProof="0"/>
            <a:t> construida</a:t>
          </a:r>
          <a:r>
            <a:rPr lang="en-US" noProof="0"/>
            <a:t>)</a:t>
          </a:r>
        </a:p>
      </dgm:t>
    </dgm:pt>
    <dgm:pt modelId="{F15F2AC6-64B8-46BB-9BEF-7A7D18EA76B9}" type="parTrans" cxnId="{5D58DDA8-3269-40E2-8D1F-D3DAC58A9C9B}">
      <dgm:prSet/>
      <dgm:spPr/>
    </dgm:pt>
    <dgm:pt modelId="{5D9951C5-D66E-4D25-9032-F32438946D06}" type="sibTrans" cxnId="{5D58DDA8-3269-40E2-8D1F-D3DAC58A9C9B}">
      <dgm:prSet/>
      <dgm:spPr/>
    </dgm:pt>
    <dgm:pt modelId="{EDE92924-2955-4F2A-B277-75E618868573}" type="pres">
      <dgm:prSet presAssocID="{CDCE9F7C-04D6-4253-9675-00E7B818F9D6}" presName="linear" presStyleCnt="0">
        <dgm:presLayoutVars>
          <dgm:dir/>
          <dgm:animLvl val="lvl"/>
          <dgm:resizeHandles val="exact"/>
        </dgm:presLayoutVars>
      </dgm:prSet>
      <dgm:spPr/>
    </dgm:pt>
    <dgm:pt modelId="{F46E0DC5-7003-42AB-9880-78928C9EFF1B}" type="pres">
      <dgm:prSet presAssocID="{E514A93F-F666-493D-BD7D-40E6B0D1556F}" presName="parentLin" presStyleCnt="0"/>
      <dgm:spPr/>
    </dgm:pt>
    <dgm:pt modelId="{E8154650-53FA-4D8D-A691-C1D5CAA0B704}" type="pres">
      <dgm:prSet presAssocID="{E514A93F-F666-493D-BD7D-40E6B0D1556F}" presName="parentLeftMargin" presStyleLbl="node1" presStyleIdx="0" presStyleCnt="2"/>
      <dgm:spPr/>
    </dgm:pt>
    <dgm:pt modelId="{0EE0EF70-2102-4632-97FF-B36288B829ED}" type="pres">
      <dgm:prSet presAssocID="{E514A93F-F666-493D-BD7D-40E6B0D1556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917F9D99-089A-450C-BA66-830B05C1B800}" type="pres">
      <dgm:prSet presAssocID="{E514A93F-F666-493D-BD7D-40E6B0D1556F}" presName="negativeSpace" presStyleCnt="0"/>
      <dgm:spPr/>
    </dgm:pt>
    <dgm:pt modelId="{BFD233BF-A653-49EF-AD8A-0F8FC95625A9}" type="pres">
      <dgm:prSet presAssocID="{E514A93F-F666-493D-BD7D-40E6B0D1556F}" presName="childText" presStyleLbl="conFgAcc1" presStyleIdx="0" presStyleCnt="2">
        <dgm:presLayoutVars>
          <dgm:bulletEnabled val="1"/>
        </dgm:presLayoutVars>
      </dgm:prSet>
      <dgm:spPr/>
    </dgm:pt>
    <dgm:pt modelId="{B9AD2574-7416-4176-86E1-5A0EBD9B4CF3}" type="pres">
      <dgm:prSet presAssocID="{AC1EFA56-27AC-4850-B16E-2089F4E24655}" presName="spaceBetweenRectangles" presStyleCnt="0"/>
      <dgm:spPr/>
    </dgm:pt>
    <dgm:pt modelId="{A3B48044-1E10-439D-8C6E-281E6952EC5D}" type="pres">
      <dgm:prSet presAssocID="{D9B8D600-35D3-4395-B8A6-077851F3DE5C}" presName="parentLin" presStyleCnt="0"/>
      <dgm:spPr/>
    </dgm:pt>
    <dgm:pt modelId="{EA71C629-52DB-4BF0-8DC6-B23F736296E3}" type="pres">
      <dgm:prSet presAssocID="{D9B8D600-35D3-4395-B8A6-077851F3DE5C}" presName="parentLeftMargin" presStyleLbl="node1" presStyleIdx="0" presStyleCnt="2"/>
      <dgm:spPr/>
    </dgm:pt>
    <dgm:pt modelId="{0551D5C4-95C4-47E5-91B4-81D1078E2392}" type="pres">
      <dgm:prSet presAssocID="{D9B8D600-35D3-4395-B8A6-077851F3DE5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06D6782C-E923-47C3-A671-4C7724D6211E}" type="pres">
      <dgm:prSet presAssocID="{D9B8D600-35D3-4395-B8A6-077851F3DE5C}" presName="negativeSpace" presStyleCnt="0"/>
      <dgm:spPr/>
    </dgm:pt>
    <dgm:pt modelId="{890CBB62-61D2-4695-9BC2-0E98CFF4FFB5}" type="pres">
      <dgm:prSet presAssocID="{D9B8D600-35D3-4395-B8A6-077851F3DE5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E9FD5F01-4D3D-4F5C-AE1E-5609960F527B}" srcId="{E514A93F-F666-493D-BD7D-40E6B0D1556F}" destId="{3A08FA46-79B8-4009-AA53-7D449F7CB2A3}" srcOrd="0" destOrd="0" parTransId="{945E79D0-92DC-4A67-ADD1-921EC0107EA4}" sibTransId="{08FEC6D5-1213-4646-808B-7B05DC42D929}"/>
    <dgm:cxn modelId="{2C694528-96BE-46F5-8339-2B3BFA6EF2E1}" type="presOf" srcId="{E514A93F-F666-493D-BD7D-40E6B0D1556F}" destId="{E8154650-53FA-4D8D-A691-C1D5CAA0B704}" srcOrd="0" destOrd="0" presId="urn:microsoft.com/office/officeart/2005/8/layout/list1"/>
    <dgm:cxn modelId="{9209C73E-57D0-47C4-9FE9-7CFBF21876AD}" type="presOf" srcId="{D9B8D600-35D3-4395-B8A6-077851F3DE5C}" destId="{0551D5C4-95C4-47E5-91B4-81D1078E2392}" srcOrd="1" destOrd="0" presId="urn:microsoft.com/office/officeart/2005/8/layout/list1"/>
    <dgm:cxn modelId="{D72EC440-1083-46FD-88D8-451082C32A34}" type="presOf" srcId="{3A08FA46-79B8-4009-AA53-7D449F7CB2A3}" destId="{BFD233BF-A653-49EF-AD8A-0F8FC95625A9}" srcOrd="0" destOrd="0" presId="urn:microsoft.com/office/officeart/2005/8/layout/list1"/>
    <dgm:cxn modelId="{33606F43-47DB-46A9-9BFA-407A571B9BB9}" srcId="{3A08FA46-79B8-4009-AA53-7D449F7CB2A3}" destId="{32E2EF28-3EE3-4836-B445-D81816F59A1B}" srcOrd="0" destOrd="0" parTransId="{0569FF7D-A5BF-4FD9-B5C9-1A2DFAF20D37}" sibTransId="{5A4FF7D1-681B-4DD6-964D-C51210765902}"/>
    <dgm:cxn modelId="{4E25B647-C625-45B8-93A7-EC44DFF0DF4C}" type="presOf" srcId="{A76E37B5-A2F4-4AAD-8DBC-4BA0F152628D}" destId="{BFD233BF-A653-49EF-AD8A-0F8FC95625A9}" srcOrd="0" destOrd="2" presId="urn:microsoft.com/office/officeart/2005/8/layout/list1"/>
    <dgm:cxn modelId="{26B9DA53-1903-473B-AFC0-4BDE410283C5}" type="presOf" srcId="{27FD30A8-48C7-4832-BE97-0EDE8619277F}" destId="{890CBB62-61D2-4695-9BC2-0E98CFF4FFB5}" srcOrd="0" destOrd="0" presId="urn:microsoft.com/office/officeart/2005/8/layout/list1"/>
    <dgm:cxn modelId="{2DD8F480-6E10-4469-8B37-06E41D2D8C85}" type="presOf" srcId="{52CA3577-DEA6-41DC-93F0-BB41FC4A274A}" destId="{BFD233BF-A653-49EF-AD8A-0F8FC95625A9}" srcOrd="0" destOrd="4" presId="urn:microsoft.com/office/officeart/2005/8/layout/list1"/>
    <dgm:cxn modelId="{312B7185-2012-4015-AAD9-EA301DD42409}" type="presOf" srcId="{32E2EF28-3EE3-4836-B445-D81816F59A1B}" destId="{BFD233BF-A653-49EF-AD8A-0F8FC95625A9}" srcOrd="0" destOrd="1" presId="urn:microsoft.com/office/officeart/2005/8/layout/list1"/>
    <dgm:cxn modelId="{15441F9F-084B-484A-87D3-1ABA5E722DE7}" type="presOf" srcId="{CDCE9F7C-04D6-4253-9675-00E7B818F9D6}" destId="{EDE92924-2955-4F2A-B277-75E618868573}" srcOrd="0" destOrd="0" presId="urn:microsoft.com/office/officeart/2005/8/layout/list1"/>
    <dgm:cxn modelId="{FD09F7A3-49C9-456A-99B6-1AF344F8D9B5}" type="presOf" srcId="{E514A93F-F666-493D-BD7D-40E6B0D1556F}" destId="{0EE0EF70-2102-4632-97FF-B36288B829ED}" srcOrd="1" destOrd="0" presId="urn:microsoft.com/office/officeart/2005/8/layout/list1"/>
    <dgm:cxn modelId="{4E4633A6-C4AB-424C-BEB8-9069AE890434}" srcId="{CDCE9F7C-04D6-4253-9675-00E7B818F9D6}" destId="{D9B8D600-35D3-4395-B8A6-077851F3DE5C}" srcOrd="1" destOrd="0" parTransId="{66254D7B-53CC-4101-A883-380C96F16756}" sibTransId="{CA08BF5F-6FF6-4ED3-B363-FF9CD3BAD5A1}"/>
    <dgm:cxn modelId="{DDAAC1A6-1E4D-40CB-A287-4DD86462C903}" type="presOf" srcId="{2E056FF9-C4DC-42CF-ADE5-3E7EC6BA1567}" destId="{BFD233BF-A653-49EF-AD8A-0F8FC95625A9}" srcOrd="0" destOrd="3" presId="urn:microsoft.com/office/officeart/2005/8/layout/list1"/>
    <dgm:cxn modelId="{5D58DDA8-3269-40E2-8D1F-D3DAC58A9C9B}" srcId="{2E056FF9-C4DC-42CF-ADE5-3E7EC6BA1567}" destId="{52CA3577-DEA6-41DC-93F0-BB41FC4A274A}" srcOrd="0" destOrd="0" parTransId="{F15F2AC6-64B8-46BB-9BEF-7A7D18EA76B9}" sibTransId="{5D9951C5-D66E-4D25-9032-F32438946D06}"/>
    <dgm:cxn modelId="{A039D3AE-5540-4F78-A361-7A122D80F192}" srcId="{32E2EF28-3EE3-4836-B445-D81816F59A1B}" destId="{A76E37B5-A2F4-4AAD-8DBC-4BA0F152628D}" srcOrd="0" destOrd="0" parTransId="{DADD0916-3D29-43BA-80A6-FBFBD473C791}" sibTransId="{0307740E-A3BE-4F41-A640-D2B33D200AAE}"/>
    <dgm:cxn modelId="{D1A679BF-5576-448E-8D80-543FC25E4066}" srcId="{32E2EF28-3EE3-4836-B445-D81816F59A1B}" destId="{2E056FF9-C4DC-42CF-ADE5-3E7EC6BA1567}" srcOrd="1" destOrd="0" parTransId="{011C581A-E680-417F-8719-437FB59D95DF}" sibTransId="{1BE11542-3E8A-40CF-906B-B1CA438CC954}"/>
    <dgm:cxn modelId="{8D9224CB-8821-48FB-A615-60248900001C}" srcId="{CDCE9F7C-04D6-4253-9675-00E7B818F9D6}" destId="{E514A93F-F666-493D-BD7D-40E6B0D1556F}" srcOrd="0" destOrd="0" parTransId="{488A3E06-0F03-43A9-80A5-86E30E23F1D7}" sibTransId="{AC1EFA56-27AC-4850-B16E-2089F4E24655}"/>
    <dgm:cxn modelId="{53C462EE-C109-434B-9A55-37803E365C2D}" type="presOf" srcId="{D9B8D600-35D3-4395-B8A6-077851F3DE5C}" destId="{EA71C629-52DB-4BF0-8DC6-B23F736296E3}" srcOrd="0" destOrd="0" presId="urn:microsoft.com/office/officeart/2005/8/layout/list1"/>
    <dgm:cxn modelId="{A8CD57FE-30CB-4372-85F4-6592F249155D}" srcId="{D9B8D600-35D3-4395-B8A6-077851F3DE5C}" destId="{27FD30A8-48C7-4832-BE97-0EDE8619277F}" srcOrd="0" destOrd="0" parTransId="{A979B090-6F32-46E9-B500-D1C7F60F8F86}" sibTransId="{A56851AB-F907-4AA8-A8F8-573D5AB2FB90}"/>
    <dgm:cxn modelId="{07800561-9D70-4B17-A917-474DA1A2FF47}" type="presParOf" srcId="{EDE92924-2955-4F2A-B277-75E618868573}" destId="{F46E0DC5-7003-42AB-9880-78928C9EFF1B}" srcOrd="0" destOrd="0" presId="urn:microsoft.com/office/officeart/2005/8/layout/list1"/>
    <dgm:cxn modelId="{355A579B-BF23-456B-B3A6-D4F461B7B275}" type="presParOf" srcId="{F46E0DC5-7003-42AB-9880-78928C9EFF1B}" destId="{E8154650-53FA-4D8D-A691-C1D5CAA0B704}" srcOrd="0" destOrd="0" presId="urn:microsoft.com/office/officeart/2005/8/layout/list1"/>
    <dgm:cxn modelId="{06FDD87F-69E7-4933-8199-B49D82E35FFB}" type="presParOf" srcId="{F46E0DC5-7003-42AB-9880-78928C9EFF1B}" destId="{0EE0EF70-2102-4632-97FF-B36288B829ED}" srcOrd="1" destOrd="0" presId="urn:microsoft.com/office/officeart/2005/8/layout/list1"/>
    <dgm:cxn modelId="{61BAB525-9275-48DF-BA0F-7D44FD3623D3}" type="presParOf" srcId="{EDE92924-2955-4F2A-B277-75E618868573}" destId="{917F9D99-089A-450C-BA66-830B05C1B800}" srcOrd="1" destOrd="0" presId="urn:microsoft.com/office/officeart/2005/8/layout/list1"/>
    <dgm:cxn modelId="{44C72003-9061-4F67-AA0E-A333FBDDC3B8}" type="presParOf" srcId="{EDE92924-2955-4F2A-B277-75E618868573}" destId="{BFD233BF-A653-49EF-AD8A-0F8FC95625A9}" srcOrd="2" destOrd="0" presId="urn:microsoft.com/office/officeart/2005/8/layout/list1"/>
    <dgm:cxn modelId="{F7A0BEF1-5B1E-4D4C-A170-345DFA2F8971}" type="presParOf" srcId="{EDE92924-2955-4F2A-B277-75E618868573}" destId="{B9AD2574-7416-4176-86E1-5A0EBD9B4CF3}" srcOrd="3" destOrd="0" presId="urn:microsoft.com/office/officeart/2005/8/layout/list1"/>
    <dgm:cxn modelId="{AA79DB35-3CFF-4C86-AA49-98ABF218DF70}" type="presParOf" srcId="{EDE92924-2955-4F2A-B277-75E618868573}" destId="{A3B48044-1E10-439D-8C6E-281E6952EC5D}" srcOrd="4" destOrd="0" presId="urn:microsoft.com/office/officeart/2005/8/layout/list1"/>
    <dgm:cxn modelId="{A5C14CCF-4435-4736-9625-A5C4F201E310}" type="presParOf" srcId="{A3B48044-1E10-439D-8C6E-281E6952EC5D}" destId="{EA71C629-52DB-4BF0-8DC6-B23F736296E3}" srcOrd="0" destOrd="0" presId="urn:microsoft.com/office/officeart/2005/8/layout/list1"/>
    <dgm:cxn modelId="{99BB926A-F9D3-4997-A71C-98C9D249F912}" type="presParOf" srcId="{A3B48044-1E10-439D-8C6E-281E6952EC5D}" destId="{0551D5C4-95C4-47E5-91B4-81D1078E2392}" srcOrd="1" destOrd="0" presId="urn:microsoft.com/office/officeart/2005/8/layout/list1"/>
    <dgm:cxn modelId="{E211257F-D369-4ABD-B645-2E14FE5A1B28}" type="presParOf" srcId="{EDE92924-2955-4F2A-B277-75E618868573}" destId="{06D6782C-E923-47C3-A671-4C7724D6211E}" srcOrd="5" destOrd="0" presId="urn:microsoft.com/office/officeart/2005/8/layout/list1"/>
    <dgm:cxn modelId="{8A960309-CDCB-459B-BC87-EF77B1F42F72}" type="presParOf" srcId="{EDE92924-2955-4F2A-B277-75E618868573}" destId="{890CBB62-61D2-4695-9BC2-0E98CFF4FFB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DCE9F7C-04D6-4253-9675-00E7B818F9D6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EF3CCEF-F818-4058-A990-B6BA8B242046}">
      <dgm:prSet/>
      <dgm:spPr/>
      <dgm:t>
        <a:bodyPr/>
        <a:lstStyle/>
        <a:p>
          <a:r>
            <a:rPr lang="es-ES"/>
            <a:t>Extraer subconjuntos</a:t>
          </a:r>
          <a:endParaRPr lang="es-CO"/>
        </a:p>
      </dgm:t>
    </dgm:pt>
    <dgm:pt modelId="{D111B2B6-7E7C-490D-BD9F-69CDDC9282EB}" type="parTrans" cxnId="{82101C03-9343-4692-AA36-7FE0EDE6D7B0}">
      <dgm:prSet/>
      <dgm:spPr/>
      <dgm:t>
        <a:bodyPr/>
        <a:lstStyle/>
        <a:p>
          <a:endParaRPr lang="es-CO"/>
        </a:p>
      </dgm:t>
    </dgm:pt>
    <dgm:pt modelId="{1F3523CE-D03C-4454-BD34-DE8B257F5161}" type="sibTrans" cxnId="{82101C03-9343-4692-AA36-7FE0EDE6D7B0}">
      <dgm:prSet/>
      <dgm:spPr/>
      <dgm:t>
        <a:bodyPr/>
        <a:lstStyle/>
        <a:p>
          <a:endParaRPr lang="es-CO"/>
        </a:p>
      </dgm:t>
    </dgm:pt>
    <dgm:pt modelId="{2D42EF4F-0BB9-453C-B90B-6C358F837AB4}">
      <dgm:prSet/>
      <dgm:spPr/>
      <dgm:t>
        <a:bodyPr/>
        <a:lstStyle/>
        <a:p>
          <a:r>
            <a:rPr lang="es-ES"/>
            <a:t>Utilizando variables categóricas y usar gráficos como: </a:t>
          </a:r>
          <a:r>
            <a:rPr lang="es-ES" err="1"/>
            <a:t>Boxplots</a:t>
          </a:r>
          <a:endParaRPr lang="es-CO"/>
        </a:p>
      </dgm:t>
    </dgm:pt>
    <dgm:pt modelId="{E344C5FB-BD19-4485-9573-3AB20FCEA932}" type="parTrans" cxnId="{4CA56359-ECDE-426A-ADF6-55147B97886A}">
      <dgm:prSet/>
      <dgm:spPr/>
      <dgm:t>
        <a:bodyPr/>
        <a:lstStyle/>
        <a:p>
          <a:endParaRPr lang="es-CO"/>
        </a:p>
      </dgm:t>
    </dgm:pt>
    <dgm:pt modelId="{9D709C59-7BDB-45F9-BA1E-E3254C3343B5}" type="sibTrans" cxnId="{4CA56359-ECDE-426A-ADF6-55147B97886A}">
      <dgm:prSet/>
      <dgm:spPr/>
    </dgm:pt>
    <dgm:pt modelId="{2E796D05-4880-4B80-99F7-AD64CFA4D0AA}" type="pres">
      <dgm:prSet presAssocID="{CDCE9F7C-04D6-4253-9675-00E7B818F9D6}" presName="vert0" presStyleCnt="0">
        <dgm:presLayoutVars>
          <dgm:dir/>
          <dgm:animOne val="branch"/>
          <dgm:animLvl val="lvl"/>
        </dgm:presLayoutVars>
      </dgm:prSet>
      <dgm:spPr/>
    </dgm:pt>
    <dgm:pt modelId="{5D8D0422-3004-4FAC-A310-BC222F3F3A47}" type="pres">
      <dgm:prSet presAssocID="{5EF3CCEF-F818-4058-A990-B6BA8B242046}" presName="thickLine" presStyleLbl="alignNode1" presStyleIdx="0" presStyleCnt="2"/>
      <dgm:spPr/>
    </dgm:pt>
    <dgm:pt modelId="{2281DBE6-0B18-48C0-9C21-717D92324C78}" type="pres">
      <dgm:prSet presAssocID="{5EF3CCEF-F818-4058-A990-B6BA8B242046}" presName="horz1" presStyleCnt="0"/>
      <dgm:spPr/>
    </dgm:pt>
    <dgm:pt modelId="{A667BAAE-46D3-4897-9C21-1D5E35DC7A5C}" type="pres">
      <dgm:prSet presAssocID="{5EF3CCEF-F818-4058-A990-B6BA8B242046}" presName="tx1" presStyleLbl="revTx" presStyleIdx="0" presStyleCnt="2"/>
      <dgm:spPr/>
    </dgm:pt>
    <dgm:pt modelId="{AA814E8F-81FD-40E0-ADA9-86773C3A8BDD}" type="pres">
      <dgm:prSet presAssocID="{5EF3CCEF-F818-4058-A990-B6BA8B242046}" presName="vert1" presStyleCnt="0"/>
      <dgm:spPr/>
    </dgm:pt>
    <dgm:pt modelId="{D7717DAA-0905-4BEE-B266-FFA3F48BE1C7}" type="pres">
      <dgm:prSet presAssocID="{2D42EF4F-0BB9-453C-B90B-6C358F837AB4}" presName="thickLine" presStyleLbl="alignNode1" presStyleIdx="1" presStyleCnt="2"/>
      <dgm:spPr/>
    </dgm:pt>
    <dgm:pt modelId="{6F7113EC-D095-477C-9A5F-EB047DDA77C5}" type="pres">
      <dgm:prSet presAssocID="{2D42EF4F-0BB9-453C-B90B-6C358F837AB4}" presName="horz1" presStyleCnt="0"/>
      <dgm:spPr/>
    </dgm:pt>
    <dgm:pt modelId="{AA047729-DB27-448E-8F6D-E4C113F5987F}" type="pres">
      <dgm:prSet presAssocID="{2D42EF4F-0BB9-453C-B90B-6C358F837AB4}" presName="tx1" presStyleLbl="revTx" presStyleIdx="1" presStyleCnt="2"/>
      <dgm:spPr/>
    </dgm:pt>
    <dgm:pt modelId="{3BF8782D-FBBC-466D-AAB0-1DC2489CC8C0}" type="pres">
      <dgm:prSet presAssocID="{2D42EF4F-0BB9-453C-B90B-6C358F837AB4}" presName="vert1" presStyleCnt="0"/>
      <dgm:spPr/>
    </dgm:pt>
  </dgm:ptLst>
  <dgm:cxnLst>
    <dgm:cxn modelId="{82101C03-9343-4692-AA36-7FE0EDE6D7B0}" srcId="{CDCE9F7C-04D6-4253-9675-00E7B818F9D6}" destId="{5EF3CCEF-F818-4058-A990-B6BA8B242046}" srcOrd="0" destOrd="0" parTransId="{D111B2B6-7E7C-490D-BD9F-69CDDC9282EB}" sibTransId="{1F3523CE-D03C-4454-BD34-DE8B257F5161}"/>
    <dgm:cxn modelId="{D0562749-0E71-4790-9367-458833BD1228}" type="presOf" srcId="{CDCE9F7C-04D6-4253-9675-00E7B818F9D6}" destId="{2E796D05-4880-4B80-99F7-AD64CFA4D0AA}" srcOrd="0" destOrd="0" presId="urn:microsoft.com/office/officeart/2008/layout/LinedList"/>
    <dgm:cxn modelId="{4CA56359-ECDE-426A-ADF6-55147B97886A}" srcId="{CDCE9F7C-04D6-4253-9675-00E7B818F9D6}" destId="{2D42EF4F-0BB9-453C-B90B-6C358F837AB4}" srcOrd="1" destOrd="0" parTransId="{E344C5FB-BD19-4485-9573-3AB20FCEA932}" sibTransId="{9D709C59-7BDB-45F9-BA1E-E3254C3343B5}"/>
    <dgm:cxn modelId="{93986E89-56A2-40FC-9681-D413578297F9}" type="presOf" srcId="{2D42EF4F-0BB9-453C-B90B-6C358F837AB4}" destId="{AA047729-DB27-448E-8F6D-E4C113F5987F}" srcOrd="0" destOrd="0" presId="urn:microsoft.com/office/officeart/2008/layout/LinedList"/>
    <dgm:cxn modelId="{AE8F8896-5501-48E2-9334-261B821FAD57}" type="presOf" srcId="{5EF3CCEF-F818-4058-A990-B6BA8B242046}" destId="{A667BAAE-46D3-4897-9C21-1D5E35DC7A5C}" srcOrd="0" destOrd="0" presId="urn:microsoft.com/office/officeart/2008/layout/LinedList"/>
    <dgm:cxn modelId="{FC004842-BBF7-4069-BA35-D0DFC2C2C1A4}" type="presParOf" srcId="{2E796D05-4880-4B80-99F7-AD64CFA4D0AA}" destId="{5D8D0422-3004-4FAC-A310-BC222F3F3A47}" srcOrd="0" destOrd="0" presId="urn:microsoft.com/office/officeart/2008/layout/LinedList"/>
    <dgm:cxn modelId="{0D6ECC80-EBA7-4D66-AE52-A81FB42693AD}" type="presParOf" srcId="{2E796D05-4880-4B80-99F7-AD64CFA4D0AA}" destId="{2281DBE6-0B18-48C0-9C21-717D92324C78}" srcOrd="1" destOrd="0" presId="urn:microsoft.com/office/officeart/2008/layout/LinedList"/>
    <dgm:cxn modelId="{43FD381B-C5F9-426D-A0AB-86D76FC60D85}" type="presParOf" srcId="{2281DBE6-0B18-48C0-9C21-717D92324C78}" destId="{A667BAAE-46D3-4897-9C21-1D5E35DC7A5C}" srcOrd="0" destOrd="0" presId="urn:microsoft.com/office/officeart/2008/layout/LinedList"/>
    <dgm:cxn modelId="{2204EBB3-F965-4198-BFFD-A5B8A0E1589B}" type="presParOf" srcId="{2281DBE6-0B18-48C0-9C21-717D92324C78}" destId="{AA814E8F-81FD-40E0-ADA9-86773C3A8BDD}" srcOrd="1" destOrd="0" presId="urn:microsoft.com/office/officeart/2008/layout/LinedList"/>
    <dgm:cxn modelId="{D8F8AAF4-B267-4115-8063-D50057DAE2F5}" type="presParOf" srcId="{2E796D05-4880-4B80-99F7-AD64CFA4D0AA}" destId="{D7717DAA-0905-4BEE-B266-FFA3F48BE1C7}" srcOrd="2" destOrd="0" presId="urn:microsoft.com/office/officeart/2008/layout/LinedList"/>
    <dgm:cxn modelId="{1A2564C3-A6E4-48C0-A896-D8EFD135A782}" type="presParOf" srcId="{2E796D05-4880-4B80-99F7-AD64CFA4D0AA}" destId="{6F7113EC-D095-477C-9A5F-EB047DDA77C5}" srcOrd="3" destOrd="0" presId="urn:microsoft.com/office/officeart/2008/layout/LinedList"/>
    <dgm:cxn modelId="{4D4683CB-9768-4FBC-9E61-2CEDEEDE4AC0}" type="presParOf" srcId="{6F7113EC-D095-477C-9A5F-EB047DDA77C5}" destId="{AA047729-DB27-448E-8F6D-E4C113F5987F}" srcOrd="0" destOrd="0" presId="urn:microsoft.com/office/officeart/2008/layout/LinedList"/>
    <dgm:cxn modelId="{4E8F4B04-BE51-4620-9DD5-1DF53D047EB3}" type="presParOf" srcId="{6F7113EC-D095-477C-9A5F-EB047DDA77C5}" destId="{3BF8782D-FBBC-466D-AAB0-1DC2489CC8C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7E3C4F-7F88-4A17-A05F-C65E81C7DD60}">
      <dsp:nvSpPr>
        <dsp:cNvPr id="0" name=""/>
        <dsp:cNvSpPr/>
      </dsp:nvSpPr>
      <dsp:spPr>
        <a:xfrm>
          <a:off x="0" y="336968"/>
          <a:ext cx="6263640" cy="2214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6128" tIns="395732" rIns="486128" bIns="135128" numCol="1" spcCol="1270" anchor="t" anchorCtr="0">
          <a:noAutofit/>
        </a:bodyPr>
        <a:lstStyle/>
        <a:p>
          <a:pPr marL="171450" lvl="1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kern="1200" dirty="0"/>
            <a:t>Son los datos que se encuentran en las bases de datos transaccionales y operativas del negocio. </a:t>
          </a:r>
          <a:endParaRPr lang="en-US" sz="1900" kern="1200" dirty="0"/>
        </a:p>
        <a:p>
          <a:pPr marL="171450" lvl="1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kern="1200"/>
            <a:t>Su organización principal es en filas y columnas con estructuras definidas previamente. </a:t>
          </a:r>
          <a:endParaRPr lang="en-US" sz="1900" kern="1200"/>
        </a:p>
        <a:p>
          <a:pPr marL="171450" lvl="1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kern="1200"/>
            <a:t>Son datos que pueden ser ordenados y procesados en las herramientas de análisis de datos.</a:t>
          </a:r>
          <a:endParaRPr lang="en-US" sz="1900" kern="1200"/>
        </a:p>
      </dsp:txBody>
      <dsp:txXfrm>
        <a:off x="0" y="336968"/>
        <a:ext cx="6263640" cy="2214450"/>
      </dsp:txXfrm>
    </dsp:sp>
    <dsp:sp modelId="{C7A8AD1F-0528-4581-BCA8-AFA87CF5D2B9}">
      <dsp:nvSpPr>
        <dsp:cNvPr id="0" name=""/>
        <dsp:cNvSpPr/>
      </dsp:nvSpPr>
      <dsp:spPr>
        <a:xfrm>
          <a:off x="313182" y="56528"/>
          <a:ext cx="4384548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725" tIns="0" rIns="165725" bIns="0" numCol="1" spcCol="1270" anchor="ctr" anchorCtr="0">
          <a:noAutofit/>
        </a:bodyPr>
        <a:lstStyle/>
        <a:p>
          <a:pPr marL="0" lvl="0" indent="0" algn="just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kern="1200" dirty="0"/>
            <a:t>Dato Estructurado</a:t>
          </a:r>
          <a:endParaRPr lang="en-US" sz="1900" kern="1200" dirty="0"/>
        </a:p>
      </dsp:txBody>
      <dsp:txXfrm>
        <a:off x="340562" y="83908"/>
        <a:ext cx="4329788" cy="506120"/>
      </dsp:txXfrm>
    </dsp:sp>
    <dsp:sp modelId="{F92B3DD2-8B7B-4E0C-A08A-DC5041D056FC}">
      <dsp:nvSpPr>
        <dsp:cNvPr id="0" name=""/>
        <dsp:cNvSpPr/>
      </dsp:nvSpPr>
      <dsp:spPr>
        <a:xfrm>
          <a:off x="0" y="2934458"/>
          <a:ext cx="6263640" cy="25137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6128" tIns="395732" rIns="486128" bIns="135128" numCol="1" spcCol="1270" anchor="t" anchorCtr="0">
          <a:noAutofit/>
        </a:bodyPr>
        <a:lstStyle/>
        <a:p>
          <a:pPr marL="171450" lvl="1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kern="1200"/>
            <a:t>Los datos no estructurados no tienen estructura interna identificable. </a:t>
          </a:r>
          <a:endParaRPr lang="en-US" sz="1900" kern="1200"/>
        </a:p>
        <a:p>
          <a:pPr marL="171450" lvl="1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kern="1200" dirty="0"/>
            <a:t>Son masivos y desorganizados que no tienen valor hasta que se procesan y se sacan datos estructurados de ellos a través de técnicas como: </a:t>
          </a:r>
          <a:r>
            <a:rPr lang="en-US" sz="1900" kern="1200" dirty="0"/>
            <a:t>Image Processing, NLP, Voice Recognition</a:t>
          </a:r>
        </a:p>
        <a:p>
          <a:pPr marL="171450" lvl="1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1900" kern="1200"/>
            <a:t>Conocida como el contenido</a:t>
          </a:r>
          <a:endParaRPr lang="en-US" sz="1900" kern="1200"/>
        </a:p>
      </dsp:txBody>
      <dsp:txXfrm>
        <a:off x="0" y="2934458"/>
        <a:ext cx="6263640" cy="2513700"/>
      </dsp:txXfrm>
    </dsp:sp>
    <dsp:sp modelId="{2C8DB236-B0CC-4D4D-9CEB-92F71492C64D}">
      <dsp:nvSpPr>
        <dsp:cNvPr id="0" name=""/>
        <dsp:cNvSpPr/>
      </dsp:nvSpPr>
      <dsp:spPr>
        <a:xfrm>
          <a:off x="313182" y="2654018"/>
          <a:ext cx="4384548" cy="5608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725" tIns="0" rIns="165725" bIns="0" numCol="1" spcCol="1270" anchor="ctr" anchorCtr="0">
          <a:noAutofit/>
        </a:bodyPr>
        <a:lstStyle/>
        <a:p>
          <a:pPr marL="0" lvl="0" indent="0" algn="just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900" kern="1200" dirty="0"/>
            <a:t>Dato No Estructurado</a:t>
          </a:r>
          <a:endParaRPr lang="en-US" sz="1900" kern="1200" dirty="0"/>
        </a:p>
      </dsp:txBody>
      <dsp:txXfrm>
        <a:off x="340562" y="2681398"/>
        <a:ext cx="4329788" cy="5061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2E1589-0C24-48A3-9499-B6370ED6BCFC}">
      <dsp:nvSpPr>
        <dsp:cNvPr id="0" name=""/>
        <dsp:cNvSpPr/>
      </dsp:nvSpPr>
      <dsp:spPr>
        <a:xfrm>
          <a:off x="130938" y="1393"/>
          <a:ext cx="4224635" cy="26826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9445FF9-A054-43D0-AD2A-A45EE9E5394F}">
      <dsp:nvSpPr>
        <dsp:cNvPr id="0" name=""/>
        <dsp:cNvSpPr/>
      </dsp:nvSpPr>
      <dsp:spPr>
        <a:xfrm>
          <a:off x="600342" y="447327"/>
          <a:ext cx="4224635" cy="26826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200" kern="1200" dirty="0"/>
            <a:t>Es uno de los resultados del Análisis Exploratorio de Datos - EDA</a:t>
          </a:r>
          <a:endParaRPr lang="en-US" sz="3200" kern="1200" dirty="0"/>
        </a:p>
      </dsp:txBody>
      <dsp:txXfrm>
        <a:off x="678914" y="525899"/>
        <a:ext cx="4067491" cy="2525499"/>
      </dsp:txXfrm>
    </dsp:sp>
    <dsp:sp modelId="{09249D34-C973-4EB5-829A-B4FA7237AFBE}">
      <dsp:nvSpPr>
        <dsp:cNvPr id="0" name=""/>
        <dsp:cNvSpPr/>
      </dsp:nvSpPr>
      <dsp:spPr>
        <a:xfrm>
          <a:off x="5294381" y="1393"/>
          <a:ext cx="4224635" cy="26826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dk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13B9C0B-2A7C-42D9-B7E2-EE03A3D49AAC}">
      <dsp:nvSpPr>
        <dsp:cNvPr id="0" name=""/>
        <dsp:cNvSpPr/>
      </dsp:nvSpPr>
      <dsp:spPr>
        <a:xfrm>
          <a:off x="5763785" y="447327"/>
          <a:ext cx="4224635" cy="26826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3200" kern="1200"/>
            <a:t>También se podría realizar como un proceso independiente de la Gestión de Datos</a:t>
          </a:r>
          <a:endParaRPr lang="en-US" sz="3200" kern="1200"/>
        </a:p>
      </dsp:txBody>
      <dsp:txXfrm>
        <a:off x="5842357" y="525899"/>
        <a:ext cx="4067491" cy="25254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917A51-037C-412A-ADD8-57689D964CCF}">
      <dsp:nvSpPr>
        <dsp:cNvPr id="0" name=""/>
        <dsp:cNvSpPr/>
      </dsp:nvSpPr>
      <dsp:spPr>
        <a:xfrm>
          <a:off x="837437" y="0"/>
          <a:ext cx="9490964" cy="4094480"/>
        </a:xfrm>
        <a:prstGeom prst="rightArrow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2E9C42-DB2F-4637-8852-C318AB27E018}">
      <dsp:nvSpPr>
        <dsp:cNvPr id="0" name=""/>
        <dsp:cNvSpPr/>
      </dsp:nvSpPr>
      <dsp:spPr>
        <a:xfrm>
          <a:off x="1081690" y="1228344"/>
          <a:ext cx="4303864" cy="1637792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900" kern="1200" dirty="0"/>
            <a:t>Análisis Exploratorio</a:t>
          </a:r>
        </a:p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900" kern="1200" dirty="0"/>
            <a:t>EDA</a:t>
          </a:r>
          <a:endParaRPr lang="en-US" sz="2900" kern="1200" dirty="0"/>
        </a:p>
      </dsp:txBody>
      <dsp:txXfrm>
        <a:off x="1161640" y="1308294"/>
        <a:ext cx="4143964" cy="1477892"/>
      </dsp:txXfrm>
    </dsp:sp>
    <dsp:sp modelId="{2D10D812-3829-455F-BCFD-E3A50E32F42B}">
      <dsp:nvSpPr>
        <dsp:cNvPr id="0" name=""/>
        <dsp:cNvSpPr/>
      </dsp:nvSpPr>
      <dsp:spPr>
        <a:xfrm>
          <a:off x="5780284" y="1228344"/>
          <a:ext cx="4303864" cy="1637792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900" kern="1200" dirty="0"/>
            <a:t>Construcción de modelos diagnósticos y de aprendizaje de máquina</a:t>
          </a:r>
          <a:endParaRPr lang="en-US" sz="2900" kern="1200" dirty="0"/>
        </a:p>
      </dsp:txBody>
      <dsp:txXfrm>
        <a:off x="5860234" y="1308294"/>
        <a:ext cx="4143964" cy="14778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994ECB-0FC1-49A1-9D17-1DDE1DE12EB9}">
      <dsp:nvSpPr>
        <dsp:cNvPr id="0" name=""/>
        <dsp:cNvSpPr/>
      </dsp:nvSpPr>
      <dsp:spPr>
        <a:xfrm>
          <a:off x="5468318" y="1669043"/>
          <a:ext cx="2159425" cy="9629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4093"/>
              </a:lnTo>
              <a:lnTo>
                <a:pt x="2159425" y="574093"/>
              </a:lnTo>
              <a:lnTo>
                <a:pt x="2159425" y="96299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3FF899-90E0-4B85-A71D-172E1D40533A}">
      <dsp:nvSpPr>
        <dsp:cNvPr id="0" name=""/>
        <dsp:cNvSpPr/>
      </dsp:nvSpPr>
      <dsp:spPr>
        <a:xfrm>
          <a:off x="3308892" y="1669043"/>
          <a:ext cx="2159425" cy="962996"/>
        </a:xfrm>
        <a:custGeom>
          <a:avLst/>
          <a:gdLst/>
          <a:ahLst/>
          <a:cxnLst/>
          <a:rect l="0" t="0" r="0" b="0"/>
          <a:pathLst>
            <a:path>
              <a:moveTo>
                <a:pt x="2159425" y="0"/>
              </a:moveTo>
              <a:lnTo>
                <a:pt x="2159425" y="574093"/>
              </a:lnTo>
              <a:lnTo>
                <a:pt x="0" y="574093"/>
              </a:lnTo>
              <a:lnTo>
                <a:pt x="0" y="962996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4FACD3-EF11-42CF-96BA-070686279D70}">
      <dsp:nvSpPr>
        <dsp:cNvPr id="0" name=""/>
        <dsp:cNvSpPr/>
      </dsp:nvSpPr>
      <dsp:spPr>
        <a:xfrm>
          <a:off x="3858751" y="2319"/>
          <a:ext cx="3219133" cy="16667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925" tIns="34925" rIns="34925" bIns="235193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500" kern="1200"/>
            <a:t>Estadística</a:t>
          </a:r>
        </a:p>
      </dsp:txBody>
      <dsp:txXfrm>
        <a:off x="3858751" y="2319"/>
        <a:ext cx="3219133" cy="1666724"/>
      </dsp:txXfrm>
    </dsp:sp>
    <dsp:sp modelId="{EAD9CA1A-786A-43D6-93F5-95F28432FB67}">
      <dsp:nvSpPr>
        <dsp:cNvPr id="0" name=""/>
        <dsp:cNvSpPr/>
      </dsp:nvSpPr>
      <dsp:spPr>
        <a:xfrm>
          <a:off x="4502578" y="1298660"/>
          <a:ext cx="2897219" cy="5555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9525" rIns="38100" bIns="9525" numCol="1" spcCol="1270" anchor="ctr" anchorCtr="0">
          <a:noAutofit/>
        </a:bodyPr>
        <a:lstStyle/>
        <a:p>
          <a:pPr marL="0" lvl="0" indent="0" algn="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500" kern="1200"/>
            <a:t>Es la ciencia de recopilar, organizar, resumir, analizar e interpretar datos.</a:t>
          </a:r>
        </a:p>
      </dsp:txBody>
      <dsp:txXfrm>
        <a:off x="4502578" y="1298660"/>
        <a:ext cx="2897219" cy="555574"/>
      </dsp:txXfrm>
    </dsp:sp>
    <dsp:sp modelId="{AC068729-2071-4EE1-92D3-1349167BD797}">
      <dsp:nvSpPr>
        <dsp:cNvPr id="0" name=""/>
        <dsp:cNvSpPr/>
      </dsp:nvSpPr>
      <dsp:spPr>
        <a:xfrm>
          <a:off x="1699326" y="2632039"/>
          <a:ext cx="3219133" cy="16667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925" tIns="34925" rIns="34925" bIns="235193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500" kern="1200"/>
            <a:t>Descriptiva</a:t>
          </a:r>
        </a:p>
      </dsp:txBody>
      <dsp:txXfrm>
        <a:off x="1699326" y="2632039"/>
        <a:ext cx="3219133" cy="1666724"/>
      </dsp:txXfrm>
    </dsp:sp>
    <dsp:sp modelId="{7F59901C-BB2E-4219-AA3A-9EC61CC56832}">
      <dsp:nvSpPr>
        <dsp:cNvPr id="0" name=""/>
        <dsp:cNvSpPr/>
      </dsp:nvSpPr>
      <dsp:spPr>
        <a:xfrm>
          <a:off x="2343152" y="3928381"/>
          <a:ext cx="2897219" cy="5555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17145" rIns="68580" bIns="17145" numCol="1" spcCol="1270" anchor="ctr" anchorCtr="0">
          <a:noAutofit/>
        </a:bodyPr>
        <a:lstStyle/>
        <a:p>
          <a:pPr marL="0" lvl="0" indent="0" algn="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700" kern="1200"/>
            <a:t>Análisis Descriptivo</a:t>
          </a:r>
        </a:p>
      </dsp:txBody>
      <dsp:txXfrm>
        <a:off x="2343152" y="3928381"/>
        <a:ext cx="2897219" cy="555574"/>
      </dsp:txXfrm>
    </dsp:sp>
    <dsp:sp modelId="{7D57F046-5EA3-49AB-A437-14D3BFA70057}">
      <dsp:nvSpPr>
        <dsp:cNvPr id="0" name=""/>
        <dsp:cNvSpPr/>
      </dsp:nvSpPr>
      <dsp:spPr>
        <a:xfrm>
          <a:off x="6018177" y="2632039"/>
          <a:ext cx="3219133" cy="166672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925" tIns="34925" rIns="34925" bIns="235193" numCol="1" spcCol="1270" anchor="ctr" anchorCtr="0">
          <a:noAutofit/>
        </a:bodyPr>
        <a:lstStyle/>
        <a:p>
          <a:pPr marL="0" lvl="0" indent="0" algn="ctr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5500" kern="1200"/>
            <a:t>Inferencial</a:t>
          </a:r>
        </a:p>
      </dsp:txBody>
      <dsp:txXfrm>
        <a:off x="6018177" y="2632039"/>
        <a:ext cx="3219133" cy="1666724"/>
      </dsp:txXfrm>
    </dsp:sp>
    <dsp:sp modelId="{A594C763-DA5C-45D7-A5B8-664F9B18845A}">
      <dsp:nvSpPr>
        <dsp:cNvPr id="0" name=""/>
        <dsp:cNvSpPr/>
      </dsp:nvSpPr>
      <dsp:spPr>
        <a:xfrm>
          <a:off x="6662003" y="3928381"/>
          <a:ext cx="2897219" cy="55557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17145" rIns="68580" bIns="17145" numCol="1" spcCol="1270" anchor="ctr" anchorCtr="0">
          <a:noAutofit/>
        </a:bodyPr>
        <a:lstStyle/>
        <a:p>
          <a:pPr marL="0" lvl="0" indent="0" algn="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700" kern="1200"/>
            <a:t>Análisis Diagnóstico</a:t>
          </a:r>
        </a:p>
      </dsp:txBody>
      <dsp:txXfrm>
        <a:off x="6662003" y="3928381"/>
        <a:ext cx="2897219" cy="5555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D233BF-A653-49EF-AD8A-0F8FC95625A9}">
      <dsp:nvSpPr>
        <dsp:cNvPr id="0" name=""/>
        <dsp:cNvSpPr/>
      </dsp:nvSpPr>
      <dsp:spPr>
        <a:xfrm>
          <a:off x="0" y="510668"/>
          <a:ext cx="5257800" cy="2806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8064" tIns="562356" rIns="408064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700" kern="1200"/>
            <a:t>De la mitad (Media o Promedio, Mediana y Moda)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700" kern="1200"/>
            <a:t>Rangos: Máximo y Mínimo, Inter cuartiles, percentiles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700" kern="1200"/>
            <a:t>Desviaciones Estándar</a:t>
          </a:r>
          <a:endParaRPr lang="en-US" sz="2700" kern="1200"/>
        </a:p>
      </dsp:txBody>
      <dsp:txXfrm>
        <a:off x="0" y="510668"/>
        <a:ext cx="5257800" cy="2806650"/>
      </dsp:txXfrm>
    </dsp:sp>
    <dsp:sp modelId="{0EE0EF70-2102-4632-97FF-B36288B829ED}">
      <dsp:nvSpPr>
        <dsp:cNvPr id="0" name=""/>
        <dsp:cNvSpPr/>
      </dsp:nvSpPr>
      <dsp:spPr>
        <a:xfrm>
          <a:off x="262890" y="112148"/>
          <a:ext cx="3680460" cy="7970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113" tIns="0" rIns="139113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Variables Numéricas</a:t>
          </a:r>
          <a:endParaRPr lang="en-US" sz="2700" kern="1200"/>
        </a:p>
      </dsp:txBody>
      <dsp:txXfrm>
        <a:off x="301798" y="151056"/>
        <a:ext cx="3602644" cy="719224"/>
      </dsp:txXfrm>
    </dsp:sp>
    <dsp:sp modelId="{890CBB62-61D2-4695-9BC2-0E98CFF4FFB5}">
      <dsp:nvSpPr>
        <dsp:cNvPr id="0" name=""/>
        <dsp:cNvSpPr/>
      </dsp:nvSpPr>
      <dsp:spPr>
        <a:xfrm>
          <a:off x="0" y="3861639"/>
          <a:ext cx="5257800" cy="1530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8064" tIns="562356" rIns="408064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700" kern="1200"/>
            <a:t>Frecuencias Relativas (Probabilidades frecuentistas)</a:t>
          </a:r>
          <a:endParaRPr lang="en-US" sz="2700" kern="1200"/>
        </a:p>
      </dsp:txBody>
      <dsp:txXfrm>
        <a:off x="0" y="3861639"/>
        <a:ext cx="5257800" cy="1530900"/>
      </dsp:txXfrm>
    </dsp:sp>
    <dsp:sp modelId="{0551D5C4-95C4-47E5-91B4-81D1078E2392}">
      <dsp:nvSpPr>
        <dsp:cNvPr id="0" name=""/>
        <dsp:cNvSpPr/>
      </dsp:nvSpPr>
      <dsp:spPr>
        <a:xfrm>
          <a:off x="262890" y="3463118"/>
          <a:ext cx="3680460" cy="79704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113" tIns="0" rIns="139113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700" kern="1200"/>
            <a:t>Variables Categorías</a:t>
          </a:r>
          <a:endParaRPr lang="en-US" sz="2700" kern="1200"/>
        </a:p>
      </dsp:txBody>
      <dsp:txXfrm>
        <a:off x="301798" y="3502026"/>
        <a:ext cx="3602644" cy="71922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5BF8FD-3D06-467C-BC0B-659F7F30E5E0}">
      <dsp:nvSpPr>
        <dsp:cNvPr id="0" name=""/>
        <dsp:cNvSpPr/>
      </dsp:nvSpPr>
      <dsp:spPr>
        <a:xfrm>
          <a:off x="0" y="0"/>
          <a:ext cx="658648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D33FF-992B-464A-9F33-083F5A30BFC3}">
      <dsp:nvSpPr>
        <dsp:cNvPr id="0" name=""/>
        <dsp:cNvSpPr/>
      </dsp:nvSpPr>
      <dsp:spPr>
        <a:xfrm>
          <a:off x="0" y="0"/>
          <a:ext cx="6586489" cy="1892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En el mundo de los datos, las herramientas y tecnologías de visualización de datos son esenciales para analizar cantidades masivas de información y tomar decisiones basadas en datos.</a:t>
          </a:r>
          <a:endParaRPr lang="en-US" sz="2400" kern="1200"/>
        </a:p>
      </dsp:txBody>
      <dsp:txXfrm>
        <a:off x="0" y="0"/>
        <a:ext cx="6586489" cy="1892709"/>
      </dsp:txXfrm>
    </dsp:sp>
    <dsp:sp modelId="{BAFC1534-41F3-4068-9E3E-BCB44ACBA6E9}">
      <dsp:nvSpPr>
        <dsp:cNvPr id="0" name=""/>
        <dsp:cNvSpPr/>
      </dsp:nvSpPr>
      <dsp:spPr>
        <a:xfrm>
          <a:off x="0" y="1892709"/>
          <a:ext cx="658648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EF79C9-4437-4D51-971D-543CBCFA80FC}">
      <dsp:nvSpPr>
        <dsp:cNvPr id="0" name=""/>
        <dsp:cNvSpPr/>
      </dsp:nvSpPr>
      <dsp:spPr>
        <a:xfrm>
          <a:off x="0" y="1892709"/>
          <a:ext cx="6586489" cy="18927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Nuestros ojos se sienten atraídos por los colores y los patrones. Podemos identificar rápidamente el rojo del azul, el cuadrado del círculo. Nuestra cultura es visual, que incluye todo, desde arte y publicidad hasta películas.</a:t>
          </a:r>
          <a:endParaRPr lang="en-US" sz="2400" kern="1200"/>
        </a:p>
      </dsp:txBody>
      <dsp:txXfrm>
        <a:off x="0" y="1892709"/>
        <a:ext cx="6586489" cy="189270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D233BF-A653-49EF-AD8A-0F8FC95625A9}">
      <dsp:nvSpPr>
        <dsp:cNvPr id="0" name=""/>
        <dsp:cNvSpPr/>
      </dsp:nvSpPr>
      <dsp:spPr>
        <a:xfrm>
          <a:off x="0" y="381743"/>
          <a:ext cx="5257800" cy="325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8064" tIns="499872" rIns="408064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kern="1200"/>
            <a:t>Correlación (-1, 0, 1)</a:t>
          </a:r>
          <a:endParaRPr lang="en-US" sz="2400" kern="1200"/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400" kern="1200" noProof="0"/>
            <a:t>Correlación no significa causalidad</a:t>
          </a:r>
        </a:p>
        <a:p>
          <a:pPr marL="685800" lvl="3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noProof="0"/>
            <a:t>Spurious correlation</a:t>
          </a:r>
        </a:p>
        <a:p>
          <a:pPr marL="685800" lvl="3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400" kern="1200" noProof="0"/>
            <a:t>Ejemplo:</a:t>
          </a:r>
        </a:p>
        <a:p>
          <a:pPr marL="914400" lvl="4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noProof="0"/>
            <a:t>(</a:t>
          </a:r>
          <a:r>
            <a:rPr lang="es-CO" sz="2400" kern="1200" noProof="0"/>
            <a:t>Precio de venta</a:t>
          </a:r>
          <a:r>
            <a:rPr lang="en-US" sz="2400" kern="1200" noProof="0"/>
            <a:t>, </a:t>
          </a:r>
          <a:r>
            <a:rPr lang="es-CO" sz="2400" kern="1200" noProof="0" err="1"/>
            <a:t>area</a:t>
          </a:r>
          <a:r>
            <a:rPr lang="es-CO" sz="2400" kern="1200" noProof="0"/>
            <a:t> construida</a:t>
          </a:r>
          <a:r>
            <a:rPr lang="en-US" sz="2400" kern="1200" noProof="0"/>
            <a:t>)</a:t>
          </a:r>
        </a:p>
      </dsp:txBody>
      <dsp:txXfrm>
        <a:off x="0" y="381743"/>
        <a:ext cx="5257800" cy="3250800"/>
      </dsp:txXfrm>
    </dsp:sp>
    <dsp:sp modelId="{0EE0EF70-2102-4632-97FF-B36288B829ED}">
      <dsp:nvSpPr>
        <dsp:cNvPr id="0" name=""/>
        <dsp:cNvSpPr/>
      </dsp:nvSpPr>
      <dsp:spPr>
        <a:xfrm>
          <a:off x="262890" y="27503"/>
          <a:ext cx="3680460" cy="7084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113" tIns="0" rIns="13911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Variables Numéricas</a:t>
          </a:r>
          <a:endParaRPr lang="en-US" sz="2400" kern="1200"/>
        </a:p>
      </dsp:txBody>
      <dsp:txXfrm>
        <a:off x="297475" y="62088"/>
        <a:ext cx="3611290" cy="639310"/>
      </dsp:txXfrm>
    </dsp:sp>
    <dsp:sp modelId="{890CBB62-61D2-4695-9BC2-0E98CFF4FFB5}">
      <dsp:nvSpPr>
        <dsp:cNvPr id="0" name=""/>
        <dsp:cNvSpPr/>
      </dsp:nvSpPr>
      <dsp:spPr>
        <a:xfrm>
          <a:off x="0" y="4116384"/>
          <a:ext cx="5257800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8064" tIns="499872" rIns="408064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kern="1200"/>
            <a:t>Tabla de distribución de frecuencias. </a:t>
          </a:r>
          <a:endParaRPr lang="en-US" sz="2400" kern="1200"/>
        </a:p>
      </dsp:txBody>
      <dsp:txXfrm>
        <a:off x="0" y="4116384"/>
        <a:ext cx="5257800" cy="1360800"/>
      </dsp:txXfrm>
    </dsp:sp>
    <dsp:sp modelId="{0551D5C4-95C4-47E5-91B4-81D1078E2392}">
      <dsp:nvSpPr>
        <dsp:cNvPr id="0" name=""/>
        <dsp:cNvSpPr/>
      </dsp:nvSpPr>
      <dsp:spPr>
        <a:xfrm>
          <a:off x="262890" y="3762144"/>
          <a:ext cx="3680460" cy="70848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113" tIns="0" rIns="13911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kern="1200"/>
            <a:t>Variables Categorías</a:t>
          </a:r>
          <a:endParaRPr lang="en-US" sz="2400" kern="1200"/>
        </a:p>
      </dsp:txBody>
      <dsp:txXfrm>
        <a:off x="297475" y="3796729"/>
        <a:ext cx="3611290" cy="63931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8D0422-3004-4FAC-A310-BC222F3F3A47}">
      <dsp:nvSpPr>
        <dsp:cNvPr id="0" name=""/>
        <dsp:cNvSpPr/>
      </dsp:nvSpPr>
      <dsp:spPr>
        <a:xfrm>
          <a:off x="0" y="0"/>
          <a:ext cx="629171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67BAAE-46D3-4897-9C21-1D5E35DC7A5C}">
      <dsp:nvSpPr>
        <dsp:cNvPr id="0" name=""/>
        <dsp:cNvSpPr/>
      </dsp:nvSpPr>
      <dsp:spPr>
        <a:xfrm>
          <a:off x="0" y="0"/>
          <a:ext cx="6291714" cy="2765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800" kern="1200"/>
            <a:t>Extraer subconjuntos</a:t>
          </a:r>
          <a:endParaRPr lang="es-CO" sz="4800" kern="1200"/>
        </a:p>
      </dsp:txBody>
      <dsp:txXfrm>
        <a:off x="0" y="0"/>
        <a:ext cx="6291714" cy="2765367"/>
      </dsp:txXfrm>
    </dsp:sp>
    <dsp:sp modelId="{D7717DAA-0905-4BEE-B266-FFA3F48BE1C7}">
      <dsp:nvSpPr>
        <dsp:cNvPr id="0" name=""/>
        <dsp:cNvSpPr/>
      </dsp:nvSpPr>
      <dsp:spPr>
        <a:xfrm>
          <a:off x="0" y="2765367"/>
          <a:ext cx="629171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047729-DB27-448E-8F6D-E4C113F5987F}">
      <dsp:nvSpPr>
        <dsp:cNvPr id="0" name=""/>
        <dsp:cNvSpPr/>
      </dsp:nvSpPr>
      <dsp:spPr>
        <a:xfrm>
          <a:off x="0" y="2765367"/>
          <a:ext cx="6291714" cy="27653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800" kern="1200"/>
            <a:t>Utilizando variables categóricas y usar gráficos como: </a:t>
          </a:r>
          <a:r>
            <a:rPr lang="es-ES" sz="4800" kern="1200" err="1"/>
            <a:t>Boxplots</a:t>
          </a:r>
          <a:endParaRPr lang="es-CO" sz="4800" kern="1200"/>
        </a:p>
      </dsp:txBody>
      <dsp:txXfrm>
        <a:off x="0" y="2765367"/>
        <a:ext cx="6291714" cy="27653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3F6D21-FC69-4919-8181-B8BDC9F17A50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24E177-6D2D-4726-8E98-0D4D1379DC9C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52708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0833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3775D040-C53A-4A4E-7E4F-ACCC58E89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C527979F-6EDD-37DB-D310-791113AF9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57EE773A-5BA8-32C5-DEDB-9ED701DF28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2335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20C15D3-B81C-4F2B-8986-10836A0EAC97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5328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45614" y="532891"/>
            <a:ext cx="6859396" cy="51523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775F53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F53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F53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1336" y="2210536"/>
            <a:ext cx="4284980" cy="35693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80809" y="2212730"/>
            <a:ext cx="4923790" cy="43186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F53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A59EB-382C-40FB-A3E2-5573C2A14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CFE562-6D30-4F67-A322-6B67D1BF51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9684B5-C5E6-4CD0-A308-403492D64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3A14-DA4F-4715-946D-306C8FEDAE7D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C273FC-445D-4302-A286-297422248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A46776-AF09-4796-B77C-60FA51BCC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FBD6-4628-48F7-A5B9-303E3B0C5E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1166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5972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os objetos" type="twoObj">
  <p:cSld name="Dos objeto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2885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6B00-988E-4DF5-829B-D7C065CCB68F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832B-202C-4971-8420-52340F5A434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9422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6B00-988E-4DF5-829B-D7C065CCB68F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832B-202C-4971-8420-52340F5A434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29202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6B00-988E-4DF5-829B-D7C065CCB68F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832B-202C-4971-8420-52340F5A434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6058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6B00-988E-4DF5-829B-D7C065CCB68F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832B-202C-4971-8420-52340F5A434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76432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6B00-988E-4DF5-829B-D7C065CCB68F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832B-202C-4971-8420-52340F5A434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135430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6B00-988E-4DF5-829B-D7C065CCB68F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832B-202C-4971-8420-52340F5A434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05259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6B00-988E-4DF5-829B-D7C065CCB68F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832B-202C-4971-8420-52340F5A434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83707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6B00-988E-4DF5-829B-D7C065CCB68F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832B-202C-4971-8420-52340F5A434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18032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6B00-988E-4DF5-829B-D7C065CCB68F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832B-202C-4971-8420-52340F5A434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933387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6B00-988E-4DF5-829B-D7C065CCB68F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832B-202C-4971-8420-52340F5A434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639404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C6B00-988E-4DF5-829B-D7C065CCB68F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7832B-202C-4971-8420-52340F5A434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79104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280160"/>
            <a:ext cx="711835" cy="228600"/>
          </a:xfrm>
          <a:custGeom>
            <a:avLst/>
            <a:gdLst/>
            <a:ahLst/>
            <a:cxnLst/>
            <a:rect l="l" t="t" r="r" b="b"/>
            <a:pathLst>
              <a:path w="711835" h="228600">
                <a:moveTo>
                  <a:pt x="711581" y="0"/>
                </a:moveTo>
                <a:lnTo>
                  <a:pt x="0" y="0"/>
                </a:lnTo>
                <a:lnTo>
                  <a:pt x="0" y="228600"/>
                </a:lnTo>
                <a:lnTo>
                  <a:pt x="711581" y="228600"/>
                </a:lnTo>
                <a:lnTo>
                  <a:pt x="711581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87908" y="1280160"/>
            <a:ext cx="11403965" cy="228600"/>
          </a:xfrm>
          <a:custGeom>
            <a:avLst/>
            <a:gdLst/>
            <a:ahLst/>
            <a:cxnLst/>
            <a:rect l="l" t="t" r="r" b="b"/>
            <a:pathLst>
              <a:path w="11403965" h="228600">
                <a:moveTo>
                  <a:pt x="11403584" y="0"/>
                </a:moveTo>
                <a:lnTo>
                  <a:pt x="0" y="0"/>
                </a:lnTo>
                <a:lnTo>
                  <a:pt x="0" y="228600"/>
                </a:lnTo>
                <a:lnTo>
                  <a:pt x="11403584" y="228600"/>
                </a:lnTo>
                <a:lnTo>
                  <a:pt x="11403584" y="0"/>
                </a:lnTo>
                <a:close/>
              </a:path>
            </a:pathLst>
          </a:custGeom>
          <a:solidFill>
            <a:srgbClr val="92B6D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8904" y="229057"/>
            <a:ext cx="11734190" cy="1107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775F53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5299" y="1602105"/>
            <a:ext cx="10221595" cy="298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C6B00-988E-4DF5-829B-D7C065CCB68F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77832B-202C-4971-8420-52340F5A434F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34927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bootcamp.uxdesign.cc/design-a-data-visualization-dashboard-25f04b182dd5" TargetMode="External"/><Relationship Id="rId2" Type="http://schemas.openxmlformats.org/officeDocument/2006/relationships/hyperlink" Target="https://dzone.com/articles/data-visualization-software?edition=675394" TargetMode="Externa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improve-your-analytics-projects-w-these-data-distributions-visualizations-7ba3821f2092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gif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80160"/>
            <a:ext cx="711835" cy="228600"/>
          </a:xfrm>
          <a:custGeom>
            <a:avLst/>
            <a:gdLst/>
            <a:ahLst/>
            <a:cxnLst/>
            <a:rect l="l" t="t" r="r" b="b"/>
            <a:pathLst>
              <a:path w="711835" h="228600">
                <a:moveTo>
                  <a:pt x="711581" y="0"/>
                </a:moveTo>
                <a:lnTo>
                  <a:pt x="0" y="0"/>
                </a:lnTo>
                <a:lnTo>
                  <a:pt x="0" y="228600"/>
                </a:lnTo>
                <a:lnTo>
                  <a:pt x="711581" y="228600"/>
                </a:lnTo>
                <a:lnTo>
                  <a:pt x="711581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3" name="object 3"/>
          <p:cNvSpPr/>
          <p:nvPr/>
        </p:nvSpPr>
        <p:spPr>
          <a:xfrm>
            <a:off x="787908" y="1280160"/>
            <a:ext cx="11403965" cy="228600"/>
          </a:xfrm>
          <a:custGeom>
            <a:avLst/>
            <a:gdLst/>
            <a:ahLst/>
            <a:cxnLst/>
            <a:rect l="l" t="t" r="r" b="b"/>
            <a:pathLst>
              <a:path w="11403965" h="228600">
                <a:moveTo>
                  <a:pt x="11403584" y="0"/>
                </a:moveTo>
                <a:lnTo>
                  <a:pt x="0" y="0"/>
                </a:lnTo>
                <a:lnTo>
                  <a:pt x="0" y="228600"/>
                </a:lnTo>
                <a:lnTo>
                  <a:pt x="11403584" y="228600"/>
                </a:lnTo>
                <a:lnTo>
                  <a:pt x="11403584" y="0"/>
                </a:lnTo>
                <a:close/>
              </a:path>
            </a:pathLst>
          </a:custGeom>
          <a:solidFill>
            <a:srgbClr val="92B6D2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237482" y="2895092"/>
            <a:ext cx="4026535" cy="18588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s-CO" sz="4000" spc="-390" noProof="0" dirty="0">
                <a:solidFill>
                  <a:srgbClr val="000000"/>
                </a:solidFill>
              </a:rPr>
              <a:t>MINERÍA</a:t>
            </a:r>
            <a:r>
              <a:rPr lang="es-CO" sz="4000" spc="-360" noProof="0" dirty="0">
                <a:solidFill>
                  <a:srgbClr val="000000"/>
                </a:solidFill>
              </a:rPr>
              <a:t> </a:t>
            </a:r>
            <a:r>
              <a:rPr lang="es-CO" sz="4000" spc="-705" noProof="0" dirty="0">
                <a:solidFill>
                  <a:srgbClr val="000000"/>
                </a:solidFill>
              </a:rPr>
              <a:t>D</a:t>
            </a:r>
            <a:r>
              <a:rPr lang="es-CO" sz="4000" noProof="0" dirty="0">
                <a:solidFill>
                  <a:srgbClr val="000000"/>
                </a:solidFill>
              </a:rPr>
              <a:t>E</a:t>
            </a:r>
            <a:r>
              <a:rPr lang="es-CO" sz="4000" spc="-670" noProof="0" dirty="0">
                <a:solidFill>
                  <a:srgbClr val="000000"/>
                </a:solidFill>
              </a:rPr>
              <a:t> </a:t>
            </a:r>
            <a:r>
              <a:rPr lang="es-CO" sz="4000" spc="-535" noProof="0" dirty="0">
                <a:solidFill>
                  <a:srgbClr val="000000"/>
                </a:solidFill>
              </a:rPr>
              <a:t>DATOS</a:t>
            </a:r>
            <a:br>
              <a:rPr lang="es-CO" sz="4000" spc="-535" noProof="0" dirty="0">
                <a:solidFill>
                  <a:srgbClr val="000000"/>
                </a:solidFill>
              </a:rPr>
            </a:br>
            <a:br>
              <a:rPr lang="es-CO" sz="4000" spc="-535" noProof="0" dirty="0">
                <a:solidFill>
                  <a:srgbClr val="000000"/>
                </a:solidFill>
              </a:rPr>
            </a:br>
            <a:r>
              <a:rPr lang="es-CO" sz="4000" spc="-390" dirty="0">
                <a:solidFill>
                  <a:srgbClr val="000000"/>
                </a:solidFill>
              </a:rPr>
              <a:t>Sobre  los datos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AF7B2EA-B6B9-519B-6DB8-3EC23D293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9ED8B2E-4196-C979-FD2E-956FD9240CB9}"/>
              </a:ext>
            </a:extLst>
          </p:cNvPr>
          <p:cNvSpPr/>
          <p:nvPr/>
        </p:nvSpPr>
        <p:spPr>
          <a:xfrm>
            <a:off x="0" y="1280160"/>
            <a:ext cx="711835" cy="228600"/>
          </a:xfrm>
          <a:custGeom>
            <a:avLst/>
            <a:gdLst/>
            <a:ahLst/>
            <a:cxnLst/>
            <a:rect l="l" t="t" r="r" b="b"/>
            <a:pathLst>
              <a:path w="711835" h="228600">
                <a:moveTo>
                  <a:pt x="711581" y="0"/>
                </a:moveTo>
                <a:lnTo>
                  <a:pt x="0" y="0"/>
                </a:lnTo>
                <a:lnTo>
                  <a:pt x="0" y="228600"/>
                </a:lnTo>
                <a:lnTo>
                  <a:pt x="711581" y="228600"/>
                </a:lnTo>
                <a:lnTo>
                  <a:pt x="711581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6C5DD53-90A3-3B66-4B07-BA20849D2202}"/>
              </a:ext>
            </a:extLst>
          </p:cNvPr>
          <p:cNvSpPr/>
          <p:nvPr/>
        </p:nvSpPr>
        <p:spPr>
          <a:xfrm>
            <a:off x="787908" y="1280160"/>
            <a:ext cx="11403965" cy="228600"/>
          </a:xfrm>
          <a:custGeom>
            <a:avLst/>
            <a:gdLst/>
            <a:ahLst/>
            <a:cxnLst/>
            <a:rect l="l" t="t" r="r" b="b"/>
            <a:pathLst>
              <a:path w="11403965" h="228600">
                <a:moveTo>
                  <a:pt x="11403584" y="0"/>
                </a:moveTo>
                <a:lnTo>
                  <a:pt x="0" y="0"/>
                </a:lnTo>
                <a:lnTo>
                  <a:pt x="0" y="228600"/>
                </a:lnTo>
                <a:lnTo>
                  <a:pt x="11403584" y="228600"/>
                </a:lnTo>
                <a:lnTo>
                  <a:pt x="11403584" y="0"/>
                </a:lnTo>
                <a:close/>
              </a:path>
            </a:pathLst>
          </a:custGeom>
          <a:solidFill>
            <a:srgbClr val="92B6D2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F95CDA-F879-7D77-A997-34CEACD00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415" y="959906"/>
            <a:ext cx="9579170" cy="4938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985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2583CE5-4669-66B1-B35A-98122A0E1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998DE93-BE46-DDE8-18E2-732543F8A65F}"/>
              </a:ext>
            </a:extLst>
          </p:cNvPr>
          <p:cNvSpPr/>
          <p:nvPr/>
        </p:nvSpPr>
        <p:spPr>
          <a:xfrm>
            <a:off x="0" y="1280160"/>
            <a:ext cx="711835" cy="228600"/>
          </a:xfrm>
          <a:custGeom>
            <a:avLst/>
            <a:gdLst/>
            <a:ahLst/>
            <a:cxnLst/>
            <a:rect l="l" t="t" r="r" b="b"/>
            <a:pathLst>
              <a:path w="711835" h="228600">
                <a:moveTo>
                  <a:pt x="711581" y="0"/>
                </a:moveTo>
                <a:lnTo>
                  <a:pt x="0" y="0"/>
                </a:lnTo>
                <a:lnTo>
                  <a:pt x="0" y="228600"/>
                </a:lnTo>
                <a:lnTo>
                  <a:pt x="711581" y="228600"/>
                </a:lnTo>
                <a:lnTo>
                  <a:pt x="711581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17467F0-6CAF-FF77-A7B4-98FC068B32F5}"/>
              </a:ext>
            </a:extLst>
          </p:cNvPr>
          <p:cNvSpPr/>
          <p:nvPr/>
        </p:nvSpPr>
        <p:spPr>
          <a:xfrm>
            <a:off x="787908" y="1280160"/>
            <a:ext cx="11403965" cy="228600"/>
          </a:xfrm>
          <a:custGeom>
            <a:avLst/>
            <a:gdLst/>
            <a:ahLst/>
            <a:cxnLst/>
            <a:rect l="l" t="t" r="r" b="b"/>
            <a:pathLst>
              <a:path w="11403965" h="228600">
                <a:moveTo>
                  <a:pt x="11403584" y="0"/>
                </a:moveTo>
                <a:lnTo>
                  <a:pt x="0" y="0"/>
                </a:lnTo>
                <a:lnTo>
                  <a:pt x="0" y="228600"/>
                </a:lnTo>
                <a:lnTo>
                  <a:pt x="11403584" y="228600"/>
                </a:lnTo>
                <a:lnTo>
                  <a:pt x="11403584" y="0"/>
                </a:lnTo>
                <a:close/>
              </a:path>
            </a:pathLst>
          </a:custGeom>
          <a:solidFill>
            <a:srgbClr val="92B6D2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05D9EF-29BD-BEC9-0127-0DE70CAC2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829" y="293098"/>
            <a:ext cx="9716342" cy="6271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08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854" y="4281215"/>
            <a:ext cx="9597746" cy="2095445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lang="es-CO" sz="2800" spc="-260" noProof="0" dirty="0">
                <a:latin typeface="Microsoft Sans Serif"/>
                <a:cs typeface="Microsoft Sans Serif"/>
              </a:rPr>
              <a:t>Comenzaremos</a:t>
            </a:r>
            <a:r>
              <a:rPr lang="es-CO" sz="2800" spc="-275" noProof="0" dirty="0">
                <a:latin typeface="Microsoft Sans Serif"/>
                <a:cs typeface="Microsoft Sans Serif"/>
              </a:rPr>
              <a:t> </a:t>
            </a:r>
            <a:r>
              <a:rPr lang="es-CO" sz="2800" spc="-120" noProof="0" dirty="0">
                <a:latin typeface="Microsoft Sans Serif"/>
                <a:cs typeface="Microsoft Sans Serif"/>
              </a:rPr>
              <a:t>analizando</a:t>
            </a:r>
            <a:r>
              <a:rPr lang="es-CO" sz="2800" spc="-130" noProof="0" dirty="0">
                <a:latin typeface="Microsoft Sans Serif"/>
                <a:cs typeface="Microsoft Sans Serif"/>
              </a:rPr>
              <a:t> </a:t>
            </a:r>
            <a:r>
              <a:rPr lang="es-CO" sz="2800" spc="-180" noProof="0" dirty="0">
                <a:latin typeface="Microsoft Sans Serif"/>
                <a:cs typeface="Microsoft Sans Serif"/>
              </a:rPr>
              <a:t>los</a:t>
            </a:r>
            <a:r>
              <a:rPr lang="es-CO" sz="2800" spc="-215" noProof="0" dirty="0">
                <a:latin typeface="Microsoft Sans Serif"/>
                <a:cs typeface="Microsoft Sans Serif"/>
              </a:rPr>
              <a:t> </a:t>
            </a:r>
            <a:r>
              <a:rPr lang="es-CO" sz="2800" spc="-140" noProof="0" dirty="0">
                <a:latin typeface="Microsoft Sans Serif"/>
                <a:cs typeface="Microsoft Sans Serif"/>
              </a:rPr>
              <a:t>datos</a:t>
            </a:r>
            <a:r>
              <a:rPr lang="es-CO" sz="2800" spc="-95" noProof="0" dirty="0">
                <a:latin typeface="Microsoft Sans Serif"/>
                <a:cs typeface="Microsoft Sans Serif"/>
              </a:rPr>
              <a:t> </a:t>
            </a:r>
            <a:r>
              <a:rPr lang="es-CO" sz="2800" spc="-140" noProof="0" dirty="0">
                <a:latin typeface="Microsoft Sans Serif"/>
                <a:cs typeface="Microsoft Sans Serif"/>
              </a:rPr>
              <a:t>disponibles:</a:t>
            </a:r>
            <a:endParaRPr lang="es-CO" sz="2800" noProof="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59375"/>
              <a:buFont typeface="Wingdings"/>
              <a:buChar char=""/>
              <a:tabLst>
                <a:tab pos="332105" algn="l"/>
              </a:tabLst>
            </a:pPr>
            <a:r>
              <a:rPr lang="es-CO" sz="2800" spc="-215" noProof="0" dirty="0">
                <a:latin typeface="Microsoft Sans Serif"/>
                <a:cs typeface="Microsoft Sans Serif"/>
              </a:rPr>
              <a:t>Tipos</a:t>
            </a:r>
            <a:r>
              <a:rPr lang="es-CO" sz="2800" spc="-280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de</a:t>
            </a:r>
            <a:r>
              <a:rPr lang="es-CO" sz="2800" spc="-90" noProof="0" dirty="0">
                <a:latin typeface="Microsoft Sans Serif"/>
                <a:cs typeface="Microsoft Sans Serif"/>
              </a:rPr>
              <a:t> </a:t>
            </a:r>
            <a:r>
              <a:rPr lang="es-CO" sz="2800" spc="-120" noProof="0" dirty="0">
                <a:latin typeface="Microsoft Sans Serif"/>
                <a:cs typeface="Microsoft Sans Serif"/>
              </a:rPr>
              <a:t>variables</a:t>
            </a:r>
            <a:r>
              <a:rPr lang="es-CO" sz="2800" spc="-140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o</a:t>
            </a:r>
            <a:r>
              <a:rPr lang="es-CO" sz="2800" spc="-165" noProof="0" dirty="0">
                <a:latin typeface="Microsoft Sans Serif"/>
                <a:cs typeface="Microsoft Sans Serif"/>
              </a:rPr>
              <a:t> </a:t>
            </a:r>
            <a:r>
              <a:rPr lang="es-CO" sz="2800" spc="-10" noProof="0" dirty="0">
                <a:latin typeface="Microsoft Sans Serif"/>
                <a:cs typeface="Microsoft Sans Serif"/>
              </a:rPr>
              <a:t>atributos.</a:t>
            </a:r>
            <a:endParaRPr lang="es-CO" sz="2800" noProof="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9375"/>
              <a:buFont typeface="Wingdings"/>
              <a:buChar char=""/>
              <a:tabLst>
                <a:tab pos="332105" algn="l"/>
              </a:tabLst>
            </a:pPr>
            <a:r>
              <a:rPr lang="es-CO" sz="2800" spc="-140" noProof="0" dirty="0">
                <a:latin typeface="Microsoft Sans Serif"/>
                <a:cs typeface="Microsoft Sans Serif"/>
              </a:rPr>
              <a:t>Medidas</a:t>
            </a:r>
            <a:r>
              <a:rPr lang="es-CO" sz="2800" spc="-135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y</a:t>
            </a:r>
            <a:r>
              <a:rPr lang="es-CO" sz="2800" spc="50" noProof="0" dirty="0">
                <a:latin typeface="Microsoft Sans Serif"/>
                <a:cs typeface="Microsoft Sans Serif"/>
              </a:rPr>
              <a:t> </a:t>
            </a:r>
            <a:r>
              <a:rPr lang="es-CO" sz="2800" spc="-90" noProof="0" dirty="0">
                <a:latin typeface="Microsoft Sans Serif"/>
                <a:cs typeface="Microsoft Sans Serif"/>
              </a:rPr>
              <a:t>gráficos</a:t>
            </a:r>
            <a:r>
              <a:rPr lang="es-CO" sz="2800" spc="-360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para</a:t>
            </a:r>
            <a:r>
              <a:rPr lang="es-CO" sz="2800" spc="40" noProof="0" dirty="0">
                <a:latin typeface="Microsoft Sans Serif"/>
                <a:cs typeface="Microsoft Sans Serif"/>
              </a:rPr>
              <a:t> </a:t>
            </a:r>
            <a:r>
              <a:rPr lang="es-CO" sz="2800" spc="-220" noProof="0" dirty="0">
                <a:latin typeface="Microsoft Sans Serif"/>
                <a:cs typeface="Microsoft Sans Serif"/>
              </a:rPr>
              <a:t>conocer</a:t>
            </a:r>
            <a:r>
              <a:rPr lang="es-CO" sz="2800" spc="-195" noProof="0" dirty="0">
                <a:latin typeface="Microsoft Sans Serif"/>
                <a:cs typeface="Microsoft Sans Serif"/>
              </a:rPr>
              <a:t> </a:t>
            </a:r>
            <a:r>
              <a:rPr lang="es-CO" sz="2800" spc="-220" noProof="0" dirty="0">
                <a:latin typeface="Microsoft Sans Serif"/>
                <a:cs typeface="Microsoft Sans Serif"/>
              </a:rPr>
              <a:t>su</a:t>
            </a:r>
            <a:r>
              <a:rPr lang="es-CO" sz="2800" spc="-450" noProof="0" dirty="0">
                <a:latin typeface="Microsoft Sans Serif"/>
                <a:cs typeface="Microsoft Sans Serif"/>
              </a:rPr>
              <a:t> </a:t>
            </a:r>
            <a:r>
              <a:rPr lang="es-CO" sz="2800" spc="-10" noProof="0" dirty="0">
                <a:latin typeface="Microsoft Sans Serif"/>
                <a:cs typeface="Microsoft Sans Serif"/>
              </a:rPr>
              <a:t>calidad.</a:t>
            </a:r>
          </a:p>
          <a:p>
            <a:pPr marL="332105" lvl="2" indent="-319405">
              <a:spcBef>
                <a:spcPts val="695"/>
              </a:spcBef>
              <a:buClr>
                <a:srgbClr val="DD8046"/>
              </a:buClr>
              <a:buSzPct val="59375"/>
              <a:buFont typeface="Wingdings"/>
              <a:buChar char=""/>
              <a:tabLst>
                <a:tab pos="332105" algn="l"/>
              </a:tabLst>
            </a:pPr>
            <a:r>
              <a:rPr lang="es-CO" sz="2800" spc="-10" noProof="0" dirty="0">
                <a:latin typeface="Microsoft Sans Serif"/>
                <a:cs typeface="Microsoft Sans Serif"/>
              </a:rPr>
              <a:t>Pero antes… ¿clasificación de los datos? ¿tipos de datos?</a:t>
            </a:r>
            <a:endParaRPr lang="es-CO" sz="2800" noProof="0" dirty="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lang="es-CO" spc="-150" noProof="0" dirty="0"/>
              <a:t>Minería</a:t>
            </a:r>
            <a:r>
              <a:rPr lang="es-CO" spc="-145" noProof="0" dirty="0"/>
              <a:t> </a:t>
            </a:r>
            <a:r>
              <a:rPr lang="es-CO" noProof="0" dirty="0"/>
              <a:t>de</a:t>
            </a:r>
            <a:r>
              <a:rPr lang="es-CO" spc="-285" noProof="0" dirty="0"/>
              <a:t> </a:t>
            </a:r>
            <a:r>
              <a:rPr lang="es-CO" spc="-254" noProof="0" dirty="0"/>
              <a:t>Datos</a:t>
            </a:r>
            <a:r>
              <a:rPr lang="es-CO" spc="-260" noProof="0" dirty="0"/>
              <a:t> </a:t>
            </a:r>
            <a:r>
              <a:rPr lang="es-CO" noProof="0" dirty="0"/>
              <a:t>y</a:t>
            </a:r>
            <a:r>
              <a:rPr lang="es-CO" spc="-40" noProof="0" dirty="0"/>
              <a:t> </a:t>
            </a:r>
            <a:r>
              <a:rPr lang="es-CO" noProof="0" dirty="0"/>
              <a:t>el</a:t>
            </a:r>
            <a:r>
              <a:rPr lang="es-CO" spc="-160" noProof="0" dirty="0"/>
              <a:t> </a:t>
            </a:r>
            <a:r>
              <a:rPr lang="es-CO" spc="-229" noProof="0" dirty="0"/>
              <a:t>proceso</a:t>
            </a:r>
            <a:r>
              <a:rPr lang="es-CO" spc="-509" noProof="0" dirty="0"/>
              <a:t> </a:t>
            </a:r>
            <a:r>
              <a:rPr lang="es-CO" noProof="0" dirty="0"/>
              <a:t>de</a:t>
            </a:r>
            <a:r>
              <a:rPr lang="es-CO" spc="-135" noProof="0" dirty="0"/>
              <a:t> </a:t>
            </a:r>
            <a:r>
              <a:rPr lang="es-CO" spc="-545" noProof="0" dirty="0"/>
              <a:t>KD</a:t>
            </a:r>
            <a:r>
              <a:rPr lang="es-CO" spc="-25" noProof="0" dirty="0"/>
              <a:t>D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978408" y="1560575"/>
            <a:ext cx="10736580" cy="2109470"/>
            <a:chOff x="978408" y="1560575"/>
            <a:chExt cx="10736580" cy="21094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8408" y="1578863"/>
              <a:ext cx="10736580" cy="209092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679436" y="1560575"/>
              <a:ext cx="504190" cy="427990"/>
            </a:xfrm>
            <a:custGeom>
              <a:avLst/>
              <a:gdLst/>
              <a:ahLst/>
              <a:cxnLst/>
              <a:rect l="l" t="t" r="r" b="b"/>
              <a:pathLst>
                <a:path w="504190" h="427989">
                  <a:moveTo>
                    <a:pt x="504062" y="0"/>
                  </a:moveTo>
                  <a:lnTo>
                    <a:pt x="0" y="0"/>
                  </a:lnTo>
                  <a:lnTo>
                    <a:pt x="0" y="427863"/>
                  </a:lnTo>
                  <a:lnTo>
                    <a:pt x="504062" y="427863"/>
                  </a:lnTo>
                  <a:lnTo>
                    <a:pt x="5040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202671" y="3701288"/>
            <a:ext cx="118554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1400" b="1" spc="-20" noProof="0" dirty="0">
                <a:latin typeface="Arial"/>
                <a:cs typeface="Arial"/>
              </a:rPr>
              <a:t>Fayyad</a:t>
            </a:r>
            <a:r>
              <a:rPr lang="es-CO" sz="1400" b="1" spc="-45" noProof="0" dirty="0">
                <a:latin typeface="Arial"/>
                <a:cs typeface="Arial"/>
              </a:rPr>
              <a:t> </a:t>
            </a:r>
            <a:r>
              <a:rPr lang="es-CO" sz="1400" b="1" spc="-10" noProof="0" dirty="0">
                <a:latin typeface="Arial"/>
                <a:cs typeface="Arial"/>
              </a:rPr>
              <a:t>(1996)</a:t>
            </a:r>
            <a:endParaRPr lang="es-CO" sz="1400" noProof="0" dirty="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408557" y="3979545"/>
            <a:ext cx="378460" cy="325120"/>
            <a:chOff x="1408557" y="3979545"/>
            <a:chExt cx="378460" cy="325120"/>
          </a:xfrm>
        </p:grpSpPr>
        <p:sp>
          <p:nvSpPr>
            <p:cNvPr id="9" name="object 9"/>
            <p:cNvSpPr/>
            <p:nvPr/>
          </p:nvSpPr>
          <p:spPr>
            <a:xfrm>
              <a:off x="1417320" y="3988308"/>
              <a:ext cx="359410" cy="306070"/>
            </a:xfrm>
            <a:custGeom>
              <a:avLst/>
              <a:gdLst/>
              <a:ahLst/>
              <a:cxnLst/>
              <a:rect l="l" t="t" r="r" b="b"/>
              <a:pathLst>
                <a:path w="359410" h="306070">
                  <a:moveTo>
                    <a:pt x="179578" y="0"/>
                  </a:moveTo>
                  <a:lnTo>
                    <a:pt x="0" y="152908"/>
                  </a:lnTo>
                  <a:lnTo>
                    <a:pt x="89789" y="152908"/>
                  </a:lnTo>
                  <a:lnTo>
                    <a:pt x="89789" y="305943"/>
                  </a:lnTo>
                  <a:lnTo>
                    <a:pt x="269494" y="305943"/>
                  </a:lnTo>
                  <a:lnTo>
                    <a:pt x="269494" y="152908"/>
                  </a:lnTo>
                  <a:lnTo>
                    <a:pt x="359282" y="152908"/>
                  </a:lnTo>
                  <a:lnTo>
                    <a:pt x="17957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10" name="object 10"/>
            <p:cNvSpPr/>
            <p:nvPr/>
          </p:nvSpPr>
          <p:spPr>
            <a:xfrm>
              <a:off x="1418082" y="3989070"/>
              <a:ext cx="359410" cy="306070"/>
            </a:xfrm>
            <a:custGeom>
              <a:avLst/>
              <a:gdLst/>
              <a:ahLst/>
              <a:cxnLst/>
              <a:rect l="l" t="t" r="r" b="b"/>
              <a:pathLst>
                <a:path w="359410" h="306070">
                  <a:moveTo>
                    <a:pt x="0" y="152907"/>
                  </a:moveTo>
                  <a:lnTo>
                    <a:pt x="179578" y="0"/>
                  </a:lnTo>
                  <a:lnTo>
                    <a:pt x="359282" y="152907"/>
                  </a:lnTo>
                  <a:lnTo>
                    <a:pt x="269494" y="152907"/>
                  </a:lnTo>
                  <a:lnTo>
                    <a:pt x="269494" y="305942"/>
                  </a:lnTo>
                  <a:lnTo>
                    <a:pt x="89789" y="305942"/>
                  </a:lnTo>
                  <a:lnTo>
                    <a:pt x="89789" y="152907"/>
                  </a:lnTo>
                  <a:lnTo>
                    <a:pt x="0" y="152907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360025-2B1D-4190-9C7B-0C3000C14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552575"/>
            <a:ext cx="3476625" cy="3752849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s-CO" sz="4800" dirty="0">
                <a:solidFill>
                  <a:schemeClr val="tx1"/>
                </a:solidFill>
              </a:rPr>
              <a:t>Cross </a:t>
            </a:r>
            <a:r>
              <a:rPr lang="es-CO" sz="4800" dirty="0" err="1">
                <a:solidFill>
                  <a:schemeClr val="tx1"/>
                </a:solidFill>
              </a:rPr>
              <a:t>Industry</a:t>
            </a:r>
            <a:r>
              <a:rPr lang="es-CO" sz="4800" dirty="0">
                <a:solidFill>
                  <a:schemeClr val="tx1"/>
                </a:solidFill>
              </a:rPr>
              <a:t> Standard Process for Data </a:t>
            </a:r>
            <a:r>
              <a:rPr lang="es-CO" sz="4800" dirty="0" err="1">
                <a:solidFill>
                  <a:schemeClr val="tx1"/>
                </a:solidFill>
              </a:rPr>
              <a:t>Mining</a:t>
            </a:r>
            <a:endParaRPr lang="es-CO" sz="4800" dirty="0">
              <a:solidFill>
                <a:schemeClr val="tx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FBB56FB-751B-4C06-9BD7-2B5316E08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548" y="492573"/>
            <a:ext cx="5866092" cy="588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26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251AF9C-871D-4AEB-8BFB-9943AA2D2F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0295" y="2209800"/>
            <a:ext cx="9231410" cy="3585115"/>
          </a:xfrm>
        </p:spPr>
        <p:txBody>
          <a:bodyPr anchor="b">
            <a:normAutofit fontScale="90000"/>
          </a:bodyPr>
          <a:lstStyle/>
          <a:p>
            <a:pPr algn="just"/>
            <a:r>
              <a:rPr lang="es-ES" dirty="0"/>
              <a:t>Entendimiento del Negocio.</a:t>
            </a:r>
            <a:br>
              <a:rPr lang="es-ES" sz="8000" dirty="0"/>
            </a:br>
            <a:r>
              <a:rPr lang="es-ES" sz="8900" dirty="0"/>
              <a:t> </a:t>
            </a:r>
            <a:br>
              <a:rPr lang="es-ES" sz="11500" dirty="0"/>
            </a:br>
            <a:r>
              <a:rPr lang="es-CO" sz="4900" dirty="0"/>
              <a:t>Se definen los objetivos del proyecto y los requerimientos desde la perspectiva empresarial. Se establecen los criterios de éxito y se formula el problema de datos inicial.</a:t>
            </a:r>
            <a:endParaRPr lang="es-ES" sz="4900" dirty="0"/>
          </a:p>
        </p:txBody>
      </p:sp>
    </p:spTree>
    <p:extLst>
      <p:ext uri="{BB962C8B-B14F-4D97-AF65-F5344CB8AC3E}">
        <p14:creationId xmlns:p14="http://schemas.microsoft.com/office/powerpoint/2010/main" val="1897500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BA446-A652-C391-D75B-78AC9157D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15B2154-BE67-0303-DB45-DD64F066F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0295" y="762000"/>
            <a:ext cx="9231410" cy="5032915"/>
          </a:xfrm>
        </p:spPr>
        <p:txBody>
          <a:bodyPr anchor="b">
            <a:normAutofit fontScale="90000"/>
          </a:bodyPr>
          <a:lstStyle/>
          <a:p>
            <a:pPr algn="l"/>
            <a:r>
              <a:rPr lang="es-ES" sz="8000" dirty="0"/>
              <a:t>Entender los datos.</a:t>
            </a:r>
            <a:br>
              <a:rPr lang="es-ES" sz="8000" dirty="0"/>
            </a:br>
            <a:r>
              <a:rPr lang="es-ES" sz="8900" dirty="0"/>
              <a:t> </a:t>
            </a:r>
            <a:br>
              <a:rPr lang="es-ES" sz="11500" dirty="0"/>
            </a:br>
            <a:r>
              <a:rPr lang="es-ES" sz="4900" dirty="0"/>
              <a:t>Identificar atributos (característicos) y las fuentes.</a:t>
            </a:r>
            <a:br>
              <a:rPr lang="es-ES" sz="4900" dirty="0"/>
            </a:br>
            <a:br>
              <a:rPr lang="es-ES" sz="4900" dirty="0"/>
            </a:br>
            <a:r>
              <a:rPr lang="es-ES" sz="4900" dirty="0"/>
              <a:t>Cargar datos y hacer un análisis exploratorio.</a:t>
            </a:r>
          </a:p>
        </p:txBody>
      </p:sp>
    </p:spTree>
    <p:extLst>
      <p:ext uri="{BB962C8B-B14F-4D97-AF65-F5344CB8AC3E}">
        <p14:creationId xmlns:p14="http://schemas.microsoft.com/office/powerpoint/2010/main" val="1748820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0A0C2D-9F19-4815-8CB4-50373A662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sz="5400"/>
              <a:t>¿Qué son los datos?</a:t>
            </a:r>
            <a:endParaRPr lang="es-CO" sz="54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4308E2-9126-4034-A1BA-C4CF01E48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4437062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s-ES" sz="2400" dirty="0"/>
              <a:t>La forma abstracta que los seres humanos inventamos para entender, medir y caracterizar las cosas y los eventos que pasan en el universo.</a:t>
            </a:r>
          </a:p>
          <a:p>
            <a:pPr algn="just"/>
            <a:endParaRPr lang="es-ES" sz="2400" dirty="0"/>
          </a:p>
          <a:p>
            <a:pPr algn="just"/>
            <a:r>
              <a:rPr lang="es-ES" sz="2400" dirty="0"/>
              <a:t>La representación a través de símbolos de características de objetos del mundo real.</a:t>
            </a:r>
          </a:p>
          <a:p>
            <a:pPr algn="just"/>
            <a:endParaRPr lang="es-ES" sz="2400" dirty="0"/>
          </a:p>
          <a:p>
            <a:pPr algn="just"/>
            <a:r>
              <a:rPr lang="es-ES" sz="2400" dirty="0"/>
              <a:t>La medida o el valor de algo del mundo real que utilizamos para entender o darle un significado.</a:t>
            </a:r>
          </a:p>
          <a:p>
            <a:pPr algn="just"/>
            <a:endParaRPr lang="es-ES" sz="2400" dirty="0"/>
          </a:p>
          <a:p>
            <a:pPr lvl="1" algn="just"/>
            <a:r>
              <a:rPr lang="es-ES" dirty="0"/>
              <a:t>Jorge Mario Calvo, 55, hombre, 3187075773 son datos sobre usted. Sus $153000, Cra 5 #26B-57, José Francisco, Gilma son otros datos que se relacionan con usted. </a:t>
            </a:r>
          </a:p>
        </p:txBody>
      </p:sp>
    </p:spTree>
    <p:extLst>
      <p:ext uri="{BB962C8B-B14F-4D97-AF65-F5344CB8AC3E}">
        <p14:creationId xmlns:p14="http://schemas.microsoft.com/office/powerpoint/2010/main" val="3157037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E2357-29FE-4DE4-B70A-E1A600A95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514600"/>
            <a:ext cx="4572000" cy="2838451"/>
          </a:xfrm>
        </p:spPr>
        <p:txBody>
          <a:bodyPr>
            <a:normAutofit fontScale="90000"/>
          </a:bodyPr>
          <a:lstStyle/>
          <a:p>
            <a:r>
              <a:rPr lang="es-CO" sz="4800" dirty="0"/>
              <a:t>Dato Estructurado, Semiestructurado y No Estructurado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20A1D7-999C-4412-B7AA-45A3AD2501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587149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3085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E4481-90B2-A89F-4C94-DD0D0DE4B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B72DEA6-9022-CA70-6D41-E2FF07830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795" y="1676400"/>
            <a:ext cx="10036410" cy="468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932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9EF998-5162-4CB9-948B-577501C07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3048001"/>
            <a:ext cx="3200400" cy="1752600"/>
          </a:xfrm>
        </p:spPr>
        <p:txBody>
          <a:bodyPr>
            <a:normAutofit/>
          </a:bodyPr>
          <a:lstStyle/>
          <a:p>
            <a:r>
              <a:rPr lang="es-CO" dirty="0">
                <a:solidFill>
                  <a:schemeClr val="tx1"/>
                </a:solidFill>
              </a:rPr>
              <a:t>¿Qué es una variable?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112954-FDE5-4A0B-B1B7-100A9C673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5800" y="1752600"/>
            <a:ext cx="6906491" cy="4481512"/>
          </a:xfrm>
        </p:spPr>
        <p:txBody>
          <a:bodyPr anchor="ctr">
            <a:normAutofit fontScale="85000" lnSpcReduction="10000"/>
          </a:bodyPr>
          <a:lstStyle/>
          <a:p>
            <a:pPr algn="just"/>
            <a:r>
              <a:rPr lang="es-CO" sz="2000" dirty="0"/>
              <a:t>El término «variable» se utiliza en el análisis de datos para designar: una característica, un atributo, una dimensión o una columna de: una entidad, concepto, evento etc., en un contexto de análisis.</a:t>
            </a:r>
          </a:p>
          <a:p>
            <a:pPr algn="just"/>
            <a:endParaRPr lang="es-CO" sz="2000" dirty="0"/>
          </a:p>
          <a:p>
            <a:pPr algn="just"/>
            <a:r>
              <a:rPr lang="es-CO" sz="2000" dirty="0"/>
              <a:t>Los datos para su procesamiento en computadores se almacenan en variables.</a:t>
            </a:r>
          </a:p>
          <a:p>
            <a:pPr algn="just"/>
            <a:endParaRPr lang="es-CO" sz="2000" dirty="0"/>
          </a:p>
          <a:p>
            <a:pPr algn="just"/>
            <a:r>
              <a:rPr lang="es-CO" sz="2000" dirty="0"/>
              <a:t>Una variable es cualquier característica, número o cantidad que se puede medir o contar. Los siguientes son ejemplos de variables:</a:t>
            </a:r>
          </a:p>
          <a:p>
            <a:pPr lvl="1" algn="just"/>
            <a:r>
              <a:rPr lang="es-CO" sz="2000" dirty="0"/>
              <a:t>Edad (21, 35, 62,…)</a:t>
            </a:r>
          </a:p>
          <a:p>
            <a:pPr lvl="1" algn="just"/>
            <a:r>
              <a:rPr lang="es-CO" sz="2000" dirty="0"/>
              <a:t>Género Masculino Femenino)</a:t>
            </a:r>
          </a:p>
          <a:p>
            <a:pPr lvl="1" algn="just"/>
            <a:r>
              <a:rPr lang="es-CO" sz="2000" dirty="0"/>
              <a:t>Ingresos (GBP 20000, GBP 35000, GBP 45000,…)</a:t>
            </a:r>
          </a:p>
          <a:p>
            <a:pPr lvl="1" algn="just"/>
            <a:r>
              <a:rPr lang="es-CO" sz="2000" dirty="0"/>
              <a:t>Precio de la vivienda (350000 GBP, 570000 GBP,…)</a:t>
            </a:r>
          </a:p>
          <a:p>
            <a:pPr lvl="1" algn="just"/>
            <a:r>
              <a:rPr lang="es-CO" sz="2000" dirty="0"/>
              <a:t>País de nacimiento (China, Rusia, Costa Rica,…)</a:t>
            </a:r>
          </a:p>
          <a:p>
            <a:pPr lvl="1" algn="just"/>
            <a:r>
              <a:rPr lang="es-CO" sz="2000" dirty="0"/>
              <a:t>Color de ojos (marrón, verde, azul,…)</a:t>
            </a:r>
          </a:p>
          <a:p>
            <a:pPr lvl="1" algn="just"/>
            <a:r>
              <a:rPr lang="es-CO" sz="2000" dirty="0"/>
              <a:t>Marca del vehículo (Ford, Volkswagen,…)</a:t>
            </a:r>
          </a:p>
          <a:p>
            <a:pPr lvl="1" algn="just"/>
            <a:endParaRPr lang="es-CO" sz="2000" dirty="0"/>
          </a:p>
          <a:p>
            <a:pPr algn="just"/>
            <a:r>
              <a:rPr lang="es-CO" sz="2000" dirty="0"/>
              <a:t>Se llaman "variables" porque el valor (dato) que toman puede variar (y generalmente lo hace) en una población.</a:t>
            </a:r>
          </a:p>
        </p:txBody>
      </p:sp>
    </p:spTree>
    <p:extLst>
      <p:ext uri="{BB962C8B-B14F-4D97-AF65-F5344CB8AC3E}">
        <p14:creationId xmlns:p14="http://schemas.microsoft.com/office/powerpoint/2010/main" val="1243474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28E94-B7B3-2229-1461-F4FAFD5DE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A0EC20E-1933-397F-EF75-400E32AC01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904" y="229057"/>
            <a:ext cx="11734190" cy="792653"/>
          </a:xfrm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lang="es-CO" spc="-150" noProof="0" dirty="0"/>
              <a:t>Taxonomía de las variables</a:t>
            </a:r>
            <a:endParaRPr lang="es-CO" spc="-25" noProof="0" dirty="0"/>
          </a:p>
        </p:txBody>
      </p:sp>
      <p:pic>
        <p:nvPicPr>
          <p:cNvPr id="11" name="Imagen 1">
            <a:extLst>
              <a:ext uri="{FF2B5EF4-FFF2-40B4-BE49-F238E27FC236}">
                <a16:creationId xmlns:a16="http://schemas.microsoft.com/office/drawing/2014/main" id="{2844E555-AABA-533C-2590-F1DA35DD0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863" y="1600200"/>
            <a:ext cx="8176273" cy="4844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229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C99D3-047B-44A3-5C45-58F25B6F6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ED328897-2C13-601C-CEBA-DF0B6300EC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904" y="229057"/>
            <a:ext cx="11734190" cy="792653"/>
          </a:xfrm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lang="es-CO" spc="-150" dirty="0"/>
              <a:t>Taxonomía de las variables</a:t>
            </a:r>
            <a:endParaRPr lang="es-CO" spc="-25" noProof="0" dirty="0"/>
          </a:p>
        </p:txBody>
      </p:sp>
      <p:pic>
        <p:nvPicPr>
          <p:cNvPr id="2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0DB082CE-A42F-F511-D7D6-BD15FAF02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1596430"/>
            <a:ext cx="67056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896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701040">
              <a:lnSpc>
                <a:spcPct val="100000"/>
              </a:lnSpc>
              <a:spcBef>
                <a:spcPts val="105"/>
              </a:spcBef>
            </a:pPr>
            <a:r>
              <a:rPr lang="es-CO" spc="-295" noProof="0" dirty="0"/>
              <a:t>Tipos</a:t>
            </a:r>
            <a:r>
              <a:rPr lang="es-CO" spc="-340" noProof="0" dirty="0"/>
              <a:t> </a:t>
            </a:r>
            <a:r>
              <a:rPr lang="es-CO" noProof="0" dirty="0"/>
              <a:t>de</a:t>
            </a:r>
            <a:r>
              <a:rPr lang="es-CO" spc="-195" noProof="0" dirty="0"/>
              <a:t> </a:t>
            </a:r>
            <a:r>
              <a:rPr lang="es-CO" spc="-140" noProof="0" dirty="0"/>
              <a:t>variables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9463" y="2295270"/>
            <a:ext cx="60325" cy="1714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9463" y="2768092"/>
            <a:ext cx="60325" cy="1714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9463" y="4281678"/>
            <a:ext cx="60325" cy="1714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9463" y="5150358"/>
            <a:ext cx="60325" cy="1714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17854" y="1514827"/>
            <a:ext cx="10512146" cy="5208605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9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b="1" spc="-165" noProof="0" dirty="0">
                <a:latin typeface="Arial"/>
                <a:cs typeface="Arial"/>
              </a:rPr>
              <a:t>Cuantitativas</a:t>
            </a:r>
            <a:r>
              <a:rPr lang="es-CO" sz="2900" b="1" spc="-450" noProof="0" dirty="0">
                <a:latin typeface="Arial"/>
                <a:cs typeface="Arial"/>
              </a:rPr>
              <a:t> </a:t>
            </a:r>
            <a:r>
              <a:rPr lang="es-CO" sz="2900" b="1" spc="-25" noProof="0" dirty="0">
                <a:latin typeface="Arial"/>
                <a:cs typeface="Arial"/>
              </a:rPr>
              <a:t>o</a:t>
            </a:r>
            <a:r>
              <a:rPr lang="es-CO" sz="2900" b="1" spc="-195" noProof="0" dirty="0">
                <a:latin typeface="Arial"/>
                <a:cs typeface="Arial"/>
              </a:rPr>
              <a:t> </a:t>
            </a:r>
            <a:r>
              <a:rPr lang="es-CO" sz="2900" b="1" spc="-100" noProof="0" dirty="0">
                <a:latin typeface="Arial"/>
                <a:cs typeface="Arial"/>
              </a:rPr>
              <a:t>numéricas</a:t>
            </a:r>
            <a:endParaRPr lang="es-CO" sz="2900" noProof="0" dirty="0">
              <a:latin typeface="Arial"/>
              <a:cs typeface="Arial"/>
            </a:endParaRPr>
          </a:p>
          <a:p>
            <a:pPr marL="533400" marR="1332865" indent="30480">
              <a:lnSpc>
                <a:spcPct val="119300"/>
              </a:lnSpc>
              <a:spcBef>
                <a:spcPts val="20"/>
              </a:spcBef>
            </a:pPr>
            <a:r>
              <a:rPr lang="es-CO" sz="2600" spc="-275" noProof="0" dirty="0">
                <a:latin typeface="Microsoft Sans Serif"/>
                <a:cs typeface="Microsoft Sans Serif"/>
              </a:rPr>
              <a:t>DISCRETAS (cant.</a:t>
            </a:r>
            <a:r>
              <a:rPr lang="es-CO" sz="2600" spc="-175" noProof="0" dirty="0">
                <a:latin typeface="Microsoft Sans Serif"/>
                <a:cs typeface="Microsoft Sans Serif"/>
              </a:rPr>
              <a:t> </a:t>
            </a:r>
            <a:r>
              <a:rPr lang="es-CO" sz="2600" spc="-10" noProof="0" dirty="0">
                <a:latin typeface="Microsoft Sans Serif"/>
                <a:cs typeface="Microsoft Sans Serif"/>
              </a:rPr>
              <a:t>de</a:t>
            </a:r>
            <a:r>
              <a:rPr lang="es-CO" sz="2600" spc="-40" noProof="0" dirty="0">
                <a:latin typeface="Microsoft Sans Serif"/>
                <a:cs typeface="Microsoft Sans Serif"/>
              </a:rPr>
              <a:t> </a:t>
            </a:r>
            <a:r>
              <a:rPr lang="es-CO" sz="2600" spc="-155" noProof="0" dirty="0">
                <a:latin typeface="Microsoft Sans Serif"/>
                <a:cs typeface="Microsoft Sans Serif"/>
              </a:rPr>
              <a:t>empleados,</a:t>
            </a:r>
            <a:r>
              <a:rPr lang="es-CO" sz="2600" spc="-140" noProof="0" dirty="0">
                <a:latin typeface="Microsoft Sans Serif"/>
                <a:cs typeface="Microsoft Sans Serif"/>
              </a:rPr>
              <a:t> cant.</a:t>
            </a:r>
            <a:r>
              <a:rPr lang="es-CO" sz="2600" spc="-165" noProof="0" dirty="0">
                <a:latin typeface="Microsoft Sans Serif"/>
                <a:cs typeface="Microsoft Sans Serif"/>
              </a:rPr>
              <a:t> </a:t>
            </a:r>
            <a:r>
              <a:rPr lang="es-CO" sz="2600" spc="-10" noProof="0" dirty="0">
                <a:latin typeface="Microsoft Sans Serif"/>
                <a:cs typeface="Microsoft Sans Serif"/>
              </a:rPr>
              <a:t>de</a:t>
            </a:r>
            <a:r>
              <a:rPr lang="es-CO" sz="2600" spc="-40" noProof="0" dirty="0">
                <a:latin typeface="Microsoft Sans Serif"/>
                <a:cs typeface="Microsoft Sans Serif"/>
              </a:rPr>
              <a:t> </a:t>
            </a:r>
            <a:r>
              <a:rPr lang="es-CO" sz="2600" spc="-225" noProof="0" dirty="0">
                <a:latin typeface="Microsoft Sans Serif"/>
                <a:cs typeface="Microsoft Sans Serif"/>
              </a:rPr>
              <a:t>alumnos,</a:t>
            </a:r>
            <a:r>
              <a:rPr lang="es-CO" sz="2600" spc="-204" noProof="0" dirty="0">
                <a:latin typeface="Microsoft Sans Serif"/>
                <a:cs typeface="Microsoft Sans Serif"/>
              </a:rPr>
              <a:t> </a:t>
            </a:r>
            <a:r>
              <a:rPr lang="es-CO" sz="2600" spc="-20" noProof="0" dirty="0">
                <a:latin typeface="Microsoft Sans Serif"/>
                <a:cs typeface="Microsoft Sans Serif"/>
              </a:rPr>
              <a:t>etc.) </a:t>
            </a:r>
            <a:r>
              <a:rPr lang="es-CO" sz="2600" spc="-225" noProof="0" dirty="0">
                <a:latin typeface="Microsoft Sans Serif"/>
                <a:cs typeface="Microsoft Sans Serif"/>
              </a:rPr>
              <a:t>CONTINUAS</a:t>
            </a:r>
            <a:r>
              <a:rPr lang="es-CO" sz="2600" spc="-175" noProof="0" dirty="0">
                <a:latin typeface="Microsoft Sans Serif"/>
                <a:cs typeface="Microsoft Sans Serif"/>
              </a:rPr>
              <a:t> (sueldo,</a:t>
            </a:r>
            <a:r>
              <a:rPr lang="es-CO" sz="2600" spc="-130" noProof="0" dirty="0">
                <a:latin typeface="Microsoft Sans Serif"/>
                <a:cs typeface="Microsoft Sans Serif"/>
              </a:rPr>
              <a:t> </a:t>
            </a:r>
            <a:r>
              <a:rPr lang="es-CO" sz="2600" spc="-170" noProof="0" dirty="0">
                <a:latin typeface="Microsoft Sans Serif"/>
                <a:cs typeface="Microsoft Sans Serif"/>
              </a:rPr>
              <a:t>metros</a:t>
            </a:r>
            <a:r>
              <a:rPr lang="es-CO" sz="2600" spc="-270" noProof="0" dirty="0">
                <a:latin typeface="Microsoft Sans Serif"/>
                <a:cs typeface="Microsoft Sans Serif"/>
              </a:rPr>
              <a:t> </a:t>
            </a:r>
            <a:r>
              <a:rPr lang="es-CO" sz="2600" spc="-145" noProof="0" dirty="0">
                <a:latin typeface="Microsoft Sans Serif"/>
                <a:cs typeface="Microsoft Sans Serif"/>
              </a:rPr>
              <a:t>cuadrados,</a:t>
            </a:r>
            <a:r>
              <a:rPr lang="es-CO" sz="2600" spc="-130" noProof="0" dirty="0">
                <a:latin typeface="Microsoft Sans Serif"/>
                <a:cs typeface="Microsoft Sans Serif"/>
              </a:rPr>
              <a:t> </a:t>
            </a:r>
            <a:r>
              <a:rPr lang="es-CO" sz="2600" spc="-145" noProof="0" dirty="0">
                <a:latin typeface="Microsoft Sans Serif"/>
                <a:cs typeface="Microsoft Sans Serif"/>
              </a:rPr>
              <a:t>beneficios,</a:t>
            </a:r>
            <a:r>
              <a:rPr lang="es-CO" sz="2600" spc="-114" noProof="0" dirty="0">
                <a:latin typeface="Microsoft Sans Serif"/>
                <a:cs typeface="Microsoft Sans Serif"/>
              </a:rPr>
              <a:t> </a:t>
            </a:r>
            <a:r>
              <a:rPr lang="es-CO" sz="2600" spc="-20" noProof="0" dirty="0">
                <a:latin typeface="Microsoft Sans Serif"/>
                <a:cs typeface="Microsoft Sans Serif"/>
              </a:rPr>
              <a:t>etc.)</a:t>
            </a:r>
            <a:endParaRPr lang="es-CO" sz="2600" noProof="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750"/>
              </a:spcBef>
            </a:pPr>
            <a:endParaRPr lang="es-CO" sz="2600" noProof="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b="1" spc="-140" noProof="0" dirty="0">
                <a:latin typeface="Arial"/>
                <a:cs typeface="Arial"/>
              </a:rPr>
              <a:t>Cualitativas</a:t>
            </a:r>
            <a:r>
              <a:rPr lang="es-CO" sz="2900" b="1" spc="-465" noProof="0" dirty="0">
                <a:latin typeface="Arial"/>
                <a:cs typeface="Arial"/>
              </a:rPr>
              <a:t> </a:t>
            </a:r>
            <a:r>
              <a:rPr lang="es-CO" sz="2900" b="1" noProof="0" dirty="0">
                <a:latin typeface="Arial"/>
                <a:cs typeface="Arial"/>
              </a:rPr>
              <a:t>o</a:t>
            </a:r>
            <a:r>
              <a:rPr lang="es-CO" sz="2900" b="1" spc="-225" noProof="0" dirty="0">
                <a:latin typeface="Arial"/>
                <a:cs typeface="Arial"/>
              </a:rPr>
              <a:t> </a:t>
            </a:r>
            <a:r>
              <a:rPr lang="es-CO" sz="2900" b="1" spc="-105" noProof="0" dirty="0">
                <a:latin typeface="Arial"/>
                <a:cs typeface="Arial"/>
              </a:rPr>
              <a:t>categóricas</a:t>
            </a:r>
            <a:endParaRPr lang="es-CO" sz="2900" noProof="0" dirty="0">
              <a:latin typeface="Arial"/>
              <a:cs typeface="Arial"/>
            </a:endParaRPr>
          </a:p>
          <a:p>
            <a:pPr marL="652145" marR="647065" indent="-119380">
              <a:lnSpc>
                <a:spcPct val="100000"/>
              </a:lnSpc>
              <a:spcBef>
                <a:spcPts val="625"/>
              </a:spcBef>
            </a:pPr>
            <a:r>
              <a:rPr lang="es-CO" sz="2600" spc="-229" noProof="0" dirty="0">
                <a:latin typeface="Microsoft Sans Serif"/>
                <a:cs typeface="Microsoft Sans Serif"/>
              </a:rPr>
              <a:t>NOMINALES:</a:t>
            </a:r>
            <a:r>
              <a:rPr lang="es-CO" sz="2600" spc="-245" noProof="0" dirty="0">
                <a:latin typeface="Microsoft Sans Serif"/>
                <a:cs typeface="Microsoft Sans Serif"/>
              </a:rPr>
              <a:t> </a:t>
            </a:r>
            <a:r>
              <a:rPr lang="es-CO" sz="2600" spc="-170" noProof="0" dirty="0">
                <a:latin typeface="Microsoft Sans Serif"/>
                <a:cs typeface="Microsoft Sans Serif"/>
              </a:rPr>
              <a:t>nombran</a:t>
            </a:r>
            <a:r>
              <a:rPr lang="es-CO" sz="2600" spc="-180" noProof="0" dirty="0">
                <a:latin typeface="Microsoft Sans Serif"/>
                <a:cs typeface="Microsoft Sans Serif"/>
              </a:rPr>
              <a:t> </a:t>
            </a:r>
            <a:r>
              <a:rPr lang="es-CO" sz="2600" noProof="0" dirty="0">
                <a:latin typeface="Microsoft Sans Serif"/>
                <a:cs typeface="Microsoft Sans Serif"/>
              </a:rPr>
              <a:t>al</a:t>
            </a:r>
            <a:r>
              <a:rPr lang="es-CO" sz="2600" spc="10" noProof="0" dirty="0">
                <a:latin typeface="Microsoft Sans Serif"/>
                <a:cs typeface="Microsoft Sans Serif"/>
              </a:rPr>
              <a:t> </a:t>
            </a:r>
            <a:r>
              <a:rPr lang="es-CO" sz="2600" spc="-85" noProof="0" dirty="0">
                <a:latin typeface="Microsoft Sans Serif"/>
                <a:cs typeface="Microsoft Sans Serif"/>
              </a:rPr>
              <a:t>objeto</a:t>
            </a:r>
            <a:r>
              <a:rPr lang="es-CO" sz="2600" spc="-65" noProof="0" dirty="0">
                <a:latin typeface="Microsoft Sans Serif"/>
                <a:cs typeface="Microsoft Sans Serif"/>
              </a:rPr>
              <a:t> </a:t>
            </a:r>
            <a:r>
              <a:rPr lang="es-CO" sz="2600" noProof="0" dirty="0">
                <a:latin typeface="Microsoft Sans Serif"/>
                <a:cs typeface="Microsoft Sans Serif"/>
              </a:rPr>
              <a:t>al</a:t>
            </a:r>
            <a:r>
              <a:rPr lang="es-CO" sz="2600" spc="10" noProof="0" dirty="0">
                <a:latin typeface="Microsoft Sans Serif"/>
                <a:cs typeface="Microsoft Sans Serif"/>
              </a:rPr>
              <a:t> </a:t>
            </a:r>
            <a:r>
              <a:rPr lang="es-CO" sz="2600" spc="-120" noProof="0" dirty="0">
                <a:latin typeface="Microsoft Sans Serif"/>
                <a:cs typeface="Microsoft Sans Serif"/>
              </a:rPr>
              <a:t>que</a:t>
            </a:r>
            <a:r>
              <a:rPr lang="es-CO" sz="2600" spc="-130" noProof="0" dirty="0">
                <a:latin typeface="Microsoft Sans Serif"/>
                <a:cs typeface="Microsoft Sans Serif"/>
              </a:rPr>
              <a:t> </a:t>
            </a:r>
            <a:r>
              <a:rPr lang="es-CO" sz="2600" spc="-150" noProof="0" dirty="0">
                <a:latin typeface="Microsoft Sans Serif"/>
                <a:cs typeface="Microsoft Sans Serif"/>
              </a:rPr>
              <a:t>se</a:t>
            </a:r>
            <a:r>
              <a:rPr lang="es-CO" sz="2600" spc="-265" noProof="0" dirty="0">
                <a:latin typeface="Microsoft Sans Serif"/>
                <a:cs typeface="Microsoft Sans Serif"/>
              </a:rPr>
              <a:t> </a:t>
            </a:r>
            <a:r>
              <a:rPr lang="es-CO" sz="2600" spc="-75" noProof="0" dirty="0">
                <a:latin typeface="Microsoft Sans Serif"/>
                <a:cs typeface="Microsoft Sans Serif"/>
              </a:rPr>
              <a:t>refieren</a:t>
            </a:r>
            <a:r>
              <a:rPr lang="es-CO" sz="2600" spc="-140" noProof="0" dirty="0">
                <a:latin typeface="Microsoft Sans Serif"/>
                <a:cs typeface="Microsoft Sans Serif"/>
              </a:rPr>
              <a:t> </a:t>
            </a:r>
            <a:r>
              <a:rPr lang="es-CO" sz="2600" spc="-175" noProof="0" dirty="0">
                <a:latin typeface="Microsoft Sans Serif"/>
                <a:cs typeface="Microsoft Sans Serif"/>
              </a:rPr>
              <a:t>sin</a:t>
            </a:r>
            <a:r>
              <a:rPr lang="es-CO" sz="2600" spc="-240" noProof="0" dirty="0">
                <a:latin typeface="Microsoft Sans Serif"/>
                <a:cs typeface="Microsoft Sans Serif"/>
              </a:rPr>
              <a:t> </a:t>
            </a:r>
            <a:r>
              <a:rPr lang="es-CO" sz="2600" spc="-10" noProof="0" dirty="0">
                <a:latin typeface="Microsoft Sans Serif"/>
                <a:cs typeface="Microsoft Sans Serif"/>
              </a:rPr>
              <a:t>poder </a:t>
            </a:r>
            <a:r>
              <a:rPr lang="es-CO" sz="2600" spc="-125" noProof="0" dirty="0">
                <a:latin typeface="Microsoft Sans Serif"/>
                <a:cs typeface="Microsoft Sans Serif"/>
              </a:rPr>
              <a:t>establecer</a:t>
            </a:r>
            <a:r>
              <a:rPr lang="es-CO" sz="2600" spc="-165" noProof="0" dirty="0">
                <a:latin typeface="Microsoft Sans Serif"/>
                <a:cs typeface="Microsoft Sans Serif"/>
              </a:rPr>
              <a:t> </a:t>
            </a:r>
            <a:r>
              <a:rPr lang="es-CO" sz="2600" spc="-175" noProof="0" dirty="0">
                <a:latin typeface="Microsoft Sans Serif"/>
                <a:cs typeface="Microsoft Sans Serif"/>
              </a:rPr>
              <a:t>un</a:t>
            </a:r>
            <a:r>
              <a:rPr lang="es-CO" sz="2600" spc="-270" noProof="0" dirty="0">
                <a:latin typeface="Microsoft Sans Serif"/>
                <a:cs typeface="Microsoft Sans Serif"/>
              </a:rPr>
              <a:t> </a:t>
            </a:r>
            <a:r>
              <a:rPr lang="es-CO" sz="2600" spc="-114" noProof="0" dirty="0">
                <a:latin typeface="Microsoft Sans Serif"/>
                <a:cs typeface="Microsoft Sans Serif"/>
              </a:rPr>
              <a:t>orden</a:t>
            </a:r>
            <a:r>
              <a:rPr lang="es-CO" sz="2600" spc="-90" noProof="0" dirty="0">
                <a:latin typeface="Microsoft Sans Serif"/>
                <a:cs typeface="Microsoft Sans Serif"/>
              </a:rPr>
              <a:t> </a:t>
            </a:r>
            <a:r>
              <a:rPr lang="es-CO" sz="2600" spc="-130" noProof="0" dirty="0">
                <a:latin typeface="Microsoft Sans Serif"/>
                <a:cs typeface="Microsoft Sans Serif"/>
              </a:rPr>
              <a:t>(estado</a:t>
            </a:r>
            <a:r>
              <a:rPr lang="es-CO" sz="2600" spc="-155" noProof="0" dirty="0">
                <a:latin typeface="Microsoft Sans Serif"/>
                <a:cs typeface="Microsoft Sans Serif"/>
              </a:rPr>
              <a:t> </a:t>
            </a:r>
            <a:r>
              <a:rPr lang="es-CO" sz="2600" spc="-105" noProof="0" dirty="0">
                <a:latin typeface="Microsoft Sans Serif"/>
                <a:cs typeface="Microsoft Sans Serif"/>
              </a:rPr>
              <a:t>civil,</a:t>
            </a:r>
            <a:r>
              <a:rPr lang="es-CO" sz="2600" spc="-80" noProof="0" dirty="0">
                <a:latin typeface="Microsoft Sans Serif"/>
                <a:cs typeface="Microsoft Sans Serif"/>
              </a:rPr>
              <a:t> </a:t>
            </a:r>
            <a:r>
              <a:rPr lang="es-CO" sz="2600" spc="-65" noProof="0" dirty="0">
                <a:latin typeface="Microsoft Sans Serif"/>
                <a:cs typeface="Microsoft Sans Serif"/>
              </a:rPr>
              <a:t>raza,</a:t>
            </a:r>
            <a:r>
              <a:rPr lang="es-CO" sz="2600" spc="-35" noProof="0" dirty="0">
                <a:latin typeface="Microsoft Sans Serif"/>
                <a:cs typeface="Microsoft Sans Serif"/>
              </a:rPr>
              <a:t> </a:t>
            </a:r>
            <a:r>
              <a:rPr lang="es-CO" sz="2600" spc="-105" noProof="0" dirty="0">
                <a:latin typeface="Microsoft Sans Serif"/>
                <a:cs typeface="Microsoft Sans Serif"/>
              </a:rPr>
              <a:t>idioma,</a:t>
            </a:r>
            <a:r>
              <a:rPr lang="es-CO" sz="2600" spc="-85" noProof="0" dirty="0">
                <a:latin typeface="Microsoft Sans Serif"/>
                <a:cs typeface="Microsoft Sans Serif"/>
              </a:rPr>
              <a:t> </a:t>
            </a:r>
            <a:r>
              <a:rPr lang="es-CO" sz="2600" spc="-10" noProof="0" dirty="0">
                <a:latin typeface="Microsoft Sans Serif"/>
                <a:cs typeface="Microsoft Sans Serif"/>
              </a:rPr>
              <a:t>etc.)</a:t>
            </a:r>
            <a:endParaRPr lang="es-CO" sz="2600" noProof="0" dirty="0">
              <a:latin typeface="Microsoft Sans Serif"/>
              <a:cs typeface="Microsoft Sans Serif"/>
            </a:endParaRPr>
          </a:p>
          <a:p>
            <a:pPr marL="652145" marR="5080" indent="-88900">
              <a:lnSpc>
                <a:spcPct val="100000"/>
              </a:lnSpc>
              <a:spcBef>
                <a:spcPts val="600"/>
              </a:spcBef>
            </a:pPr>
            <a:r>
              <a:rPr lang="es-CO" sz="2600" spc="-280" noProof="0" dirty="0">
                <a:latin typeface="Microsoft Sans Serif"/>
                <a:cs typeface="Microsoft Sans Serif"/>
              </a:rPr>
              <a:t>ORDINALES:</a:t>
            </a:r>
            <a:r>
              <a:rPr lang="es-CO" sz="2600" spc="-295" noProof="0" dirty="0">
                <a:latin typeface="Microsoft Sans Serif"/>
                <a:cs typeface="Microsoft Sans Serif"/>
              </a:rPr>
              <a:t> </a:t>
            </a:r>
            <a:r>
              <a:rPr lang="es-CO" sz="2600" spc="-150" noProof="0" dirty="0">
                <a:latin typeface="Microsoft Sans Serif"/>
                <a:cs typeface="Microsoft Sans Serif"/>
              </a:rPr>
              <a:t>se</a:t>
            </a:r>
            <a:r>
              <a:rPr lang="es-CO" sz="2600" spc="-245" noProof="0" dirty="0">
                <a:latin typeface="Microsoft Sans Serif"/>
                <a:cs typeface="Microsoft Sans Serif"/>
              </a:rPr>
              <a:t> </a:t>
            </a:r>
            <a:r>
              <a:rPr lang="es-CO" sz="2600" spc="-114" noProof="0" dirty="0">
                <a:latin typeface="Microsoft Sans Serif"/>
                <a:cs typeface="Microsoft Sans Serif"/>
              </a:rPr>
              <a:t>puede</a:t>
            </a:r>
            <a:r>
              <a:rPr lang="es-CO" sz="2600" spc="-110" noProof="0" dirty="0">
                <a:latin typeface="Microsoft Sans Serif"/>
                <a:cs typeface="Microsoft Sans Serif"/>
              </a:rPr>
              <a:t> </a:t>
            </a:r>
            <a:r>
              <a:rPr lang="es-CO" sz="2600" spc="-125" noProof="0" dirty="0">
                <a:latin typeface="Microsoft Sans Serif"/>
                <a:cs typeface="Microsoft Sans Serif"/>
              </a:rPr>
              <a:t>establecer</a:t>
            </a:r>
            <a:r>
              <a:rPr lang="es-CO" sz="2600" spc="-155" noProof="0" dirty="0">
                <a:latin typeface="Microsoft Sans Serif"/>
                <a:cs typeface="Microsoft Sans Serif"/>
              </a:rPr>
              <a:t> </a:t>
            </a:r>
            <a:r>
              <a:rPr lang="es-CO" sz="2600" spc="-170" noProof="0" dirty="0">
                <a:latin typeface="Microsoft Sans Serif"/>
                <a:cs typeface="Microsoft Sans Serif"/>
              </a:rPr>
              <a:t>un</a:t>
            </a:r>
            <a:r>
              <a:rPr lang="es-CO" sz="2600" spc="-265" noProof="0" dirty="0">
                <a:latin typeface="Microsoft Sans Serif"/>
                <a:cs typeface="Microsoft Sans Serif"/>
              </a:rPr>
              <a:t> </a:t>
            </a:r>
            <a:r>
              <a:rPr lang="es-CO" sz="2600" spc="-114" noProof="0" dirty="0">
                <a:latin typeface="Microsoft Sans Serif"/>
                <a:cs typeface="Microsoft Sans Serif"/>
              </a:rPr>
              <a:t>orden</a:t>
            </a:r>
            <a:r>
              <a:rPr lang="es-CO" sz="2600" spc="-85" noProof="0" dirty="0">
                <a:latin typeface="Microsoft Sans Serif"/>
                <a:cs typeface="Microsoft Sans Serif"/>
              </a:rPr>
              <a:t> </a:t>
            </a:r>
            <a:r>
              <a:rPr lang="es-CO" sz="2600" spc="-114" noProof="0" dirty="0">
                <a:latin typeface="Microsoft Sans Serif"/>
                <a:cs typeface="Microsoft Sans Serif"/>
              </a:rPr>
              <a:t>entre</a:t>
            </a:r>
            <a:r>
              <a:rPr lang="es-CO" sz="2600" spc="-90" noProof="0" dirty="0">
                <a:latin typeface="Microsoft Sans Serif"/>
                <a:cs typeface="Microsoft Sans Serif"/>
              </a:rPr>
              <a:t> </a:t>
            </a:r>
            <a:r>
              <a:rPr lang="es-CO" sz="2600" spc="-175" noProof="0" dirty="0">
                <a:latin typeface="Microsoft Sans Serif"/>
                <a:cs typeface="Microsoft Sans Serif"/>
              </a:rPr>
              <a:t>sus valores</a:t>
            </a:r>
            <a:r>
              <a:rPr lang="es-CO" sz="2600" spc="-125" noProof="0" dirty="0">
                <a:latin typeface="Microsoft Sans Serif"/>
                <a:cs typeface="Microsoft Sans Serif"/>
              </a:rPr>
              <a:t> </a:t>
            </a:r>
            <a:r>
              <a:rPr lang="es-CO" sz="2600" spc="-10" noProof="0" dirty="0">
                <a:latin typeface="Microsoft Sans Serif"/>
                <a:cs typeface="Microsoft Sans Serif"/>
              </a:rPr>
              <a:t>(alto, </a:t>
            </a:r>
            <a:r>
              <a:rPr lang="es-CO" sz="2600" spc="-145" noProof="0" dirty="0">
                <a:latin typeface="Microsoft Sans Serif"/>
                <a:cs typeface="Microsoft Sans Serif"/>
              </a:rPr>
              <a:t>medio,</a:t>
            </a:r>
            <a:r>
              <a:rPr lang="es-CO" sz="2600" spc="-180" noProof="0" dirty="0">
                <a:latin typeface="Microsoft Sans Serif"/>
                <a:cs typeface="Microsoft Sans Serif"/>
              </a:rPr>
              <a:t> </a:t>
            </a:r>
            <a:r>
              <a:rPr lang="es-CO" sz="2600" spc="-80" noProof="0" dirty="0">
                <a:latin typeface="Microsoft Sans Serif"/>
                <a:cs typeface="Microsoft Sans Serif"/>
              </a:rPr>
              <a:t>bajo,</a:t>
            </a:r>
            <a:r>
              <a:rPr lang="es-CO" sz="2600" spc="-75" noProof="0" dirty="0">
                <a:latin typeface="Microsoft Sans Serif"/>
                <a:cs typeface="Microsoft Sans Serif"/>
              </a:rPr>
              <a:t> </a:t>
            </a:r>
            <a:r>
              <a:rPr lang="es-CO" sz="2600" spc="-20" noProof="0" dirty="0">
                <a:latin typeface="Microsoft Sans Serif"/>
                <a:cs typeface="Microsoft Sans Serif"/>
              </a:rPr>
              <a:t>etc.)</a:t>
            </a:r>
          </a:p>
          <a:p>
            <a:pPr marL="652145" marR="5080" indent="-88900">
              <a:lnSpc>
                <a:spcPct val="100000"/>
              </a:lnSpc>
              <a:spcBef>
                <a:spcPts val="600"/>
              </a:spcBef>
            </a:pPr>
            <a:r>
              <a:rPr lang="es-CO" sz="2600" spc="-20" dirty="0">
                <a:latin typeface="Microsoft Sans Serif"/>
                <a:cs typeface="Microsoft Sans Serif"/>
              </a:rPr>
              <a:t>BINARIAS: solo uno de dos posibles valores (sexo, aprobado o no aprobado, etc.)</a:t>
            </a:r>
            <a:endParaRPr lang="es-CO" sz="2600" noProof="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1"/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ap="flat" cmpd="thinThick">
            <a:solidFill>
              <a:srgbClr val="26262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s-CO" sz="2600">
                <a:solidFill>
                  <a:schemeClr val="lt1"/>
                </a:solidFill>
              </a:rPr>
              <a:t>Conjunto de Datos</a:t>
            </a:r>
            <a:endParaRPr sz="2600">
              <a:solidFill>
                <a:schemeClr val="lt1"/>
              </a:solidFill>
            </a:endParaRPr>
          </a:p>
        </p:txBody>
      </p:sp>
      <p:pic>
        <p:nvPicPr>
          <p:cNvPr id="386" name="Google Shape;386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61510" y="804574"/>
            <a:ext cx="8290788" cy="5617008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41"/>
          <p:cNvSpPr txBox="1"/>
          <p:nvPr/>
        </p:nvSpPr>
        <p:spPr>
          <a:xfrm>
            <a:off x="4561609" y="5434445"/>
            <a:ext cx="47801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Xs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1"/>
          <p:cNvSpPr txBox="1"/>
          <p:nvPr/>
        </p:nvSpPr>
        <p:spPr>
          <a:xfrm>
            <a:off x="9836516" y="4972780"/>
            <a:ext cx="34496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endParaRPr sz="2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1"/>
          <p:cNvSpPr/>
          <p:nvPr/>
        </p:nvSpPr>
        <p:spPr>
          <a:xfrm>
            <a:off x="7809722" y="1660849"/>
            <a:ext cx="1101013" cy="344299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"/>
          <p:cNvCxnSpPr/>
          <p:nvPr/>
        </p:nvCxnSpPr>
        <p:spPr>
          <a:xfrm>
            <a:off x="-15224" y="1210009"/>
            <a:ext cx="4572000" cy="0"/>
          </a:xfrm>
          <a:prstGeom prst="straightConnector1">
            <a:avLst/>
          </a:prstGeom>
          <a:noFill/>
          <a:ln w="9525" cap="flat" cmpd="sng">
            <a:solidFill>
              <a:srgbClr val="FF6C1B"/>
            </a:solidFill>
            <a:prstDash val="solid"/>
            <a:miter lim="800000"/>
            <a:headEnd type="none" w="sm" len="sm"/>
            <a:tailEnd type="oval" w="med" len="med"/>
          </a:ln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D4607F8-A200-9605-E7D7-21F2BCDEA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8433" y="1600200"/>
            <a:ext cx="7015134" cy="4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3110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69C192BC-8F9B-0052-03C2-81680D149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">
            <a:extLst>
              <a:ext uri="{FF2B5EF4-FFF2-40B4-BE49-F238E27FC236}">
                <a16:creationId xmlns:a16="http://schemas.microsoft.com/office/drawing/2014/main" id="{53C57704-07DC-192C-CE33-560824B385EB}"/>
              </a:ext>
            </a:extLst>
          </p:cNvPr>
          <p:cNvCxnSpPr/>
          <p:nvPr/>
        </p:nvCxnSpPr>
        <p:spPr>
          <a:xfrm>
            <a:off x="-15224" y="1210009"/>
            <a:ext cx="4572000" cy="0"/>
          </a:xfrm>
          <a:prstGeom prst="straightConnector1">
            <a:avLst/>
          </a:prstGeom>
          <a:noFill/>
          <a:ln w="9525" cap="flat" cmpd="sng">
            <a:solidFill>
              <a:srgbClr val="FF6C1B"/>
            </a:solidFill>
            <a:prstDash val="solid"/>
            <a:miter lim="800000"/>
            <a:headEnd type="none" w="sm" len="sm"/>
            <a:tailEnd type="oval" w="med" len="med"/>
          </a:ln>
        </p:spPr>
      </p:cxnSp>
      <p:sp>
        <p:nvSpPr>
          <p:cNvPr id="108" name="Google Shape;108;p2">
            <a:extLst>
              <a:ext uri="{FF2B5EF4-FFF2-40B4-BE49-F238E27FC236}">
                <a16:creationId xmlns:a16="http://schemas.microsoft.com/office/drawing/2014/main" id="{F2ABF2A6-E52E-A6DD-18C3-49E1BFC57BA6}"/>
              </a:ext>
            </a:extLst>
          </p:cNvPr>
          <p:cNvSpPr/>
          <p:nvPr/>
        </p:nvSpPr>
        <p:spPr>
          <a:xfrm>
            <a:off x="629535" y="622999"/>
            <a:ext cx="50426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8287C"/>
                </a:solidFill>
              </a:rPr>
              <a:t>-- Obtención</a:t>
            </a:r>
            <a:endParaRPr sz="2400" dirty="0">
              <a:solidFill>
                <a:srgbClr val="08287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7B3F071-7F91-DDBB-2B3C-AE7871D43514}"/>
              </a:ext>
            </a:extLst>
          </p:cNvPr>
          <p:cNvSpPr txBox="1"/>
          <p:nvPr/>
        </p:nvSpPr>
        <p:spPr>
          <a:xfrm>
            <a:off x="999516" y="1525277"/>
            <a:ext cx="1020674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/>
              <a:t>El primer paso para poder trabajar una visualización será obtener los datos necesarios, definidos durante el proceso de estrategia. A menudo éstos ya vienen dados, pero otras veces hace falta buscarlos y extraerlos de bases de datos, o implementar sistemas que los generen.</a:t>
            </a:r>
          </a:p>
        </p:txBody>
      </p:sp>
    </p:spTree>
    <p:extLst>
      <p:ext uri="{BB962C8B-B14F-4D97-AF65-F5344CB8AC3E}">
        <p14:creationId xmlns:p14="http://schemas.microsoft.com/office/powerpoint/2010/main" val="3281016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17935FE-0BC6-4F51-8DF3-D25F62323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36" y="2009775"/>
            <a:ext cx="11530535" cy="4596551"/>
          </a:xfrm>
          <a:prstGeom prst="rect">
            <a:avLst/>
          </a:prstGeom>
        </p:spPr>
      </p:pic>
      <p:sp>
        <p:nvSpPr>
          <p:cNvPr id="3" name="Google Shape;108;p2">
            <a:extLst>
              <a:ext uri="{FF2B5EF4-FFF2-40B4-BE49-F238E27FC236}">
                <a16:creationId xmlns:a16="http://schemas.microsoft.com/office/drawing/2014/main" id="{EE105689-09A2-C1C1-6393-ABF47F2A5443}"/>
              </a:ext>
            </a:extLst>
          </p:cNvPr>
          <p:cNvSpPr/>
          <p:nvPr/>
        </p:nvSpPr>
        <p:spPr>
          <a:xfrm>
            <a:off x="629535" y="622999"/>
            <a:ext cx="50426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8287C"/>
                </a:solidFill>
              </a:rPr>
              <a:t>-- Obtención</a:t>
            </a:r>
            <a:endParaRPr sz="2400" dirty="0">
              <a:solidFill>
                <a:srgbClr val="08287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5881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3">
            <a:extLst>
              <a:ext uri="{FF2B5EF4-FFF2-40B4-BE49-F238E27FC236}">
                <a16:creationId xmlns:a16="http://schemas.microsoft.com/office/drawing/2014/main" id="{F200BD41-48BE-4A4D-9752-74FA956C767E}"/>
              </a:ext>
            </a:extLst>
          </p:cNvPr>
          <p:cNvGraphicFramePr>
            <a:graphicFrameLocks noGrp="1"/>
          </p:cNvGraphicFramePr>
          <p:nvPr/>
        </p:nvGraphicFramePr>
        <p:xfrm>
          <a:off x="643467" y="1837693"/>
          <a:ext cx="10905066" cy="429902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633773">
                  <a:extLst>
                    <a:ext uri="{9D8B030D-6E8A-4147-A177-3AD203B41FA5}">
                      <a16:colId xmlns:a16="http://schemas.microsoft.com/office/drawing/2014/main" val="74107161"/>
                    </a:ext>
                  </a:extLst>
                </a:gridCol>
                <a:gridCol w="6022146">
                  <a:extLst>
                    <a:ext uri="{9D8B030D-6E8A-4147-A177-3AD203B41FA5}">
                      <a16:colId xmlns:a16="http://schemas.microsoft.com/office/drawing/2014/main" val="4215026698"/>
                    </a:ext>
                  </a:extLst>
                </a:gridCol>
                <a:gridCol w="2249147">
                  <a:extLst>
                    <a:ext uri="{9D8B030D-6E8A-4147-A177-3AD203B41FA5}">
                      <a16:colId xmlns:a16="http://schemas.microsoft.com/office/drawing/2014/main" val="2080273057"/>
                    </a:ext>
                  </a:extLst>
                </a:gridCol>
              </a:tblGrid>
              <a:tr h="1371467">
                <a:tc>
                  <a:txBody>
                    <a:bodyPr/>
                    <a:lstStyle/>
                    <a:p>
                      <a:r>
                        <a:rPr lang="es-ES" sz="2600"/>
                        <a:t>Nombre</a:t>
                      </a:r>
                      <a:endParaRPr lang="es-CO" sz="2600"/>
                    </a:p>
                  </a:txBody>
                  <a:tcPr marL="131872" marR="131872" marT="65936" marB="65936"/>
                </a:tc>
                <a:tc>
                  <a:txBody>
                    <a:bodyPr/>
                    <a:lstStyle/>
                    <a:p>
                      <a:r>
                        <a:rPr lang="es-ES" sz="2600"/>
                        <a:t>Descripción</a:t>
                      </a:r>
                      <a:endParaRPr lang="es-CO" sz="2600"/>
                    </a:p>
                  </a:txBody>
                  <a:tcPr marL="131872" marR="131872" marT="65936" marB="65936"/>
                </a:tc>
                <a:tc>
                  <a:txBody>
                    <a:bodyPr/>
                    <a:lstStyle/>
                    <a:p>
                      <a:r>
                        <a:rPr lang="es-ES" sz="2600"/>
                        <a:t>Tipo (Categórica, Numérica)</a:t>
                      </a:r>
                      <a:endParaRPr lang="es-CO" sz="2600"/>
                    </a:p>
                  </a:txBody>
                  <a:tcPr marL="131872" marR="131872" marT="65936" marB="65936"/>
                </a:tc>
                <a:extLst>
                  <a:ext uri="{0D108BD9-81ED-4DB2-BD59-A6C34878D82A}">
                    <a16:rowId xmlns:a16="http://schemas.microsoft.com/office/drawing/2014/main" val="596195978"/>
                  </a:ext>
                </a:extLst>
              </a:tr>
              <a:tr h="1371467">
                <a:tc>
                  <a:txBody>
                    <a:bodyPr/>
                    <a:lstStyle/>
                    <a:p>
                      <a:r>
                        <a:rPr lang="es-ES" sz="2600"/>
                        <a:t>Cantidad</a:t>
                      </a:r>
                      <a:endParaRPr lang="es-CO" sz="2600"/>
                    </a:p>
                  </a:txBody>
                  <a:tcPr marL="131872" marR="131872" marT="65936" marB="65936"/>
                </a:tc>
                <a:tc>
                  <a:txBody>
                    <a:bodyPr/>
                    <a:lstStyle/>
                    <a:p>
                      <a:r>
                        <a:rPr lang="es-ES" sz="2600"/>
                        <a:t>Se debe calcular para responder a las preguntas. Se debe tener los datos con la mayor granularidad posible</a:t>
                      </a:r>
                      <a:endParaRPr lang="es-CO" sz="2600"/>
                    </a:p>
                  </a:txBody>
                  <a:tcPr marL="131872" marR="131872" marT="65936" marB="65936"/>
                </a:tc>
                <a:tc>
                  <a:txBody>
                    <a:bodyPr/>
                    <a:lstStyle/>
                    <a:p>
                      <a:r>
                        <a:rPr lang="es-ES" sz="2600"/>
                        <a:t>Numérica (calculada)</a:t>
                      </a:r>
                      <a:endParaRPr lang="es-CO" sz="2600"/>
                    </a:p>
                  </a:txBody>
                  <a:tcPr marL="131872" marR="131872" marT="65936" marB="65936"/>
                </a:tc>
                <a:extLst>
                  <a:ext uri="{0D108BD9-81ED-4DB2-BD59-A6C34878D82A}">
                    <a16:rowId xmlns:a16="http://schemas.microsoft.com/office/drawing/2014/main" val="979617213"/>
                  </a:ext>
                </a:extLst>
              </a:tr>
              <a:tr h="975852">
                <a:tc>
                  <a:txBody>
                    <a:bodyPr/>
                    <a:lstStyle/>
                    <a:p>
                      <a:r>
                        <a:rPr lang="es-ES" sz="2600"/>
                        <a:t>Fecha_ingreso</a:t>
                      </a:r>
                      <a:endParaRPr lang="es-CO" sz="2600"/>
                    </a:p>
                  </a:txBody>
                  <a:tcPr marL="131872" marR="131872" marT="65936" marB="65936"/>
                </a:tc>
                <a:tc>
                  <a:txBody>
                    <a:bodyPr/>
                    <a:lstStyle/>
                    <a:p>
                      <a:r>
                        <a:rPr lang="es-ES" sz="2600"/>
                        <a:t>Fecha y hora en la que ingresa la PQRS</a:t>
                      </a:r>
                      <a:endParaRPr lang="es-CO" sz="2600"/>
                    </a:p>
                  </a:txBody>
                  <a:tcPr marL="131872" marR="131872" marT="65936" marB="65936"/>
                </a:tc>
                <a:tc>
                  <a:txBody>
                    <a:bodyPr/>
                    <a:lstStyle/>
                    <a:p>
                      <a:r>
                        <a:rPr lang="es-ES" sz="2600"/>
                        <a:t>Fecha ????</a:t>
                      </a:r>
                      <a:endParaRPr lang="es-CO" sz="2600"/>
                    </a:p>
                  </a:txBody>
                  <a:tcPr marL="131872" marR="131872" marT="65936" marB="65936"/>
                </a:tc>
                <a:extLst>
                  <a:ext uri="{0D108BD9-81ED-4DB2-BD59-A6C34878D82A}">
                    <a16:rowId xmlns:a16="http://schemas.microsoft.com/office/drawing/2014/main" val="2822123314"/>
                  </a:ext>
                </a:extLst>
              </a:tr>
              <a:tr h="580236">
                <a:tc>
                  <a:txBody>
                    <a:bodyPr/>
                    <a:lstStyle/>
                    <a:p>
                      <a:r>
                        <a:rPr lang="es-ES" sz="2600"/>
                        <a:t>Area</a:t>
                      </a:r>
                      <a:endParaRPr lang="es-CO" sz="2600"/>
                    </a:p>
                  </a:txBody>
                  <a:tcPr marL="131872" marR="131872" marT="65936" marB="65936"/>
                </a:tc>
                <a:tc>
                  <a:txBody>
                    <a:bodyPr/>
                    <a:lstStyle/>
                    <a:p>
                      <a:r>
                        <a:rPr lang="es-ES" sz="2600"/>
                        <a:t>Área a la cual fue enviada la PQRS</a:t>
                      </a:r>
                      <a:endParaRPr lang="es-CO" sz="2600"/>
                    </a:p>
                  </a:txBody>
                  <a:tcPr marL="131872" marR="131872" marT="65936" marB="65936"/>
                </a:tc>
                <a:tc>
                  <a:txBody>
                    <a:bodyPr/>
                    <a:lstStyle/>
                    <a:p>
                      <a:r>
                        <a:rPr lang="es-ES" sz="2600" dirty="0"/>
                        <a:t>Categórica</a:t>
                      </a:r>
                      <a:endParaRPr lang="es-CO" sz="2600" dirty="0"/>
                    </a:p>
                  </a:txBody>
                  <a:tcPr marL="131872" marR="131872" marT="65936" marB="65936"/>
                </a:tc>
                <a:extLst>
                  <a:ext uri="{0D108BD9-81ED-4DB2-BD59-A6C34878D82A}">
                    <a16:rowId xmlns:a16="http://schemas.microsoft.com/office/drawing/2014/main" val="863076086"/>
                  </a:ext>
                </a:extLst>
              </a:tr>
            </a:tbl>
          </a:graphicData>
        </a:graphic>
      </p:graphicFrame>
      <p:sp>
        <p:nvSpPr>
          <p:cNvPr id="6" name="Google Shape;108;p2">
            <a:extLst>
              <a:ext uri="{FF2B5EF4-FFF2-40B4-BE49-F238E27FC236}">
                <a16:creationId xmlns:a16="http://schemas.microsoft.com/office/drawing/2014/main" id="{8DB0F196-2D98-7C3E-A724-B35FBF0284DE}"/>
              </a:ext>
            </a:extLst>
          </p:cNvPr>
          <p:cNvSpPr/>
          <p:nvPr/>
        </p:nvSpPr>
        <p:spPr>
          <a:xfrm>
            <a:off x="629535" y="622999"/>
            <a:ext cx="50426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8287C"/>
                </a:solidFill>
              </a:rPr>
              <a:t>-- Obtención</a:t>
            </a:r>
            <a:endParaRPr sz="2400" dirty="0">
              <a:solidFill>
                <a:srgbClr val="08287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ítulo 3">
            <a:extLst>
              <a:ext uri="{FF2B5EF4-FFF2-40B4-BE49-F238E27FC236}">
                <a16:creationId xmlns:a16="http://schemas.microsoft.com/office/drawing/2014/main" id="{FA8B5F68-BECE-C453-D1B5-C62D0F72C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66" y="1295400"/>
            <a:ext cx="2530797" cy="744836"/>
          </a:xfrm>
        </p:spPr>
        <p:txBody>
          <a:bodyPr>
            <a:normAutofit/>
          </a:bodyPr>
          <a:lstStyle/>
          <a:p>
            <a:r>
              <a:rPr lang="es-ES" sz="2000" dirty="0">
                <a:solidFill>
                  <a:schemeClr val="tx1"/>
                </a:solidFill>
              </a:rPr>
              <a:t>Meta data</a:t>
            </a:r>
            <a:endParaRPr lang="es-CO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9468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34FFB-3279-430C-9DA6-AC4589A2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634" y="1484653"/>
            <a:ext cx="2669406" cy="1781175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just"/>
            <a: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Tidy Data. </a:t>
            </a:r>
            <a:r>
              <a:rPr lang="en-US" sz="2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Tablón</a:t>
            </a:r>
            <a: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Datos. Data rectangular. </a:t>
            </a:r>
            <a:r>
              <a:rPr lang="en-US" sz="25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Dataframe</a:t>
            </a:r>
            <a:r>
              <a:rPr lang="en-US" sz="2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8B001-EFB1-4C71-B364-43297EFE9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3849" y="3355130"/>
            <a:ext cx="4020976" cy="3121870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pPr algn="just"/>
            <a:r>
              <a:rPr lang="es-CO" sz="1800" b="0" dirty="0"/>
              <a:t>Muy utilizada en el análisis estadístico</a:t>
            </a:r>
          </a:p>
          <a:p>
            <a:pPr algn="just"/>
            <a:r>
              <a:rPr lang="es-CO" sz="1800" b="0" dirty="0"/>
              <a:t>Características</a:t>
            </a:r>
          </a:p>
          <a:p>
            <a:pPr lvl="1" algn="just"/>
            <a:r>
              <a:rPr lang="es-CO" sz="1800" b="0" dirty="0"/>
              <a:t>Cada fila una observación</a:t>
            </a:r>
          </a:p>
          <a:p>
            <a:pPr lvl="1" algn="just"/>
            <a:r>
              <a:rPr lang="es-CO" sz="1800" b="0" dirty="0"/>
              <a:t>Cada variable o característica una columna</a:t>
            </a:r>
          </a:p>
          <a:p>
            <a:pPr lvl="1" algn="just"/>
            <a:r>
              <a:rPr lang="es-CO" sz="1800" b="0" dirty="0"/>
              <a:t>Cada tipo o unidad de observación una tabla o data set </a:t>
            </a:r>
          </a:p>
          <a:p>
            <a:pPr algn="just"/>
            <a:r>
              <a:rPr lang="es-CO" sz="1800" b="0" dirty="0"/>
              <a:t>Es un Data </a:t>
            </a:r>
            <a:r>
              <a:rPr lang="es-CO" sz="1800" b="0" dirty="0" err="1"/>
              <a:t>Mart</a:t>
            </a:r>
            <a:r>
              <a:rPr lang="es-CO" sz="1800" b="0" dirty="0"/>
              <a:t> en una sola tabla</a:t>
            </a: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0A40CEDF-DC88-4CC9-9A39-E0FFA8FBA670}"/>
              </a:ext>
            </a:extLst>
          </p:cNvPr>
          <p:cNvGraphicFramePr>
            <a:graphicFrameLocks noGrp="1"/>
          </p:cNvGraphicFramePr>
          <p:nvPr/>
        </p:nvGraphicFramePr>
        <p:xfrm>
          <a:off x="4662102" y="2280986"/>
          <a:ext cx="6903726" cy="1969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727">
                  <a:extLst>
                    <a:ext uri="{9D8B030D-6E8A-4147-A177-3AD203B41FA5}">
                      <a16:colId xmlns:a16="http://schemas.microsoft.com/office/drawing/2014/main" val="1607856070"/>
                    </a:ext>
                  </a:extLst>
                </a:gridCol>
                <a:gridCol w="1636906">
                  <a:extLst>
                    <a:ext uri="{9D8B030D-6E8A-4147-A177-3AD203B41FA5}">
                      <a16:colId xmlns:a16="http://schemas.microsoft.com/office/drawing/2014/main" val="1969872"/>
                    </a:ext>
                  </a:extLst>
                </a:gridCol>
                <a:gridCol w="1455175">
                  <a:extLst>
                    <a:ext uri="{9D8B030D-6E8A-4147-A177-3AD203B41FA5}">
                      <a16:colId xmlns:a16="http://schemas.microsoft.com/office/drawing/2014/main" val="3845968449"/>
                    </a:ext>
                  </a:extLst>
                </a:gridCol>
                <a:gridCol w="894735">
                  <a:extLst>
                    <a:ext uri="{9D8B030D-6E8A-4147-A177-3AD203B41FA5}">
                      <a16:colId xmlns:a16="http://schemas.microsoft.com/office/drawing/2014/main" val="1677827539"/>
                    </a:ext>
                  </a:extLst>
                </a:gridCol>
                <a:gridCol w="916629">
                  <a:extLst>
                    <a:ext uri="{9D8B030D-6E8A-4147-A177-3AD203B41FA5}">
                      <a16:colId xmlns:a16="http://schemas.microsoft.com/office/drawing/2014/main" val="4070604663"/>
                    </a:ext>
                  </a:extLst>
                </a:gridCol>
                <a:gridCol w="1308554">
                  <a:extLst>
                    <a:ext uri="{9D8B030D-6E8A-4147-A177-3AD203B41FA5}">
                      <a16:colId xmlns:a16="http://schemas.microsoft.com/office/drawing/2014/main" val="3379330852"/>
                    </a:ext>
                  </a:extLst>
                </a:gridCol>
              </a:tblGrid>
              <a:tr h="383556">
                <a:tc>
                  <a:txBody>
                    <a:bodyPr/>
                    <a:lstStyle/>
                    <a:p>
                      <a:pPr algn="ctr"/>
                      <a:r>
                        <a:rPr lang="es-ES" sz="1400"/>
                        <a:t>Área</a:t>
                      </a:r>
                      <a:endParaRPr lang="es-CO" sz="14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/>
                        <a:t>Fecha_ingreso</a:t>
                      </a:r>
                      <a:endParaRPr lang="es-CO" sz="14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 err="1"/>
                        <a:t>Fecha_salida</a:t>
                      </a:r>
                      <a:endParaRPr lang="es-CO" sz="1400" dirty="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 dirty="0"/>
                        <a:t>Tema(s)</a:t>
                      </a:r>
                      <a:endParaRPr lang="es-CO" sz="1400" dirty="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/>
                        <a:t>Tamaño</a:t>
                      </a:r>
                      <a:endParaRPr lang="es-CO" sz="14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400"/>
                        <a:t>Funcionario</a:t>
                      </a:r>
                      <a:endParaRPr lang="es-CO" sz="1400"/>
                    </a:p>
                  </a:txBody>
                  <a:tcPr marL="79306" marR="79306" marT="39653" marB="39653"/>
                </a:tc>
                <a:extLst>
                  <a:ext uri="{0D108BD9-81ED-4DB2-BD59-A6C34878D82A}">
                    <a16:rowId xmlns:a16="http://schemas.microsoft.com/office/drawing/2014/main" val="1138879331"/>
                  </a:ext>
                </a:extLst>
              </a:tr>
              <a:tr h="396532">
                <a:tc>
                  <a:txBody>
                    <a:bodyPr/>
                    <a:lstStyle/>
                    <a:p>
                      <a:pPr algn="ctr"/>
                      <a:endParaRPr lang="es-CO" sz="14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pPr algn="ctr"/>
                      <a:endParaRPr lang="es-CO" sz="14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pPr algn="ctr"/>
                      <a:endParaRPr lang="es-CO" sz="14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pPr algn="ctr"/>
                      <a:endParaRPr lang="es-CO" sz="14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pPr algn="ctr"/>
                      <a:endParaRPr lang="es-CO" sz="14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pPr algn="ctr"/>
                      <a:endParaRPr lang="es-CO" sz="1400"/>
                    </a:p>
                  </a:txBody>
                  <a:tcPr marL="79306" marR="79306" marT="39653" marB="39653"/>
                </a:tc>
                <a:extLst>
                  <a:ext uri="{0D108BD9-81ED-4DB2-BD59-A6C34878D82A}">
                    <a16:rowId xmlns:a16="http://schemas.microsoft.com/office/drawing/2014/main" val="12985149"/>
                  </a:ext>
                </a:extLst>
              </a:tr>
              <a:tr h="396532">
                <a:tc>
                  <a:txBody>
                    <a:bodyPr/>
                    <a:lstStyle/>
                    <a:p>
                      <a:pPr algn="ctr"/>
                      <a:endParaRPr lang="es-CO" sz="14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pPr algn="ctr"/>
                      <a:endParaRPr lang="es-CO" sz="14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pPr algn="ctr"/>
                      <a:endParaRPr lang="es-CO" sz="14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pPr algn="ctr"/>
                      <a:endParaRPr lang="es-CO" sz="14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pPr algn="ctr"/>
                      <a:endParaRPr lang="es-CO" sz="14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pPr algn="ctr"/>
                      <a:endParaRPr lang="es-CO" sz="1400"/>
                    </a:p>
                  </a:txBody>
                  <a:tcPr marL="79306" marR="79306" marT="39653" marB="39653"/>
                </a:tc>
                <a:extLst>
                  <a:ext uri="{0D108BD9-81ED-4DB2-BD59-A6C34878D82A}">
                    <a16:rowId xmlns:a16="http://schemas.microsoft.com/office/drawing/2014/main" val="1124318333"/>
                  </a:ext>
                </a:extLst>
              </a:tr>
              <a:tr h="396532">
                <a:tc>
                  <a:txBody>
                    <a:bodyPr/>
                    <a:lstStyle/>
                    <a:p>
                      <a:pPr algn="ctr"/>
                      <a:endParaRPr lang="es-CO" sz="14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pPr algn="ctr"/>
                      <a:endParaRPr lang="es-CO" sz="14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pPr algn="ctr"/>
                      <a:endParaRPr lang="es-CO" sz="14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pPr algn="ctr"/>
                      <a:endParaRPr lang="es-CO" sz="14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pPr algn="ctr"/>
                      <a:endParaRPr lang="es-CO" sz="14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pPr algn="ctr"/>
                      <a:endParaRPr lang="es-CO" sz="1400"/>
                    </a:p>
                  </a:txBody>
                  <a:tcPr marL="79306" marR="79306" marT="39653" marB="39653"/>
                </a:tc>
                <a:extLst>
                  <a:ext uri="{0D108BD9-81ED-4DB2-BD59-A6C34878D82A}">
                    <a16:rowId xmlns:a16="http://schemas.microsoft.com/office/drawing/2014/main" val="3890955193"/>
                  </a:ext>
                </a:extLst>
              </a:tr>
              <a:tr h="396532">
                <a:tc>
                  <a:txBody>
                    <a:bodyPr/>
                    <a:lstStyle/>
                    <a:p>
                      <a:pPr algn="ctr"/>
                      <a:endParaRPr lang="es-CO" sz="14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pPr algn="ctr"/>
                      <a:endParaRPr lang="es-CO" sz="14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pPr algn="ctr"/>
                      <a:endParaRPr lang="es-CO" sz="14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pPr algn="ctr"/>
                      <a:endParaRPr lang="es-CO" sz="14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pPr algn="ctr"/>
                      <a:endParaRPr lang="es-CO" sz="14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pPr algn="ctr"/>
                      <a:endParaRPr lang="es-CO" sz="1400" dirty="0"/>
                    </a:p>
                  </a:txBody>
                  <a:tcPr marL="79306" marR="79306" marT="39653" marB="39653"/>
                </a:tc>
                <a:extLst>
                  <a:ext uri="{0D108BD9-81ED-4DB2-BD59-A6C34878D82A}">
                    <a16:rowId xmlns:a16="http://schemas.microsoft.com/office/drawing/2014/main" val="820166026"/>
                  </a:ext>
                </a:extLst>
              </a:tr>
            </a:tbl>
          </a:graphicData>
        </a:graphic>
      </p:graphicFrame>
      <p:sp>
        <p:nvSpPr>
          <p:cNvPr id="5" name="Google Shape;108;p2">
            <a:extLst>
              <a:ext uri="{FF2B5EF4-FFF2-40B4-BE49-F238E27FC236}">
                <a16:creationId xmlns:a16="http://schemas.microsoft.com/office/drawing/2014/main" id="{A6E8C916-9516-BB24-7AD4-6DCA5D33A690}"/>
              </a:ext>
            </a:extLst>
          </p:cNvPr>
          <p:cNvSpPr/>
          <p:nvPr/>
        </p:nvSpPr>
        <p:spPr>
          <a:xfrm>
            <a:off x="629535" y="622999"/>
            <a:ext cx="5042657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 dirty="0">
                <a:solidFill>
                  <a:srgbClr val="08287C"/>
                </a:solidFill>
              </a:rPr>
              <a:t>-- Obtención</a:t>
            </a:r>
            <a:endParaRPr sz="2400" dirty="0">
              <a:solidFill>
                <a:srgbClr val="08287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7840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F4A3D-5134-4F6B-AF19-63BCFF2FD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439920"/>
            <a:ext cx="9833548" cy="773520"/>
          </a:xfrm>
        </p:spPr>
        <p:txBody>
          <a:bodyPr>
            <a:normAutofit/>
          </a:bodyPr>
          <a:lstStyle/>
          <a:p>
            <a:pPr algn="ctr"/>
            <a:r>
              <a:rPr lang="es-CO" sz="4000" dirty="0">
                <a:solidFill>
                  <a:schemeClr val="tx1"/>
                </a:solidFill>
              </a:rPr>
              <a:t>Preparar los Datos para el análisis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712D059-1D82-4344-9FE6-98B766D733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0314610"/>
              </p:ext>
            </p:extLst>
          </p:nvPr>
        </p:nvGraphicFramePr>
        <p:xfrm>
          <a:off x="1036320" y="2899956"/>
          <a:ext cx="10119360" cy="31313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30867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2EFBC-C9A5-454D-8C1C-1909C4D94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274320"/>
            <a:ext cx="9833548" cy="849720"/>
          </a:xfrm>
          <a:prstGeom prst="ellipse">
            <a:avLst/>
          </a:prstGeom>
        </p:spPr>
        <p:txBody>
          <a:bodyPr>
            <a:normAutofit fontScale="90000"/>
          </a:bodyPr>
          <a:lstStyle/>
          <a:p>
            <a:pPr algn="ctr"/>
            <a:r>
              <a:rPr lang="es-CO" sz="4000" dirty="0">
                <a:solidFill>
                  <a:schemeClr val="tx1"/>
                </a:solidFill>
              </a:rPr>
              <a:t>Construir los modelos de análisis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711094-BCE0-43AE-B897-D65FBDC8CA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5536758"/>
              </p:ext>
            </p:extLst>
          </p:nvPr>
        </p:nvGraphicFramePr>
        <p:xfrm>
          <a:off x="568960" y="2489200"/>
          <a:ext cx="11165840" cy="4094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86723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2C1B9-5DFE-87E4-3279-70CC0F0A3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1">
            <a:extLst>
              <a:ext uri="{FF2B5EF4-FFF2-40B4-BE49-F238E27FC236}">
                <a16:creationId xmlns:a16="http://schemas.microsoft.com/office/drawing/2014/main" id="{55D534F2-10B3-E917-E549-C53B1344E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112" y="490537"/>
            <a:ext cx="5819775" cy="587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6539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33BF6-799F-46A8-B842-1D70B0BED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904" y="533399"/>
            <a:ext cx="11734190" cy="803097"/>
          </a:xfrm>
        </p:spPr>
        <p:txBody>
          <a:bodyPr>
            <a:normAutofit/>
          </a:bodyPr>
          <a:lstStyle/>
          <a:p>
            <a:r>
              <a:rPr lang="es-CO" dirty="0"/>
              <a:t>Estadística es la base del EDA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945E00C-3608-4161-9711-E0CCDF4841C9}"/>
              </a:ext>
            </a:extLst>
          </p:cNvPr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446114222"/>
              </p:ext>
            </p:extLst>
          </p:nvPr>
        </p:nvGraphicFramePr>
        <p:xfrm>
          <a:off x="466725" y="1676400"/>
          <a:ext cx="11258550" cy="4486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892358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70B121-56F4-4848-B38B-182089D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8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C697B6-5E1A-4ADA-AE6D-BF1117963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Probabilidad para la ciencia de datos y las variables aleatorias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003ECB-8171-4B8B-8210-CCDF868213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24403" y="558800"/>
            <a:ext cx="7146025" cy="564896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CO"/>
              <a:t>¿Qué es la probabilidad?</a:t>
            </a:r>
          </a:p>
          <a:p>
            <a:pPr lvl="1"/>
            <a:r>
              <a:rPr lang="es-CO" sz="2800"/>
              <a:t>La forma de medir la incertidumbre.</a:t>
            </a:r>
          </a:p>
          <a:p>
            <a:pPr lvl="1"/>
            <a:r>
              <a:rPr lang="es-CO" sz="2800"/>
              <a:t>Probabilidad de que ocurra un evento </a:t>
            </a:r>
          </a:p>
          <a:p>
            <a:pPr lvl="1"/>
            <a:r>
              <a:rPr lang="es-CO" sz="2800"/>
              <a:t>La probabilidad es la medida de la probabilidad de que ocurra un evento. </a:t>
            </a:r>
          </a:p>
          <a:p>
            <a:pPr lvl="2"/>
            <a:r>
              <a:rPr lang="es-CO" sz="2400"/>
              <a:t>La probabilidad se cuantifica como un número entre 0 y 1, donde 0 indica imposibilidad y 1 indica certeza absoluta.</a:t>
            </a:r>
          </a:p>
        </p:txBody>
      </p:sp>
    </p:spTree>
    <p:extLst>
      <p:ext uri="{BB962C8B-B14F-4D97-AF65-F5344CB8AC3E}">
        <p14:creationId xmlns:p14="http://schemas.microsoft.com/office/powerpoint/2010/main" val="41083197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rgbClr val="4D5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68B0E8B-5418-4726-9FD0-A6724F1B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Muestreo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C7CB68-65A4-4BC4-A579-7BB1E6BAC1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63993" y="603314"/>
            <a:ext cx="4072378" cy="578896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CO" sz="1800" dirty="0">
                <a:solidFill>
                  <a:srgbClr val="FFFFFF"/>
                </a:solidFill>
              </a:rPr>
              <a:t>Es la selección de un(os) subconjunto(s) (muestra(s)) de observaciones (registros) de una población para estimar las características de la población total, por: </a:t>
            </a:r>
          </a:p>
          <a:p>
            <a:pPr lvl="1"/>
            <a:r>
              <a:rPr lang="es-CO" sz="1800" dirty="0">
                <a:solidFill>
                  <a:srgbClr val="FFFFFF"/>
                </a:solidFill>
              </a:rPr>
              <a:t>Costos de procesamiento en el caso de que tengas toda la población o muchas observaciones (Big Data N=n)</a:t>
            </a:r>
          </a:p>
          <a:p>
            <a:pPr lvl="1"/>
            <a:r>
              <a:rPr lang="es-CO" sz="1800" dirty="0">
                <a:solidFill>
                  <a:srgbClr val="FFFFFF"/>
                </a:solidFill>
              </a:rPr>
              <a:t>Es muy costoso recolectar la información de toda la población.</a:t>
            </a:r>
          </a:p>
          <a:p>
            <a:r>
              <a:rPr lang="es-CO" sz="1800" dirty="0">
                <a:solidFill>
                  <a:srgbClr val="FFFFFF"/>
                </a:solidFill>
              </a:rPr>
              <a:t>El objetivo del investigador no es sacar conclusiones sobre la muestra, sino sacar conclusiones sobre la población a partir de la muestra proporcionada.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393560-35BF-4E1F-8FFA-8F38E059B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012" y="23949"/>
            <a:ext cx="5362575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4135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5911E3A-C35B-4EF7-A355-B84E9A14A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21ADB3D-AD65-44B4-847D-5E90E90A5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CF580C70-814C-4845-B645-919BFFBD16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4D7BF57-4CAA-45B2-9EF0-0AA1FCF70B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7886F306-C03A-40C6-8FD5-DCE3D4595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2FDC9A36-C7C3-47D7-A64E-ED25C47EC7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BB19BC37-158A-43DC-9A9E-E45CC7195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077654CC-108F-48D5-B5E9-437F164F52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A3CF3A63-1C1E-4E85-A78A-FDC16431E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8740FC9A-72DD-4D9B-BA25-1CCED13524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7FBF5743-F2AE-4D0D-BCD1-01F7686D0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CED32316-D4F7-4795-BBE0-DEBB60E27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583B23C9-B9B7-4E93-9538-CBE316F83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5B144260-9F2C-4ADB-A37C-1CFB4B42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53FF918D-79D3-4F55-A68C-0DD5880DA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B9FC1440-933F-44FE-8D77-4827DD0F9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0F67F308-A67C-4D2E-B081-59BB31D8E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80112F01-90EB-4AEC-A39C-5C6875FFB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893F6B05-90EB-4C75-A0F0-C7247553B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227B563B-E0C0-4D81-966D-B5E2DBAAE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130DF93D-D1FF-477A-BDCE-C8B01C3B4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44ED67A1-C6FE-4AC8-8473-11DAC03DC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213A54F3-15FA-4C8F-8ABF-CE77E7219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F8A7F7F-DD1A-4F41-98AC-B9CE2A620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EF47228-EB7C-4EBA-BE01-DA6CB24102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Isosceles Triangle 22">
              <a:extLst>
                <a:ext uri="{FF2B5EF4-FFF2-40B4-BE49-F238E27FC236}">
                  <a16:creationId xmlns:a16="http://schemas.microsoft.com/office/drawing/2014/main" id="{3D2FD25A-EFFD-4F5C-9258-981F5907DE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CF573BC-A06F-4036-A3A8-9D07DDE622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CC2E649-D4AA-4A14-A594-CF0B97F05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7" y="2415322"/>
            <a:ext cx="3451730" cy="2399869"/>
          </a:xfrm>
        </p:spPr>
        <p:txBody>
          <a:bodyPr>
            <a:normAutofit/>
          </a:bodyPr>
          <a:lstStyle/>
          <a:p>
            <a:pPr algn="ctr"/>
            <a:r>
              <a:rPr lang="es-CO" sz="4000">
                <a:solidFill>
                  <a:srgbClr val="FFFFFF"/>
                </a:solidFill>
              </a:rPr>
              <a:t>Análisis Exploratorio de Datos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0E3FD-1646-4589-8431-0062AA123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9323" y="804672"/>
            <a:ext cx="6283245" cy="5615178"/>
          </a:xfrm>
        </p:spPr>
        <p:txBody>
          <a:bodyPr anchor="ctr">
            <a:normAutofit/>
          </a:bodyPr>
          <a:lstStyle/>
          <a:p>
            <a:r>
              <a:rPr lang="es-CO" sz="2400" dirty="0"/>
              <a:t>Responder a las </a:t>
            </a:r>
            <a:r>
              <a:rPr lang="es-CO" sz="2400" b="1" dirty="0"/>
              <a:t>preguntas descriptivas </a:t>
            </a:r>
            <a:r>
              <a:rPr lang="es-CO" sz="2400" dirty="0"/>
              <a:t>y empezar a </a:t>
            </a:r>
            <a:r>
              <a:rPr lang="es-CO" sz="2400" b="1" dirty="0"/>
              <a:t>visualizar posibles relaciones </a:t>
            </a:r>
            <a:r>
              <a:rPr lang="es-CO" sz="2400" dirty="0"/>
              <a:t>entre variables</a:t>
            </a:r>
          </a:p>
          <a:p>
            <a:r>
              <a:rPr lang="es-CO" sz="2400" dirty="0"/>
              <a:t>Se refiere al proceso de realizar las investigaciones iniciales sobre los datos para:</a:t>
            </a:r>
          </a:p>
          <a:p>
            <a:pPr lvl="1"/>
            <a:r>
              <a:rPr lang="es-CO" b="1" dirty="0">
                <a:solidFill>
                  <a:schemeClr val="accent1"/>
                </a:solidFill>
              </a:rPr>
              <a:t>Identificar valores inexistentes (NA)</a:t>
            </a:r>
          </a:p>
          <a:p>
            <a:pPr lvl="1"/>
            <a:r>
              <a:rPr lang="es-CO" b="1" dirty="0">
                <a:solidFill>
                  <a:schemeClr val="accent1"/>
                </a:solidFill>
              </a:rPr>
              <a:t>Identificar las variables importantes</a:t>
            </a:r>
          </a:p>
          <a:p>
            <a:pPr lvl="1"/>
            <a:r>
              <a:rPr lang="es-CO" b="1" dirty="0">
                <a:solidFill>
                  <a:schemeClr val="accent1"/>
                </a:solidFill>
              </a:rPr>
              <a:t>Detectar valores atípicos y anomalías en los datos (calidad de datos)</a:t>
            </a:r>
          </a:p>
          <a:p>
            <a:pPr lvl="1"/>
            <a:r>
              <a:rPr lang="es-CO" b="1" dirty="0">
                <a:solidFill>
                  <a:srgbClr val="FF0000"/>
                </a:solidFill>
              </a:rPr>
              <a:t>Descubrir patrones</a:t>
            </a:r>
          </a:p>
          <a:p>
            <a:pPr lvl="1"/>
            <a:r>
              <a:rPr lang="es-CO" b="1" dirty="0">
                <a:solidFill>
                  <a:srgbClr val="FF0000"/>
                </a:solidFill>
              </a:rPr>
              <a:t>Empezar a proponer hipótesis</a:t>
            </a:r>
          </a:p>
          <a:p>
            <a:pPr lvl="1"/>
            <a:r>
              <a:rPr lang="es-CO" b="1" dirty="0">
                <a:solidFill>
                  <a:srgbClr val="FF0000"/>
                </a:solidFill>
              </a:rPr>
              <a:t>Verificar suposiciones </a:t>
            </a:r>
          </a:p>
          <a:p>
            <a:r>
              <a:rPr lang="es-CO" sz="2400" dirty="0"/>
              <a:t>Se realiza principalmente con la ayuda de </a:t>
            </a:r>
            <a:r>
              <a:rPr lang="es-CO" sz="2400" b="1" dirty="0"/>
              <a:t>estadísticas descriptiva </a:t>
            </a:r>
            <a:r>
              <a:rPr lang="es-CO" sz="2400" dirty="0"/>
              <a:t>y </a:t>
            </a:r>
            <a:r>
              <a:rPr lang="es-CO" sz="2400" b="1" dirty="0"/>
              <a:t>análisis gráficos.</a:t>
            </a:r>
          </a:p>
        </p:txBody>
      </p:sp>
    </p:spTree>
    <p:extLst>
      <p:ext uri="{BB962C8B-B14F-4D97-AF65-F5344CB8AC3E}">
        <p14:creationId xmlns:p14="http://schemas.microsoft.com/office/powerpoint/2010/main" val="24260437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F047A1-09C2-43F6-A011-ABAB8A6C0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24" y="621792"/>
            <a:ext cx="5817475" cy="5504688"/>
          </a:xfrm>
        </p:spPr>
        <p:txBody>
          <a:bodyPr>
            <a:normAutofit/>
          </a:bodyPr>
          <a:lstStyle/>
          <a:p>
            <a:r>
              <a:rPr lang="es-ES" sz="4800"/>
              <a:t>Estadística Descriptiva:</a:t>
            </a:r>
            <a:br>
              <a:rPr lang="es-ES" sz="4800"/>
            </a:br>
            <a:r>
              <a:rPr lang="es-ES" sz="4800"/>
              <a:t> </a:t>
            </a:r>
            <a:br>
              <a:rPr lang="es-ES" sz="4800"/>
            </a:br>
            <a:r>
              <a:rPr lang="es-ES" sz="4800"/>
              <a:t>Análisis de 1 variable</a:t>
            </a:r>
            <a:endParaRPr lang="es-CO" sz="4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56F8EA-3356-4455-9899-320874F6E4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6124" cy="68580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DBCFA9E4-875C-47DF-95F5-AF58F99E09A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9048" y="621792"/>
          <a:ext cx="525780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51879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8ED85F-DCEE-4B50-802E-71A6E3E1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4000"/>
            </a:schemeClr>
          </a:solidFill>
          <a:ln w="127000" cap="sq" cmpd="thinThick">
            <a:solidFill>
              <a:schemeClr val="tx1">
                <a:lumMod val="85000"/>
                <a:lumOff val="15000"/>
                <a:alpha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635D14-5C5A-4405-AF3C-95783AB55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317"/>
            <a:ext cx="10515600" cy="1325563"/>
          </a:xfrm>
        </p:spPr>
        <p:txBody>
          <a:bodyPr>
            <a:normAutofit/>
          </a:bodyPr>
          <a:lstStyle/>
          <a:p>
            <a:r>
              <a:rPr lang="es-CO"/>
              <a:t>Ejemplos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50DA1-7066-4B13-B790-DDD078D88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4480"/>
            <a:ext cx="10515600" cy="485648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s-CO" sz="2400" dirty="0"/>
              <a:t>Una variable</a:t>
            </a:r>
          </a:p>
          <a:p>
            <a:pPr lvl="1"/>
            <a:r>
              <a:rPr lang="es-CO" dirty="0"/>
              <a:t>Numéricas</a:t>
            </a:r>
            <a:endParaRPr lang="es-CO" dirty="0">
              <a:ea typeface="Calibri"/>
              <a:cs typeface="Calibri"/>
            </a:endParaRPr>
          </a:p>
          <a:p>
            <a:pPr lvl="2"/>
            <a:r>
              <a:rPr lang="es-CO" sz="2400" dirty="0"/>
              <a:t>¿</a:t>
            </a:r>
            <a:r>
              <a:rPr lang="es-CO" sz="2400"/>
              <a:t>Cuál</a:t>
            </a:r>
            <a:r>
              <a:rPr lang="es-CO" sz="2400" dirty="0"/>
              <a:t> fue la temperatura promedio?</a:t>
            </a:r>
            <a:endParaRPr lang="es-CO" sz="2400" dirty="0">
              <a:ea typeface="Calibri"/>
              <a:cs typeface="Calibri"/>
            </a:endParaRPr>
          </a:p>
          <a:p>
            <a:pPr lvl="3"/>
            <a:r>
              <a:rPr lang="es-CO" sz="2400" dirty="0"/>
              <a:t>Media(temperatura), Mediana(temperatura) y Moda(temperatura)</a:t>
            </a:r>
            <a:endParaRPr lang="es-CO" sz="2400" dirty="0">
              <a:ea typeface="Calibri" panose="020F0502020204030204"/>
              <a:cs typeface="Calibri" panose="020F0502020204030204"/>
            </a:endParaRPr>
          </a:p>
          <a:p>
            <a:pPr lvl="2"/>
            <a:r>
              <a:rPr lang="es-CO" sz="2400" dirty="0"/>
              <a:t>¿</a:t>
            </a:r>
            <a:r>
              <a:rPr lang="es-CO" sz="2400"/>
              <a:t>Cuál</a:t>
            </a:r>
            <a:r>
              <a:rPr lang="es-CO" sz="2400" dirty="0"/>
              <a:t> fue el tiempo promedio fuera de mi casa?</a:t>
            </a:r>
            <a:endParaRPr lang="es-CO" sz="2400" dirty="0">
              <a:ea typeface="Calibri"/>
              <a:cs typeface="Calibri"/>
            </a:endParaRPr>
          </a:p>
          <a:p>
            <a:pPr lvl="3"/>
            <a:r>
              <a:rPr lang="es-CO" sz="2400" dirty="0"/>
              <a:t>Media(</a:t>
            </a:r>
            <a:r>
              <a:rPr lang="es-CO" sz="2400" dirty="0" err="1"/>
              <a:t>tiempofueradecasa</a:t>
            </a:r>
            <a:r>
              <a:rPr lang="es-CO" sz="2400" dirty="0"/>
              <a:t>), Mediana(</a:t>
            </a:r>
            <a:r>
              <a:rPr lang="es-CO" sz="2400" dirty="0" err="1"/>
              <a:t>tiempofueradecasa</a:t>
            </a:r>
            <a:r>
              <a:rPr lang="es-CO" sz="2400" dirty="0"/>
              <a:t>), Moda(</a:t>
            </a:r>
            <a:r>
              <a:rPr lang="es-CO" sz="2400" dirty="0" err="1"/>
              <a:t>tiempofueradecasa</a:t>
            </a:r>
            <a:r>
              <a:rPr lang="es-CO" sz="2400" dirty="0"/>
              <a:t>)</a:t>
            </a:r>
            <a:endParaRPr lang="es-CO" sz="2400" dirty="0">
              <a:ea typeface="Calibri"/>
              <a:cs typeface="Calibri"/>
            </a:endParaRPr>
          </a:p>
          <a:p>
            <a:pPr lvl="2"/>
            <a:r>
              <a:rPr lang="es-ES" sz="2400" dirty="0"/>
              <a:t>¿Cuál fue la temperatura máxima y mínima?</a:t>
            </a:r>
            <a:endParaRPr lang="es-ES" sz="2400" dirty="0">
              <a:ea typeface="Calibri"/>
              <a:cs typeface="Calibri"/>
            </a:endParaRPr>
          </a:p>
          <a:p>
            <a:pPr lvl="3"/>
            <a:r>
              <a:rPr lang="es-CO" sz="2400" dirty="0" err="1"/>
              <a:t>Maximo</a:t>
            </a:r>
            <a:r>
              <a:rPr lang="es-CO" sz="2400" dirty="0"/>
              <a:t>(temperatura), </a:t>
            </a:r>
            <a:r>
              <a:rPr lang="es-CO" sz="2400" dirty="0" err="1"/>
              <a:t>Minimo</a:t>
            </a:r>
            <a:r>
              <a:rPr lang="es-CO" sz="2400" dirty="0"/>
              <a:t>(temperatura)</a:t>
            </a:r>
            <a:endParaRPr lang="es-CO" sz="2400" dirty="0">
              <a:ea typeface="Calibri"/>
              <a:cs typeface="Calibri"/>
            </a:endParaRPr>
          </a:p>
          <a:p>
            <a:pPr lvl="2"/>
            <a:r>
              <a:rPr lang="es-CO" sz="2400"/>
              <a:t>¿Cuál es la desviación estándar en la temperatura?</a:t>
            </a:r>
            <a:endParaRPr lang="es-CO" sz="2400">
              <a:ea typeface="Calibri"/>
              <a:cs typeface="Calibri"/>
            </a:endParaRPr>
          </a:p>
          <a:p>
            <a:pPr lvl="3"/>
            <a:r>
              <a:rPr lang="es-CO" sz="2400" dirty="0"/>
              <a:t>Desviación((temperatura), </a:t>
            </a:r>
            <a:endParaRPr lang="es-CO" sz="2400" dirty="0">
              <a:ea typeface="Calibri"/>
              <a:cs typeface="Calibri"/>
            </a:endParaRPr>
          </a:p>
          <a:p>
            <a:pPr lvl="1"/>
            <a:r>
              <a:rPr lang="es-CO" dirty="0"/>
              <a:t>Categóricas</a:t>
            </a:r>
            <a:endParaRPr lang="es-CO" dirty="0">
              <a:ea typeface="Calibri"/>
              <a:cs typeface="Calibri"/>
            </a:endParaRPr>
          </a:p>
          <a:p>
            <a:pPr lvl="2"/>
            <a:r>
              <a:rPr lang="es-CO" sz="2400" dirty="0"/>
              <a:t>¿Cuál fue el sitio </a:t>
            </a:r>
            <a:r>
              <a:rPr lang="es-CO" sz="2400"/>
              <a:t>más</a:t>
            </a:r>
            <a:r>
              <a:rPr lang="es-CO" sz="2400" dirty="0"/>
              <a:t> visitado?</a:t>
            </a:r>
            <a:endParaRPr lang="es-CO" sz="2400" dirty="0">
              <a:ea typeface="Calibri"/>
              <a:cs typeface="Calibri"/>
            </a:endParaRPr>
          </a:p>
          <a:p>
            <a:pPr lvl="3"/>
            <a:r>
              <a:rPr lang="es-CO" sz="2400" dirty="0" err="1"/>
              <a:t>FrecuenciaRelativa</a:t>
            </a:r>
            <a:r>
              <a:rPr lang="es-CO" sz="2400" dirty="0"/>
              <a:t>(</a:t>
            </a:r>
            <a:r>
              <a:rPr lang="es-CO" sz="2400" dirty="0" err="1"/>
              <a:t>sitiovisitado</a:t>
            </a:r>
            <a:r>
              <a:rPr lang="es-CO" sz="2400" dirty="0"/>
              <a:t>)</a:t>
            </a:r>
            <a:endParaRPr lang="es-CO" sz="2400" dirty="0">
              <a:ea typeface="Calibri"/>
              <a:cs typeface="Calibri"/>
            </a:endParaRPr>
          </a:p>
          <a:p>
            <a:pPr lvl="2"/>
            <a:r>
              <a:rPr lang="es-CO" sz="2400" dirty="0"/>
              <a:t>¿Cuál fue el estado de tiempo más frecuente en mis salidas?</a:t>
            </a:r>
            <a:endParaRPr lang="es-CO" sz="2400" dirty="0">
              <a:ea typeface="Calibri"/>
              <a:cs typeface="Calibri"/>
            </a:endParaRPr>
          </a:p>
          <a:p>
            <a:pPr lvl="3"/>
            <a:r>
              <a:rPr lang="es-CO" sz="2400" dirty="0" err="1"/>
              <a:t>FrecuenciaRelativa</a:t>
            </a:r>
            <a:r>
              <a:rPr lang="es-CO" sz="2400" dirty="0"/>
              <a:t>(</a:t>
            </a:r>
            <a:r>
              <a:rPr lang="es-CO" sz="2400" dirty="0" err="1"/>
              <a:t>estadodeltiempo</a:t>
            </a:r>
            <a:r>
              <a:rPr lang="es-CO" sz="2400" dirty="0"/>
              <a:t>)</a:t>
            </a:r>
            <a:endParaRPr lang="es-CO" sz="2400" dirty="0">
              <a:ea typeface="Calibri"/>
              <a:cs typeface="Calibri"/>
            </a:endParaRPr>
          </a:p>
          <a:p>
            <a:pPr lvl="3"/>
            <a:endParaRPr lang="es-CO" sz="1300"/>
          </a:p>
        </p:txBody>
      </p:sp>
    </p:spTree>
    <p:extLst>
      <p:ext uri="{BB962C8B-B14F-4D97-AF65-F5344CB8AC3E}">
        <p14:creationId xmlns:p14="http://schemas.microsoft.com/office/powerpoint/2010/main" val="41459479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848589-4DE9-4794-8773-62CC5B4F8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lang="es-ES"/>
              <a:t>Análisis Grafico</a:t>
            </a:r>
            <a:endParaRPr lang="es-CO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B279F0-F045-4BF4-A01E-412218EE96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548" r="25333" b="-1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EAD18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094CABE5-D20D-437F-9069-7EFD6908BF0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65431" y="2438400"/>
          <a:ext cx="6586489" cy="37854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516265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55A333-ED89-424B-85A9-7FD2F76A6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106" y="102478"/>
            <a:ext cx="10515600" cy="1325563"/>
          </a:xfrm>
        </p:spPr>
        <p:txBody>
          <a:bodyPr/>
          <a:lstStyle/>
          <a:p>
            <a:r>
              <a:rPr lang="es-ES"/>
              <a:t>Análisis Grafico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F960E60-5682-43CC-818B-A0D9D08A8A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0106" y="1562978"/>
            <a:ext cx="5181600" cy="4351338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s-ES"/>
              <a:t>Presentación Final</a:t>
            </a:r>
          </a:p>
          <a:p>
            <a:pPr lvl="1"/>
            <a:r>
              <a:rPr lang="es-ES"/>
              <a:t>Charts</a:t>
            </a:r>
          </a:p>
          <a:p>
            <a:pPr lvl="1"/>
            <a:r>
              <a:rPr lang="es-ES"/>
              <a:t>Tables</a:t>
            </a:r>
          </a:p>
          <a:p>
            <a:pPr lvl="1"/>
            <a:r>
              <a:rPr lang="es-ES" err="1"/>
              <a:t>Graphs</a:t>
            </a:r>
            <a:endParaRPr lang="es-ES"/>
          </a:p>
          <a:p>
            <a:pPr lvl="1"/>
            <a:r>
              <a:rPr lang="es-ES" err="1"/>
              <a:t>Maps</a:t>
            </a:r>
            <a:endParaRPr lang="es-ES"/>
          </a:p>
          <a:p>
            <a:pPr lvl="1"/>
            <a:r>
              <a:rPr lang="es-ES" err="1"/>
              <a:t>Infographics</a:t>
            </a:r>
            <a:endParaRPr lang="es-ES"/>
          </a:p>
          <a:p>
            <a:pPr lvl="1"/>
            <a:r>
              <a:rPr lang="es-ES" err="1"/>
              <a:t>Dashboards</a:t>
            </a:r>
            <a:endParaRPr lang="es-CO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20845EE-4AE1-4F47-A75F-E968BA0395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4106" y="1562978"/>
            <a:ext cx="5181600" cy="4351338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s-ES"/>
              <a:t>Tipos de Gráficos</a:t>
            </a:r>
          </a:p>
          <a:p>
            <a:pPr lvl="1"/>
            <a:r>
              <a:rPr lang="es-CO" err="1"/>
              <a:t>Area</a:t>
            </a:r>
            <a:r>
              <a:rPr lang="es-CO"/>
              <a:t> Chart</a:t>
            </a:r>
          </a:p>
          <a:p>
            <a:pPr lvl="1"/>
            <a:r>
              <a:rPr lang="es-CO"/>
              <a:t>Bar Chart</a:t>
            </a:r>
          </a:p>
          <a:p>
            <a:pPr lvl="1"/>
            <a:r>
              <a:rPr lang="es-CO"/>
              <a:t>Box-and-</a:t>
            </a:r>
            <a:r>
              <a:rPr lang="es-CO" err="1"/>
              <a:t>whisker</a:t>
            </a:r>
            <a:r>
              <a:rPr lang="es-CO"/>
              <a:t> </a:t>
            </a:r>
            <a:r>
              <a:rPr lang="es-CO" err="1"/>
              <a:t>Plots</a:t>
            </a:r>
            <a:endParaRPr lang="es-CO"/>
          </a:p>
          <a:p>
            <a:pPr lvl="1"/>
            <a:r>
              <a:rPr lang="es-CO" err="1"/>
              <a:t>Bubble</a:t>
            </a:r>
            <a:r>
              <a:rPr lang="es-CO"/>
              <a:t> Cloud</a:t>
            </a:r>
          </a:p>
          <a:p>
            <a:pPr lvl="1"/>
            <a:r>
              <a:rPr lang="es-CO" err="1"/>
              <a:t>Bullet</a:t>
            </a:r>
            <a:r>
              <a:rPr lang="es-CO"/>
              <a:t> </a:t>
            </a:r>
            <a:r>
              <a:rPr lang="es-CO" err="1"/>
              <a:t>Graph</a:t>
            </a:r>
            <a:endParaRPr lang="es-CO"/>
          </a:p>
          <a:p>
            <a:pPr lvl="1"/>
            <a:r>
              <a:rPr lang="es-CO" err="1"/>
              <a:t>Cartogram</a:t>
            </a:r>
            <a:endParaRPr lang="es-CO"/>
          </a:p>
          <a:p>
            <a:pPr lvl="1"/>
            <a:r>
              <a:rPr lang="es-CO" err="1"/>
              <a:t>Circle</a:t>
            </a:r>
            <a:r>
              <a:rPr lang="es-CO"/>
              <a:t> View</a:t>
            </a:r>
          </a:p>
          <a:p>
            <a:pPr lvl="1"/>
            <a:r>
              <a:rPr lang="es-CO" err="1"/>
              <a:t>Dot</a:t>
            </a:r>
            <a:r>
              <a:rPr lang="es-CO"/>
              <a:t> </a:t>
            </a:r>
            <a:r>
              <a:rPr lang="es-CO" err="1"/>
              <a:t>Distribution</a:t>
            </a:r>
            <a:r>
              <a:rPr lang="es-CO"/>
              <a:t> </a:t>
            </a:r>
            <a:r>
              <a:rPr lang="es-CO" err="1"/>
              <a:t>Map</a:t>
            </a:r>
            <a:endParaRPr lang="es-CO"/>
          </a:p>
          <a:p>
            <a:pPr lvl="1"/>
            <a:r>
              <a:rPr lang="es-CO"/>
              <a:t>Gantt Chart</a:t>
            </a:r>
          </a:p>
          <a:p>
            <a:pPr lvl="1"/>
            <a:r>
              <a:rPr lang="es-CO" err="1"/>
              <a:t>Heat</a:t>
            </a:r>
            <a:r>
              <a:rPr lang="es-CO"/>
              <a:t> </a:t>
            </a:r>
            <a:r>
              <a:rPr lang="es-CO" err="1"/>
              <a:t>Map</a:t>
            </a:r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56A227A-C7FF-4BD8-9500-AFC8E0A01D00}"/>
              </a:ext>
            </a:extLst>
          </p:cNvPr>
          <p:cNvSpPr txBox="1"/>
          <p:nvPr/>
        </p:nvSpPr>
        <p:spPr>
          <a:xfrm>
            <a:off x="2285189" y="6043121"/>
            <a:ext cx="81533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https://dzone.com/articles/data-visualization-software?edition=675394</a:t>
            </a: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https://bootcamp.uxdesign.cc/design-a-data-visualization-dashboard-25f04b182dd5</a:t>
            </a:r>
            <a:r>
              <a: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0696568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FD757B-4FEE-485F-ABFF-7E04E7C7A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599"/>
            <a:ext cx="10515600" cy="71256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s-ES"/>
              <a:t>Análisis Grafico. Análisis de 1 variable</a:t>
            </a:r>
            <a:endParaRPr lang="es-CO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5A1DCA36-6050-4495-A7AD-07F6FC186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301" y="977568"/>
            <a:ext cx="11241998" cy="573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588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E7883E-45C7-4B4B-B054-87E533416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Análisis Grafico</a:t>
            </a:r>
            <a:endParaRPr lang="es-CO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1F7D627-D32E-445C-BCAB-AF0D0E777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387" y="2124075"/>
            <a:ext cx="9172575" cy="260985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E05ACA0-BC54-43FB-9ADB-50012DB91DA9}"/>
              </a:ext>
            </a:extLst>
          </p:cNvPr>
          <p:cNvSpPr txBox="1"/>
          <p:nvPr/>
        </p:nvSpPr>
        <p:spPr>
          <a:xfrm>
            <a:off x="585809" y="5812972"/>
            <a:ext cx="11606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https://towardsdatascience.com/improve-your-analytics-projects-w-these-data-distributions-visualizations-7ba3821f2092</a:t>
            </a:r>
            <a:r>
              <a: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482779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F047A1-09C2-43F6-A011-ABAB8A6C0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24" y="621792"/>
            <a:ext cx="5817475" cy="5504688"/>
          </a:xfrm>
        </p:spPr>
        <p:txBody>
          <a:bodyPr>
            <a:normAutofit/>
          </a:bodyPr>
          <a:lstStyle/>
          <a:p>
            <a:r>
              <a:rPr lang="es-ES" sz="4800"/>
              <a:t>Estadística Descriptiva:</a:t>
            </a:r>
            <a:br>
              <a:rPr lang="es-ES" sz="4800"/>
            </a:br>
            <a:r>
              <a:rPr lang="es-ES" sz="4800"/>
              <a:t> </a:t>
            </a:r>
            <a:br>
              <a:rPr lang="es-ES" sz="4800"/>
            </a:br>
            <a:r>
              <a:rPr lang="es-ES" sz="4800"/>
              <a:t>Análisis de 2 variables</a:t>
            </a:r>
            <a:endParaRPr lang="es-CO" sz="48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56F8EA-3356-4455-9899-320874F6E4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6124" cy="6858000"/>
          </a:xfrm>
          <a:prstGeom prst="rect">
            <a:avLst/>
          </a:prstGeom>
          <a:solidFill>
            <a:srgbClr val="4472C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DBCFA9E4-875C-47DF-95F5-AF58F99E09A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9048" y="621792"/>
          <a:ext cx="525780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02966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5D8BC3-9750-4900-AD0B-113E06D34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Ejemplo de tabla de distribución de frecuencias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AA97291-CC36-43D2-B2A2-4BB62EB95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311" y="961812"/>
            <a:ext cx="6754776" cy="493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367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8ED85F-DCEE-4B50-802E-71A6E3E1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4000"/>
            </a:schemeClr>
          </a:solidFill>
          <a:ln w="127000" cap="sq" cmpd="thinThick">
            <a:solidFill>
              <a:schemeClr val="tx1">
                <a:lumMod val="85000"/>
                <a:lumOff val="15000"/>
                <a:alpha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635D14-5C5A-4405-AF3C-95783AB55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317"/>
            <a:ext cx="10515600" cy="1325563"/>
          </a:xfrm>
        </p:spPr>
        <p:txBody>
          <a:bodyPr>
            <a:normAutofit/>
          </a:bodyPr>
          <a:lstStyle/>
          <a:p>
            <a:r>
              <a:rPr lang="es-CO"/>
              <a:t>Ejemplos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50DA1-7066-4B13-B790-DDD078D88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9777"/>
            <a:ext cx="10515600" cy="279844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CO" sz="2400" dirty="0"/>
              <a:t>Dos variables</a:t>
            </a:r>
          </a:p>
          <a:p>
            <a:pPr lvl="1"/>
            <a:r>
              <a:rPr lang="es-CO" dirty="0"/>
              <a:t>Numéricas</a:t>
            </a:r>
            <a:endParaRPr lang="es-CO" dirty="0">
              <a:ea typeface="Calibri"/>
              <a:cs typeface="Calibri"/>
            </a:endParaRPr>
          </a:p>
          <a:p>
            <a:pPr lvl="2"/>
            <a:r>
              <a:rPr lang="es-CO" sz="2400" dirty="0"/>
              <a:t>¿Cuál es la relación entre temperatura y </a:t>
            </a:r>
            <a:r>
              <a:rPr lang="es-CO" sz="2400" dirty="0" err="1"/>
              <a:t>tiempofueradecasa</a:t>
            </a:r>
            <a:r>
              <a:rPr lang="es-CO" sz="2400" dirty="0"/>
              <a:t>?</a:t>
            </a:r>
            <a:endParaRPr lang="es-CO" sz="2400" dirty="0">
              <a:ea typeface="Calibri"/>
              <a:cs typeface="Calibri"/>
            </a:endParaRPr>
          </a:p>
          <a:p>
            <a:pPr lvl="1"/>
            <a:r>
              <a:rPr lang="es-CO" dirty="0"/>
              <a:t>Categóricas</a:t>
            </a:r>
            <a:endParaRPr lang="es-CO" dirty="0">
              <a:ea typeface="Calibri"/>
              <a:cs typeface="Calibri"/>
            </a:endParaRPr>
          </a:p>
          <a:p>
            <a:pPr lvl="2"/>
            <a:r>
              <a:rPr lang="es-CO" sz="2400" dirty="0"/>
              <a:t>¿Cuál es la relación entre sitio visitado y estado del tiempo?</a:t>
            </a:r>
            <a:endParaRPr lang="es-CO" sz="2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218396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FD757B-4FEE-485F-ABFF-7E04E7C7A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599"/>
            <a:ext cx="10515600" cy="71256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s-ES"/>
              <a:t>Análisis Grafico. Análisis de 2 variables</a:t>
            </a:r>
            <a:endParaRPr lang="es-CO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478F7F9-C2E8-4687-9DBE-5ADC138A4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75" y="1713928"/>
            <a:ext cx="11150550" cy="4401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1817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F047A1-09C2-43F6-A011-ABAB8A6C0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Estadística Descriptiva:</a:t>
            </a:r>
            <a:br>
              <a:rPr lang="es-ES">
                <a:solidFill>
                  <a:srgbClr val="FFFFFF"/>
                </a:solidFill>
              </a:rPr>
            </a:br>
            <a:r>
              <a:rPr lang="es-ES">
                <a:solidFill>
                  <a:srgbClr val="FFFFFF"/>
                </a:solidFill>
              </a:rPr>
              <a:t> </a:t>
            </a:r>
            <a:br>
              <a:rPr lang="es-ES">
                <a:solidFill>
                  <a:srgbClr val="FFFFFF"/>
                </a:solidFill>
              </a:rPr>
            </a:br>
            <a:r>
              <a:rPr lang="es-ES">
                <a:solidFill>
                  <a:srgbClr val="FFFFFF"/>
                </a:solidFill>
              </a:rPr>
              <a:t>Análisis de 3 o más variables</a:t>
            </a:r>
            <a:endParaRPr lang="es-CO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DBCFA9E4-875C-47DF-95F5-AF58F99E09A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224667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B609C7-CB7C-4959-AC1B-48DB8D19E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anchor="ctr">
            <a:normAutofit/>
          </a:bodyPr>
          <a:lstStyle/>
          <a:p>
            <a:pPr algn="ctr"/>
            <a:r>
              <a:rPr lang="es-ES" sz="2600" dirty="0">
                <a:solidFill>
                  <a:srgbClr val="FFFFFF"/>
                </a:solidFill>
              </a:rPr>
              <a:t>3 o más variables</a:t>
            </a:r>
            <a:endParaRPr lang="es-CO" sz="2600" dirty="0">
              <a:solidFill>
                <a:srgbClr val="FFFFFF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F9EE21C-63EE-4A13-A0B8-A38DB814E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9259" y="657226"/>
            <a:ext cx="7670800" cy="575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3321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5299" y="330149"/>
            <a:ext cx="749680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pc="-285" noProof="0" dirty="0"/>
              <a:t>Descripciones</a:t>
            </a:r>
            <a:r>
              <a:rPr lang="es-CO" spc="-705" noProof="0" dirty="0"/>
              <a:t> </a:t>
            </a:r>
            <a:r>
              <a:rPr lang="es-CO" spc="-250" noProof="0" dirty="0"/>
              <a:t>estadísticas</a:t>
            </a:r>
            <a:r>
              <a:rPr lang="es-CO" spc="-285" noProof="0" dirty="0"/>
              <a:t> </a:t>
            </a:r>
            <a:r>
              <a:rPr lang="es-CO" spc="-215" noProof="0" dirty="0"/>
              <a:t>básicas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5299" y="1603628"/>
            <a:ext cx="10299065" cy="910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lang="es-CO" sz="2900" spc="-114" noProof="0" dirty="0">
                <a:latin typeface="Microsoft Sans Serif"/>
                <a:cs typeface="Microsoft Sans Serif"/>
              </a:rPr>
              <a:t>Identifican</a:t>
            </a:r>
            <a:r>
              <a:rPr lang="es-CO" sz="2900" spc="-200" noProof="0" dirty="0">
                <a:latin typeface="Microsoft Sans Serif"/>
                <a:cs typeface="Microsoft Sans Serif"/>
              </a:rPr>
              <a:t> </a:t>
            </a:r>
            <a:r>
              <a:rPr lang="es-CO" sz="2900" spc="-85" noProof="0" dirty="0">
                <a:latin typeface="Microsoft Sans Serif"/>
                <a:cs typeface="Microsoft Sans Serif"/>
              </a:rPr>
              <a:t>propiedades</a:t>
            </a:r>
            <a:r>
              <a:rPr lang="es-CO" sz="2900" spc="-36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35" noProof="0" dirty="0">
                <a:latin typeface="Microsoft Sans Serif"/>
                <a:cs typeface="Microsoft Sans Serif"/>
              </a:rPr>
              <a:t> </a:t>
            </a:r>
            <a:r>
              <a:rPr lang="es-CO" sz="2900" spc="-80" noProof="0" dirty="0">
                <a:latin typeface="Microsoft Sans Serif"/>
                <a:cs typeface="Microsoft Sans Serif"/>
              </a:rPr>
              <a:t>los</a:t>
            </a:r>
            <a:r>
              <a:rPr lang="es-CO" sz="2900" spc="-450" noProof="0" dirty="0">
                <a:latin typeface="Microsoft Sans Serif"/>
                <a:cs typeface="Microsoft Sans Serif"/>
              </a:rPr>
              <a:t>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datos</a:t>
            </a:r>
            <a:r>
              <a:rPr lang="es-CO" sz="2900" spc="-12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y</a:t>
            </a:r>
            <a:r>
              <a:rPr lang="es-CO" sz="2900" spc="60" noProof="0" dirty="0">
                <a:latin typeface="Microsoft Sans Serif"/>
                <a:cs typeface="Microsoft Sans Serif"/>
              </a:rPr>
              <a:t> </a:t>
            </a:r>
            <a:r>
              <a:rPr lang="es-CO" sz="2900" spc="-150" noProof="0" dirty="0">
                <a:latin typeface="Microsoft Sans Serif"/>
                <a:cs typeface="Microsoft Sans Serif"/>
              </a:rPr>
              <a:t>destacan</a:t>
            </a:r>
            <a:r>
              <a:rPr lang="es-CO" sz="2900" spc="-200" noProof="0" dirty="0">
                <a:latin typeface="Microsoft Sans Serif"/>
                <a:cs typeface="Microsoft Sans Serif"/>
              </a:rPr>
              <a:t> </a:t>
            </a:r>
            <a:r>
              <a:rPr lang="es-CO" sz="2900" spc="-110" noProof="0" dirty="0">
                <a:latin typeface="Microsoft Sans Serif"/>
                <a:cs typeface="Microsoft Sans Serif"/>
              </a:rPr>
              <a:t>qué</a:t>
            </a:r>
            <a:r>
              <a:rPr lang="es-CO" sz="2900" spc="-130" noProof="0" dirty="0">
                <a:latin typeface="Microsoft Sans Serif"/>
                <a:cs typeface="Microsoft Sans Serif"/>
              </a:rPr>
              <a:t> </a:t>
            </a:r>
            <a:r>
              <a:rPr lang="es-CO" sz="2900" spc="-140" noProof="0" dirty="0">
                <a:latin typeface="Microsoft Sans Serif"/>
                <a:cs typeface="Microsoft Sans Serif"/>
              </a:rPr>
              <a:t>valores</a:t>
            </a:r>
            <a:r>
              <a:rPr lang="es-CO" sz="2900" spc="-125" noProof="0" dirty="0">
                <a:latin typeface="Microsoft Sans Serif"/>
                <a:cs typeface="Microsoft Sans Serif"/>
              </a:rPr>
              <a:t> </a:t>
            </a:r>
            <a:r>
              <a:rPr lang="es-CO" sz="2900" spc="-60" noProof="0" dirty="0">
                <a:latin typeface="Microsoft Sans Serif"/>
                <a:cs typeface="Microsoft Sans Serif"/>
              </a:rPr>
              <a:t>deben </a:t>
            </a:r>
            <a:r>
              <a:rPr lang="es-CO" sz="2900" spc="-80" noProof="0" dirty="0">
                <a:latin typeface="Microsoft Sans Serif"/>
                <a:cs typeface="Microsoft Sans Serif"/>
              </a:rPr>
              <a:t>tratarse</a:t>
            </a:r>
            <a:r>
              <a:rPr lang="es-CO" sz="2900" spc="-145" noProof="0" dirty="0">
                <a:latin typeface="Microsoft Sans Serif"/>
                <a:cs typeface="Microsoft Sans Serif"/>
              </a:rPr>
              <a:t> </a:t>
            </a:r>
            <a:r>
              <a:rPr lang="es-CO" sz="2900" spc="-215" noProof="0" dirty="0">
                <a:latin typeface="Microsoft Sans Serif"/>
                <a:cs typeface="Microsoft Sans Serif"/>
              </a:rPr>
              <a:t>como</a:t>
            </a:r>
            <a:r>
              <a:rPr lang="es-CO" sz="2900" spc="-260" noProof="0" dirty="0">
                <a:latin typeface="Microsoft Sans Serif"/>
                <a:cs typeface="Microsoft Sans Serif"/>
              </a:rPr>
              <a:t> </a:t>
            </a:r>
            <a:r>
              <a:rPr lang="es-CO" sz="2900" spc="-80" noProof="0" dirty="0">
                <a:latin typeface="Microsoft Sans Serif"/>
                <a:cs typeface="Microsoft Sans Serif"/>
              </a:rPr>
              <a:t>ruido</a:t>
            </a:r>
            <a:r>
              <a:rPr lang="es-CO" sz="2900" spc="-13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o</a:t>
            </a:r>
            <a:r>
              <a:rPr lang="es-CO" sz="2900" spc="-90" noProof="0" dirty="0">
                <a:latin typeface="Microsoft Sans Serif"/>
                <a:cs typeface="Microsoft Sans Serif"/>
              </a:rPr>
              <a:t>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valores</a:t>
            </a:r>
            <a:r>
              <a:rPr lang="es-CO" sz="2900" spc="-300" noProof="0" dirty="0">
                <a:latin typeface="Microsoft Sans Serif"/>
                <a:cs typeface="Microsoft Sans Serif"/>
              </a:rPr>
              <a:t> </a:t>
            </a:r>
            <a:r>
              <a:rPr lang="es-CO" sz="2900" spc="-10" noProof="0" dirty="0">
                <a:latin typeface="Microsoft Sans Serif"/>
                <a:cs typeface="Microsoft Sans Serif"/>
              </a:rPr>
              <a:t>atípicos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4077" y="2638805"/>
            <a:ext cx="5474335" cy="3672840"/>
          </a:xfrm>
          <a:prstGeom prst="rect">
            <a:avLst/>
          </a:prstGeom>
          <a:ln w="38100">
            <a:solidFill>
              <a:srgbClr val="B85B2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lang="es-CO" sz="2900" noProof="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lang="es-CO" sz="2900" noProof="0" dirty="0">
              <a:latin typeface="Times New Roman"/>
              <a:cs typeface="Times New Roman"/>
            </a:endParaRPr>
          </a:p>
          <a:p>
            <a:pPr marL="600075" indent="-321310">
              <a:lnSpc>
                <a:spcPct val="100000"/>
              </a:lnSpc>
              <a:buClr>
                <a:srgbClr val="DD8046"/>
              </a:buClr>
              <a:buSzPct val="60344"/>
              <a:buFont typeface="Wingdings"/>
              <a:buChar char=""/>
              <a:tabLst>
                <a:tab pos="600075" algn="l"/>
              </a:tabLst>
            </a:pPr>
            <a:r>
              <a:rPr lang="es-CO" sz="2900" spc="-10" noProof="0" dirty="0">
                <a:latin typeface="Microsoft Sans Serif"/>
                <a:cs typeface="Microsoft Sans Serif"/>
              </a:rPr>
              <a:t>Media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599440" indent="-32067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599440" algn="l"/>
              </a:tabLst>
            </a:pPr>
            <a:r>
              <a:rPr lang="es-CO" sz="2900" spc="-10" noProof="0" dirty="0">
                <a:latin typeface="Microsoft Sans Serif"/>
                <a:cs typeface="Microsoft Sans Serif"/>
              </a:rPr>
              <a:t>Mediana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600075" indent="-32131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600075" algn="l"/>
              </a:tabLst>
            </a:pPr>
            <a:r>
              <a:rPr lang="es-CO" sz="2900" spc="-20" noProof="0" dirty="0">
                <a:latin typeface="Microsoft Sans Serif"/>
                <a:cs typeface="Microsoft Sans Serif"/>
              </a:rPr>
              <a:t>Moda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600075" indent="-32131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600075" algn="l"/>
              </a:tabLst>
            </a:pPr>
            <a:r>
              <a:rPr lang="es-CO" sz="2900" spc="-790" noProof="0" dirty="0">
                <a:latin typeface="Microsoft Sans Serif"/>
                <a:cs typeface="Microsoft Sans Serif"/>
              </a:rPr>
              <a:t>R</a:t>
            </a:r>
            <a:r>
              <a:rPr lang="es-CO" sz="2900" spc="-140" noProof="0" dirty="0">
                <a:latin typeface="Microsoft Sans Serif"/>
                <a:cs typeface="Microsoft Sans Serif"/>
              </a:rPr>
              <a:t>ang</a:t>
            </a:r>
            <a:r>
              <a:rPr lang="es-CO" sz="2900" spc="-10" noProof="0" dirty="0">
                <a:latin typeface="Microsoft Sans Serif"/>
                <a:cs typeface="Microsoft Sans Serif"/>
              </a:rPr>
              <a:t>o</a:t>
            </a:r>
            <a:r>
              <a:rPr lang="es-CO" sz="2900" spc="-85" noProof="0" dirty="0">
                <a:latin typeface="Microsoft Sans Serif"/>
                <a:cs typeface="Microsoft Sans Serif"/>
              </a:rPr>
              <a:t> </a:t>
            </a:r>
            <a:r>
              <a:rPr lang="es-CO" sz="2900" spc="-20" noProof="0" dirty="0">
                <a:latin typeface="Microsoft Sans Serif"/>
                <a:cs typeface="Microsoft Sans Serif"/>
              </a:rPr>
              <a:t>medio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80809" y="3437102"/>
            <a:ext cx="3290570" cy="268287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1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10" noProof="0" dirty="0">
                <a:latin typeface="Microsoft Sans Serif"/>
                <a:cs typeface="Microsoft Sans Serif"/>
              </a:rPr>
              <a:t>Varianza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204" noProof="0" dirty="0">
                <a:latin typeface="Microsoft Sans Serif"/>
                <a:cs typeface="Microsoft Sans Serif"/>
              </a:rPr>
              <a:t>Desviación</a:t>
            </a:r>
            <a:r>
              <a:rPr lang="es-CO" sz="2900" spc="-95" noProof="0" dirty="0">
                <a:latin typeface="Microsoft Sans Serif"/>
                <a:cs typeface="Microsoft Sans Serif"/>
              </a:rPr>
              <a:t>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estándar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25" noProof="0" dirty="0">
                <a:latin typeface="Microsoft Sans Serif"/>
                <a:cs typeface="Microsoft Sans Serif"/>
              </a:rPr>
              <a:t>Rango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40" noProof="0" dirty="0">
                <a:latin typeface="Microsoft Sans Serif"/>
                <a:cs typeface="Microsoft Sans Serif"/>
              </a:rPr>
              <a:t>Cuartiles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785" noProof="0" dirty="0">
                <a:latin typeface="Microsoft Sans Serif"/>
                <a:cs typeface="Microsoft Sans Serif"/>
              </a:rPr>
              <a:t>R</a:t>
            </a:r>
            <a:r>
              <a:rPr lang="es-CO" sz="2900" spc="-125" noProof="0" dirty="0">
                <a:latin typeface="Microsoft Sans Serif"/>
                <a:cs typeface="Microsoft Sans Serif"/>
              </a:rPr>
              <a:t>a</a:t>
            </a:r>
            <a:r>
              <a:rPr lang="es-CO" sz="2900" spc="-120" noProof="0" dirty="0">
                <a:latin typeface="Microsoft Sans Serif"/>
                <a:cs typeface="Microsoft Sans Serif"/>
              </a:rPr>
              <a:t>n</a:t>
            </a:r>
            <a:r>
              <a:rPr lang="es-CO" sz="2900" spc="-125" noProof="0" dirty="0">
                <a:latin typeface="Microsoft Sans Serif"/>
                <a:cs typeface="Microsoft Sans Serif"/>
              </a:rPr>
              <a:t>g</a:t>
            </a:r>
            <a:r>
              <a:rPr lang="es-CO" sz="2900" spc="-5" noProof="0" dirty="0">
                <a:latin typeface="Microsoft Sans Serif"/>
                <a:cs typeface="Microsoft Sans Serif"/>
              </a:rPr>
              <a:t>o</a:t>
            </a:r>
            <a:r>
              <a:rPr lang="es-CO" sz="2900" spc="-170" noProof="0" dirty="0">
                <a:latin typeface="Microsoft Sans Serif"/>
                <a:cs typeface="Microsoft Sans Serif"/>
              </a:rPr>
              <a:t> </a:t>
            </a:r>
            <a:r>
              <a:rPr lang="es-CO" sz="2900" spc="-40" noProof="0" dirty="0" err="1">
                <a:latin typeface="Microsoft Sans Serif"/>
                <a:cs typeface="Microsoft Sans Serif"/>
              </a:rPr>
              <a:t>Intercuartil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2291" y="2833116"/>
            <a:ext cx="5181600" cy="640080"/>
          </a:xfrm>
          <a:prstGeom prst="rect">
            <a:avLst/>
          </a:prstGeom>
          <a:solidFill>
            <a:srgbClr val="DD8046"/>
          </a:solidFill>
        </p:spPr>
        <p:txBody>
          <a:bodyPr vert="horz" wrap="square" lIns="0" tIns="113665" rIns="0" bIns="0" rtlCol="0">
            <a:spAutoFit/>
          </a:bodyPr>
          <a:lstStyle/>
          <a:p>
            <a:pPr marL="162560">
              <a:lnSpc>
                <a:spcPct val="100000"/>
              </a:lnSpc>
              <a:spcBef>
                <a:spcPts val="895"/>
              </a:spcBef>
            </a:pPr>
            <a:r>
              <a:rPr lang="es-CO" sz="2400" b="1" spc="-229" noProof="0" dirty="0">
                <a:solidFill>
                  <a:srgbClr val="FFFFFF"/>
                </a:solidFill>
                <a:latin typeface="Arial"/>
                <a:cs typeface="Arial"/>
              </a:rPr>
              <a:t>MEDIDAS</a:t>
            </a:r>
            <a:r>
              <a:rPr lang="es-CO" sz="2400" b="1" spc="-245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CO" sz="2400" b="1" spc="-195" noProof="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lang="es-CO" sz="2400" b="1" spc="-320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CO" sz="2400" b="1" spc="-235" noProof="0" dirty="0">
                <a:solidFill>
                  <a:srgbClr val="FFFFFF"/>
                </a:solidFill>
                <a:latin typeface="Arial"/>
                <a:cs typeface="Arial"/>
              </a:rPr>
              <a:t>TENDENCIA</a:t>
            </a:r>
            <a:r>
              <a:rPr lang="es-CO" sz="2400" b="1" spc="-229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CO" sz="2400" b="1" spc="-85" noProof="0" dirty="0">
                <a:solidFill>
                  <a:srgbClr val="FFFFFF"/>
                </a:solidFill>
                <a:latin typeface="Arial"/>
                <a:cs typeface="Arial"/>
              </a:rPr>
              <a:t>CENTRAL</a:t>
            </a:r>
            <a:endParaRPr lang="es-CO" sz="2400" noProof="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39255" y="2564892"/>
            <a:ext cx="5546090" cy="3744595"/>
          </a:xfrm>
          <a:custGeom>
            <a:avLst/>
            <a:gdLst/>
            <a:ahLst/>
            <a:cxnLst/>
            <a:rect l="l" t="t" r="r" b="b"/>
            <a:pathLst>
              <a:path w="5546090" h="3744595">
                <a:moveTo>
                  <a:pt x="5545582" y="0"/>
                </a:moveTo>
                <a:lnTo>
                  <a:pt x="0" y="0"/>
                </a:lnTo>
                <a:lnTo>
                  <a:pt x="0" y="3744341"/>
                </a:lnTo>
                <a:lnTo>
                  <a:pt x="5545582" y="3744341"/>
                </a:lnTo>
                <a:lnTo>
                  <a:pt x="5545582" y="0"/>
                </a:lnTo>
                <a:close/>
              </a:path>
            </a:pathLst>
          </a:custGeom>
          <a:solidFill>
            <a:srgbClr val="FFFFFF">
              <a:alpha val="81959"/>
            </a:srgbClr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5299" y="330149"/>
            <a:ext cx="15214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pc="-490" noProof="0" dirty="0"/>
              <a:t>MEDIA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5299" y="1602105"/>
            <a:ext cx="10045700" cy="9118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32740" marR="5080" indent="-320040">
              <a:lnSpc>
                <a:spcPct val="100400"/>
              </a:lnSpc>
              <a:spcBef>
                <a:spcPts val="9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lang="es-CO" sz="2900" spc="-125" noProof="0" dirty="0">
                <a:latin typeface="Microsoft Sans Serif"/>
                <a:cs typeface="Microsoft Sans Serif"/>
              </a:rPr>
              <a:t>La</a:t>
            </a:r>
            <a:r>
              <a:rPr lang="es-CO" sz="2900" spc="-500" noProof="0" dirty="0">
                <a:latin typeface="Microsoft Sans Serif"/>
                <a:cs typeface="Microsoft Sans Serif"/>
              </a:rPr>
              <a:t> </a:t>
            </a:r>
            <a:r>
              <a:rPr lang="es-CO" sz="2900" b="1" spc="-195" noProof="0" dirty="0">
                <a:latin typeface="Arial"/>
                <a:cs typeface="Arial"/>
              </a:rPr>
              <a:t>MEDIA</a:t>
            </a:r>
            <a:r>
              <a:rPr lang="es-CO" sz="2900" b="1" spc="-520" noProof="0" dirty="0">
                <a:latin typeface="Arial"/>
                <a:cs typeface="Arial"/>
              </a:rPr>
              <a:t> </a:t>
            </a:r>
            <a:r>
              <a:rPr lang="es-CO" sz="2900" spc="-85" noProof="0" dirty="0">
                <a:latin typeface="Microsoft Sans Serif"/>
                <a:cs typeface="Microsoft Sans Serif"/>
              </a:rPr>
              <a:t>es el</a:t>
            </a:r>
            <a:r>
              <a:rPr lang="es-CO" sz="2900" spc="-165" noProof="0" dirty="0">
                <a:latin typeface="Microsoft Sans Serif"/>
                <a:cs typeface="Microsoft Sans Serif"/>
              </a:rPr>
              <a:t> </a:t>
            </a:r>
            <a:r>
              <a:rPr lang="es-CO" sz="2900" spc="-125" noProof="0" dirty="0">
                <a:latin typeface="Microsoft Sans Serif"/>
                <a:cs typeface="Microsoft Sans Serif"/>
              </a:rPr>
              <a:t>promedio</a:t>
            </a:r>
            <a:r>
              <a:rPr lang="es-CO" sz="2900" spc="-240" noProof="0" dirty="0">
                <a:latin typeface="Microsoft Sans Serif"/>
                <a:cs typeface="Microsoft Sans Serif"/>
              </a:rPr>
              <a:t> </a:t>
            </a:r>
            <a:r>
              <a:rPr lang="es-CO" sz="2900" spc="-40" noProof="0" dirty="0">
                <a:latin typeface="Microsoft Sans Serif"/>
                <a:cs typeface="Microsoft Sans Serif"/>
              </a:rPr>
              <a:t>de</a:t>
            </a:r>
            <a:r>
              <a:rPr lang="es-CO" sz="2900" spc="-140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los</a:t>
            </a:r>
            <a:r>
              <a:rPr lang="es-CO" sz="2900" spc="-470" noProof="0" dirty="0">
                <a:latin typeface="Microsoft Sans Serif"/>
                <a:cs typeface="Microsoft Sans Serif"/>
              </a:rPr>
              <a:t> </a:t>
            </a:r>
            <a:r>
              <a:rPr lang="es-CO" sz="2900" spc="-145" noProof="0" dirty="0">
                <a:latin typeface="Microsoft Sans Serif"/>
                <a:cs typeface="Microsoft Sans Serif"/>
              </a:rPr>
              <a:t>valores</a:t>
            </a:r>
            <a:r>
              <a:rPr lang="es-CO" sz="2900" spc="-310" noProof="0" dirty="0">
                <a:latin typeface="Microsoft Sans Serif"/>
                <a:cs typeface="Microsoft Sans Serif"/>
              </a:rPr>
              <a:t> </a:t>
            </a:r>
            <a:r>
              <a:rPr lang="es-CO" sz="2900" spc="-45" noProof="0" dirty="0">
                <a:latin typeface="Microsoft Sans Serif"/>
                <a:cs typeface="Microsoft Sans Serif"/>
              </a:rPr>
              <a:t>del</a:t>
            </a:r>
            <a:r>
              <a:rPr lang="es-CO" sz="2900" spc="-105" noProof="0" dirty="0">
                <a:latin typeface="Microsoft Sans Serif"/>
                <a:cs typeface="Microsoft Sans Serif"/>
              </a:rPr>
              <a:t> </a:t>
            </a:r>
            <a:r>
              <a:rPr lang="es-CO" sz="2900" spc="-90" noProof="0" dirty="0">
                <a:latin typeface="Microsoft Sans Serif"/>
                <a:cs typeface="Microsoft Sans Serif"/>
              </a:rPr>
              <a:t>atributo.</a:t>
            </a:r>
            <a:r>
              <a:rPr lang="es-CO" sz="2900" spc="-145" noProof="0" dirty="0">
                <a:latin typeface="Microsoft Sans Serif"/>
                <a:cs typeface="Microsoft Sans Serif"/>
              </a:rPr>
              <a:t> </a:t>
            </a:r>
            <a:r>
              <a:rPr lang="es-CO" sz="2900" spc="-185" noProof="0" dirty="0">
                <a:latin typeface="Microsoft Sans Serif"/>
                <a:cs typeface="Microsoft Sans Serif"/>
              </a:rPr>
              <a:t>Dicho</a:t>
            </a:r>
            <a:r>
              <a:rPr lang="es-CO" sz="2900" spc="-450" noProof="0" dirty="0">
                <a:latin typeface="Microsoft Sans Serif"/>
                <a:cs typeface="Microsoft Sans Serif"/>
              </a:rPr>
              <a:t> </a:t>
            </a:r>
            <a:r>
              <a:rPr lang="es-CO" sz="2900" spc="-30" noProof="0" dirty="0">
                <a:latin typeface="Microsoft Sans Serif"/>
                <a:cs typeface="Microsoft Sans Serif"/>
              </a:rPr>
              <a:t>atributo </a:t>
            </a:r>
            <a:r>
              <a:rPr lang="es-CO" sz="2900" spc="-75" noProof="0" dirty="0">
                <a:latin typeface="Microsoft Sans Serif"/>
                <a:cs typeface="Microsoft Sans Serif"/>
              </a:rPr>
              <a:t>debe</a:t>
            </a:r>
            <a:r>
              <a:rPr lang="es-CO" sz="2900" spc="-95" noProof="0" dirty="0">
                <a:latin typeface="Microsoft Sans Serif"/>
                <a:cs typeface="Microsoft Sans Serif"/>
              </a:rPr>
              <a:t> </a:t>
            </a:r>
            <a:r>
              <a:rPr lang="es-CO" sz="2900" spc="-150" noProof="0" dirty="0">
                <a:latin typeface="Microsoft Sans Serif"/>
                <a:cs typeface="Microsoft Sans Serif"/>
              </a:rPr>
              <a:t>ser</a:t>
            </a:r>
            <a:r>
              <a:rPr lang="es-CO" sz="2900" spc="-215" noProof="0" dirty="0">
                <a:latin typeface="Microsoft Sans Serif"/>
                <a:cs typeface="Microsoft Sans Serif"/>
              </a:rPr>
              <a:t> </a:t>
            </a:r>
            <a:r>
              <a:rPr lang="es-CO" sz="2900" spc="-110" noProof="0" dirty="0">
                <a:latin typeface="Microsoft Sans Serif"/>
                <a:cs typeface="Microsoft Sans Serif"/>
              </a:rPr>
              <a:t>numérico.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5299" y="3639058"/>
            <a:ext cx="151828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180" noProof="0" dirty="0">
                <a:latin typeface="Microsoft Sans Serif"/>
                <a:cs typeface="Microsoft Sans Serif"/>
              </a:rPr>
              <a:t>Ejemplo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100937"/>
              </p:ext>
            </p:extLst>
          </p:nvPr>
        </p:nvGraphicFramePr>
        <p:xfrm>
          <a:off x="1211910" y="4367923"/>
          <a:ext cx="10078713" cy="64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9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43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23622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30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215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36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215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47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215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215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52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215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52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215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56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215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60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215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63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215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70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215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70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215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110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215" marB="0">
                    <a:solidFill>
                      <a:srgbClr val="F8E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3432047" y="28955"/>
            <a:ext cx="4523105" cy="399415"/>
          </a:xfrm>
          <a:prstGeom prst="rect">
            <a:avLst/>
          </a:prstGeom>
          <a:solidFill>
            <a:srgbClr val="EBB391"/>
          </a:solidFill>
        </p:spPr>
        <p:txBody>
          <a:bodyPr vert="horz" wrap="square" lIns="0" tIns="24130" rIns="0" bIns="0" rtlCol="0">
            <a:spAutoFit/>
          </a:bodyPr>
          <a:lstStyle/>
          <a:p>
            <a:pPr marL="493395">
              <a:lnSpc>
                <a:spcPct val="100000"/>
              </a:lnSpc>
              <a:spcBef>
                <a:spcPts val="190"/>
              </a:spcBef>
            </a:pPr>
            <a:r>
              <a:rPr lang="es-CO" sz="2000" spc="-22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MEDIDAS</a:t>
            </a:r>
            <a:r>
              <a:rPr lang="es-CO" sz="2000" spc="-20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19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lang="es-CO" sz="2000" spc="-29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23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TENDENCIA</a:t>
            </a:r>
            <a:r>
              <a:rPr lang="es-CO" sz="2000" spc="-14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28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CENTRAL</a:t>
            </a:r>
            <a:endParaRPr lang="es-CO" sz="2000" noProof="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5299" y="330149"/>
            <a:ext cx="22415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pc="-625" noProof="0" dirty="0"/>
              <a:t>ME</a:t>
            </a:r>
            <a:r>
              <a:rPr lang="es-CO" spc="-590" noProof="0" dirty="0"/>
              <a:t>D</a:t>
            </a:r>
            <a:r>
              <a:rPr lang="es-CO" spc="-295" noProof="0" dirty="0"/>
              <a:t>I</a:t>
            </a:r>
            <a:r>
              <a:rPr lang="es-CO" spc="-285" noProof="0" dirty="0"/>
              <a:t>A</a:t>
            </a:r>
            <a:r>
              <a:rPr lang="es-CO" spc="-290" noProof="0" dirty="0"/>
              <a:t>N</a:t>
            </a:r>
            <a:r>
              <a:rPr lang="es-CO" spc="-10" noProof="0" dirty="0"/>
              <a:t>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56132" y="4403216"/>
            <a:ext cx="10392410" cy="502284"/>
            <a:chOff x="1056132" y="4403216"/>
            <a:chExt cx="10392410" cy="502284"/>
          </a:xfrm>
        </p:grpSpPr>
        <p:sp>
          <p:nvSpPr>
            <p:cNvPr id="4" name="object 4"/>
            <p:cNvSpPr/>
            <p:nvPr/>
          </p:nvSpPr>
          <p:spPr>
            <a:xfrm>
              <a:off x="1056132" y="4436363"/>
              <a:ext cx="10392410" cy="457200"/>
            </a:xfrm>
            <a:custGeom>
              <a:avLst/>
              <a:gdLst/>
              <a:ahLst/>
              <a:cxnLst/>
              <a:rect l="l" t="t" r="r" b="b"/>
              <a:pathLst>
                <a:path w="10392410" h="457200">
                  <a:moveTo>
                    <a:pt x="3197479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3197479" y="457200"/>
                  </a:lnTo>
                  <a:lnTo>
                    <a:pt x="3197479" y="0"/>
                  </a:lnTo>
                  <a:close/>
                </a:path>
                <a:path w="10392410" h="457200">
                  <a:moveTo>
                    <a:pt x="10392029" y="0"/>
                  </a:moveTo>
                  <a:lnTo>
                    <a:pt x="7993888" y="0"/>
                  </a:lnTo>
                  <a:lnTo>
                    <a:pt x="3197606" y="0"/>
                  </a:lnTo>
                  <a:lnTo>
                    <a:pt x="3197606" y="457200"/>
                  </a:lnTo>
                  <a:lnTo>
                    <a:pt x="7993888" y="457200"/>
                  </a:lnTo>
                  <a:lnTo>
                    <a:pt x="10392029" y="457200"/>
                  </a:lnTo>
                  <a:lnTo>
                    <a:pt x="10392029" y="0"/>
                  </a:lnTo>
                  <a:close/>
                </a:path>
              </a:pathLst>
            </a:custGeom>
            <a:solidFill>
              <a:srgbClr val="F8E6DA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5880353" y="4412741"/>
              <a:ext cx="721995" cy="483234"/>
            </a:xfrm>
            <a:custGeom>
              <a:avLst/>
              <a:gdLst/>
              <a:ahLst/>
              <a:cxnLst/>
              <a:rect l="l" t="t" r="r" b="b"/>
              <a:pathLst>
                <a:path w="721995" h="483235">
                  <a:moveTo>
                    <a:pt x="0" y="241299"/>
                  </a:moveTo>
                  <a:lnTo>
                    <a:pt x="4699" y="202183"/>
                  </a:lnTo>
                  <a:lnTo>
                    <a:pt x="18415" y="165099"/>
                  </a:lnTo>
                  <a:lnTo>
                    <a:pt x="40259" y="130428"/>
                  </a:lnTo>
                  <a:lnTo>
                    <a:pt x="69596" y="98805"/>
                  </a:lnTo>
                  <a:lnTo>
                    <a:pt x="105791" y="70738"/>
                  </a:lnTo>
                  <a:lnTo>
                    <a:pt x="147828" y="46608"/>
                  </a:lnTo>
                  <a:lnTo>
                    <a:pt x="195072" y="26923"/>
                  </a:lnTo>
                  <a:lnTo>
                    <a:pt x="246887" y="12318"/>
                  </a:lnTo>
                  <a:lnTo>
                    <a:pt x="302387" y="3174"/>
                  </a:lnTo>
                  <a:lnTo>
                    <a:pt x="360934" y="0"/>
                  </a:lnTo>
                  <a:lnTo>
                    <a:pt x="419481" y="3174"/>
                  </a:lnTo>
                  <a:lnTo>
                    <a:pt x="474980" y="12318"/>
                  </a:lnTo>
                  <a:lnTo>
                    <a:pt x="526796" y="26923"/>
                  </a:lnTo>
                  <a:lnTo>
                    <a:pt x="574040" y="46608"/>
                  </a:lnTo>
                  <a:lnTo>
                    <a:pt x="616076" y="70738"/>
                  </a:lnTo>
                  <a:lnTo>
                    <a:pt x="652272" y="98805"/>
                  </a:lnTo>
                  <a:lnTo>
                    <a:pt x="681609" y="130428"/>
                  </a:lnTo>
                  <a:lnTo>
                    <a:pt x="703452" y="165099"/>
                  </a:lnTo>
                  <a:lnTo>
                    <a:pt x="717169" y="202183"/>
                  </a:lnTo>
                  <a:lnTo>
                    <a:pt x="721868" y="241299"/>
                  </a:lnTo>
                  <a:lnTo>
                    <a:pt x="717169" y="280542"/>
                  </a:lnTo>
                  <a:lnTo>
                    <a:pt x="703452" y="317626"/>
                  </a:lnTo>
                  <a:lnTo>
                    <a:pt x="681609" y="352297"/>
                  </a:lnTo>
                  <a:lnTo>
                    <a:pt x="652272" y="383920"/>
                  </a:lnTo>
                  <a:lnTo>
                    <a:pt x="616076" y="411987"/>
                  </a:lnTo>
                  <a:lnTo>
                    <a:pt x="574040" y="436117"/>
                  </a:lnTo>
                  <a:lnTo>
                    <a:pt x="526796" y="455802"/>
                  </a:lnTo>
                  <a:lnTo>
                    <a:pt x="474980" y="470407"/>
                  </a:lnTo>
                  <a:lnTo>
                    <a:pt x="419481" y="479551"/>
                  </a:lnTo>
                  <a:lnTo>
                    <a:pt x="360934" y="482726"/>
                  </a:lnTo>
                  <a:lnTo>
                    <a:pt x="302387" y="479551"/>
                  </a:lnTo>
                  <a:lnTo>
                    <a:pt x="246887" y="470407"/>
                  </a:lnTo>
                  <a:lnTo>
                    <a:pt x="195072" y="455802"/>
                  </a:lnTo>
                  <a:lnTo>
                    <a:pt x="147828" y="436117"/>
                  </a:lnTo>
                  <a:lnTo>
                    <a:pt x="105791" y="411987"/>
                  </a:lnTo>
                  <a:lnTo>
                    <a:pt x="69596" y="383920"/>
                  </a:lnTo>
                  <a:lnTo>
                    <a:pt x="40259" y="352297"/>
                  </a:lnTo>
                  <a:lnTo>
                    <a:pt x="18415" y="317626"/>
                  </a:lnTo>
                  <a:lnTo>
                    <a:pt x="4699" y="280542"/>
                  </a:lnTo>
                  <a:lnTo>
                    <a:pt x="0" y="241299"/>
                  </a:lnTo>
                  <a:close/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6087236" y="5041772"/>
            <a:ext cx="308610" cy="305435"/>
            <a:chOff x="6087236" y="5041772"/>
            <a:chExt cx="308610" cy="305435"/>
          </a:xfrm>
        </p:grpSpPr>
        <p:sp>
          <p:nvSpPr>
            <p:cNvPr id="7" name="object 7"/>
            <p:cNvSpPr/>
            <p:nvPr/>
          </p:nvSpPr>
          <p:spPr>
            <a:xfrm>
              <a:off x="6095999" y="5050535"/>
              <a:ext cx="289560" cy="286385"/>
            </a:xfrm>
            <a:custGeom>
              <a:avLst/>
              <a:gdLst/>
              <a:ahLst/>
              <a:cxnLst/>
              <a:rect l="l" t="t" r="r" b="b"/>
              <a:pathLst>
                <a:path w="289560" h="286385">
                  <a:moveTo>
                    <a:pt x="144652" y="0"/>
                  </a:moveTo>
                  <a:lnTo>
                    <a:pt x="0" y="143128"/>
                  </a:lnTo>
                  <a:lnTo>
                    <a:pt x="72262" y="143128"/>
                  </a:lnTo>
                  <a:lnTo>
                    <a:pt x="72262" y="286384"/>
                  </a:lnTo>
                  <a:lnTo>
                    <a:pt x="216915" y="286384"/>
                  </a:lnTo>
                  <a:lnTo>
                    <a:pt x="216915" y="143128"/>
                  </a:lnTo>
                  <a:lnTo>
                    <a:pt x="289305" y="143128"/>
                  </a:lnTo>
                  <a:lnTo>
                    <a:pt x="144652" y="0"/>
                  </a:lnTo>
                  <a:close/>
                </a:path>
              </a:pathLst>
            </a:custGeom>
            <a:solidFill>
              <a:srgbClr val="92B6D2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6096761" y="5051297"/>
              <a:ext cx="289560" cy="286385"/>
            </a:xfrm>
            <a:custGeom>
              <a:avLst/>
              <a:gdLst/>
              <a:ahLst/>
              <a:cxnLst/>
              <a:rect l="l" t="t" r="r" b="b"/>
              <a:pathLst>
                <a:path w="289560" h="286385">
                  <a:moveTo>
                    <a:pt x="0" y="143256"/>
                  </a:moveTo>
                  <a:lnTo>
                    <a:pt x="144652" y="0"/>
                  </a:lnTo>
                  <a:lnTo>
                    <a:pt x="289305" y="143256"/>
                  </a:lnTo>
                  <a:lnTo>
                    <a:pt x="216915" y="143256"/>
                  </a:lnTo>
                  <a:lnTo>
                    <a:pt x="216915" y="286384"/>
                  </a:lnTo>
                  <a:lnTo>
                    <a:pt x="72262" y="286384"/>
                  </a:lnTo>
                  <a:lnTo>
                    <a:pt x="72262" y="143256"/>
                  </a:lnTo>
                  <a:lnTo>
                    <a:pt x="0" y="143256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94689" y="1603628"/>
            <a:ext cx="10647680" cy="2538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4010" marR="12700" indent="-321945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4010" algn="l"/>
              </a:tabLst>
            </a:pPr>
            <a:r>
              <a:rPr lang="es-CO" sz="2900" spc="-114" noProof="0" dirty="0">
                <a:latin typeface="Microsoft Sans Serif"/>
                <a:cs typeface="Microsoft Sans Serif"/>
              </a:rPr>
              <a:t>Divide </a:t>
            </a:r>
            <a:r>
              <a:rPr lang="es-CO" sz="2900" noProof="0" dirty="0">
                <a:latin typeface="Microsoft Sans Serif"/>
                <a:cs typeface="Microsoft Sans Serif"/>
              </a:rPr>
              <a:t>a</a:t>
            </a:r>
            <a:r>
              <a:rPr lang="es-CO" sz="2900" spc="10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los</a:t>
            </a:r>
            <a:r>
              <a:rPr lang="es-CO" sz="2900" spc="-215" noProof="0" dirty="0">
                <a:latin typeface="Microsoft Sans Serif"/>
                <a:cs typeface="Microsoft Sans Serif"/>
              </a:rPr>
              <a:t> </a:t>
            </a:r>
            <a:r>
              <a:rPr lang="es-CO" sz="2900" spc="-140" noProof="0" dirty="0">
                <a:latin typeface="Microsoft Sans Serif"/>
                <a:cs typeface="Microsoft Sans Serif"/>
              </a:rPr>
              <a:t>valores</a:t>
            </a:r>
            <a:r>
              <a:rPr lang="es-CO" sz="2900" spc="-15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del</a:t>
            </a:r>
            <a:r>
              <a:rPr lang="es-CO" sz="2900" spc="-35" noProof="0" dirty="0">
                <a:latin typeface="Microsoft Sans Serif"/>
                <a:cs typeface="Microsoft Sans Serif"/>
              </a:rPr>
              <a:t> </a:t>
            </a:r>
            <a:r>
              <a:rPr lang="es-CO" sz="2900" spc="-75" noProof="0" dirty="0">
                <a:latin typeface="Microsoft Sans Serif"/>
                <a:cs typeface="Microsoft Sans Serif"/>
              </a:rPr>
              <a:t>atributo</a:t>
            </a:r>
            <a:r>
              <a:rPr lang="es-CO" sz="2900" spc="-114" noProof="0" dirty="0">
                <a:latin typeface="Microsoft Sans Serif"/>
                <a:cs typeface="Microsoft Sans Serif"/>
              </a:rPr>
              <a:t> </a:t>
            </a:r>
            <a:r>
              <a:rPr lang="es-CO" sz="2900" spc="-125" noProof="0" dirty="0">
                <a:latin typeface="Microsoft Sans Serif"/>
                <a:cs typeface="Microsoft Sans Serif"/>
              </a:rPr>
              <a:t>en</a:t>
            </a:r>
            <a:r>
              <a:rPr lang="es-CO" sz="2900" spc="-220" noProof="0" dirty="0">
                <a:latin typeface="Microsoft Sans Serif"/>
                <a:cs typeface="Microsoft Sans Serif"/>
              </a:rPr>
              <a:t> </a:t>
            </a:r>
            <a:r>
              <a:rPr lang="es-CO" sz="2900" spc="-150" noProof="0" dirty="0">
                <a:latin typeface="Microsoft Sans Serif"/>
                <a:cs typeface="Microsoft Sans Serif"/>
              </a:rPr>
              <a:t>dos</a:t>
            </a:r>
            <a:r>
              <a:rPr lang="es-CO" sz="2900" spc="-210" noProof="0" dirty="0">
                <a:latin typeface="Microsoft Sans Serif"/>
                <a:cs typeface="Microsoft Sans Serif"/>
              </a:rPr>
              <a:t> </a:t>
            </a:r>
            <a:r>
              <a:rPr lang="es-CO" sz="2900" spc="-95" noProof="0" dirty="0">
                <a:latin typeface="Microsoft Sans Serif"/>
                <a:cs typeface="Microsoft Sans Serif"/>
              </a:rPr>
              <a:t>partes</a:t>
            </a:r>
            <a:r>
              <a:rPr lang="es-CO" sz="2900" spc="-135" noProof="0" dirty="0">
                <a:latin typeface="Microsoft Sans Serif"/>
                <a:cs typeface="Microsoft Sans Serif"/>
              </a:rPr>
              <a:t> </a:t>
            </a:r>
            <a:r>
              <a:rPr lang="es-CO" sz="2900" spc="-140" noProof="0" dirty="0">
                <a:latin typeface="Microsoft Sans Serif"/>
                <a:cs typeface="Microsoft Sans Serif"/>
              </a:rPr>
              <a:t>iguales</a:t>
            </a:r>
            <a:r>
              <a:rPr lang="es-CO" sz="2900" spc="-15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50" noProof="0" dirty="0">
                <a:latin typeface="Microsoft Sans Serif"/>
                <a:cs typeface="Microsoft Sans Serif"/>
              </a:rPr>
              <a:t> </a:t>
            </a:r>
            <a:r>
              <a:rPr lang="es-CO" sz="2900" spc="-155" noProof="0" dirty="0">
                <a:latin typeface="Microsoft Sans Serif"/>
                <a:cs typeface="Microsoft Sans Serif"/>
              </a:rPr>
              <a:t>manera</a:t>
            </a:r>
            <a:r>
              <a:rPr lang="es-CO" sz="2900" spc="-175" noProof="0" dirty="0">
                <a:latin typeface="Microsoft Sans Serif"/>
                <a:cs typeface="Microsoft Sans Serif"/>
              </a:rPr>
              <a:t> </a:t>
            </a:r>
            <a:r>
              <a:rPr lang="es-CO" sz="2900" spc="-85" noProof="0" dirty="0">
                <a:latin typeface="Microsoft Sans Serif"/>
                <a:cs typeface="Microsoft Sans Serif"/>
              </a:rPr>
              <a:t>que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los</a:t>
            </a:r>
            <a:r>
              <a:rPr lang="es-CO" sz="2900" spc="-200" noProof="0" dirty="0">
                <a:latin typeface="Microsoft Sans Serif"/>
                <a:cs typeface="Microsoft Sans Serif"/>
              </a:rPr>
              <a:t> </a:t>
            </a:r>
            <a:r>
              <a:rPr lang="es-CO" sz="2900" spc="-135" noProof="0" dirty="0">
                <a:latin typeface="Microsoft Sans Serif"/>
                <a:cs typeface="Microsoft Sans Serif"/>
              </a:rPr>
              <a:t>anteriores</a:t>
            </a:r>
            <a:r>
              <a:rPr lang="es-CO" sz="2900" spc="-155" noProof="0" dirty="0">
                <a:latin typeface="Microsoft Sans Serif"/>
                <a:cs typeface="Microsoft Sans Serif"/>
              </a:rPr>
              <a:t> </a:t>
            </a:r>
            <a:r>
              <a:rPr lang="es-CO" sz="2900" spc="-225" noProof="0" dirty="0">
                <a:latin typeface="Microsoft Sans Serif"/>
                <a:cs typeface="Microsoft Sans Serif"/>
              </a:rPr>
              <a:t>son</a:t>
            </a:r>
            <a:r>
              <a:rPr lang="es-CO" sz="2900" spc="-275" noProof="0" dirty="0">
                <a:latin typeface="Microsoft Sans Serif"/>
                <a:cs typeface="Microsoft Sans Serif"/>
              </a:rPr>
              <a:t> </a:t>
            </a:r>
            <a:r>
              <a:rPr lang="es-CO" sz="2900" spc="-140" noProof="0" dirty="0">
                <a:latin typeface="Microsoft Sans Serif"/>
                <a:cs typeface="Microsoft Sans Serif"/>
              </a:rPr>
              <a:t>todos</a:t>
            </a:r>
            <a:r>
              <a:rPr lang="es-CO" sz="2900" spc="-180" noProof="0" dirty="0">
                <a:latin typeface="Microsoft Sans Serif"/>
                <a:cs typeface="Microsoft Sans Serif"/>
              </a:rPr>
              <a:t> </a:t>
            </a:r>
            <a:r>
              <a:rPr lang="es-CO" sz="2900" spc="-225" noProof="0" dirty="0">
                <a:latin typeface="Microsoft Sans Serif"/>
                <a:cs typeface="Microsoft Sans Serif"/>
              </a:rPr>
              <a:t>menores</a:t>
            </a:r>
            <a:r>
              <a:rPr lang="es-CO" sz="2900" spc="-245" noProof="0" dirty="0">
                <a:latin typeface="Microsoft Sans Serif"/>
                <a:cs typeface="Microsoft Sans Serif"/>
              </a:rPr>
              <a:t>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que</a:t>
            </a:r>
            <a:r>
              <a:rPr lang="es-CO" sz="2900" spc="-14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él</a:t>
            </a:r>
            <a:r>
              <a:rPr lang="es-CO" sz="2900" spc="-6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y</a:t>
            </a:r>
            <a:r>
              <a:rPr lang="es-CO" sz="2900" spc="45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los</a:t>
            </a:r>
            <a:r>
              <a:rPr lang="es-CO" sz="2900" spc="-195" noProof="0" dirty="0">
                <a:latin typeface="Microsoft Sans Serif"/>
                <a:cs typeface="Microsoft Sans Serif"/>
              </a:rPr>
              <a:t> </a:t>
            </a:r>
            <a:r>
              <a:rPr lang="es-CO" sz="2900" spc="-190" noProof="0" dirty="0">
                <a:latin typeface="Microsoft Sans Serif"/>
                <a:cs typeface="Microsoft Sans Serif"/>
              </a:rPr>
              <a:t>siguientes</a:t>
            </a:r>
            <a:r>
              <a:rPr lang="es-CO" sz="2900" spc="-229" noProof="0" dirty="0">
                <a:latin typeface="Microsoft Sans Serif"/>
                <a:cs typeface="Microsoft Sans Serif"/>
              </a:rPr>
              <a:t> </a:t>
            </a:r>
            <a:r>
              <a:rPr lang="es-CO" sz="2900" spc="-225" noProof="0" dirty="0">
                <a:latin typeface="Microsoft Sans Serif"/>
                <a:cs typeface="Microsoft Sans Serif"/>
              </a:rPr>
              <a:t>son</a:t>
            </a:r>
            <a:r>
              <a:rPr lang="es-CO" sz="2900" spc="-290" noProof="0" dirty="0">
                <a:latin typeface="Microsoft Sans Serif"/>
                <a:cs typeface="Microsoft Sans Serif"/>
              </a:rPr>
              <a:t> </a:t>
            </a:r>
            <a:r>
              <a:rPr lang="es-CO" sz="2900" spc="-45" noProof="0" dirty="0">
                <a:latin typeface="Microsoft Sans Serif"/>
                <a:cs typeface="Microsoft Sans Serif"/>
              </a:rPr>
              <a:t>mayores.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334010" indent="-32131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4010" algn="l"/>
              </a:tabLst>
            </a:pPr>
            <a:r>
              <a:rPr lang="es-CO" sz="2900" spc="-204" noProof="0" dirty="0">
                <a:latin typeface="Microsoft Sans Serif"/>
                <a:cs typeface="Microsoft Sans Serif"/>
              </a:rPr>
              <a:t>Antes</a:t>
            </a:r>
            <a:r>
              <a:rPr lang="es-CO" sz="2900" spc="-229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45" noProof="0" dirty="0">
                <a:latin typeface="Microsoft Sans Serif"/>
                <a:cs typeface="Microsoft Sans Serif"/>
              </a:rPr>
              <a:t> </a:t>
            </a:r>
            <a:r>
              <a:rPr lang="es-CO" sz="2900" spc="-110" noProof="0" dirty="0">
                <a:latin typeface="Microsoft Sans Serif"/>
                <a:cs typeface="Microsoft Sans Serif"/>
              </a:rPr>
              <a:t>calcularla</a:t>
            </a:r>
            <a:r>
              <a:rPr lang="es-CO" sz="2900" spc="-105" noProof="0" dirty="0">
                <a:latin typeface="Microsoft Sans Serif"/>
                <a:cs typeface="Microsoft Sans Serif"/>
              </a:rPr>
              <a:t>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deben</a:t>
            </a:r>
            <a:r>
              <a:rPr lang="es-CO" sz="2900" spc="-165" noProof="0" dirty="0">
                <a:latin typeface="Microsoft Sans Serif"/>
                <a:cs typeface="Microsoft Sans Serif"/>
              </a:rPr>
              <a:t> </a:t>
            </a:r>
            <a:r>
              <a:rPr lang="es-CO" sz="2900" b="1" spc="-215" noProof="0" dirty="0">
                <a:latin typeface="Arial"/>
                <a:cs typeface="Arial"/>
              </a:rPr>
              <a:t>ordenarse</a:t>
            </a:r>
            <a:r>
              <a:rPr lang="es-CO" sz="2900" b="1" spc="-290" noProof="0" dirty="0">
                <a:latin typeface="Arial"/>
                <a:cs typeface="Arial"/>
              </a:rPr>
              <a:t> </a:t>
            </a:r>
            <a:r>
              <a:rPr lang="es-CO" sz="2900" b="1" spc="-170" noProof="0" dirty="0">
                <a:latin typeface="Arial"/>
                <a:cs typeface="Arial"/>
              </a:rPr>
              <a:t>los</a:t>
            </a:r>
            <a:r>
              <a:rPr lang="es-CO" sz="2900" b="1" spc="-245" noProof="0" dirty="0">
                <a:latin typeface="Arial"/>
                <a:cs typeface="Arial"/>
              </a:rPr>
              <a:t> </a:t>
            </a:r>
            <a:r>
              <a:rPr lang="es-CO" sz="2900" b="1" spc="-165" noProof="0" dirty="0">
                <a:latin typeface="Arial"/>
                <a:cs typeface="Arial"/>
              </a:rPr>
              <a:t>valores</a:t>
            </a:r>
            <a:r>
              <a:rPr lang="es-CO" sz="2900" b="1" spc="-265" noProof="0" dirty="0">
                <a:latin typeface="Arial"/>
                <a:cs typeface="Arial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del</a:t>
            </a:r>
            <a:r>
              <a:rPr lang="es-CO" sz="2900" spc="-35" noProof="0" dirty="0">
                <a:latin typeface="Microsoft Sans Serif"/>
                <a:cs typeface="Microsoft Sans Serif"/>
              </a:rPr>
              <a:t> </a:t>
            </a:r>
            <a:r>
              <a:rPr lang="es-CO" sz="2900" spc="-10" noProof="0" dirty="0">
                <a:latin typeface="Microsoft Sans Serif"/>
                <a:cs typeface="Microsoft Sans Serif"/>
              </a:rPr>
              <a:t>atributo.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880"/>
              </a:spcBef>
              <a:buClr>
                <a:srgbClr val="DD8046"/>
              </a:buClr>
              <a:buFont typeface="Wingdings"/>
              <a:buChar char=""/>
            </a:pPr>
            <a:endParaRPr lang="es-CO" sz="2900" noProof="0" dirty="0">
              <a:latin typeface="Microsoft Sans Serif"/>
              <a:cs typeface="Microsoft Sans Serif"/>
            </a:endParaRPr>
          </a:p>
          <a:p>
            <a:pPr marL="334010" indent="-321310">
              <a:lnSpc>
                <a:spcPct val="100000"/>
              </a:lnSpc>
              <a:buClr>
                <a:srgbClr val="DD8046"/>
              </a:buClr>
              <a:buSzPct val="60344"/>
              <a:buFont typeface="Wingdings"/>
              <a:buChar char=""/>
              <a:tabLst>
                <a:tab pos="334010" algn="l"/>
              </a:tabLst>
            </a:pPr>
            <a:r>
              <a:rPr lang="es-CO" sz="2900" spc="-200" noProof="0" dirty="0">
                <a:latin typeface="Microsoft Sans Serif"/>
                <a:cs typeface="Microsoft Sans Serif"/>
              </a:rPr>
              <a:t>Ejemplo:</a:t>
            </a:r>
            <a:r>
              <a:rPr lang="es-CO" sz="2900" spc="-190" noProof="0" dirty="0">
                <a:latin typeface="Microsoft Sans Serif"/>
                <a:cs typeface="Microsoft Sans Serif"/>
              </a:rPr>
              <a:t> </a:t>
            </a:r>
            <a:r>
              <a:rPr lang="es-CO" sz="2900" spc="-65" noProof="0" dirty="0">
                <a:latin typeface="Microsoft Sans Serif"/>
                <a:cs typeface="Microsoft Sans Serif"/>
              </a:rPr>
              <a:t>atributo</a:t>
            </a:r>
            <a:r>
              <a:rPr lang="es-CO" sz="2900" spc="-105" noProof="0" dirty="0">
                <a:latin typeface="Microsoft Sans Serif"/>
                <a:cs typeface="Microsoft Sans Serif"/>
              </a:rPr>
              <a:t> </a:t>
            </a:r>
            <a:r>
              <a:rPr lang="es-CO" sz="2900" spc="-210" noProof="0" dirty="0">
                <a:latin typeface="Microsoft Sans Serif"/>
                <a:cs typeface="Microsoft Sans Serif"/>
              </a:rPr>
              <a:t>numérico</a:t>
            </a:r>
            <a:r>
              <a:rPr lang="es-CO" sz="2900" spc="-195" noProof="0" dirty="0">
                <a:latin typeface="Microsoft Sans Serif"/>
                <a:cs typeface="Microsoft Sans Serif"/>
              </a:rPr>
              <a:t> con</a:t>
            </a:r>
            <a:r>
              <a:rPr lang="es-CO" sz="2900" spc="-275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una</a:t>
            </a:r>
            <a:r>
              <a:rPr lang="es-CO" sz="2900" spc="-190" noProof="0" dirty="0">
                <a:latin typeface="Microsoft Sans Serif"/>
                <a:cs typeface="Microsoft Sans Serif"/>
              </a:rPr>
              <a:t> </a:t>
            </a:r>
            <a:r>
              <a:rPr lang="es-CO" sz="2900" b="1" spc="-185" noProof="0" dirty="0">
                <a:latin typeface="Arial"/>
                <a:cs typeface="Arial"/>
              </a:rPr>
              <a:t>cantidad</a:t>
            </a:r>
            <a:r>
              <a:rPr lang="es-CO" sz="2900" b="1" spc="-290" noProof="0" dirty="0">
                <a:latin typeface="Arial"/>
                <a:cs typeface="Arial"/>
              </a:rPr>
              <a:t> </a:t>
            </a:r>
            <a:r>
              <a:rPr lang="es-CO" sz="2900" b="1" spc="-155" noProof="0" dirty="0">
                <a:latin typeface="Arial"/>
                <a:cs typeface="Arial"/>
              </a:rPr>
              <a:t>impar</a:t>
            </a:r>
            <a:r>
              <a:rPr lang="es-CO" sz="2900" b="1" spc="-220" noProof="0" dirty="0">
                <a:latin typeface="Arial"/>
                <a:cs typeface="Arial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40" noProof="0" dirty="0">
                <a:latin typeface="Microsoft Sans Serif"/>
                <a:cs typeface="Microsoft Sans Serif"/>
              </a:rPr>
              <a:t> </a:t>
            </a:r>
            <a:r>
              <a:rPr lang="es-CO" sz="2900" spc="-10" noProof="0" dirty="0">
                <a:latin typeface="Microsoft Sans Serif"/>
                <a:cs typeface="Microsoft Sans Serif"/>
              </a:rPr>
              <a:t>valores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6132" y="4436364"/>
            <a:ext cx="10392410" cy="45720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70"/>
              </a:spcBef>
              <a:tabLst>
                <a:tab pos="1015365" algn="l"/>
                <a:tab pos="1815464" algn="l"/>
                <a:tab pos="2615565" algn="l"/>
                <a:tab pos="3416300" algn="l"/>
                <a:tab pos="4214495" algn="l"/>
                <a:tab pos="5014595" algn="l"/>
                <a:tab pos="5813425" algn="l"/>
                <a:tab pos="6613525" algn="l"/>
                <a:tab pos="7412355" algn="l"/>
                <a:tab pos="8212455" algn="l"/>
                <a:tab pos="9011285" algn="l"/>
                <a:tab pos="9719945" algn="l"/>
              </a:tabLst>
            </a:pPr>
            <a:r>
              <a:rPr lang="es-CO" sz="2400" b="1" spc="-25" noProof="0" dirty="0">
                <a:latin typeface="Courier New"/>
                <a:cs typeface="Courier New"/>
              </a:rPr>
              <a:t>30</a:t>
            </a:r>
            <a:r>
              <a:rPr lang="es-CO" sz="2400" b="1" noProof="0" dirty="0">
                <a:latin typeface="Courier New"/>
                <a:cs typeface="Courier New"/>
              </a:rPr>
              <a:t>	</a:t>
            </a:r>
            <a:r>
              <a:rPr lang="es-CO" sz="2400" b="1" spc="-25" noProof="0" dirty="0">
                <a:latin typeface="Courier New"/>
                <a:cs typeface="Courier New"/>
              </a:rPr>
              <a:t>36</a:t>
            </a:r>
            <a:r>
              <a:rPr lang="es-CO" sz="2400" b="1" noProof="0" dirty="0">
                <a:latin typeface="Courier New"/>
                <a:cs typeface="Courier New"/>
              </a:rPr>
              <a:t>	</a:t>
            </a:r>
            <a:r>
              <a:rPr lang="es-CO" sz="2400" b="1" spc="-25" noProof="0" dirty="0">
                <a:latin typeface="Courier New"/>
                <a:cs typeface="Courier New"/>
              </a:rPr>
              <a:t>47</a:t>
            </a:r>
            <a:r>
              <a:rPr lang="es-CO" sz="2400" b="1" noProof="0" dirty="0">
                <a:latin typeface="Courier New"/>
                <a:cs typeface="Courier New"/>
              </a:rPr>
              <a:t>	</a:t>
            </a:r>
            <a:r>
              <a:rPr lang="es-CO" sz="2400" b="1" spc="-25" noProof="0" dirty="0">
                <a:latin typeface="Courier New"/>
                <a:cs typeface="Courier New"/>
              </a:rPr>
              <a:t>50</a:t>
            </a:r>
            <a:r>
              <a:rPr lang="es-CO" sz="2400" b="1" noProof="0" dirty="0">
                <a:latin typeface="Courier New"/>
                <a:cs typeface="Courier New"/>
              </a:rPr>
              <a:t>	</a:t>
            </a:r>
            <a:r>
              <a:rPr lang="es-CO" sz="2400" b="1" spc="-25" noProof="0" dirty="0">
                <a:latin typeface="Courier New"/>
                <a:cs typeface="Courier New"/>
              </a:rPr>
              <a:t>52</a:t>
            </a:r>
            <a:r>
              <a:rPr lang="es-CO" sz="2400" b="1" noProof="0" dirty="0">
                <a:latin typeface="Courier New"/>
                <a:cs typeface="Courier New"/>
              </a:rPr>
              <a:t>	</a:t>
            </a:r>
            <a:r>
              <a:rPr lang="es-CO" sz="2400" b="1" spc="-25" noProof="0" dirty="0">
                <a:latin typeface="Courier New"/>
                <a:cs typeface="Courier New"/>
              </a:rPr>
              <a:t>52</a:t>
            </a:r>
            <a:r>
              <a:rPr lang="es-CO" sz="2400" b="1" noProof="0" dirty="0">
                <a:latin typeface="Courier New"/>
                <a:cs typeface="Courier New"/>
              </a:rPr>
              <a:t>	</a:t>
            </a:r>
            <a:r>
              <a:rPr lang="es-CO" sz="2400" b="1" spc="-25" noProof="0" dirty="0">
                <a:latin typeface="Courier New"/>
                <a:cs typeface="Courier New"/>
              </a:rPr>
              <a:t>56</a:t>
            </a:r>
            <a:r>
              <a:rPr lang="es-CO" sz="2400" b="1" noProof="0" dirty="0">
                <a:latin typeface="Courier New"/>
                <a:cs typeface="Courier New"/>
              </a:rPr>
              <a:t>	</a:t>
            </a:r>
            <a:r>
              <a:rPr lang="es-CO" sz="2400" b="1" spc="-25" noProof="0" dirty="0">
                <a:latin typeface="Courier New"/>
                <a:cs typeface="Courier New"/>
              </a:rPr>
              <a:t>57</a:t>
            </a:r>
            <a:r>
              <a:rPr lang="es-CO" sz="2400" b="1" noProof="0" dirty="0">
                <a:latin typeface="Courier New"/>
                <a:cs typeface="Courier New"/>
              </a:rPr>
              <a:t>	</a:t>
            </a:r>
            <a:r>
              <a:rPr lang="es-CO" sz="2400" b="1" spc="-25" noProof="0" dirty="0">
                <a:latin typeface="Courier New"/>
                <a:cs typeface="Courier New"/>
              </a:rPr>
              <a:t>60</a:t>
            </a:r>
            <a:r>
              <a:rPr lang="es-CO" sz="2400" b="1" noProof="0" dirty="0">
                <a:latin typeface="Courier New"/>
                <a:cs typeface="Courier New"/>
              </a:rPr>
              <a:t>	</a:t>
            </a:r>
            <a:r>
              <a:rPr lang="es-CO" sz="2400" b="1" spc="-25" noProof="0" dirty="0">
                <a:latin typeface="Courier New"/>
                <a:cs typeface="Courier New"/>
              </a:rPr>
              <a:t>63</a:t>
            </a:r>
            <a:r>
              <a:rPr lang="es-CO" sz="2400" b="1" noProof="0" dirty="0">
                <a:latin typeface="Courier New"/>
                <a:cs typeface="Courier New"/>
              </a:rPr>
              <a:t>	</a:t>
            </a:r>
            <a:r>
              <a:rPr lang="es-CO" sz="2400" b="1" spc="-25" noProof="0" dirty="0">
                <a:latin typeface="Courier New"/>
                <a:cs typeface="Courier New"/>
              </a:rPr>
              <a:t>70</a:t>
            </a:r>
            <a:r>
              <a:rPr lang="es-CO" sz="2400" b="1" noProof="0" dirty="0">
                <a:latin typeface="Courier New"/>
                <a:cs typeface="Courier New"/>
              </a:rPr>
              <a:t>	</a:t>
            </a:r>
            <a:r>
              <a:rPr lang="es-CO" sz="2400" b="1" spc="-25" noProof="0" dirty="0">
                <a:latin typeface="Courier New"/>
                <a:cs typeface="Courier New"/>
              </a:rPr>
              <a:t>70</a:t>
            </a:r>
            <a:r>
              <a:rPr lang="es-CO" sz="2400" b="1" noProof="0" dirty="0">
                <a:latin typeface="Courier New"/>
                <a:cs typeface="Courier New"/>
              </a:rPr>
              <a:t>	</a:t>
            </a:r>
            <a:r>
              <a:rPr lang="es-CO" sz="2400" b="1" spc="-25" noProof="0" dirty="0">
                <a:latin typeface="Courier New"/>
                <a:cs typeface="Courier New"/>
              </a:rPr>
              <a:t>110</a:t>
            </a:r>
            <a:endParaRPr lang="es-CO" sz="2400" noProof="0" dirty="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18861" y="5611164"/>
            <a:ext cx="25336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s-CO" sz="3600" baseline="10416" noProof="0" dirty="0">
                <a:latin typeface="Cambria Math"/>
                <a:cs typeface="Cambria Math"/>
              </a:rPr>
              <a:t>𝑥</a:t>
            </a:r>
            <a:r>
              <a:rPr lang="es-CO" sz="1750" noProof="0" dirty="0">
                <a:latin typeface="Cambria Math"/>
                <a:cs typeface="Cambria Math"/>
              </a:rPr>
              <a:t>(𝑁+1)/2</a:t>
            </a:r>
            <a:r>
              <a:rPr lang="es-CO" sz="1750" spc="409" noProof="0" dirty="0">
                <a:latin typeface="Cambria Math"/>
                <a:cs typeface="Cambria Math"/>
              </a:rPr>
              <a:t> </a:t>
            </a:r>
            <a:r>
              <a:rPr lang="es-CO" sz="3600" baseline="10416" noProof="0" dirty="0">
                <a:latin typeface="Cambria Math"/>
                <a:cs typeface="Cambria Math"/>
              </a:rPr>
              <a:t>=</a:t>
            </a:r>
            <a:r>
              <a:rPr lang="es-CO" sz="3600" spc="195" baseline="10416" noProof="0" dirty="0">
                <a:latin typeface="Cambria Math"/>
                <a:cs typeface="Cambria Math"/>
              </a:rPr>
              <a:t> </a:t>
            </a:r>
            <a:r>
              <a:rPr lang="es-CO" sz="3600" spc="-37" baseline="10416" noProof="0" dirty="0">
                <a:latin typeface="Cambria Math"/>
                <a:cs typeface="Cambria Math"/>
              </a:rPr>
              <a:t>56</a:t>
            </a:r>
            <a:endParaRPr lang="es-CO" sz="3600" baseline="10416" noProof="0" dirty="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32047" y="28955"/>
            <a:ext cx="4523105" cy="399415"/>
          </a:xfrm>
          <a:prstGeom prst="rect">
            <a:avLst/>
          </a:prstGeom>
          <a:solidFill>
            <a:srgbClr val="EBB391"/>
          </a:solidFill>
        </p:spPr>
        <p:txBody>
          <a:bodyPr vert="horz" wrap="square" lIns="0" tIns="24130" rIns="0" bIns="0" rtlCol="0">
            <a:spAutoFit/>
          </a:bodyPr>
          <a:lstStyle/>
          <a:p>
            <a:pPr marL="493395">
              <a:lnSpc>
                <a:spcPct val="100000"/>
              </a:lnSpc>
              <a:spcBef>
                <a:spcPts val="190"/>
              </a:spcBef>
            </a:pPr>
            <a:r>
              <a:rPr lang="es-CO" sz="2000" spc="-22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MEDIDAS</a:t>
            </a:r>
            <a:r>
              <a:rPr lang="es-CO" sz="2000" spc="-20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19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lang="es-CO" sz="2000" spc="-29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23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TENDENCIA</a:t>
            </a:r>
            <a:r>
              <a:rPr lang="es-CO" sz="2000" spc="-14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28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CENTRAL</a:t>
            </a:r>
            <a:endParaRPr lang="es-CO" sz="2000" noProof="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5299" y="330149"/>
            <a:ext cx="22415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pc="-625" noProof="0" dirty="0"/>
              <a:t>ME</a:t>
            </a:r>
            <a:r>
              <a:rPr lang="es-CO" spc="-590" noProof="0" dirty="0"/>
              <a:t>D</a:t>
            </a:r>
            <a:r>
              <a:rPr lang="es-CO" spc="-295" noProof="0" dirty="0"/>
              <a:t>I</a:t>
            </a:r>
            <a:r>
              <a:rPr lang="es-CO" spc="-285" noProof="0" dirty="0"/>
              <a:t>A</a:t>
            </a:r>
            <a:r>
              <a:rPr lang="es-CO" spc="-290" noProof="0" dirty="0"/>
              <a:t>N</a:t>
            </a:r>
            <a:r>
              <a:rPr lang="es-CO" spc="-10" noProof="0" dirty="0"/>
              <a:t>A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87236" y="5041772"/>
            <a:ext cx="308610" cy="305435"/>
            <a:chOff x="6087236" y="5041772"/>
            <a:chExt cx="308610" cy="305435"/>
          </a:xfrm>
        </p:grpSpPr>
        <p:sp>
          <p:nvSpPr>
            <p:cNvPr id="4" name="object 4"/>
            <p:cNvSpPr/>
            <p:nvPr/>
          </p:nvSpPr>
          <p:spPr>
            <a:xfrm>
              <a:off x="6095999" y="5050535"/>
              <a:ext cx="289560" cy="286385"/>
            </a:xfrm>
            <a:custGeom>
              <a:avLst/>
              <a:gdLst/>
              <a:ahLst/>
              <a:cxnLst/>
              <a:rect l="l" t="t" r="r" b="b"/>
              <a:pathLst>
                <a:path w="289560" h="286385">
                  <a:moveTo>
                    <a:pt x="144652" y="0"/>
                  </a:moveTo>
                  <a:lnTo>
                    <a:pt x="0" y="143128"/>
                  </a:lnTo>
                  <a:lnTo>
                    <a:pt x="72262" y="143128"/>
                  </a:lnTo>
                  <a:lnTo>
                    <a:pt x="72262" y="286384"/>
                  </a:lnTo>
                  <a:lnTo>
                    <a:pt x="216915" y="286384"/>
                  </a:lnTo>
                  <a:lnTo>
                    <a:pt x="216915" y="143128"/>
                  </a:lnTo>
                  <a:lnTo>
                    <a:pt x="289305" y="143128"/>
                  </a:lnTo>
                  <a:lnTo>
                    <a:pt x="144652" y="0"/>
                  </a:lnTo>
                  <a:close/>
                </a:path>
              </a:pathLst>
            </a:custGeom>
            <a:solidFill>
              <a:srgbClr val="92B6D2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6096761" y="5051297"/>
              <a:ext cx="289560" cy="286385"/>
            </a:xfrm>
            <a:custGeom>
              <a:avLst/>
              <a:gdLst/>
              <a:ahLst/>
              <a:cxnLst/>
              <a:rect l="l" t="t" r="r" b="b"/>
              <a:pathLst>
                <a:path w="289560" h="286385">
                  <a:moveTo>
                    <a:pt x="0" y="143256"/>
                  </a:moveTo>
                  <a:lnTo>
                    <a:pt x="144652" y="0"/>
                  </a:lnTo>
                  <a:lnTo>
                    <a:pt x="289305" y="143256"/>
                  </a:lnTo>
                  <a:lnTo>
                    <a:pt x="216915" y="143256"/>
                  </a:lnTo>
                  <a:lnTo>
                    <a:pt x="216915" y="286384"/>
                  </a:lnTo>
                  <a:lnTo>
                    <a:pt x="72262" y="286384"/>
                  </a:lnTo>
                  <a:lnTo>
                    <a:pt x="72262" y="143256"/>
                  </a:lnTo>
                  <a:lnTo>
                    <a:pt x="0" y="143256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sp>
        <p:nvSpPr>
          <p:cNvPr id="8" name="object 8"/>
          <p:cNvSpPr/>
          <p:nvPr/>
        </p:nvSpPr>
        <p:spPr>
          <a:xfrm>
            <a:off x="1199388" y="4422597"/>
            <a:ext cx="10081260" cy="452755"/>
          </a:xfrm>
          <a:custGeom>
            <a:avLst/>
            <a:gdLst/>
            <a:ahLst/>
            <a:cxnLst/>
            <a:rect l="l" t="t" r="r" b="b"/>
            <a:pathLst>
              <a:path w="10081260" h="452754">
                <a:moveTo>
                  <a:pt x="2520175" y="0"/>
                </a:moveTo>
                <a:lnTo>
                  <a:pt x="1680083" y="0"/>
                </a:lnTo>
                <a:lnTo>
                  <a:pt x="0" y="50"/>
                </a:lnTo>
                <a:lnTo>
                  <a:pt x="0" y="452170"/>
                </a:lnTo>
                <a:lnTo>
                  <a:pt x="1680083" y="452170"/>
                </a:lnTo>
                <a:lnTo>
                  <a:pt x="2520175" y="452170"/>
                </a:lnTo>
                <a:lnTo>
                  <a:pt x="2520175" y="0"/>
                </a:lnTo>
                <a:close/>
              </a:path>
              <a:path w="10081260" h="452754">
                <a:moveTo>
                  <a:pt x="3360280" y="0"/>
                </a:moveTo>
                <a:lnTo>
                  <a:pt x="2520188" y="0"/>
                </a:lnTo>
                <a:lnTo>
                  <a:pt x="2520188" y="452170"/>
                </a:lnTo>
                <a:lnTo>
                  <a:pt x="3360280" y="452170"/>
                </a:lnTo>
                <a:lnTo>
                  <a:pt x="3360280" y="0"/>
                </a:lnTo>
                <a:close/>
              </a:path>
              <a:path w="10081260" h="452754">
                <a:moveTo>
                  <a:pt x="4200385" y="0"/>
                </a:moveTo>
                <a:lnTo>
                  <a:pt x="3360293" y="0"/>
                </a:lnTo>
                <a:lnTo>
                  <a:pt x="3360293" y="452170"/>
                </a:lnTo>
                <a:lnTo>
                  <a:pt x="4200385" y="452170"/>
                </a:lnTo>
                <a:lnTo>
                  <a:pt x="4200385" y="0"/>
                </a:lnTo>
                <a:close/>
              </a:path>
              <a:path w="10081260" h="452754">
                <a:moveTo>
                  <a:pt x="5040490" y="0"/>
                </a:moveTo>
                <a:lnTo>
                  <a:pt x="4200398" y="0"/>
                </a:lnTo>
                <a:lnTo>
                  <a:pt x="4200398" y="452170"/>
                </a:lnTo>
                <a:lnTo>
                  <a:pt x="5040490" y="452170"/>
                </a:lnTo>
                <a:lnTo>
                  <a:pt x="5040490" y="0"/>
                </a:lnTo>
                <a:close/>
              </a:path>
              <a:path w="10081260" h="452754">
                <a:moveTo>
                  <a:pt x="5880595" y="0"/>
                </a:moveTo>
                <a:lnTo>
                  <a:pt x="5040503" y="0"/>
                </a:lnTo>
                <a:lnTo>
                  <a:pt x="5040503" y="452170"/>
                </a:lnTo>
                <a:lnTo>
                  <a:pt x="5880595" y="452170"/>
                </a:lnTo>
                <a:lnTo>
                  <a:pt x="5880595" y="0"/>
                </a:lnTo>
                <a:close/>
              </a:path>
              <a:path w="10081260" h="452754">
                <a:moveTo>
                  <a:pt x="6720700" y="0"/>
                </a:moveTo>
                <a:lnTo>
                  <a:pt x="5880608" y="0"/>
                </a:lnTo>
                <a:lnTo>
                  <a:pt x="5880608" y="452170"/>
                </a:lnTo>
                <a:lnTo>
                  <a:pt x="6720700" y="452170"/>
                </a:lnTo>
                <a:lnTo>
                  <a:pt x="6720700" y="0"/>
                </a:lnTo>
                <a:close/>
              </a:path>
              <a:path w="10081260" h="452754">
                <a:moveTo>
                  <a:pt x="7560805" y="0"/>
                </a:moveTo>
                <a:lnTo>
                  <a:pt x="6720713" y="0"/>
                </a:lnTo>
                <a:lnTo>
                  <a:pt x="6720713" y="452170"/>
                </a:lnTo>
                <a:lnTo>
                  <a:pt x="7560805" y="452170"/>
                </a:lnTo>
                <a:lnTo>
                  <a:pt x="7560805" y="0"/>
                </a:lnTo>
                <a:close/>
              </a:path>
              <a:path w="10081260" h="452754">
                <a:moveTo>
                  <a:pt x="8400910" y="0"/>
                </a:moveTo>
                <a:lnTo>
                  <a:pt x="7560818" y="0"/>
                </a:lnTo>
                <a:lnTo>
                  <a:pt x="7560818" y="452170"/>
                </a:lnTo>
                <a:lnTo>
                  <a:pt x="8400910" y="452170"/>
                </a:lnTo>
                <a:lnTo>
                  <a:pt x="8400910" y="0"/>
                </a:lnTo>
                <a:close/>
              </a:path>
              <a:path w="10081260" h="452754">
                <a:moveTo>
                  <a:pt x="10081006" y="50"/>
                </a:moveTo>
                <a:lnTo>
                  <a:pt x="8400923" y="50"/>
                </a:lnTo>
                <a:lnTo>
                  <a:pt x="8400923" y="452170"/>
                </a:lnTo>
                <a:lnTo>
                  <a:pt x="10081006" y="452170"/>
                </a:lnTo>
                <a:lnTo>
                  <a:pt x="10081006" y="50"/>
                </a:lnTo>
                <a:close/>
              </a:path>
            </a:pathLst>
          </a:custGeom>
          <a:solidFill>
            <a:srgbClr val="F8E6DA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9" name="object 9"/>
          <p:cNvSpPr txBox="1"/>
          <p:nvPr/>
        </p:nvSpPr>
        <p:spPr>
          <a:xfrm>
            <a:off x="894689" y="1603628"/>
            <a:ext cx="10647680" cy="25387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4010" marR="12700" indent="-321945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4010" algn="l"/>
              </a:tabLst>
            </a:pPr>
            <a:r>
              <a:rPr lang="es-CO" sz="2900" spc="-114" noProof="0" dirty="0">
                <a:latin typeface="Microsoft Sans Serif"/>
                <a:cs typeface="Microsoft Sans Serif"/>
              </a:rPr>
              <a:t>Divide </a:t>
            </a:r>
            <a:r>
              <a:rPr lang="es-CO" sz="2900" noProof="0" dirty="0">
                <a:latin typeface="Microsoft Sans Serif"/>
                <a:cs typeface="Microsoft Sans Serif"/>
              </a:rPr>
              <a:t>a</a:t>
            </a:r>
            <a:r>
              <a:rPr lang="es-CO" sz="2900" spc="10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los</a:t>
            </a:r>
            <a:r>
              <a:rPr lang="es-CO" sz="2900" spc="-215" noProof="0" dirty="0">
                <a:latin typeface="Microsoft Sans Serif"/>
                <a:cs typeface="Microsoft Sans Serif"/>
              </a:rPr>
              <a:t> </a:t>
            </a:r>
            <a:r>
              <a:rPr lang="es-CO" sz="2900" spc="-140" noProof="0" dirty="0">
                <a:latin typeface="Microsoft Sans Serif"/>
                <a:cs typeface="Microsoft Sans Serif"/>
              </a:rPr>
              <a:t>valores</a:t>
            </a:r>
            <a:r>
              <a:rPr lang="es-CO" sz="2900" spc="-15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del</a:t>
            </a:r>
            <a:r>
              <a:rPr lang="es-CO" sz="2900" spc="-35" noProof="0" dirty="0">
                <a:latin typeface="Microsoft Sans Serif"/>
                <a:cs typeface="Microsoft Sans Serif"/>
              </a:rPr>
              <a:t> </a:t>
            </a:r>
            <a:r>
              <a:rPr lang="es-CO" sz="2900" spc="-75" noProof="0" dirty="0">
                <a:latin typeface="Microsoft Sans Serif"/>
                <a:cs typeface="Microsoft Sans Serif"/>
              </a:rPr>
              <a:t>atributo</a:t>
            </a:r>
            <a:r>
              <a:rPr lang="es-CO" sz="2900" spc="-114" noProof="0" dirty="0">
                <a:latin typeface="Microsoft Sans Serif"/>
                <a:cs typeface="Microsoft Sans Serif"/>
              </a:rPr>
              <a:t> </a:t>
            </a:r>
            <a:r>
              <a:rPr lang="es-CO" sz="2900" spc="-125" noProof="0" dirty="0">
                <a:latin typeface="Microsoft Sans Serif"/>
                <a:cs typeface="Microsoft Sans Serif"/>
              </a:rPr>
              <a:t>en</a:t>
            </a:r>
            <a:r>
              <a:rPr lang="es-CO" sz="2900" spc="-220" noProof="0" dirty="0">
                <a:latin typeface="Microsoft Sans Serif"/>
                <a:cs typeface="Microsoft Sans Serif"/>
              </a:rPr>
              <a:t> </a:t>
            </a:r>
            <a:r>
              <a:rPr lang="es-CO" sz="2900" spc="-150" noProof="0" dirty="0">
                <a:latin typeface="Microsoft Sans Serif"/>
                <a:cs typeface="Microsoft Sans Serif"/>
              </a:rPr>
              <a:t>dos</a:t>
            </a:r>
            <a:r>
              <a:rPr lang="es-CO" sz="2900" spc="-210" noProof="0" dirty="0">
                <a:latin typeface="Microsoft Sans Serif"/>
                <a:cs typeface="Microsoft Sans Serif"/>
              </a:rPr>
              <a:t> </a:t>
            </a:r>
            <a:r>
              <a:rPr lang="es-CO" sz="2900" spc="-95" noProof="0" dirty="0">
                <a:latin typeface="Microsoft Sans Serif"/>
                <a:cs typeface="Microsoft Sans Serif"/>
              </a:rPr>
              <a:t>partes</a:t>
            </a:r>
            <a:r>
              <a:rPr lang="es-CO" sz="2900" spc="-135" noProof="0" dirty="0">
                <a:latin typeface="Microsoft Sans Serif"/>
                <a:cs typeface="Microsoft Sans Serif"/>
              </a:rPr>
              <a:t> </a:t>
            </a:r>
            <a:r>
              <a:rPr lang="es-CO" sz="2900" spc="-140" noProof="0" dirty="0">
                <a:latin typeface="Microsoft Sans Serif"/>
                <a:cs typeface="Microsoft Sans Serif"/>
              </a:rPr>
              <a:t>iguales</a:t>
            </a:r>
            <a:r>
              <a:rPr lang="es-CO" sz="2900" spc="-15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50" noProof="0" dirty="0">
                <a:latin typeface="Microsoft Sans Serif"/>
                <a:cs typeface="Microsoft Sans Serif"/>
              </a:rPr>
              <a:t> </a:t>
            </a:r>
            <a:r>
              <a:rPr lang="es-CO" sz="2900" spc="-155" noProof="0" dirty="0">
                <a:latin typeface="Microsoft Sans Serif"/>
                <a:cs typeface="Microsoft Sans Serif"/>
              </a:rPr>
              <a:t>manera</a:t>
            </a:r>
            <a:r>
              <a:rPr lang="es-CO" sz="2900" spc="-175" noProof="0" dirty="0">
                <a:latin typeface="Microsoft Sans Serif"/>
                <a:cs typeface="Microsoft Sans Serif"/>
              </a:rPr>
              <a:t> </a:t>
            </a:r>
            <a:r>
              <a:rPr lang="es-CO" sz="2900" spc="-85" noProof="0" dirty="0">
                <a:latin typeface="Microsoft Sans Serif"/>
                <a:cs typeface="Microsoft Sans Serif"/>
              </a:rPr>
              <a:t>que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los</a:t>
            </a:r>
            <a:r>
              <a:rPr lang="es-CO" sz="2900" spc="-200" noProof="0" dirty="0">
                <a:latin typeface="Microsoft Sans Serif"/>
                <a:cs typeface="Microsoft Sans Serif"/>
              </a:rPr>
              <a:t> </a:t>
            </a:r>
            <a:r>
              <a:rPr lang="es-CO" sz="2900" spc="-135" noProof="0" dirty="0">
                <a:latin typeface="Microsoft Sans Serif"/>
                <a:cs typeface="Microsoft Sans Serif"/>
              </a:rPr>
              <a:t>anteriores</a:t>
            </a:r>
            <a:r>
              <a:rPr lang="es-CO" sz="2900" spc="-155" noProof="0" dirty="0">
                <a:latin typeface="Microsoft Sans Serif"/>
                <a:cs typeface="Microsoft Sans Serif"/>
              </a:rPr>
              <a:t> </a:t>
            </a:r>
            <a:r>
              <a:rPr lang="es-CO" sz="2900" spc="-225" noProof="0" dirty="0">
                <a:latin typeface="Microsoft Sans Serif"/>
                <a:cs typeface="Microsoft Sans Serif"/>
              </a:rPr>
              <a:t>son</a:t>
            </a:r>
            <a:r>
              <a:rPr lang="es-CO" sz="2900" spc="-275" noProof="0" dirty="0">
                <a:latin typeface="Microsoft Sans Serif"/>
                <a:cs typeface="Microsoft Sans Serif"/>
              </a:rPr>
              <a:t> </a:t>
            </a:r>
            <a:r>
              <a:rPr lang="es-CO" sz="2900" spc="-140" noProof="0" dirty="0">
                <a:latin typeface="Microsoft Sans Serif"/>
                <a:cs typeface="Microsoft Sans Serif"/>
              </a:rPr>
              <a:t>todos</a:t>
            </a:r>
            <a:r>
              <a:rPr lang="es-CO" sz="2900" spc="-180" noProof="0" dirty="0">
                <a:latin typeface="Microsoft Sans Serif"/>
                <a:cs typeface="Microsoft Sans Serif"/>
              </a:rPr>
              <a:t> </a:t>
            </a:r>
            <a:r>
              <a:rPr lang="es-CO" sz="2900" spc="-225" noProof="0" dirty="0">
                <a:latin typeface="Microsoft Sans Serif"/>
                <a:cs typeface="Microsoft Sans Serif"/>
              </a:rPr>
              <a:t>menores</a:t>
            </a:r>
            <a:r>
              <a:rPr lang="es-CO" sz="2900" spc="-245" noProof="0" dirty="0">
                <a:latin typeface="Microsoft Sans Serif"/>
                <a:cs typeface="Microsoft Sans Serif"/>
              </a:rPr>
              <a:t>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que</a:t>
            </a:r>
            <a:r>
              <a:rPr lang="es-CO" sz="2900" spc="-14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él</a:t>
            </a:r>
            <a:r>
              <a:rPr lang="es-CO" sz="2900" spc="-6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y</a:t>
            </a:r>
            <a:r>
              <a:rPr lang="es-CO" sz="2900" spc="45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los</a:t>
            </a:r>
            <a:r>
              <a:rPr lang="es-CO" sz="2900" spc="-195" noProof="0" dirty="0">
                <a:latin typeface="Microsoft Sans Serif"/>
                <a:cs typeface="Microsoft Sans Serif"/>
              </a:rPr>
              <a:t> </a:t>
            </a:r>
            <a:r>
              <a:rPr lang="es-CO" sz="2900" spc="-190" noProof="0" dirty="0">
                <a:latin typeface="Microsoft Sans Serif"/>
                <a:cs typeface="Microsoft Sans Serif"/>
              </a:rPr>
              <a:t>siguientes</a:t>
            </a:r>
            <a:r>
              <a:rPr lang="es-CO" sz="2900" spc="-229" noProof="0" dirty="0">
                <a:latin typeface="Microsoft Sans Serif"/>
                <a:cs typeface="Microsoft Sans Serif"/>
              </a:rPr>
              <a:t> </a:t>
            </a:r>
            <a:r>
              <a:rPr lang="es-CO" sz="2900" spc="-225" noProof="0" dirty="0">
                <a:latin typeface="Microsoft Sans Serif"/>
                <a:cs typeface="Microsoft Sans Serif"/>
              </a:rPr>
              <a:t>son</a:t>
            </a:r>
            <a:r>
              <a:rPr lang="es-CO" sz="2900" spc="-290" noProof="0" dirty="0">
                <a:latin typeface="Microsoft Sans Serif"/>
                <a:cs typeface="Microsoft Sans Serif"/>
              </a:rPr>
              <a:t> </a:t>
            </a:r>
            <a:r>
              <a:rPr lang="es-CO" sz="2900" spc="-45" noProof="0" dirty="0">
                <a:latin typeface="Microsoft Sans Serif"/>
                <a:cs typeface="Microsoft Sans Serif"/>
              </a:rPr>
              <a:t>mayores.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334010" indent="-32131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4010" algn="l"/>
              </a:tabLst>
            </a:pPr>
            <a:r>
              <a:rPr lang="es-CO" sz="2900" spc="-204" noProof="0" dirty="0">
                <a:latin typeface="Microsoft Sans Serif"/>
                <a:cs typeface="Microsoft Sans Serif"/>
              </a:rPr>
              <a:t>Antes</a:t>
            </a:r>
            <a:r>
              <a:rPr lang="es-CO" sz="2900" spc="-229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45" noProof="0" dirty="0">
                <a:latin typeface="Microsoft Sans Serif"/>
                <a:cs typeface="Microsoft Sans Serif"/>
              </a:rPr>
              <a:t> </a:t>
            </a:r>
            <a:r>
              <a:rPr lang="es-CO" sz="2900" spc="-110" noProof="0" dirty="0">
                <a:latin typeface="Microsoft Sans Serif"/>
                <a:cs typeface="Microsoft Sans Serif"/>
              </a:rPr>
              <a:t>calcularla</a:t>
            </a:r>
            <a:r>
              <a:rPr lang="es-CO" sz="2900" spc="-105" noProof="0" dirty="0">
                <a:latin typeface="Microsoft Sans Serif"/>
                <a:cs typeface="Microsoft Sans Serif"/>
              </a:rPr>
              <a:t>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deben</a:t>
            </a:r>
            <a:r>
              <a:rPr lang="es-CO" sz="2900" spc="-165" noProof="0" dirty="0">
                <a:latin typeface="Microsoft Sans Serif"/>
                <a:cs typeface="Microsoft Sans Serif"/>
              </a:rPr>
              <a:t> </a:t>
            </a:r>
            <a:r>
              <a:rPr lang="es-CO" sz="2900" b="1" spc="-215" noProof="0" dirty="0">
                <a:latin typeface="Arial"/>
                <a:cs typeface="Arial"/>
              </a:rPr>
              <a:t>ordenarse</a:t>
            </a:r>
            <a:r>
              <a:rPr lang="es-CO" sz="2900" b="1" spc="-300" noProof="0" dirty="0">
                <a:latin typeface="Arial"/>
                <a:cs typeface="Arial"/>
              </a:rPr>
              <a:t> </a:t>
            </a:r>
            <a:r>
              <a:rPr lang="es-CO" sz="2900" b="1" spc="-170" noProof="0" dirty="0">
                <a:latin typeface="Arial"/>
                <a:cs typeface="Arial"/>
              </a:rPr>
              <a:t>los</a:t>
            </a:r>
            <a:r>
              <a:rPr lang="es-CO" sz="2900" b="1" spc="-250" noProof="0" dirty="0">
                <a:latin typeface="Arial"/>
                <a:cs typeface="Arial"/>
              </a:rPr>
              <a:t> </a:t>
            </a:r>
            <a:r>
              <a:rPr lang="es-CO" sz="2900" b="1" spc="-165" noProof="0" dirty="0">
                <a:latin typeface="Arial"/>
                <a:cs typeface="Arial"/>
              </a:rPr>
              <a:t>valores</a:t>
            </a:r>
            <a:r>
              <a:rPr lang="es-CO" sz="2900" b="1" spc="-270" noProof="0" dirty="0">
                <a:latin typeface="Arial"/>
                <a:cs typeface="Arial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del</a:t>
            </a:r>
            <a:r>
              <a:rPr lang="es-CO" sz="2900" spc="-25" noProof="0" dirty="0">
                <a:latin typeface="Microsoft Sans Serif"/>
                <a:cs typeface="Microsoft Sans Serif"/>
              </a:rPr>
              <a:t> </a:t>
            </a:r>
            <a:r>
              <a:rPr lang="es-CO" sz="2900" spc="-10" noProof="0" dirty="0">
                <a:latin typeface="Microsoft Sans Serif"/>
                <a:cs typeface="Microsoft Sans Serif"/>
              </a:rPr>
              <a:t>atributo.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880"/>
              </a:spcBef>
              <a:buClr>
                <a:srgbClr val="DD8046"/>
              </a:buClr>
              <a:buFont typeface="Wingdings"/>
              <a:buChar char=""/>
            </a:pPr>
            <a:endParaRPr lang="es-CO" sz="2900" noProof="0" dirty="0">
              <a:latin typeface="Microsoft Sans Serif"/>
              <a:cs typeface="Microsoft Sans Serif"/>
            </a:endParaRPr>
          </a:p>
          <a:p>
            <a:pPr marL="334010" indent="-321310">
              <a:lnSpc>
                <a:spcPct val="100000"/>
              </a:lnSpc>
              <a:buClr>
                <a:srgbClr val="DD8046"/>
              </a:buClr>
              <a:buSzPct val="60344"/>
              <a:buFont typeface="Wingdings"/>
              <a:buChar char=""/>
              <a:tabLst>
                <a:tab pos="334010" algn="l"/>
              </a:tabLst>
            </a:pPr>
            <a:r>
              <a:rPr lang="es-CO" sz="2900" spc="-200" noProof="0" dirty="0">
                <a:latin typeface="Microsoft Sans Serif"/>
                <a:cs typeface="Microsoft Sans Serif"/>
              </a:rPr>
              <a:t>Ejemplo:</a:t>
            </a:r>
            <a:r>
              <a:rPr lang="es-CO" sz="2900" spc="-195" noProof="0" dirty="0">
                <a:latin typeface="Microsoft Sans Serif"/>
                <a:cs typeface="Microsoft Sans Serif"/>
              </a:rPr>
              <a:t> </a:t>
            </a:r>
            <a:r>
              <a:rPr lang="es-CO" sz="2900" spc="-65" noProof="0" dirty="0">
                <a:latin typeface="Microsoft Sans Serif"/>
                <a:cs typeface="Microsoft Sans Serif"/>
              </a:rPr>
              <a:t>atributo</a:t>
            </a:r>
            <a:r>
              <a:rPr lang="es-CO" sz="2900" spc="-110" noProof="0" dirty="0">
                <a:latin typeface="Microsoft Sans Serif"/>
                <a:cs typeface="Microsoft Sans Serif"/>
              </a:rPr>
              <a:t> </a:t>
            </a:r>
            <a:r>
              <a:rPr lang="es-CO" sz="2900" spc="-210" noProof="0" dirty="0">
                <a:latin typeface="Microsoft Sans Serif"/>
                <a:cs typeface="Microsoft Sans Serif"/>
              </a:rPr>
              <a:t>numérico</a:t>
            </a:r>
            <a:r>
              <a:rPr lang="es-CO" sz="2900" spc="-204" noProof="0" dirty="0">
                <a:latin typeface="Microsoft Sans Serif"/>
                <a:cs typeface="Microsoft Sans Serif"/>
              </a:rPr>
              <a:t> </a:t>
            </a:r>
            <a:r>
              <a:rPr lang="es-CO" sz="2900" spc="-185" noProof="0" dirty="0">
                <a:latin typeface="Microsoft Sans Serif"/>
                <a:cs typeface="Microsoft Sans Serif"/>
              </a:rPr>
              <a:t>con</a:t>
            </a:r>
            <a:r>
              <a:rPr lang="es-CO" sz="2900" spc="-280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una</a:t>
            </a:r>
            <a:r>
              <a:rPr lang="es-CO" sz="2900" spc="-204" noProof="0" dirty="0">
                <a:latin typeface="Microsoft Sans Serif"/>
                <a:cs typeface="Microsoft Sans Serif"/>
              </a:rPr>
              <a:t> </a:t>
            </a:r>
            <a:r>
              <a:rPr lang="es-CO" sz="2900" b="1" spc="-185" noProof="0" dirty="0">
                <a:latin typeface="Arial"/>
                <a:cs typeface="Arial"/>
              </a:rPr>
              <a:t>cantidad</a:t>
            </a:r>
            <a:r>
              <a:rPr lang="es-CO" sz="2900" b="1" spc="-290" noProof="0" dirty="0">
                <a:latin typeface="Arial"/>
                <a:cs typeface="Arial"/>
              </a:rPr>
              <a:t> </a:t>
            </a:r>
            <a:r>
              <a:rPr lang="es-CO" sz="2900" b="1" spc="-130" noProof="0" dirty="0">
                <a:latin typeface="Arial"/>
                <a:cs typeface="Arial"/>
              </a:rPr>
              <a:t>par</a:t>
            </a:r>
            <a:r>
              <a:rPr lang="es-CO" sz="2900" b="1" spc="-225" noProof="0" dirty="0">
                <a:latin typeface="Arial"/>
                <a:cs typeface="Arial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45" noProof="0" dirty="0">
                <a:latin typeface="Microsoft Sans Serif"/>
                <a:cs typeface="Microsoft Sans Serif"/>
              </a:rPr>
              <a:t> </a:t>
            </a:r>
            <a:r>
              <a:rPr lang="es-CO" sz="2900" spc="-10" noProof="0" dirty="0">
                <a:latin typeface="Microsoft Sans Serif"/>
                <a:cs typeface="Microsoft Sans Serif"/>
              </a:rPr>
              <a:t>valores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99388" y="4422647"/>
            <a:ext cx="10081260" cy="45212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238125">
              <a:lnSpc>
                <a:spcPct val="100000"/>
              </a:lnSpc>
              <a:spcBef>
                <a:spcPts val="70"/>
              </a:spcBef>
              <a:tabLst>
                <a:tab pos="1078230" algn="l"/>
                <a:tab pos="1917700" algn="l"/>
                <a:tab pos="2759075" algn="l"/>
                <a:tab pos="3599179" algn="l"/>
                <a:tab pos="4438650" algn="l"/>
                <a:tab pos="5280025" algn="l"/>
                <a:tab pos="6120130" algn="l"/>
                <a:tab pos="6959600" algn="l"/>
                <a:tab pos="7800975" algn="l"/>
                <a:tab pos="8641080" algn="l"/>
                <a:tab pos="9391015" algn="l"/>
              </a:tabLst>
            </a:pPr>
            <a:r>
              <a:rPr lang="es-CO" sz="2400" b="1" spc="-25" noProof="0" dirty="0">
                <a:latin typeface="Courier New"/>
                <a:cs typeface="Courier New"/>
              </a:rPr>
              <a:t>30</a:t>
            </a:r>
            <a:r>
              <a:rPr lang="es-CO" sz="2400" b="1" noProof="0" dirty="0">
                <a:latin typeface="Courier New"/>
                <a:cs typeface="Courier New"/>
              </a:rPr>
              <a:t>	</a:t>
            </a:r>
            <a:r>
              <a:rPr lang="es-CO" sz="2400" b="1" spc="-25" noProof="0" dirty="0">
                <a:latin typeface="Courier New"/>
                <a:cs typeface="Courier New"/>
              </a:rPr>
              <a:t>36</a:t>
            </a:r>
            <a:r>
              <a:rPr lang="es-CO" sz="2400" b="1" noProof="0" dirty="0">
                <a:latin typeface="Courier New"/>
                <a:cs typeface="Courier New"/>
              </a:rPr>
              <a:t>	</a:t>
            </a:r>
            <a:r>
              <a:rPr lang="es-CO" sz="2400" b="1" spc="-25" noProof="0" dirty="0">
                <a:latin typeface="Courier New"/>
                <a:cs typeface="Courier New"/>
              </a:rPr>
              <a:t>47</a:t>
            </a:r>
            <a:r>
              <a:rPr lang="es-CO" sz="2400" b="1" noProof="0" dirty="0">
                <a:latin typeface="Courier New"/>
                <a:cs typeface="Courier New"/>
              </a:rPr>
              <a:t>	</a:t>
            </a:r>
            <a:r>
              <a:rPr lang="es-CO" sz="2400" b="1" spc="-25" noProof="0" dirty="0">
                <a:latin typeface="Courier New"/>
                <a:cs typeface="Courier New"/>
              </a:rPr>
              <a:t>50</a:t>
            </a:r>
            <a:r>
              <a:rPr lang="es-CO" sz="2400" b="1" noProof="0" dirty="0">
                <a:latin typeface="Courier New"/>
                <a:cs typeface="Courier New"/>
              </a:rPr>
              <a:t>	</a:t>
            </a:r>
            <a:r>
              <a:rPr lang="es-CO" sz="2400" b="1" spc="-25" noProof="0" dirty="0">
                <a:latin typeface="Courier New"/>
                <a:cs typeface="Courier New"/>
              </a:rPr>
              <a:t>52</a:t>
            </a:r>
            <a:r>
              <a:rPr lang="es-CO" sz="2400" b="1" noProof="0" dirty="0">
                <a:latin typeface="Courier New"/>
                <a:cs typeface="Courier New"/>
              </a:rPr>
              <a:t>	</a:t>
            </a:r>
            <a:r>
              <a:rPr lang="es-CO" sz="2400" b="1" spc="-25" noProof="0" dirty="0">
                <a:latin typeface="Courier New"/>
                <a:cs typeface="Courier New"/>
              </a:rPr>
              <a:t>52</a:t>
            </a:r>
            <a:r>
              <a:rPr lang="es-CO" sz="2400" b="1" noProof="0" dirty="0">
                <a:latin typeface="Courier New"/>
                <a:cs typeface="Courier New"/>
              </a:rPr>
              <a:t>	</a:t>
            </a:r>
            <a:r>
              <a:rPr lang="es-CO" sz="2400" b="1" spc="-25" noProof="0" dirty="0">
                <a:latin typeface="Courier New"/>
                <a:cs typeface="Courier New"/>
              </a:rPr>
              <a:t>56</a:t>
            </a:r>
            <a:r>
              <a:rPr lang="es-CO" sz="2400" b="1" noProof="0" dirty="0">
                <a:latin typeface="Courier New"/>
                <a:cs typeface="Courier New"/>
              </a:rPr>
              <a:t>	</a:t>
            </a:r>
            <a:r>
              <a:rPr lang="es-CO" sz="2400" b="1" spc="-25" noProof="0" dirty="0">
                <a:latin typeface="Courier New"/>
                <a:cs typeface="Courier New"/>
              </a:rPr>
              <a:t>60</a:t>
            </a:r>
            <a:r>
              <a:rPr lang="es-CO" sz="2400" b="1" noProof="0" dirty="0">
                <a:latin typeface="Courier New"/>
                <a:cs typeface="Courier New"/>
              </a:rPr>
              <a:t>	</a:t>
            </a:r>
            <a:r>
              <a:rPr lang="es-CO" sz="2400" b="1" spc="-25" noProof="0" dirty="0">
                <a:latin typeface="Courier New"/>
                <a:cs typeface="Courier New"/>
              </a:rPr>
              <a:t>63</a:t>
            </a:r>
            <a:r>
              <a:rPr lang="es-CO" sz="2400" b="1" noProof="0" dirty="0">
                <a:latin typeface="Courier New"/>
                <a:cs typeface="Courier New"/>
              </a:rPr>
              <a:t>	</a:t>
            </a:r>
            <a:r>
              <a:rPr lang="es-CO" sz="2400" b="1" spc="-25" noProof="0" dirty="0">
                <a:latin typeface="Courier New"/>
                <a:cs typeface="Courier New"/>
              </a:rPr>
              <a:t>70</a:t>
            </a:r>
            <a:r>
              <a:rPr lang="es-CO" sz="2400" b="1" noProof="0" dirty="0">
                <a:latin typeface="Courier New"/>
                <a:cs typeface="Courier New"/>
              </a:rPr>
              <a:t>	</a:t>
            </a:r>
            <a:r>
              <a:rPr lang="es-CO" sz="2400" b="1" spc="-25" noProof="0" dirty="0">
                <a:latin typeface="Courier New"/>
                <a:cs typeface="Courier New"/>
              </a:rPr>
              <a:t>70</a:t>
            </a:r>
            <a:r>
              <a:rPr lang="es-CO" sz="2400" b="1" noProof="0" dirty="0">
                <a:latin typeface="Courier New"/>
                <a:cs typeface="Courier New"/>
              </a:rPr>
              <a:t>	</a:t>
            </a:r>
            <a:r>
              <a:rPr lang="es-CO" sz="2400" b="1" spc="-25" noProof="0" dirty="0">
                <a:latin typeface="Courier New"/>
                <a:cs typeface="Courier New"/>
              </a:rPr>
              <a:t>110</a:t>
            </a:r>
            <a:endParaRPr lang="es-CO" sz="2400" noProof="0" dirty="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448300" y="4422647"/>
            <a:ext cx="1584960" cy="454025"/>
          </a:xfrm>
          <a:custGeom>
            <a:avLst/>
            <a:gdLst/>
            <a:ahLst/>
            <a:cxnLst/>
            <a:rect l="l" t="t" r="r" b="b"/>
            <a:pathLst>
              <a:path w="1584959" h="454025">
                <a:moveTo>
                  <a:pt x="0" y="226949"/>
                </a:moveTo>
                <a:lnTo>
                  <a:pt x="12826" y="186181"/>
                </a:lnTo>
                <a:lnTo>
                  <a:pt x="49529" y="147827"/>
                </a:lnTo>
                <a:lnTo>
                  <a:pt x="108203" y="112394"/>
                </a:lnTo>
                <a:lnTo>
                  <a:pt x="144907" y="96138"/>
                </a:lnTo>
                <a:lnTo>
                  <a:pt x="186309" y="80771"/>
                </a:lnTo>
                <a:lnTo>
                  <a:pt x="232028" y="66547"/>
                </a:lnTo>
                <a:lnTo>
                  <a:pt x="281813" y="53339"/>
                </a:lnTo>
                <a:lnTo>
                  <a:pt x="335407" y="41528"/>
                </a:lnTo>
                <a:lnTo>
                  <a:pt x="392429" y="30987"/>
                </a:lnTo>
                <a:lnTo>
                  <a:pt x="452627" y="21843"/>
                </a:lnTo>
                <a:lnTo>
                  <a:pt x="515874" y="14224"/>
                </a:lnTo>
                <a:lnTo>
                  <a:pt x="581660" y="8127"/>
                </a:lnTo>
                <a:lnTo>
                  <a:pt x="649986" y="3682"/>
                </a:lnTo>
                <a:lnTo>
                  <a:pt x="720216" y="888"/>
                </a:lnTo>
                <a:lnTo>
                  <a:pt x="792352" y="0"/>
                </a:lnTo>
                <a:lnTo>
                  <a:pt x="864488" y="888"/>
                </a:lnTo>
                <a:lnTo>
                  <a:pt x="934720" y="3682"/>
                </a:lnTo>
                <a:lnTo>
                  <a:pt x="1003046" y="8127"/>
                </a:lnTo>
                <a:lnTo>
                  <a:pt x="1068831" y="14224"/>
                </a:lnTo>
                <a:lnTo>
                  <a:pt x="1132077" y="21843"/>
                </a:lnTo>
                <a:lnTo>
                  <a:pt x="1192276" y="30987"/>
                </a:lnTo>
                <a:lnTo>
                  <a:pt x="1249299" y="41528"/>
                </a:lnTo>
                <a:lnTo>
                  <a:pt x="1302893" y="53339"/>
                </a:lnTo>
                <a:lnTo>
                  <a:pt x="1352677" y="66547"/>
                </a:lnTo>
                <a:lnTo>
                  <a:pt x="1398397" y="80771"/>
                </a:lnTo>
                <a:lnTo>
                  <a:pt x="1439799" y="96138"/>
                </a:lnTo>
                <a:lnTo>
                  <a:pt x="1476502" y="112394"/>
                </a:lnTo>
                <a:lnTo>
                  <a:pt x="1535176" y="147827"/>
                </a:lnTo>
                <a:lnTo>
                  <a:pt x="1571878" y="186181"/>
                </a:lnTo>
                <a:lnTo>
                  <a:pt x="1584705" y="226949"/>
                </a:lnTo>
                <a:lnTo>
                  <a:pt x="1581403" y="247650"/>
                </a:lnTo>
                <a:lnTo>
                  <a:pt x="1556384" y="287400"/>
                </a:lnTo>
                <a:lnTo>
                  <a:pt x="1508378" y="324357"/>
                </a:lnTo>
                <a:lnTo>
                  <a:pt x="1439799" y="357885"/>
                </a:lnTo>
                <a:lnTo>
                  <a:pt x="1398397" y="373252"/>
                </a:lnTo>
                <a:lnTo>
                  <a:pt x="1352677" y="387476"/>
                </a:lnTo>
                <a:lnTo>
                  <a:pt x="1302893" y="400684"/>
                </a:lnTo>
                <a:lnTo>
                  <a:pt x="1249299" y="412495"/>
                </a:lnTo>
                <a:lnTo>
                  <a:pt x="1192276" y="423037"/>
                </a:lnTo>
                <a:lnTo>
                  <a:pt x="1132077" y="432181"/>
                </a:lnTo>
                <a:lnTo>
                  <a:pt x="1068831" y="439800"/>
                </a:lnTo>
                <a:lnTo>
                  <a:pt x="1003046" y="445896"/>
                </a:lnTo>
                <a:lnTo>
                  <a:pt x="934720" y="450341"/>
                </a:lnTo>
                <a:lnTo>
                  <a:pt x="864488" y="453135"/>
                </a:lnTo>
                <a:lnTo>
                  <a:pt x="792352" y="454025"/>
                </a:lnTo>
                <a:lnTo>
                  <a:pt x="720216" y="453135"/>
                </a:lnTo>
                <a:lnTo>
                  <a:pt x="649986" y="450341"/>
                </a:lnTo>
                <a:lnTo>
                  <a:pt x="581660" y="445896"/>
                </a:lnTo>
                <a:lnTo>
                  <a:pt x="515874" y="439800"/>
                </a:lnTo>
                <a:lnTo>
                  <a:pt x="452627" y="432181"/>
                </a:lnTo>
                <a:lnTo>
                  <a:pt x="392429" y="423037"/>
                </a:lnTo>
                <a:lnTo>
                  <a:pt x="335407" y="412495"/>
                </a:lnTo>
                <a:lnTo>
                  <a:pt x="281813" y="400684"/>
                </a:lnTo>
                <a:lnTo>
                  <a:pt x="232028" y="387476"/>
                </a:lnTo>
                <a:lnTo>
                  <a:pt x="186309" y="373252"/>
                </a:lnTo>
                <a:lnTo>
                  <a:pt x="144907" y="357885"/>
                </a:lnTo>
                <a:lnTo>
                  <a:pt x="108203" y="341629"/>
                </a:lnTo>
                <a:lnTo>
                  <a:pt x="49529" y="306196"/>
                </a:lnTo>
                <a:lnTo>
                  <a:pt x="12826" y="267843"/>
                </a:lnTo>
                <a:lnTo>
                  <a:pt x="0" y="226949"/>
                </a:lnTo>
                <a:close/>
              </a:path>
            </a:pathLst>
          </a:custGeom>
          <a:ln w="19048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13" name="object 13"/>
          <p:cNvSpPr txBox="1"/>
          <p:nvPr/>
        </p:nvSpPr>
        <p:spPr>
          <a:xfrm>
            <a:off x="3432047" y="28955"/>
            <a:ext cx="4523105" cy="399415"/>
          </a:xfrm>
          <a:prstGeom prst="rect">
            <a:avLst/>
          </a:prstGeom>
          <a:solidFill>
            <a:srgbClr val="EBB391"/>
          </a:solidFill>
        </p:spPr>
        <p:txBody>
          <a:bodyPr vert="horz" wrap="square" lIns="0" tIns="24130" rIns="0" bIns="0" rtlCol="0">
            <a:spAutoFit/>
          </a:bodyPr>
          <a:lstStyle/>
          <a:p>
            <a:pPr marL="493395">
              <a:lnSpc>
                <a:spcPct val="100000"/>
              </a:lnSpc>
              <a:spcBef>
                <a:spcPts val="190"/>
              </a:spcBef>
            </a:pPr>
            <a:r>
              <a:rPr lang="es-CO" sz="2000" spc="-22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MEDIDAS</a:t>
            </a:r>
            <a:r>
              <a:rPr lang="es-CO" sz="2000" spc="-20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19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lang="es-CO" sz="2000" spc="-29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23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TENDENCIA</a:t>
            </a:r>
            <a:r>
              <a:rPr lang="es-CO" sz="2000" spc="-14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28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CENTRAL</a:t>
            </a:r>
            <a:endParaRPr lang="es-CO" sz="2000" noProof="0" dirty="0">
              <a:latin typeface="Microsoft Sans Serif"/>
              <a:cs typeface="Microsoft Sans Serif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AD75A6-E717-AFCE-8C86-153DAB6B1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1080" y="5562600"/>
            <a:ext cx="3897876" cy="71347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5299" y="330149"/>
            <a:ext cx="22415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pc="-625" noProof="0" dirty="0"/>
              <a:t>ME</a:t>
            </a:r>
            <a:r>
              <a:rPr lang="es-CO" spc="-590" noProof="0" dirty="0"/>
              <a:t>D</a:t>
            </a:r>
            <a:r>
              <a:rPr lang="es-CO" spc="-295" noProof="0" dirty="0"/>
              <a:t>I</a:t>
            </a:r>
            <a:r>
              <a:rPr lang="es-CO" spc="-285" noProof="0" dirty="0"/>
              <a:t>A</a:t>
            </a:r>
            <a:r>
              <a:rPr lang="es-CO" spc="-290" noProof="0" dirty="0"/>
              <a:t>N</a:t>
            </a:r>
            <a:r>
              <a:rPr lang="es-CO" spc="-10" noProof="0" dirty="0"/>
              <a:t>A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 algn="just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lang="es-CO" spc="-265" noProof="0" dirty="0"/>
              <a:t>También</a:t>
            </a:r>
            <a:r>
              <a:rPr lang="es-CO" spc="70" noProof="0" dirty="0"/>
              <a:t> </a:t>
            </a:r>
            <a:r>
              <a:rPr lang="es-CO" spc="-125" noProof="0" dirty="0"/>
              <a:t>puede</a:t>
            </a:r>
            <a:r>
              <a:rPr lang="es-CO" spc="-70" noProof="0" dirty="0"/>
              <a:t> </a:t>
            </a:r>
            <a:r>
              <a:rPr lang="es-CO" spc="-180" noProof="0" dirty="0"/>
              <a:t>calcularse</a:t>
            </a:r>
            <a:r>
              <a:rPr lang="es-CO" spc="-15" noProof="0" dirty="0"/>
              <a:t> </a:t>
            </a:r>
            <a:r>
              <a:rPr lang="es-CO" spc="-160" noProof="0" dirty="0"/>
              <a:t>sobre</a:t>
            </a:r>
            <a:r>
              <a:rPr lang="es-CO" spc="-30" noProof="0" dirty="0"/>
              <a:t> </a:t>
            </a:r>
            <a:r>
              <a:rPr lang="es-CO" b="1" spc="-225" noProof="0" dirty="0">
                <a:solidFill>
                  <a:srgbClr val="C00000"/>
                </a:solidFill>
                <a:latin typeface="Arial"/>
                <a:cs typeface="Arial"/>
              </a:rPr>
              <a:t>atributos</a:t>
            </a:r>
            <a:r>
              <a:rPr lang="es-CO" b="1" spc="25" noProof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s-CO" b="1" spc="-204" noProof="0" dirty="0">
                <a:solidFill>
                  <a:srgbClr val="C00000"/>
                </a:solidFill>
                <a:latin typeface="Arial"/>
                <a:cs typeface="Arial"/>
              </a:rPr>
              <a:t>ordinales</a:t>
            </a:r>
            <a:r>
              <a:rPr lang="es-CO" spc="-204" noProof="0" dirty="0"/>
              <a:t>.</a:t>
            </a:r>
            <a:r>
              <a:rPr lang="es-CO" spc="10" noProof="0" dirty="0"/>
              <a:t> </a:t>
            </a:r>
            <a:r>
              <a:rPr lang="es-CO" spc="-1045" noProof="0" dirty="0"/>
              <a:t>E</a:t>
            </a:r>
            <a:r>
              <a:rPr lang="es-CO" spc="-535" noProof="0" dirty="0"/>
              <a:t>n</a:t>
            </a:r>
            <a:r>
              <a:rPr lang="es-CO" spc="595" noProof="0" dirty="0"/>
              <a:t> </a:t>
            </a:r>
            <a:r>
              <a:rPr lang="es-CO" noProof="0" dirty="0"/>
              <a:t>tal</a:t>
            </a:r>
            <a:r>
              <a:rPr lang="es-CO" spc="235" noProof="0" dirty="0"/>
              <a:t> </a:t>
            </a:r>
            <a:r>
              <a:rPr lang="es-CO" spc="-265" noProof="0" dirty="0"/>
              <a:t>caso,</a:t>
            </a:r>
            <a:r>
              <a:rPr lang="es-CO" spc="70" noProof="0" dirty="0"/>
              <a:t> </a:t>
            </a:r>
            <a:r>
              <a:rPr lang="es-CO" spc="-25" noProof="0" dirty="0"/>
              <a:t>el </a:t>
            </a:r>
            <a:r>
              <a:rPr lang="es-CO" spc="-125" noProof="0" dirty="0"/>
              <a:t>resultado</a:t>
            </a:r>
            <a:r>
              <a:rPr lang="es-CO" spc="-70" noProof="0" dirty="0"/>
              <a:t> </a:t>
            </a:r>
            <a:r>
              <a:rPr lang="es-CO" spc="-135" noProof="0" dirty="0"/>
              <a:t>será</a:t>
            </a:r>
            <a:r>
              <a:rPr lang="es-CO" spc="-60" noProof="0" dirty="0"/>
              <a:t> </a:t>
            </a:r>
            <a:r>
              <a:rPr lang="es-CO" noProof="0" dirty="0"/>
              <a:t>o</a:t>
            </a:r>
            <a:r>
              <a:rPr lang="es-CO" spc="-195" noProof="0" dirty="0"/>
              <a:t> </a:t>
            </a:r>
            <a:r>
              <a:rPr lang="es-CO" spc="-90" noProof="0" dirty="0"/>
              <a:t>bien</a:t>
            </a:r>
            <a:r>
              <a:rPr lang="es-CO" spc="-100" noProof="0" dirty="0"/>
              <a:t> </a:t>
            </a:r>
            <a:r>
              <a:rPr lang="es-CO" noProof="0" dirty="0"/>
              <a:t>el</a:t>
            </a:r>
            <a:r>
              <a:rPr lang="es-CO" spc="-195" noProof="0" dirty="0"/>
              <a:t> </a:t>
            </a:r>
            <a:r>
              <a:rPr lang="es-CO" spc="-45" noProof="0" dirty="0"/>
              <a:t>valor</a:t>
            </a:r>
            <a:r>
              <a:rPr lang="es-CO" spc="-40" noProof="0" dirty="0"/>
              <a:t> </a:t>
            </a:r>
            <a:r>
              <a:rPr lang="es-CO" spc="-130" noProof="0" dirty="0"/>
              <a:t>que</a:t>
            </a:r>
            <a:r>
              <a:rPr lang="es-CO" spc="-60" noProof="0" dirty="0"/>
              <a:t> </a:t>
            </a:r>
            <a:r>
              <a:rPr lang="es-CO" spc="-35" noProof="0" dirty="0"/>
              <a:t>divide</a:t>
            </a:r>
            <a:r>
              <a:rPr lang="es-CO" spc="30" noProof="0" dirty="0"/>
              <a:t> </a:t>
            </a:r>
            <a:r>
              <a:rPr lang="es-CO" noProof="0" dirty="0"/>
              <a:t>al</a:t>
            </a:r>
            <a:r>
              <a:rPr lang="es-CO" spc="65" noProof="0" dirty="0"/>
              <a:t> </a:t>
            </a:r>
            <a:r>
              <a:rPr lang="es-CO" spc="-215" noProof="0" dirty="0"/>
              <a:t>conjunto</a:t>
            </a:r>
            <a:r>
              <a:rPr lang="es-CO" spc="20" noProof="0" dirty="0"/>
              <a:t> </a:t>
            </a:r>
            <a:r>
              <a:rPr lang="es-CO" spc="-225" noProof="0" dirty="0"/>
              <a:t>en</a:t>
            </a:r>
            <a:r>
              <a:rPr lang="es-CO" spc="30" noProof="0" dirty="0"/>
              <a:t> </a:t>
            </a:r>
            <a:r>
              <a:rPr lang="es-CO" spc="-185" noProof="0" dirty="0"/>
              <a:t>dos</a:t>
            </a:r>
            <a:r>
              <a:rPr lang="es-CO" spc="-5" noProof="0" dirty="0"/>
              <a:t> </a:t>
            </a:r>
            <a:r>
              <a:rPr lang="es-CO" spc="-65" noProof="0" dirty="0"/>
              <a:t>partes </a:t>
            </a:r>
            <a:r>
              <a:rPr lang="es-CO" spc="-140" noProof="0" dirty="0">
                <a:latin typeface="Arial MT"/>
                <a:cs typeface="Arial MT"/>
              </a:rPr>
              <a:t>iguales</a:t>
            </a:r>
            <a:r>
              <a:rPr lang="es-CO" spc="-150" noProof="0" dirty="0">
                <a:latin typeface="Arial MT"/>
                <a:cs typeface="Arial MT"/>
              </a:rPr>
              <a:t> </a:t>
            </a:r>
            <a:r>
              <a:rPr lang="es-CO" noProof="0" dirty="0">
                <a:latin typeface="Arial MT"/>
                <a:cs typeface="Arial MT"/>
              </a:rPr>
              <a:t>o</a:t>
            </a:r>
            <a:r>
              <a:rPr lang="es-CO" spc="-165" noProof="0" dirty="0">
                <a:latin typeface="Arial MT"/>
                <a:cs typeface="Arial MT"/>
              </a:rPr>
              <a:t> </a:t>
            </a:r>
            <a:r>
              <a:rPr lang="es-CO" spc="-105" noProof="0" dirty="0">
                <a:latin typeface="Arial MT"/>
                <a:cs typeface="Arial MT"/>
              </a:rPr>
              <a:t>bien</a:t>
            </a:r>
            <a:r>
              <a:rPr lang="es-CO" spc="-135" noProof="0" dirty="0">
                <a:latin typeface="Arial MT"/>
                <a:cs typeface="Arial MT"/>
              </a:rPr>
              <a:t> </a:t>
            </a:r>
            <a:r>
              <a:rPr lang="es-CO" spc="-170" noProof="0" dirty="0">
                <a:latin typeface="Arial MT"/>
                <a:cs typeface="Arial MT"/>
              </a:rPr>
              <a:t>se</a:t>
            </a:r>
            <a:r>
              <a:rPr lang="es-CO" spc="-330" noProof="0" dirty="0">
                <a:latin typeface="Arial MT"/>
                <a:cs typeface="Arial MT"/>
              </a:rPr>
              <a:t> </a:t>
            </a:r>
            <a:r>
              <a:rPr lang="es-CO" noProof="0" dirty="0">
                <a:latin typeface="Arial MT"/>
                <a:cs typeface="Arial MT"/>
              </a:rPr>
              <a:t>dirá</a:t>
            </a:r>
            <a:r>
              <a:rPr lang="es-CO" spc="-25" noProof="0" dirty="0">
                <a:latin typeface="Arial MT"/>
                <a:cs typeface="Arial MT"/>
              </a:rPr>
              <a:t> </a:t>
            </a:r>
            <a:r>
              <a:rPr lang="es-CO" spc="-125" noProof="0" dirty="0">
                <a:latin typeface="Arial MT"/>
                <a:cs typeface="Arial MT"/>
              </a:rPr>
              <a:t>que</a:t>
            </a:r>
            <a:r>
              <a:rPr lang="es-CO" spc="-165" noProof="0" dirty="0">
                <a:latin typeface="Arial MT"/>
                <a:cs typeface="Arial MT"/>
              </a:rPr>
              <a:t> </a:t>
            </a:r>
            <a:r>
              <a:rPr lang="es-CO" noProof="0" dirty="0">
                <a:latin typeface="Arial MT"/>
                <a:cs typeface="Arial MT"/>
              </a:rPr>
              <a:t>“la</a:t>
            </a:r>
            <a:r>
              <a:rPr lang="es-CO" spc="50" noProof="0" dirty="0">
                <a:latin typeface="Arial MT"/>
                <a:cs typeface="Arial MT"/>
              </a:rPr>
              <a:t> </a:t>
            </a:r>
            <a:r>
              <a:rPr lang="es-CO" spc="-140" noProof="0" dirty="0">
                <a:latin typeface="Arial MT"/>
                <a:cs typeface="Arial MT"/>
              </a:rPr>
              <a:t>mediana</a:t>
            </a:r>
            <a:r>
              <a:rPr lang="es-CO" spc="-150" noProof="0" dirty="0">
                <a:latin typeface="Arial MT"/>
                <a:cs typeface="Arial MT"/>
              </a:rPr>
              <a:t> </a:t>
            </a:r>
            <a:r>
              <a:rPr lang="es-CO" spc="-135" noProof="0" dirty="0">
                <a:latin typeface="Arial MT"/>
                <a:cs typeface="Arial MT"/>
              </a:rPr>
              <a:t>está</a:t>
            </a:r>
            <a:r>
              <a:rPr lang="es-CO" spc="-204" noProof="0" dirty="0">
                <a:latin typeface="Arial MT"/>
                <a:cs typeface="Arial MT"/>
              </a:rPr>
              <a:t> </a:t>
            </a:r>
            <a:r>
              <a:rPr lang="es-CO" spc="-114" noProof="0" dirty="0">
                <a:latin typeface="Arial MT"/>
                <a:cs typeface="Arial MT"/>
              </a:rPr>
              <a:t>entre</a:t>
            </a:r>
            <a:r>
              <a:rPr lang="es-CO" spc="-175" noProof="0" dirty="0">
                <a:latin typeface="Arial MT"/>
                <a:cs typeface="Arial MT"/>
              </a:rPr>
              <a:t> </a:t>
            </a:r>
            <a:r>
              <a:rPr lang="es-CO" spc="-160" noProof="0" dirty="0">
                <a:latin typeface="Arial MT"/>
                <a:cs typeface="Arial MT"/>
              </a:rPr>
              <a:t>los</a:t>
            </a:r>
            <a:r>
              <a:rPr lang="es-CO" spc="-225" noProof="0" dirty="0">
                <a:latin typeface="Arial MT"/>
                <a:cs typeface="Arial MT"/>
              </a:rPr>
              <a:t> </a:t>
            </a:r>
            <a:r>
              <a:rPr lang="es-CO" spc="-140" noProof="0" dirty="0">
                <a:latin typeface="Arial MT"/>
                <a:cs typeface="Arial MT"/>
              </a:rPr>
              <a:t>valores</a:t>
            </a:r>
            <a:r>
              <a:rPr lang="es-CO" spc="-180" noProof="0" dirty="0">
                <a:latin typeface="Arial MT"/>
                <a:cs typeface="Arial MT"/>
              </a:rPr>
              <a:t> </a:t>
            </a:r>
            <a:r>
              <a:rPr lang="es-CO" spc="-25" noProof="0" dirty="0">
                <a:latin typeface="Arial MT"/>
                <a:cs typeface="Arial MT"/>
              </a:rPr>
              <a:t>…”.</a:t>
            </a:r>
          </a:p>
          <a:p>
            <a:pPr marL="332105" indent="-319405" algn="just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pc="-204" noProof="0" dirty="0"/>
              <a:t>Antes</a:t>
            </a:r>
            <a:r>
              <a:rPr lang="es-CO" spc="-225" noProof="0" dirty="0"/>
              <a:t> </a:t>
            </a:r>
            <a:r>
              <a:rPr lang="es-CO" noProof="0" dirty="0"/>
              <a:t>de</a:t>
            </a:r>
            <a:r>
              <a:rPr lang="es-CO" spc="-45" noProof="0" dirty="0"/>
              <a:t> </a:t>
            </a:r>
            <a:r>
              <a:rPr lang="es-CO" spc="-110" noProof="0" dirty="0"/>
              <a:t>calcularla</a:t>
            </a:r>
            <a:r>
              <a:rPr lang="es-CO" spc="-105" noProof="0" dirty="0"/>
              <a:t> </a:t>
            </a:r>
            <a:r>
              <a:rPr lang="es-CO" spc="-125" noProof="0" dirty="0"/>
              <a:t>deben</a:t>
            </a:r>
            <a:r>
              <a:rPr lang="es-CO" spc="-145" noProof="0" dirty="0"/>
              <a:t> </a:t>
            </a:r>
            <a:r>
              <a:rPr lang="es-CO" b="1" spc="-215" noProof="0" dirty="0">
                <a:latin typeface="Arial"/>
                <a:cs typeface="Arial"/>
              </a:rPr>
              <a:t>ordenarse</a:t>
            </a:r>
            <a:r>
              <a:rPr lang="es-CO" b="1" spc="-305" noProof="0" dirty="0">
                <a:latin typeface="Arial"/>
                <a:cs typeface="Arial"/>
              </a:rPr>
              <a:t> </a:t>
            </a:r>
            <a:r>
              <a:rPr lang="es-CO" b="1" spc="-170" noProof="0" dirty="0">
                <a:latin typeface="Arial"/>
                <a:cs typeface="Arial"/>
              </a:rPr>
              <a:t>los</a:t>
            </a:r>
            <a:r>
              <a:rPr lang="es-CO" b="1" spc="-245" noProof="0" dirty="0">
                <a:latin typeface="Arial"/>
                <a:cs typeface="Arial"/>
              </a:rPr>
              <a:t> </a:t>
            </a:r>
            <a:r>
              <a:rPr lang="es-CO" b="1" spc="-165" noProof="0" dirty="0">
                <a:latin typeface="Arial"/>
                <a:cs typeface="Arial"/>
              </a:rPr>
              <a:t>valores</a:t>
            </a:r>
            <a:r>
              <a:rPr lang="es-CO" b="1" spc="-270" noProof="0" dirty="0">
                <a:latin typeface="Arial"/>
                <a:cs typeface="Arial"/>
              </a:rPr>
              <a:t> </a:t>
            </a:r>
            <a:r>
              <a:rPr lang="es-CO" noProof="0" dirty="0"/>
              <a:t>del</a:t>
            </a:r>
            <a:r>
              <a:rPr lang="es-CO" spc="-35" noProof="0" dirty="0"/>
              <a:t> </a:t>
            </a:r>
            <a:r>
              <a:rPr lang="es-CO" spc="-10" noProof="0" dirty="0"/>
              <a:t>atributo.</a:t>
            </a:r>
          </a:p>
          <a:p>
            <a:pPr>
              <a:lnSpc>
                <a:spcPct val="100000"/>
              </a:lnSpc>
              <a:spcBef>
                <a:spcPts val="1880"/>
              </a:spcBef>
              <a:buClr>
                <a:srgbClr val="DD8046"/>
              </a:buClr>
              <a:buFont typeface="Wingdings"/>
              <a:buChar char=""/>
            </a:pPr>
            <a:endParaRPr lang="es-CO" spc="-10" noProof="0" dirty="0"/>
          </a:p>
          <a:p>
            <a:pPr marL="332105" indent="-319405" algn="just">
              <a:lnSpc>
                <a:spcPct val="100000"/>
              </a:lnSpc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pc="-200" noProof="0" dirty="0"/>
              <a:t>Ejemplo:</a:t>
            </a:r>
            <a:r>
              <a:rPr lang="es-CO" spc="-204" noProof="0" dirty="0"/>
              <a:t> </a:t>
            </a:r>
            <a:r>
              <a:rPr lang="es-CO" spc="-60" noProof="0" dirty="0"/>
              <a:t>atributo</a:t>
            </a:r>
            <a:r>
              <a:rPr lang="es-CO" spc="-65" noProof="0" dirty="0"/>
              <a:t> </a:t>
            </a:r>
            <a:r>
              <a:rPr lang="es-CO" spc="-80" noProof="0" dirty="0"/>
              <a:t>ordinal</a:t>
            </a:r>
            <a:r>
              <a:rPr lang="es-CO" spc="-95" noProof="0" dirty="0"/>
              <a:t> </a:t>
            </a:r>
            <a:r>
              <a:rPr lang="es-CO" spc="-190" noProof="0" dirty="0"/>
              <a:t>con</a:t>
            </a:r>
            <a:r>
              <a:rPr lang="es-CO" spc="-275" noProof="0" dirty="0"/>
              <a:t> </a:t>
            </a:r>
            <a:r>
              <a:rPr lang="es-CO" spc="-160" noProof="0" dirty="0"/>
              <a:t>una</a:t>
            </a:r>
            <a:r>
              <a:rPr lang="es-CO" spc="-200" noProof="0" dirty="0"/>
              <a:t> </a:t>
            </a:r>
            <a:r>
              <a:rPr lang="es-CO" b="1" spc="-185" noProof="0" dirty="0">
                <a:latin typeface="Arial"/>
                <a:cs typeface="Arial"/>
              </a:rPr>
              <a:t>cantidad</a:t>
            </a:r>
            <a:r>
              <a:rPr lang="es-CO" b="1" spc="-310" noProof="0" dirty="0">
                <a:latin typeface="Arial"/>
                <a:cs typeface="Arial"/>
              </a:rPr>
              <a:t> </a:t>
            </a:r>
            <a:r>
              <a:rPr lang="es-CO" b="1" spc="-155" noProof="0" dirty="0">
                <a:latin typeface="Arial"/>
                <a:cs typeface="Arial"/>
              </a:rPr>
              <a:t>impar</a:t>
            </a:r>
            <a:r>
              <a:rPr lang="es-CO" b="1" spc="-229" noProof="0" dirty="0">
                <a:latin typeface="Arial"/>
                <a:cs typeface="Arial"/>
              </a:rPr>
              <a:t> </a:t>
            </a:r>
            <a:r>
              <a:rPr lang="es-CO" noProof="0" dirty="0"/>
              <a:t>de</a:t>
            </a:r>
            <a:r>
              <a:rPr lang="es-CO" spc="-60" noProof="0" dirty="0"/>
              <a:t> </a:t>
            </a:r>
            <a:r>
              <a:rPr lang="es-CO" spc="-10" noProof="0" dirty="0"/>
              <a:t>valores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758380"/>
              </p:ext>
            </p:extLst>
          </p:nvPr>
        </p:nvGraphicFramePr>
        <p:xfrm>
          <a:off x="1114742" y="4987797"/>
          <a:ext cx="9938383" cy="456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4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4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42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42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042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042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56565">
                <a:tc>
                  <a:txBody>
                    <a:bodyPr/>
                    <a:lstStyle/>
                    <a:p>
                      <a:pPr marL="227329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lang="es-CO" sz="2400" b="1" spc="-10" noProof="0" dirty="0">
                          <a:latin typeface="Arial"/>
                          <a:cs typeface="Arial"/>
                        </a:rPr>
                        <a:t>chico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EDE"/>
                    </a:solidFill>
                  </a:tcPr>
                </a:tc>
                <a:tc>
                  <a:txBody>
                    <a:bodyPr/>
                    <a:lstStyle/>
                    <a:p>
                      <a:pPr marL="227329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lang="es-CO" sz="2400" b="1" spc="-10" noProof="0" dirty="0">
                          <a:latin typeface="Arial"/>
                          <a:cs typeface="Arial"/>
                        </a:rPr>
                        <a:t>chico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EDE"/>
                    </a:solidFill>
                  </a:tcPr>
                </a:tc>
                <a:tc>
                  <a:txBody>
                    <a:bodyPr/>
                    <a:lstStyle/>
                    <a:p>
                      <a:pPr marL="227329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lang="es-CO" sz="2400" b="1" spc="-10" noProof="0" dirty="0">
                          <a:latin typeface="Arial"/>
                          <a:cs typeface="Arial"/>
                        </a:rPr>
                        <a:t>chico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EDE"/>
                    </a:solidFill>
                  </a:tcPr>
                </a:tc>
                <a:tc>
                  <a:txBody>
                    <a:bodyPr/>
                    <a:lstStyle/>
                    <a:p>
                      <a:pPr marL="22923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lang="es-CO" sz="2400" b="1" spc="-10" noProof="0" dirty="0">
                          <a:latin typeface="Arial"/>
                          <a:cs typeface="Arial"/>
                        </a:rPr>
                        <a:t>chico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EDE"/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lang="es-CO" sz="2400" b="1" spc="-10" noProof="0" dirty="0">
                          <a:latin typeface="Arial"/>
                          <a:cs typeface="Arial"/>
                        </a:rPr>
                        <a:t>medio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EDE"/>
                    </a:solidFill>
                  </a:tcPr>
                </a:tc>
                <a:tc>
                  <a:txBody>
                    <a:bodyPr/>
                    <a:lstStyle/>
                    <a:p>
                      <a:pPr marL="15748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lang="es-CO" sz="2400" b="1" spc="-10" noProof="0" dirty="0">
                          <a:latin typeface="Arial"/>
                          <a:cs typeface="Arial"/>
                        </a:rPr>
                        <a:t>medio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EDE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lang="es-CO" sz="2400" b="1" spc="-40" noProof="0" dirty="0">
                          <a:latin typeface="Arial"/>
                          <a:cs typeface="Arial"/>
                        </a:rPr>
                        <a:t>grande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EDE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lang="es-CO" sz="2400" b="1" spc="-40" noProof="0" dirty="0">
                          <a:latin typeface="Arial"/>
                          <a:cs typeface="Arial"/>
                        </a:rPr>
                        <a:t>grande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EDE"/>
                    </a:solidFill>
                  </a:tcPr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lang="es-CO" sz="2400" b="1" spc="-40" noProof="0" dirty="0">
                          <a:latin typeface="Arial"/>
                          <a:cs typeface="Arial"/>
                        </a:rPr>
                        <a:t>grande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7E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5943980" y="5509640"/>
            <a:ext cx="307340" cy="305435"/>
            <a:chOff x="5943980" y="5509640"/>
            <a:chExt cx="307340" cy="305435"/>
          </a:xfrm>
        </p:grpSpPr>
        <p:sp>
          <p:nvSpPr>
            <p:cNvPr id="6" name="object 6"/>
            <p:cNvSpPr/>
            <p:nvPr/>
          </p:nvSpPr>
          <p:spPr>
            <a:xfrm>
              <a:off x="5952743" y="5518403"/>
              <a:ext cx="288290" cy="286385"/>
            </a:xfrm>
            <a:custGeom>
              <a:avLst/>
              <a:gdLst/>
              <a:ahLst/>
              <a:cxnLst/>
              <a:rect l="l" t="t" r="r" b="b"/>
              <a:pathLst>
                <a:path w="288289" h="286385">
                  <a:moveTo>
                    <a:pt x="143890" y="0"/>
                  </a:moveTo>
                  <a:lnTo>
                    <a:pt x="0" y="143192"/>
                  </a:lnTo>
                  <a:lnTo>
                    <a:pt x="71881" y="143192"/>
                  </a:lnTo>
                  <a:lnTo>
                    <a:pt x="71881" y="286385"/>
                  </a:lnTo>
                  <a:lnTo>
                    <a:pt x="215772" y="286385"/>
                  </a:lnTo>
                  <a:lnTo>
                    <a:pt x="215772" y="143192"/>
                  </a:lnTo>
                  <a:lnTo>
                    <a:pt x="287781" y="143192"/>
                  </a:lnTo>
                  <a:lnTo>
                    <a:pt x="143890" y="0"/>
                  </a:lnTo>
                  <a:close/>
                </a:path>
              </a:pathLst>
            </a:custGeom>
            <a:solidFill>
              <a:srgbClr val="92B6D2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5953505" y="5519165"/>
              <a:ext cx="288290" cy="286385"/>
            </a:xfrm>
            <a:custGeom>
              <a:avLst/>
              <a:gdLst/>
              <a:ahLst/>
              <a:cxnLst/>
              <a:rect l="l" t="t" r="r" b="b"/>
              <a:pathLst>
                <a:path w="288289" h="286385">
                  <a:moveTo>
                    <a:pt x="0" y="143192"/>
                  </a:moveTo>
                  <a:lnTo>
                    <a:pt x="143891" y="0"/>
                  </a:lnTo>
                  <a:lnTo>
                    <a:pt x="287782" y="143192"/>
                  </a:lnTo>
                  <a:lnTo>
                    <a:pt x="215773" y="143192"/>
                  </a:lnTo>
                  <a:lnTo>
                    <a:pt x="215773" y="286385"/>
                  </a:lnTo>
                  <a:lnTo>
                    <a:pt x="71882" y="286385"/>
                  </a:lnTo>
                  <a:lnTo>
                    <a:pt x="71882" y="143192"/>
                  </a:lnTo>
                  <a:lnTo>
                    <a:pt x="0" y="143192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32047" y="28955"/>
            <a:ext cx="4523105" cy="399415"/>
          </a:xfrm>
          <a:prstGeom prst="rect">
            <a:avLst/>
          </a:prstGeom>
          <a:solidFill>
            <a:srgbClr val="EBB391"/>
          </a:solidFill>
        </p:spPr>
        <p:txBody>
          <a:bodyPr vert="horz" wrap="square" lIns="0" tIns="24130" rIns="0" bIns="0" rtlCol="0">
            <a:spAutoFit/>
          </a:bodyPr>
          <a:lstStyle/>
          <a:p>
            <a:pPr marL="493395">
              <a:lnSpc>
                <a:spcPct val="100000"/>
              </a:lnSpc>
              <a:spcBef>
                <a:spcPts val="190"/>
              </a:spcBef>
            </a:pPr>
            <a:r>
              <a:rPr lang="es-CO" sz="2000" spc="-22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MEDIDAS</a:t>
            </a:r>
            <a:r>
              <a:rPr lang="es-CO" sz="2000" spc="-20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19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lang="es-CO" sz="2000" spc="-29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23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TENDENCIA</a:t>
            </a:r>
            <a:r>
              <a:rPr lang="es-CO" sz="2000" spc="-14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28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CENTRAL</a:t>
            </a:r>
            <a:endParaRPr lang="es-CO" sz="2000" noProof="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5299" y="330149"/>
            <a:ext cx="22415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pc="-625" noProof="0" dirty="0"/>
              <a:t>ME</a:t>
            </a:r>
            <a:r>
              <a:rPr lang="es-CO" spc="-590" noProof="0" dirty="0"/>
              <a:t>D</a:t>
            </a:r>
            <a:r>
              <a:rPr lang="es-CO" spc="-295" noProof="0" dirty="0"/>
              <a:t>I</a:t>
            </a:r>
            <a:r>
              <a:rPr lang="es-CO" spc="-285" noProof="0" dirty="0"/>
              <a:t>A</a:t>
            </a:r>
            <a:r>
              <a:rPr lang="es-CO" spc="-290" noProof="0" dirty="0"/>
              <a:t>N</a:t>
            </a:r>
            <a:r>
              <a:rPr lang="es-CO" spc="-10" noProof="0" dirty="0"/>
              <a:t>A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 algn="just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lang="es-CO" spc="-265" noProof="0" dirty="0"/>
              <a:t>También</a:t>
            </a:r>
            <a:r>
              <a:rPr lang="es-CO" spc="70" noProof="0" dirty="0"/>
              <a:t> </a:t>
            </a:r>
            <a:r>
              <a:rPr lang="es-CO" spc="-125" noProof="0" dirty="0"/>
              <a:t>puede</a:t>
            </a:r>
            <a:r>
              <a:rPr lang="es-CO" spc="-70" noProof="0" dirty="0"/>
              <a:t> </a:t>
            </a:r>
            <a:r>
              <a:rPr lang="es-CO" spc="-180" noProof="0" dirty="0"/>
              <a:t>calcularse</a:t>
            </a:r>
            <a:r>
              <a:rPr lang="es-CO" spc="-15" noProof="0" dirty="0"/>
              <a:t> </a:t>
            </a:r>
            <a:r>
              <a:rPr lang="es-CO" spc="-160" noProof="0" dirty="0"/>
              <a:t>sobre</a:t>
            </a:r>
            <a:r>
              <a:rPr lang="es-CO" spc="-30" noProof="0" dirty="0"/>
              <a:t> </a:t>
            </a:r>
            <a:r>
              <a:rPr lang="es-CO" b="1" spc="-225" noProof="0" dirty="0">
                <a:solidFill>
                  <a:srgbClr val="C00000"/>
                </a:solidFill>
                <a:latin typeface="Arial"/>
                <a:cs typeface="Arial"/>
              </a:rPr>
              <a:t>atributos</a:t>
            </a:r>
            <a:r>
              <a:rPr lang="es-CO" b="1" spc="25" noProof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s-CO" b="1" spc="-204" noProof="0" dirty="0">
                <a:solidFill>
                  <a:srgbClr val="C00000"/>
                </a:solidFill>
                <a:latin typeface="Arial"/>
                <a:cs typeface="Arial"/>
              </a:rPr>
              <a:t>ordinales</a:t>
            </a:r>
            <a:r>
              <a:rPr lang="es-CO" spc="-204" noProof="0" dirty="0"/>
              <a:t>.</a:t>
            </a:r>
            <a:r>
              <a:rPr lang="es-CO" spc="10" noProof="0" dirty="0"/>
              <a:t> </a:t>
            </a:r>
            <a:r>
              <a:rPr lang="es-CO" spc="-1045" noProof="0" dirty="0"/>
              <a:t>E</a:t>
            </a:r>
            <a:r>
              <a:rPr lang="es-CO" spc="-535" noProof="0" dirty="0"/>
              <a:t>n</a:t>
            </a:r>
            <a:r>
              <a:rPr lang="es-CO" spc="595" noProof="0" dirty="0"/>
              <a:t> </a:t>
            </a:r>
            <a:r>
              <a:rPr lang="es-CO" noProof="0" dirty="0"/>
              <a:t>tal</a:t>
            </a:r>
            <a:r>
              <a:rPr lang="es-CO" spc="235" noProof="0" dirty="0"/>
              <a:t> </a:t>
            </a:r>
            <a:r>
              <a:rPr lang="es-CO" spc="-265" noProof="0" dirty="0"/>
              <a:t>caso,</a:t>
            </a:r>
            <a:r>
              <a:rPr lang="es-CO" spc="70" noProof="0" dirty="0"/>
              <a:t> </a:t>
            </a:r>
            <a:r>
              <a:rPr lang="es-CO" spc="-25" noProof="0" dirty="0"/>
              <a:t>el </a:t>
            </a:r>
            <a:r>
              <a:rPr lang="es-CO" spc="-125" noProof="0" dirty="0"/>
              <a:t>resultado</a:t>
            </a:r>
            <a:r>
              <a:rPr lang="es-CO" spc="-70" noProof="0" dirty="0"/>
              <a:t> </a:t>
            </a:r>
            <a:r>
              <a:rPr lang="es-CO" spc="-135" noProof="0" dirty="0"/>
              <a:t>será</a:t>
            </a:r>
            <a:r>
              <a:rPr lang="es-CO" spc="-60" noProof="0" dirty="0"/>
              <a:t> </a:t>
            </a:r>
            <a:r>
              <a:rPr lang="es-CO" noProof="0" dirty="0"/>
              <a:t>o</a:t>
            </a:r>
            <a:r>
              <a:rPr lang="es-CO" spc="-195" noProof="0" dirty="0"/>
              <a:t> </a:t>
            </a:r>
            <a:r>
              <a:rPr lang="es-CO" spc="-90" noProof="0" dirty="0"/>
              <a:t>bien</a:t>
            </a:r>
            <a:r>
              <a:rPr lang="es-CO" spc="-100" noProof="0" dirty="0"/>
              <a:t> </a:t>
            </a:r>
            <a:r>
              <a:rPr lang="es-CO" noProof="0" dirty="0"/>
              <a:t>el</a:t>
            </a:r>
            <a:r>
              <a:rPr lang="es-CO" spc="-195" noProof="0" dirty="0"/>
              <a:t> </a:t>
            </a:r>
            <a:r>
              <a:rPr lang="es-CO" spc="-45" noProof="0" dirty="0"/>
              <a:t>valor</a:t>
            </a:r>
            <a:r>
              <a:rPr lang="es-CO" spc="-40" noProof="0" dirty="0"/>
              <a:t> </a:t>
            </a:r>
            <a:r>
              <a:rPr lang="es-CO" spc="-130" noProof="0" dirty="0"/>
              <a:t>que</a:t>
            </a:r>
            <a:r>
              <a:rPr lang="es-CO" spc="-60" noProof="0" dirty="0"/>
              <a:t> </a:t>
            </a:r>
            <a:r>
              <a:rPr lang="es-CO" spc="-35" noProof="0" dirty="0"/>
              <a:t>divide</a:t>
            </a:r>
            <a:r>
              <a:rPr lang="es-CO" spc="30" noProof="0" dirty="0"/>
              <a:t> </a:t>
            </a:r>
            <a:r>
              <a:rPr lang="es-CO" noProof="0" dirty="0"/>
              <a:t>al</a:t>
            </a:r>
            <a:r>
              <a:rPr lang="es-CO" spc="65" noProof="0" dirty="0"/>
              <a:t> </a:t>
            </a:r>
            <a:r>
              <a:rPr lang="es-CO" spc="-215" noProof="0" dirty="0"/>
              <a:t>conjunto</a:t>
            </a:r>
            <a:r>
              <a:rPr lang="es-CO" spc="20" noProof="0" dirty="0"/>
              <a:t> </a:t>
            </a:r>
            <a:r>
              <a:rPr lang="es-CO" spc="-225" noProof="0" dirty="0"/>
              <a:t>en</a:t>
            </a:r>
            <a:r>
              <a:rPr lang="es-CO" spc="30" noProof="0" dirty="0"/>
              <a:t> </a:t>
            </a:r>
            <a:r>
              <a:rPr lang="es-CO" spc="-185" noProof="0" dirty="0"/>
              <a:t>dos</a:t>
            </a:r>
            <a:r>
              <a:rPr lang="es-CO" spc="-5" noProof="0" dirty="0"/>
              <a:t> </a:t>
            </a:r>
            <a:r>
              <a:rPr lang="es-CO" spc="-65" noProof="0" dirty="0"/>
              <a:t>partes </a:t>
            </a:r>
            <a:r>
              <a:rPr lang="es-CO" spc="-140" noProof="0" dirty="0">
                <a:latin typeface="Arial MT"/>
                <a:cs typeface="Arial MT"/>
              </a:rPr>
              <a:t>iguales</a:t>
            </a:r>
            <a:r>
              <a:rPr lang="es-CO" spc="-150" noProof="0" dirty="0">
                <a:latin typeface="Arial MT"/>
                <a:cs typeface="Arial MT"/>
              </a:rPr>
              <a:t> </a:t>
            </a:r>
            <a:r>
              <a:rPr lang="es-CO" noProof="0" dirty="0">
                <a:latin typeface="Arial MT"/>
                <a:cs typeface="Arial MT"/>
              </a:rPr>
              <a:t>o</a:t>
            </a:r>
            <a:r>
              <a:rPr lang="es-CO" spc="-165" noProof="0" dirty="0">
                <a:latin typeface="Arial MT"/>
                <a:cs typeface="Arial MT"/>
              </a:rPr>
              <a:t> </a:t>
            </a:r>
            <a:r>
              <a:rPr lang="es-CO" spc="-105" noProof="0" dirty="0">
                <a:latin typeface="Arial MT"/>
                <a:cs typeface="Arial MT"/>
              </a:rPr>
              <a:t>bien</a:t>
            </a:r>
            <a:r>
              <a:rPr lang="es-CO" spc="-135" noProof="0" dirty="0">
                <a:latin typeface="Arial MT"/>
                <a:cs typeface="Arial MT"/>
              </a:rPr>
              <a:t> </a:t>
            </a:r>
            <a:r>
              <a:rPr lang="es-CO" spc="-170" noProof="0" dirty="0">
                <a:latin typeface="Arial MT"/>
                <a:cs typeface="Arial MT"/>
              </a:rPr>
              <a:t>se</a:t>
            </a:r>
            <a:r>
              <a:rPr lang="es-CO" spc="-330" noProof="0" dirty="0">
                <a:latin typeface="Arial MT"/>
                <a:cs typeface="Arial MT"/>
              </a:rPr>
              <a:t> </a:t>
            </a:r>
            <a:r>
              <a:rPr lang="es-CO" noProof="0" dirty="0">
                <a:latin typeface="Arial MT"/>
                <a:cs typeface="Arial MT"/>
              </a:rPr>
              <a:t>dirá</a:t>
            </a:r>
            <a:r>
              <a:rPr lang="es-CO" spc="-25" noProof="0" dirty="0">
                <a:latin typeface="Arial MT"/>
                <a:cs typeface="Arial MT"/>
              </a:rPr>
              <a:t> </a:t>
            </a:r>
            <a:r>
              <a:rPr lang="es-CO" spc="-125" noProof="0" dirty="0">
                <a:latin typeface="Arial MT"/>
                <a:cs typeface="Arial MT"/>
              </a:rPr>
              <a:t>que</a:t>
            </a:r>
            <a:r>
              <a:rPr lang="es-CO" spc="-165" noProof="0" dirty="0">
                <a:latin typeface="Arial MT"/>
                <a:cs typeface="Arial MT"/>
              </a:rPr>
              <a:t> </a:t>
            </a:r>
            <a:r>
              <a:rPr lang="es-CO" noProof="0" dirty="0">
                <a:latin typeface="Arial MT"/>
                <a:cs typeface="Arial MT"/>
              </a:rPr>
              <a:t>“la</a:t>
            </a:r>
            <a:r>
              <a:rPr lang="es-CO" spc="50" noProof="0" dirty="0">
                <a:latin typeface="Arial MT"/>
                <a:cs typeface="Arial MT"/>
              </a:rPr>
              <a:t> </a:t>
            </a:r>
            <a:r>
              <a:rPr lang="es-CO" spc="-140" noProof="0" dirty="0">
                <a:latin typeface="Arial MT"/>
                <a:cs typeface="Arial MT"/>
              </a:rPr>
              <a:t>mediana</a:t>
            </a:r>
            <a:r>
              <a:rPr lang="es-CO" spc="-150" noProof="0" dirty="0">
                <a:latin typeface="Arial MT"/>
                <a:cs typeface="Arial MT"/>
              </a:rPr>
              <a:t> </a:t>
            </a:r>
            <a:r>
              <a:rPr lang="es-CO" spc="-135" noProof="0" dirty="0">
                <a:latin typeface="Arial MT"/>
                <a:cs typeface="Arial MT"/>
              </a:rPr>
              <a:t>está</a:t>
            </a:r>
            <a:r>
              <a:rPr lang="es-CO" spc="-204" noProof="0" dirty="0">
                <a:latin typeface="Arial MT"/>
                <a:cs typeface="Arial MT"/>
              </a:rPr>
              <a:t> </a:t>
            </a:r>
            <a:r>
              <a:rPr lang="es-CO" spc="-114" noProof="0" dirty="0">
                <a:latin typeface="Arial MT"/>
                <a:cs typeface="Arial MT"/>
              </a:rPr>
              <a:t>entre</a:t>
            </a:r>
            <a:r>
              <a:rPr lang="es-CO" spc="-175" noProof="0" dirty="0">
                <a:latin typeface="Arial MT"/>
                <a:cs typeface="Arial MT"/>
              </a:rPr>
              <a:t> </a:t>
            </a:r>
            <a:r>
              <a:rPr lang="es-CO" spc="-160" noProof="0" dirty="0">
                <a:latin typeface="Arial MT"/>
                <a:cs typeface="Arial MT"/>
              </a:rPr>
              <a:t>los</a:t>
            </a:r>
            <a:r>
              <a:rPr lang="es-CO" spc="-225" noProof="0" dirty="0">
                <a:latin typeface="Arial MT"/>
                <a:cs typeface="Arial MT"/>
              </a:rPr>
              <a:t> </a:t>
            </a:r>
            <a:r>
              <a:rPr lang="es-CO" spc="-140" noProof="0" dirty="0">
                <a:latin typeface="Arial MT"/>
                <a:cs typeface="Arial MT"/>
              </a:rPr>
              <a:t>valores</a:t>
            </a:r>
            <a:r>
              <a:rPr lang="es-CO" spc="-155" noProof="0" dirty="0">
                <a:latin typeface="Arial MT"/>
                <a:cs typeface="Arial MT"/>
              </a:rPr>
              <a:t> </a:t>
            </a:r>
            <a:r>
              <a:rPr lang="es-CO" spc="-25" noProof="0" dirty="0">
                <a:latin typeface="Arial MT"/>
                <a:cs typeface="Arial MT"/>
              </a:rPr>
              <a:t>…”.</a:t>
            </a:r>
          </a:p>
          <a:p>
            <a:pPr marL="332105" indent="-319405" algn="just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pc="-204" noProof="0" dirty="0"/>
              <a:t>Antes</a:t>
            </a:r>
            <a:r>
              <a:rPr lang="es-CO" spc="-225" noProof="0" dirty="0"/>
              <a:t> </a:t>
            </a:r>
            <a:r>
              <a:rPr lang="es-CO" noProof="0" dirty="0"/>
              <a:t>de</a:t>
            </a:r>
            <a:r>
              <a:rPr lang="es-CO" spc="-45" noProof="0" dirty="0"/>
              <a:t> </a:t>
            </a:r>
            <a:r>
              <a:rPr lang="es-CO" spc="-110" noProof="0" dirty="0"/>
              <a:t>calcularla</a:t>
            </a:r>
            <a:r>
              <a:rPr lang="es-CO" spc="-105" noProof="0" dirty="0"/>
              <a:t> </a:t>
            </a:r>
            <a:r>
              <a:rPr lang="es-CO" spc="-125" noProof="0" dirty="0"/>
              <a:t>deben</a:t>
            </a:r>
            <a:r>
              <a:rPr lang="es-CO" spc="-145" noProof="0" dirty="0"/>
              <a:t> </a:t>
            </a:r>
            <a:r>
              <a:rPr lang="es-CO" b="1" spc="-215" noProof="0" dirty="0">
                <a:latin typeface="Arial"/>
                <a:cs typeface="Arial"/>
              </a:rPr>
              <a:t>ordenarse</a:t>
            </a:r>
            <a:r>
              <a:rPr lang="es-CO" b="1" spc="-305" noProof="0" dirty="0">
                <a:latin typeface="Arial"/>
                <a:cs typeface="Arial"/>
              </a:rPr>
              <a:t> </a:t>
            </a:r>
            <a:r>
              <a:rPr lang="es-CO" b="1" spc="-170" noProof="0" dirty="0">
                <a:latin typeface="Arial"/>
                <a:cs typeface="Arial"/>
              </a:rPr>
              <a:t>los</a:t>
            </a:r>
            <a:r>
              <a:rPr lang="es-CO" b="1" spc="-245" noProof="0" dirty="0">
                <a:latin typeface="Arial"/>
                <a:cs typeface="Arial"/>
              </a:rPr>
              <a:t> </a:t>
            </a:r>
            <a:r>
              <a:rPr lang="es-CO" b="1" spc="-165" noProof="0" dirty="0">
                <a:latin typeface="Arial"/>
                <a:cs typeface="Arial"/>
              </a:rPr>
              <a:t>valores</a:t>
            </a:r>
            <a:r>
              <a:rPr lang="es-CO" b="1" spc="-270" noProof="0" dirty="0">
                <a:latin typeface="Arial"/>
                <a:cs typeface="Arial"/>
              </a:rPr>
              <a:t> </a:t>
            </a:r>
            <a:r>
              <a:rPr lang="es-CO" noProof="0" dirty="0"/>
              <a:t>del</a:t>
            </a:r>
            <a:r>
              <a:rPr lang="es-CO" spc="-35" noProof="0" dirty="0"/>
              <a:t> </a:t>
            </a:r>
            <a:r>
              <a:rPr lang="es-CO" spc="-10" noProof="0" dirty="0"/>
              <a:t>atributo.</a:t>
            </a:r>
          </a:p>
          <a:p>
            <a:pPr>
              <a:lnSpc>
                <a:spcPct val="100000"/>
              </a:lnSpc>
              <a:spcBef>
                <a:spcPts val="1880"/>
              </a:spcBef>
              <a:buClr>
                <a:srgbClr val="DD8046"/>
              </a:buClr>
              <a:buFont typeface="Wingdings"/>
              <a:buChar char=""/>
            </a:pPr>
            <a:endParaRPr lang="es-CO" spc="-10" noProof="0" dirty="0"/>
          </a:p>
          <a:p>
            <a:pPr marL="332105" indent="-319405" algn="just">
              <a:lnSpc>
                <a:spcPct val="100000"/>
              </a:lnSpc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pc="-200" noProof="0" dirty="0"/>
              <a:t>Ejemplo:</a:t>
            </a:r>
            <a:r>
              <a:rPr lang="es-CO" spc="-210" noProof="0" dirty="0"/>
              <a:t> </a:t>
            </a:r>
            <a:r>
              <a:rPr lang="es-CO" spc="-60" noProof="0" dirty="0"/>
              <a:t>atributo</a:t>
            </a:r>
            <a:r>
              <a:rPr lang="es-CO" spc="-65" noProof="0" dirty="0"/>
              <a:t> </a:t>
            </a:r>
            <a:r>
              <a:rPr lang="es-CO" spc="-80" noProof="0" dirty="0"/>
              <a:t>ordinal</a:t>
            </a:r>
            <a:r>
              <a:rPr lang="es-CO" spc="-100" noProof="0" dirty="0"/>
              <a:t> </a:t>
            </a:r>
            <a:r>
              <a:rPr lang="es-CO" spc="-190" noProof="0" dirty="0"/>
              <a:t>con</a:t>
            </a:r>
            <a:r>
              <a:rPr lang="es-CO" spc="-275" noProof="0" dirty="0"/>
              <a:t> </a:t>
            </a:r>
            <a:r>
              <a:rPr lang="es-CO" spc="-160" noProof="0" dirty="0"/>
              <a:t>una</a:t>
            </a:r>
            <a:r>
              <a:rPr lang="es-CO" spc="-200" noProof="0" dirty="0"/>
              <a:t> </a:t>
            </a:r>
            <a:r>
              <a:rPr lang="es-CO" b="1" spc="-185" noProof="0" dirty="0">
                <a:latin typeface="Arial"/>
                <a:cs typeface="Arial"/>
              </a:rPr>
              <a:t>cantidad</a:t>
            </a:r>
            <a:r>
              <a:rPr lang="es-CO" b="1" spc="-310" noProof="0" dirty="0">
                <a:latin typeface="Arial"/>
                <a:cs typeface="Arial"/>
              </a:rPr>
              <a:t> </a:t>
            </a:r>
            <a:r>
              <a:rPr lang="es-CO" b="1" spc="-130" noProof="0" dirty="0">
                <a:latin typeface="Arial"/>
                <a:cs typeface="Arial"/>
              </a:rPr>
              <a:t>par</a:t>
            </a:r>
            <a:r>
              <a:rPr lang="es-CO" b="1" spc="-245" noProof="0" dirty="0">
                <a:latin typeface="Arial"/>
                <a:cs typeface="Arial"/>
              </a:rPr>
              <a:t> </a:t>
            </a:r>
            <a:r>
              <a:rPr lang="es-CO" noProof="0" dirty="0"/>
              <a:t>de</a:t>
            </a:r>
            <a:r>
              <a:rPr lang="es-CO" spc="-55" noProof="0" dirty="0"/>
              <a:t> </a:t>
            </a:r>
            <a:r>
              <a:rPr lang="es-CO" spc="-10" noProof="0" dirty="0"/>
              <a:t>valores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799201" y="5509640"/>
            <a:ext cx="307340" cy="305435"/>
            <a:chOff x="5799201" y="5509640"/>
            <a:chExt cx="307340" cy="305435"/>
          </a:xfrm>
        </p:grpSpPr>
        <p:sp>
          <p:nvSpPr>
            <p:cNvPr id="5" name="object 5"/>
            <p:cNvSpPr/>
            <p:nvPr/>
          </p:nvSpPr>
          <p:spPr>
            <a:xfrm>
              <a:off x="5807964" y="5518403"/>
              <a:ext cx="288290" cy="286385"/>
            </a:xfrm>
            <a:custGeom>
              <a:avLst/>
              <a:gdLst/>
              <a:ahLst/>
              <a:cxnLst/>
              <a:rect l="l" t="t" r="r" b="b"/>
              <a:pathLst>
                <a:path w="288289" h="286385">
                  <a:moveTo>
                    <a:pt x="143890" y="0"/>
                  </a:moveTo>
                  <a:lnTo>
                    <a:pt x="0" y="143192"/>
                  </a:lnTo>
                  <a:lnTo>
                    <a:pt x="71882" y="143192"/>
                  </a:lnTo>
                  <a:lnTo>
                    <a:pt x="71882" y="286385"/>
                  </a:lnTo>
                  <a:lnTo>
                    <a:pt x="215773" y="286385"/>
                  </a:lnTo>
                  <a:lnTo>
                    <a:pt x="215773" y="143192"/>
                  </a:lnTo>
                  <a:lnTo>
                    <a:pt x="287782" y="143192"/>
                  </a:lnTo>
                  <a:lnTo>
                    <a:pt x="143890" y="0"/>
                  </a:lnTo>
                  <a:close/>
                </a:path>
              </a:pathLst>
            </a:custGeom>
            <a:solidFill>
              <a:srgbClr val="92B6D2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5808726" y="5519165"/>
              <a:ext cx="288290" cy="286385"/>
            </a:xfrm>
            <a:custGeom>
              <a:avLst/>
              <a:gdLst/>
              <a:ahLst/>
              <a:cxnLst/>
              <a:rect l="l" t="t" r="r" b="b"/>
              <a:pathLst>
                <a:path w="288289" h="286385">
                  <a:moveTo>
                    <a:pt x="0" y="143192"/>
                  </a:moveTo>
                  <a:lnTo>
                    <a:pt x="143890" y="0"/>
                  </a:lnTo>
                  <a:lnTo>
                    <a:pt x="287782" y="143192"/>
                  </a:lnTo>
                  <a:lnTo>
                    <a:pt x="215773" y="143192"/>
                  </a:lnTo>
                  <a:lnTo>
                    <a:pt x="215773" y="286385"/>
                  </a:lnTo>
                  <a:lnTo>
                    <a:pt x="71882" y="286385"/>
                  </a:lnTo>
                  <a:lnTo>
                    <a:pt x="71882" y="143192"/>
                  </a:lnTo>
                  <a:lnTo>
                    <a:pt x="0" y="143192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099891"/>
              </p:ext>
            </p:extLst>
          </p:nvPr>
        </p:nvGraphicFramePr>
        <p:xfrm>
          <a:off x="1474724" y="4915789"/>
          <a:ext cx="8930635" cy="480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6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3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63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63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63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63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0695"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s-CO" sz="2400" b="1" spc="-10" noProof="0" dirty="0">
                          <a:latin typeface="Arial"/>
                          <a:cs typeface="Arial"/>
                        </a:rPr>
                        <a:t>chico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s-CO" sz="2400" b="1" spc="-10" noProof="0" dirty="0">
                          <a:latin typeface="Arial"/>
                          <a:cs typeface="Arial"/>
                        </a:rPr>
                        <a:t>chico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s-CO" sz="2400" b="1" spc="-10" noProof="0" dirty="0">
                          <a:latin typeface="Arial"/>
                          <a:cs typeface="Arial"/>
                        </a:rPr>
                        <a:t>chico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s-CO" sz="2400" b="1" spc="-10" noProof="0" dirty="0">
                          <a:latin typeface="Arial"/>
                          <a:cs typeface="Arial"/>
                        </a:rPr>
                        <a:t>medio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s-CO" sz="2400" b="1" spc="-10" noProof="0" dirty="0">
                          <a:latin typeface="Arial"/>
                          <a:cs typeface="Arial"/>
                        </a:rPr>
                        <a:t>medio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s-CO" sz="2400" b="1" spc="-35" noProof="0" dirty="0">
                          <a:latin typeface="Arial"/>
                          <a:cs typeface="Arial"/>
                        </a:rPr>
                        <a:t>grande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s-CO" sz="2400" b="1" spc="-35" noProof="0" dirty="0">
                          <a:latin typeface="Arial"/>
                          <a:cs typeface="Arial"/>
                        </a:rPr>
                        <a:t>grande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s-CO" sz="2400" b="1" spc="-35" noProof="0" dirty="0">
                          <a:latin typeface="Arial"/>
                          <a:cs typeface="Arial"/>
                        </a:rPr>
                        <a:t>grande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3432047" y="28955"/>
            <a:ext cx="4523105" cy="399415"/>
          </a:xfrm>
          <a:prstGeom prst="rect">
            <a:avLst/>
          </a:prstGeom>
          <a:solidFill>
            <a:srgbClr val="EBB391"/>
          </a:solidFill>
        </p:spPr>
        <p:txBody>
          <a:bodyPr vert="horz" wrap="square" lIns="0" tIns="24130" rIns="0" bIns="0" rtlCol="0">
            <a:spAutoFit/>
          </a:bodyPr>
          <a:lstStyle/>
          <a:p>
            <a:pPr marL="493395">
              <a:lnSpc>
                <a:spcPct val="100000"/>
              </a:lnSpc>
              <a:spcBef>
                <a:spcPts val="190"/>
              </a:spcBef>
            </a:pPr>
            <a:r>
              <a:rPr lang="es-CO" sz="2000" spc="-22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MEDIDAS</a:t>
            </a:r>
            <a:r>
              <a:rPr lang="es-CO" sz="2000" spc="-20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19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lang="es-CO" sz="2000" spc="-29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23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TENDENCIA</a:t>
            </a:r>
            <a:r>
              <a:rPr lang="es-CO" sz="2000" spc="-14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28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CENTRAL</a:t>
            </a:r>
            <a:endParaRPr lang="es-CO" sz="2000" noProof="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5299" y="330149"/>
            <a:ext cx="22415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pc="-625" noProof="0" dirty="0"/>
              <a:t>ME</a:t>
            </a:r>
            <a:r>
              <a:rPr lang="es-CO" spc="-590" noProof="0" dirty="0"/>
              <a:t>D</a:t>
            </a:r>
            <a:r>
              <a:rPr lang="es-CO" spc="-295" noProof="0" dirty="0"/>
              <a:t>I</a:t>
            </a:r>
            <a:r>
              <a:rPr lang="es-CO" spc="-285" noProof="0" dirty="0"/>
              <a:t>A</a:t>
            </a:r>
            <a:r>
              <a:rPr lang="es-CO" spc="-290" noProof="0" dirty="0"/>
              <a:t>N</a:t>
            </a:r>
            <a:r>
              <a:rPr lang="es-CO" spc="-10" noProof="0" dirty="0"/>
              <a:t>A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 algn="just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lang="es-CO" spc="-265" noProof="0" dirty="0"/>
              <a:t>También</a:t>
            </a:r>
            <a:r>
              <a:rPr lang="es-CO" spc="70" noProof="0" dirty="0"/>
              <a:t> </a:t>
            </a:r>
            <a:r>
              <a:rPr lang="es-CO" spc="-125" noProof="0" dirty="0"/>
              <a:t>puede</a:t>
            </a:r>
            <a:r>
              <a:rPr lang="es-CO" spc="-70" noProof="0" dirty="0"/>
              <a:t> </a:t>
            </a:r>
            <a:r>
              <a:rPr lang="es-CO" spc="-180" noProof="0" dirty="0"/>
              <a:t>calcularse</a:t>
            </a:r>
            <a:r>
              <a:rPr lang="es-CO" spc="-15" noProof="0" dirty="0"/>
              <a:t> </a:t>
            </a:r>
            <a:r>
              <a:rPr lang="es-CO" spc="-160" noProof="0" dirty="0"/>
              <a:t>sobre</a:t>
            </a:r>
            <a:r>
              <a:rPr lang="es-CO" spc="-30" noProof="0" dirty="0"/>
              <a:t> </a:t>
            </a:r>
            <a:r>
              <a:rPr lang="es-CO" b="1" spc="-225" noProof="0" dirty="0">
                <a:solidFill>
                  <a:srgbClr val="C00000"/>
                </a:solidFill>
                <a:latin typeface="Arial"/>
                <a:cs typeface="Arial"/>
              </a:rPr>
              <a:t>atributos</a:t>
            </a:r>
            <a:r>
              <a:rPr lang="es-CO" b="1" spc="25" noProof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s-CO" b="1" spc="-204" noProof="0" dirty="0">
                <a:solidFill>
                  <a:srgbClr val="C00000"/>
                </a:solidFill>
                <a:latin typeface="Arial"/>
                <a:cs typeface="Arial"/>
              </a:rPr>
              <a:t>ordinales</a:t>
            </a:r>
            <a:r>
              <a:rPr lang="es-CO" spc="-204" noProof="0" dirty="0"/>
              <a:t>.</a:t>
            </a:r>
            <a:r>
              <a:rPr lang="es-CO" spc="10" noProof="0" dirty="0"/>
              <a:t> </a:t>
            </a:r>
            <a:r>
              <a:rPr lang="es-CO" spc="-1045" noProof="0" dirty="0"/>
              <a:t>E</a:t>
            </a:r>
            <a:r>
              <a:rPr lang="es-CO" spc="-535" noProof="0" dirty="0"/>
              <a:t>n</a:t>
            </a:r>
            <a:r>
              <a:rPr lang="es-CO" spc="595" noProof="0" dirty="0"/>
              <a:t> </a:t>
            </a:r>
            <a:r>
              <a:rPr lang="es-CO" noProof="0" dirty="0"/>
              <a:t>tal</a:t>
            </a:r>
            <a:r>
              <a:rPr lang="es-CO" spc="235" noProof="0" dirty="0"/>
              <a:t> </a:t>
            </a:r>
            <a:r>
              <a:rPr lang="es-CO" spc="-265" noProof="0" dirty="0"/>
              <a:t>caso,</a:t>
            </a:r>
            <a:r>
              <a:rPr lang="es-CO" spc="70" noProof="0" dirty="0"/>
              <a:t> </a:t>
            </a:r>
            <a:r>
              <a:rPr lang="es-CO" spc="-25" noProof="0" dirty="0"/>
              <a:t>el </a:t>
            </a:r>
            <a:r>
              <a:rPr lang="es-CO" spc="-125" noProof="0" dirty="0"/>
              <a:t>resultado</a:t>
            </a:r>
            <a:r>
              <a:rPr lang="es-CO" spc="-70" noProof="0" dirty="0"/>
              <a:t> </a:t>
            </a:r>
            <a:r>
              <a:rPr lang="es-CO" spc="-135" noProof="0" dirty="0"/>
              <a:t>será</a:t>
            </a:r>
            <a:r>
              <a:rPr lang="es-CO" spc="-60" noProof="0" dirty="0"/>
              <a:t> </a:t>
            </a:r>
            <a:r>
              <a:rPr lang="es-CO" noProof="0" dirty="0"/>
              <a:t>o</a:t>
            </a:r>
            <a:r>
              <a:rPr lang="es-CO" spc="-195" noProof="0" dirty="0"/>
              <a:t> </a:t>
            </a:r>
            <a:r>
              <a:rPr lang="es-CO" spc="-90" noProof="0" dirty="0"/>
              <a:t>bien</a:t>
            </a:r>
            <a:r>
              <a:rPr lang="es-CO" spc="-100" noProof="0" dirty="0"/>
              <a:t> </a:t>
            </a:r>
            <a:r>
              <a:rPr lang="es-CO" noProof="0" dirty="0"/>
              <a:t>el</a:t>
            </a:r>
            <a:r>
              <a:rPr lang="es-CO" spc="-195" noProof="0" dirty="0"/>
              <a:t> </a:t>
            </a:r>
            <a:r>
              <a:rPr lang="es-CO" spc="-45" noProof="0" dirty="0"/>
              <a:t>valor</a:t>
            </a:r>
            <a:r>
              <a:rPr lang="es-CO" spc="-40" noProof="0" dirty="0"/>
              <a:t> </a:t>
            </a:r>
            <a:r>
              <a:rPr lang="es-CO" spc="-130" noProof="0" dirty="0"/>
              <a:t>que</a:t>
            </a:r>
            <a:r>
              <a:rPr lang="es-CO" spc="-60" noProof="0" dirty="0"/>
              <a:t> </a:t>
            </a:r>
            <a:r>
              <a:rPr lang="es-CO" spc="-35" noProof="0" dirty="0"/>
              <a:t>divide</a:t>
            </a:r>
            <a:r>
              <a:rPr lang="es-CO" spc="30" noProof="0" dirty="0"/>
              <a:t> </a:t>
            </a:r>
            <a:r>
              <a:rPr lang="es-CO" noProof="0" dirty="0"/>
              <a:t>al</a:t>
            </a:r>
            <a:r>
              <a:rPr lang="es-CO" spc="65" noProof="0" dirty="0"/>
              <a:t> </a:t>
            </a:r>
            <a:r>
              <a:rPr lang="es-CO" spc="-215" noProof="0" dirty="0"/>
              <a:t>conjunto</a:t>
            </a:r>
            <a:r>
              <a:rPr lang="es-CO" spc="20" noProof="0" dirty="0"/>
              <a:t> </a:t>
            </a:r>
            <a:r>
              <a:rPr lang="es-CO" spc="-225" noProof="0" dirty="0"/>
              <a:t>en</a:t>
            </a:r>
            <a:r>
              <a:rPr lang="es-CO" spc="30" noProof="0" dirty="0"/>
              <a:t> </a:t>
            </a:r>
            <a:r>
              <a:rPr lang="es-CO" spc="-185" noProof="0" dirty="0"/>
              <a:t>dos</a:t>
            </a:r>
            <a:r>
              <a:rPr lang="es-CO" spc="-5" noProof="0" dirty="0"/>
              <a:t> </a:t>
            </a:r>
            <a:r>
              <a:rPr lang="es-CO" spc="-65" noProof="0" dirty="0"/>
              <a:t>partes </a:t>
            </a:r>
            <a:r>
              <a:rPr lang="es-CO" spc="-140" noProof="0" dirty="0">
                <a:latin typeface="Arial MT"/>
                <a:cs typeface="Arial MT"/>
              </a:rPr>
              <a:t>iguales</a:t>
            </a:r>
            <a:r>
              <a:rPr lang="es-CO" spc="-150" noProof="0" dirty="0">
                <a:latin typeface="Arial MT"/>
                <a:cs typeface="Arial MT"/>
              </a:rPr>
              <a:t> </a:t>
            </a:r>
            <a:r>
              <a:rPr lang="es-CO" noProof="0" dirty="0">
                <a:latin typeface="Arial MT"/>
                <a:cs typeface="Arial MT"/>
              </a:rPr>
              <a:t>o</a:t>
            </a:r>
            <a:r>
              <a:rPr lang="es-CO" spc="-165" noProof="0" dirty="0">
                <a:latin typeface="Arial MT"/>
                <a:cs typeface="Arial MT"/>
              </a:rPr>
              <a:t> </a:t>
            </a:r>
            <a:r>
              <a:rPr lang="es-CO" spc="-105" noProof="0" dirty="0">
                <a:latin typeface="Arial MT"/>
                <a:cs typeface="Arial MT"/>
              </a:rPr>
              <a:t>bien</a:t>
            </a:r>
            <a:r>
              <a:rPr lang="es-CO" spc="-135" noProof="0" dirty="0">
                <a:latin typeface="Arial MT"/>
                <a:cs typeface="Arial MT"/>
              </a:rPr>
              <a:t> </a:t>
            </a:r>
            <a:r>
              <a:rPr lang="es-CO" spc="-170" noProof="0" dirty="0">
                <a:latin typeface="Arial MT"/>
                <a:cs typeface="Arial MT"/>
              </a:rPr>
              <a:t>se</a:t>
            </a:r>
            <a:r>
              <a:rPr lang="es-CO" spc="-330" noProof="0" dirty="0">
                <a:latin typeface="Arial MT"/>
                <a:cs typeface="Arial MT"/>
              </a:rPr>
              <a:t> </a:t>
            </a:r>
            <a:r>
              <a:rPr lang="es-CO" noProof="0" dirty="0">
                <a:latin typeface="Arial MT"/>
                <a:cs typeface="Arial MT"/>
              </a:rPr>
              <a:t>dirá</a:t>
            </a:r>
            <a:r>
              <a:rPr lang="es-CO" spc="-25" noProof="0" dirty="0">
                <a:latin typeface="Arial MT"/>
                <a:cs typeface="Arial MT"/>
              </a:rPr>
              <a:t> </a:t>
            </a:r>
            <a:r>
              <a:rPr lang="es-CO" spc="-125" noProof="0" dirty="0">
                <a:latin typeface="Arial MT"/>
                <a:cs typeface="Arial MT"/>
              </a:rPr>
              <a:t>que</a:t>
            </a:r>
            <a:r>
              <a:rPr lang="es-CO" spc="-165" noProof="0" dirty="0">
                <a:latin typeface="Arial MT"/>
                <a:cs typeface="Arial MT"/>
              </a:rPr>
              <a:t> </a:t>
            </a:r>
            <a:r>
              <a:rPr lang="es-CO" noProof="0" dirty="0">
                <a:latin typeface="Arial MT"/>
                <a:cs typeface="Arial MT"/>
              </a:rPr>
              <a:t>“la</a:t>
            </a:r>
            <a:r>
              <a:rPr lang="es-CO" spc="50" noProof="0" dirty="0">
                <a:latin typeface="Arial MT"/>
                <a:cs typeface="Arial MT"/>
              </a:rPr>
              <a:t> </a:t>
            </a:r>
            <a:r>
              <a:rPr lang="es-CO" spc="-140" noProof="0" dirty="0">
                <a:latin typeface="Arial MT"/>
                <a:cs typeface="Arial MT"/>
              </a:rPr>
              <a:t>mediana</a:t>
            </a:r>
            <a:r>
              <a:rPr lang="es-CO" spc="-150" noProof="0" dirty="0">
                <a:latin typeface="Arial MT"/>
                <a:cs typeface="Arial MT"/>
              </a:rPr>
              <a:t> </a:t>
            </a:r>
            <a:r>
              <a:rPr lang="es-CO" spc="-135" noProof="0" dirty="0">
                <a:latin typeface="Arial MT"/>
                <a:cs typeface="Arial MT"/>
              </a:rPr>
              <a:t>está</a:t>
            </a:r>
            <a:r>
              <a:rPr lang="es-CO" spc="-204" noProof="0" dirty="0">
                <a:latin typeface="Arial MT"/>
                <a:cs typeface="Arial MT"/>
              </a:rPr>
              <a:t> </a:t>
            </a:r>
            <a:r>
              <a:rPr lang="es-CO" spc="-114" noProof="0" dirty="0">
                <a:latin typeface="Arial MT"/>
                <a:cs typeface="Arial MT"/>
              </a:rPr>
              <a:t>entre</a:t>
            </a:r>
            <a:r>
              <a:rPr lang="es-CO" spc="-175" noProof="0" dirty="0">
                <a:latin typeface="Arial MT"/>
                <a:cs typeface="Arial MT"/>
              </a:rPr>
              <a:t> </a:t>
            </a:r>
            <a:r>
              <a:rPr lang="es-CO" spc="-160" noProof="0" dirty="0">
                <a:latin typeface="Arial MT"/>
                <a:cs typeface="Arial MT"/>
              </a:rPr>
              <a:t>los</a:t>
            </a:r>
            <a:r>
              <a:rPr lang="es-CO" spc="-225" noProof="0" dirty="0">
                <a:latin typeface="Arial MT"/>
                <a:cs typeface="Arial MT"/>
              </a:rPr>
              <a:t> </a:t>
            </a:r>
            <a:r>
              <a:rPr lang="es-CO" spc="-140" noProof="0" dirty="0">
                <a:latin typeface="Arial MT"/>
                <a:cs typeface="Arial MT"/>
              </a:rPr>
              <a:t>valores</a:t>
            </a:r>
            <a:r>
              <a:rPr lang="es-CO" spc="-155" noProof="0" dirty="0">
                <a:latin typeface="Arial MT"/>
                <a:cs typeface="Arial MT"/>
              </a:rPr>
              <a:t> </a:t>
            </a:r>
            <a:r>
              <a:rPr lang="es-CO" spc="-25" noProof="0" dirty="0">
                <a:latin typeface="Arial MT"/>
                <a:cs typeface="Arial MT"/>
              </a:rPr>
              <a:t>…”.</a:t>
            </a:r>
          </a:p>
          <a:p>
            <a:pPr marL="332105" indent="-319405" algn="just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pc="-204" noProof="0" dirty="0"/>
              <a:t>Antes</a:t>
            </a:r>
            <a:r>
              <a:rPr lang="es-CO" spc="-225" noProof="0" dirty="0"/>
              <a:t> </a:t>
            </a:r>
            <a:r>
              <a:rPr lang="es-CO" noProof="0" dirty="0"/>
              <a:t>de</a:t>
            </a:r>
            <a:r>
              <a:rPr lang="es-CO" spc="-45" noProof="0" dirty="0"/>
              <a:t> </a:t>
            </a:r>
            <a:r>
              <a:rPr lang="es-CO" spc="-110" noProof="0" dirty="0"/>
              <a:t>calcularla</a:t>
            </a:r>
            <a:r>
              <a:rPr lang="es-CO" spc="-105" noProof="0" dirty="0"/>
              <a:t> </a:t>
            </a:r>
            <a:r>
              <a:rPr lang="es-CO" spc="-125" noProof="0" dirty="0"/>
              <a:t>deben</a:t>
            </a:r>
            <a:r>
              <a:rPr lang="es-CO" spc="-145" noProof="0" dirty="0"/>
              <a:t> </a:t>
            </a:r>
            <a:r>
              <a:rPr lang="es-CO" b="1" spc="-215" noProof="0" dirty="0">
                <a:latin typeface="Arial"/>
                <a:cs typeface="Arial"/>
              </a:rPr>
              <a:t>ordenarse</a:t>
            </a:r>
            <a:r>
              <a:rPr lang="es-CO" b="1" spc="-305" noProof="0" dirty="0">
                <a:latin typeface="Arial"/>
                <a:cs typeface="Arial"/>
              </a:rPr>
              <a:t> </a:t>
            </a:r>
            <a:r>
              <a:rPr lang="es-CO" b="1" spc="-170" noProof="0" dirty="0">
                <a:latin typeface="Arial"/>
                <a:cs typeface="Arial"/>
              </a:rPr>
              <a:t>los</a:t>
            </a:r>
            <a:r>
              <a:rPr lang="es-CO" b="1" spc="-245" noProof="0" dirty="0">
                <a:latin typeface="Arial"/>
                <a:cs typeface="Arial"/>
              </a:rPr>
              <a:t> </a:t>
            </a:r>
            <a:r>
              <a:rPr lang="es-CO" b="1" spc="-165" noProof="0" dirty="0">
                <a:latin typeface="Arial"/>
                <a:cs typeface="Arial"/>
              </a:rPr>
              <a:t>valores</a:t>
            </a:r>
            <a:r>
              <a:rPr lang="es-CO" b="1" spc="-270" noProof="0" dirty="0">
                <a:latin typeface="Arial"/>
                <a:cs typeface="Arial"/>
              </a:rPr>
              <a:t> </a:t>
            </a:r>
            <a:r>
              <a:rPr lang="es-CO" noProof="0" dirty="0"/>
              <a:t>del</a:t>
            </a:r>
            <a:r>
              <a:rPr lang="es-CO" spc="-35" noProof="0" dirty="0"/>
              <a:t> </a:t>
            </a:r>
            <a:r>
              <a:rPr lang="es-CO" spc="-10" noProof="0" dirty="0"/>
              <a:t>atributo.</a:t>
            </a:r>
          </a:p>
          <a:p>
            <a:pPr>
              <a:lnSpc>
                <a:spcPct val="100000"/>
              </a:lnSpc>
              <a:spcBef>
                <a:spcPts val="1880"/>
              </a:spcBef>
              <a:buClr>
                <a:srgbClr val="DD8046"/>
              </a:buClr>
              <a:buFont typeface="Wingdings"/>
              <a:buChar char=""/>
            </a:pPr>
            <a:endParaRPr lang="es-CO" spc="-10" noProof="0" dirty="0"/>
          </a:p>
          <a:p>
            <a:pPr marL="332105" indent="-319405" algn="just">
              <a:lnSpc>
                <a:spcPct val="100000"/>
              </a:lnSpc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pc="-200" noProof="0" dirty="0"/>
              <a:t>Ejemplo:</a:t>
            </a:r>
            <a:r>
              <a:rPr lang="es-CO" spc="-210" noProof="0" dirty="0"/>
              <a:t> </a:t>
            </a:r>
            <a:r>
              <a:rPr lang="es-CO" spc="-60" noProof="0" dirty="0"/>
              <a:t>atributo</a:t>
            </a:r>
            <a:r>
              <a:rPr lang="es-CO" spc="-65" noProof="0" dirty="0"/>
              <a:t> </a:t>
            </a:r>
            <a:r>
              <a:rPr lang="es-CO" spc="-80" noProof="0" dirty="0"/>
              <a:t>ordinal</a:t>
            </a:r>
            <a:r>
              <a:rPr lang="es-CO" spc="-100" noProof="0" dirty="0"/>
              <a:t> </a:t>
            </a:r>
            <a:r>
              <a:rPr lang="es-CO" spc="-190" noProof="0" dirty="0"/>
              <a:t>con</a:t>
            </a:r>
            <a:r>
              <a:rPr lang="es-CO" spc="-275" noProof="0" dirty="0"/>
              <a:t> </a:t>
            </a:r>
            <a:r>
              <a:rPr lang="es-CO" spc="-160" noProof="0" dirty="0"/>
              <a:t>una</a:t>
            </a:r>
            <a:r>
              <a:rPr lang="es-CO" spc="-200" noProof="0" dirty="0"/>
              <a:t> </a:t>
            </a:r>
            <a:r>
              <a:rPr lang="es-CO" b="1" spc="-185" noProof="0" dirty="0">
                <a:latin typeface="Arial"/>
                <a:cs typeface="Arial"/>
              </a:rPr>
              <a:t>cantidad</a:t>
            </a:r>
            <a:r>
              <a:rPr lang="es-CO" b="1" spc="-310" noProof="0" dirty="0">
                <a:latin typeface="Arial"/>
                <a:cs typeface="Arial"/>
              </a:rPr>
              <a:t> </a:t>
            </a:r>
            <a:r>
              <a:rPr lang="es-CO" b="1" spc="-130" noProof="0" dirty="0">
                <a:latin typeface="Arial"/>
                <a:cs typeface="Arial"/>
              </a:rPr>
              <a:t>par</a:t>
            </a:r>
            <a:r>
              <a:rPr lang="es-CO" b="1" spc="-245" noProof="0" dirty="0">
                <a:latin typeface="Arial"/>
                <a:cs typeface="Arial"/>
              </a:rPr>
              <a:t> </a:t>
            </a:r>
            <a:r>
              <a:rPr lang="es-CO" noProof="0" dirty="0"/>
              <a:t>de</a:t>
            </a:r>
            <a:r>
              <a:rPr lang="es-CO" spc="-55" noProof="0" dirty="0"/>
              <a:t> </a:t>
            </a:r>
            <a:r>
              <a:rPr lang="es-CO" spc="-10" noProof="0" dirty="0"/>
              <a:t>valores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799201" y="5509640"/>
            <a:ext cx="307340" cy="305435"/>
            <a:chOff x="5799201" y="5509640"/>
            <a:chExt cx="307340" cy="305435"/>
          </a:xfrm>
        </p:grpSpPr>
        <p:sp>
          <p:nvSpPr>
            <p:cNvPr id="5" name="object 5"/>
            <p:cNvSpPr/>
            <p:nvPr/>
          </p:nvSpPr>
          <p:spPr>
            <a:xfrm>
              <a:off x="5807964" y="5518403"/>
              <a:ext cx="288290" cy="286385"/>
            </a:xfrm>
            <a:custGeom>
              <a:avLst/>
              <a:gdLst/>
              <a:ahLst/>
              <a:cxnLst/>
              <a:rect l="l" t="t" r="r" b="b"/>
              <a:pathLst>
                <a:path w="288289" h="286385">
                  <a:moveTo>
                    <a:pt x="143890" y="0"/>
                  </a:moveTo>
                  <a:lnTo>
                    <a:pt x="0" y="143192"/>
                  </a:lnTo>
                  <a:lnTo>
                    <a:pt x="71882" y="143192"/>
                  </a:lnTo>
                  <a:lnTo>
                    <a:pt x="71882" y="286385"/>
                  </a:lnTo>
                  <a:lnTo>
                    <a:pt x="215773" y="286385"/>
                  </a:lnTo>
                  <a:lnTo>
                    <a:pt x="215773" y="143192"/>
                  </a:lnTo>
                  <a:lnTo>
                    <a:pt x="287782" y="143192"/>
                  </a:lnTo>
                  <a:lnTo>
                    <a:pt x="143890" y="0"/>
                  </a:lnTo>
                  <a:close/>
                </a:path>
              </a:pathLst>
            </a:custGeom>
            <a:solidFill>
              <a:srgbClr val="92B6D2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5808726" y="5519165"/>
              <a:ext cx="288290" cy="286385"/>
            </a:xfrm>
            <a:custGeom>
              <a:avLst/>
              <a:gdLst/>
              <a:ahLst/>
              <a:cxnLst/>
              <a:rect l="l" t="t" r="r" b="b"/>
              <a:pathLst>
                <a:path w="288289" h="286385">
                  <a:moveTo>
                    <a:pt x="0" y="143192"/>
                  </a:moveTo>
                  <a:lnTo>
                    <a:pt x="143890" y="0"/>
                  </a:lnTo>
                  <a:lnTo>
                    <a:pt x="287782" y="143192"/>
                  </a:lnTo>
                  <a:lnTo>
                    <a:pt x="215773" y="143192"/>
                  </a:lnTo>
                  <a:lnTo>
                    <a:pt x="215773" y="286385"/>
                  </a:lnTo>
                  <a:lnTo>
                    <a:pt x="71882" y="286385"/>
                  </a:lnTo>
                  <a:lnTo>
                    <a:pt x="71882" y="143192"/>
                  </a:lnTo>
                  <a:lnTo>
                    <a:pt x="0" y="143192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343400" y="5926707"/>
            <a:ext cx="3886201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769110" algn="l"/>
              </a:tabLst>
            </a:pPr>
            <a:r>
              <a:rPr lang="es-CO" sz="2400" spc="-395" noProof="0" dirty="0">
                <a:latin typeface="Arial MT"/>
                <a:cs typeface="Arial MT"/>
              </a:rPr>
              <a:t>está</a:t>
            </a:r>
            <a:r>
              <a:rPr lang="es-CO" sz="2400" spc="15" noProof="0" dirty="0">
                <a:latin typeface="Arial MT"/>
                <a:cs typeface="Arial MT"/>
              </a:rPr>
              <a:t> </a:t>
            </a:r>
            <a:r>
              <a:rPr lang="es-CO" sz="2400" spc="-10" noProof="0" dirty="0">
                <a:latin typeface="Arial MT"/>
                <a:cs typeface="Arial MT"/>
              </a:rPr>
              <a:t>entre</a:t>
            </a:r>
            <a:r>
              <a:rPr lang="es-CO" sz="2400" spc="-10" dirty="0">
                <a:latin typeface="Arial MT"/>
                <a:cs typeface="Arial MT"/>
              </a:rPr>
              <a:t> </a:t>
            </a:r>
            <a:r>
              <a:rPr lang="es-CO" sz="2400" spc="-100" noProof="0" dirty="0">
                <a:latin typeface="Arial MT"/>
                <a:cs typeface="Arial MT"/>
              </a:rPr>
              <a:t>“chico”</a:t>
            </a:r>
            <a:r>
              <a:rPr lang="es-CO" sz="2400" spc="-90" noProof="0" dirty="0">
                <a:latin typeface="Arial MT"/>
                <a:cs typeface="Arial MT"/>
              </a:rPr>
              <a:t> </a:t>
            </a:r>
            <a:r>
              <a:rPr lang="es-CO" sz="2400" noProof="0" dirty="0">
                <a:latin typeface="Arial MT"/>
                <a:cs typeface="Arial MT"/>
              </a:rPr>
              <a:t>y</a:t>
            </a:r>
            <a:r>
              <a:rPr lang="es-CO" sz="2400" spc="-5" dirty="0">
                <a:latin typeface="Arial MT"/>
                <a:cs typeface="Arial MT"/>
              </a:rPr>
              <a:t> </a:t>
            </a:r>
            <a:r>
              <a:rPr lang="es-CO" sz="2400" spc="-25" noProof="0" dirty="0">
                <a:latin typeface="Arial MT"/>
                <a:cs typeface="Arial MT"/>
              </a:rPr>
              <a:t>“medio”</a:t>
            </a:r>
            <a:endParaRPr lang="es-CO" sz="2400" noProof="0" dirty="0">
              <a:latin typeface="Arial MT"/>
              <a:cs typeface="Arial MT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165634"/>
              </p:ext>
            </p:extLst>
          </p:nvPr>
        </p:nvGraphicFramePr>
        <p:xfrm>
          <a:off x="1474724" y="4915789"/>
          <a:ext cx="8930635" cy="480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6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6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6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3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63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63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163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163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0695"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s-CO" sz="2400" b="1" spc="-10" noProof="0" dirty="0">
                          <a:latin typeface="Arial"/>
                          <a:cs typeface="Arial"/>
                        </a:rPr>
                        <a:t>chico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s-CO" sz="2400" b="1" spc="-10" noProof="0" dirty="0">
                          <a:latin typeface="Arial"/>
                          <a:cs typeface="Arial"/>
                        </a:rPr>
                        <a:t>chico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304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s-CO" sz="2400" b="1" spc="-10" noProof="0" dirty="0">
                          <a:latin typeface="Arial"/>
                          <a:cs typeface="Arial"/>
                        </a:rPr>
                        <a:t>chico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3679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s-CO" sz="2400" b="1" spc="-10" noProof="0" dirty="0">
                          <a:latin typeface="Arial"/>
                          <a:cs typeface="Arial"/>
                        </a:rPr>
                        <a:t>chico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s-CO" sz="2400" b="1" spc="-10" noProof="0" dirty="0">
                          <a:latin typeface="Arial"/>
                          <a:cs typeface="Arial"/>
                        </a:rPr>
                        <a:t>medio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s-CO" sz="2400" b="1" spc="-35" noProof="0" dirty="0">
                          <a:latin typeface="Arial"/>
                          <a:cs typeface="Arial"/>
                        </a:rPr>
                        <a:t>grande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s-CO" sz="2400" b="1" spc="-35" noProof="0" dirty="0">
                          <a:latin typeface="Arial"/>
                          <a:cs typeface="Arial"/>
                        </a:rPr>
                        <a:t>grande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es-CO" sz="2400" b="1" spc="-35" noProof="0" dirty="0">
                          <a:latin typeface="Arial"/>
                          <a:cs typeface="Arial"/>
                        </a:rPr>
                        <a:t>grande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3432047" y="28955"/>
            <a:ext cx="4523105" cy="399415"/>
          </a:xfrm>
          <a:prstGeom prst="rect">
            <a:avLst/>
          </a:prstGeom>
          <a:solidFill>
            <a:srgbClr val="EBB391"/>
          </a:solidFill>
        </p:spPr>
        <p:txBody>
          <a:bodyPr vert="horz" wrap="square" lIns="0" tIns="24130" rIns="0" bIns="0" rtlCol="0">
            <a:spAutoFit/>
          </a:bodyPr>
          <a:lstStyle/>
          <a:p>
            <a:pPr marL="493395">
              <a:lnSpc>
                <a:spcPct val="100000"/>
              </a:lnSpc>
              <a:spcBef>
                <a:spcPts val="190"/>
              </a:spcBef>
            </a:pPr>
            <a:r>
              <a:rPr lang="es-CO" sz="2000" spc="-22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MEDIDAS</a:t>
            </a:r>
            <a:r>
              <a:rPr lang="es-CO" sz="2000" spc="-20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19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lang="es-CO" sz="2000" spc="-29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23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TENDENCIA</a:t>
            </a:r>
            <a:r>
              <a:rPr lang="es-CO" sz="2000" spc="-14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28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CENTRAL</a:t>
            </a:r>
            <a:endParaRPr lang="es-CO" sz="2000" noProof="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5299" y="330149"/>
            <a:ext cx="15875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pc="-220" noProof="0" dirty="0"/>
              <a:t>MODA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5299" y="1603628"/>
            <a:ext cx="10655300" cy="4477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250825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lang="es-CO" sz="2900" spc="-125" noProof="0" dirty="0">
                <a:latin typeface="Microsoft Sans Serif"/>
                <a:cs typeface="Microsoft Sans Serif"/>
              </a:rPr>
              <a:t>La</a:t>
            </a:r>
            <a:r>
              <a:rPr lang="es-CO" sz="2900" spc="-240" noProof="0" dirty="0">
                <a:latin typeface="Microsoft Sans Serif"/>
                <a:cs typeface="Microsoft Sans Serif"/>
              </a:rPr>
              <a:t> </a:t>
            </a:r>
            <a:r>
              <a:rPr lang="es-CO" sz="2900" spc="-130" noProof="0" dirty="0">
                <a:latin typeface="Microsoft Sans Serif"/>
                <a:cs typeface="Microsoft Sans Serif"/>
              </a:rPr>
              <a:t>moda</a:t>
            </a:r>
            <a:r>
              <a:rPr lang="es-CO" sz="2900" spc="-180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es</a:t>
            </a:r>
            <a:r>
              <a:rPr lang="es-CO" sz="2900" spc="-30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el</a:t>
            </a:r>
            <a:r>
              <a:rPr lang="es-CO" sz="2900" spc="-140" noProof="0" dirty="0">
                <a:latin typeface="Microsoft Sans Serif"/>
                <a:cs typeface="Microsoft Sans Serif"/>
              </a:rPr>
              <a:t> </a:t>
            </a:r>
            <a:r>
              <a:rPr lang="es-CO" sz="2900" spc="-70" noProof="0" dirty="0">
                <a:latin typeface="Microsoft Sans Serif"/>
                <a:cs typeface="Microsoft Sans Serif"/>
              </a:rPr>
              <a:t>valor </a:t>
            </a:r>
            <a:r>
              <a:rPr lang="es-CO" sz="2900" spc="-110" noProof="0" dirty="0">
                <a:latin typeface="Microsoft Sans Serif"/>
                <a:cs typeface="Microsoft Sans Serif"/>
              </a:rPr>
              <a:t>que</a:t>
            </a:r>
            <a:r>
              <a:rPr lang="es-CO" sz="2900" spc="-165" noProof="0" dirty="0">
                <a:latin typeface="Microsoft Sans Serif"/>
                <a:cs typeface="Microsoft Sans Serif"/>
              </a:rPr>
              <a:t> </a:t>
            </a:r>
            <a:r>
              <a:rPr lang="es-CO" sz="2900" spc="-90" noProof="0" dirty="0">
                <a:latin typeface="Microsoft Sans Serif"/>
                <a:cs typeface="Microsoft Sans Serif"/>
              </a:rPr>
              <a:t>aparece</a:t>
            </a:r>
            <a:r>
              <a:rPr lang="es-CO" sz="2900" spc="-110" noProof="0" dirty="0">
                <a:latin typeface="Microsoft Sans Serif"/>
                <a:cs typeface="Microsoft Sans Serif"/>
              </a:rPr>
              <a:t> </a:t>
            </a:r>
            <a:r>
              <a:rPr lang="es-CO" sz="2900" spc="-185" noProof="0" dirty="0">
                <a:latin typeface="Microsoft Sans Serif"/>
                <a:cs typeface="Microsoft Sans Serif"/>
              </a:rPr>
              <a:t>con</a:t>
            </a:r>
            <a:r>
              <a:rPr lang="es-CO" sz="2900" spc="-315" noProof="0" dirty="0">
                <a:latin typeface="Microsoft Sans Serif"/>
                <a:cs typeface="Microsoft Sans Serif"/>
              </a:rPr>
              <a:t> </a:t>
            </a:r>
            <a:r>
              <a:rPr lang="es-CO" sz="2900" spc="-130" noProof="0" dirty="0">
                <a:latin typeface="Microsoft Sans Serif"/>
                <a:cs typeface="Microsoft Sans Serif"/>
              </a:rPr>
              <a:t>mayor</a:t>
            </a:r>
            <a:r>
              <a:rPr lang="es-CO" sz="2900" spc="-185" noProof="0" dirty="0">
                <a:latin typeface="Microsoft Sans Serif"/>
                <a:cs typeface="Microsoft Sans Serif"/>
              </a:rPr>
              <a:t> </a:t>
            </a:r>
            <a:r>
              <a:rPr lang="es-CO" sz="2900" spc="-150" noProof="0" dirty="0">
                <a:latin typeface="Microsoft Sans Serif"/>
                <a:cs typeface="Microsoft Sans Serif"/>
              </a:rPr>
              <a:t>frecuencia.</a:t>
            </a:r>
            <a:r>
              <a:rPr lang="es-CO" sz="2900" spc="-175" noProof="0" dirty="0">
                <a:latin typeface="Microsoft Sans Serif"/>
                <a:cs typeface="Microsoft Sans Serif"/>
              </a:rPr>
              <a:t> </a:t>
            </a:r>
            <a:r>
              <a:rPr lang="es-CO" sz="2900" spc="-190" noProof="0" dirty="0">
                <a:latin typeface="Microsoft Sans Serif"/>
                <a:cs typeface="Microsoft Sans Serif"/>
              </a:rPr>
              <a:t>Por</a:t>
            </a:r>
            <a:r>
              <a:rPr lang="es-CO" sz="2900" spc="-26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lo</a:t>
            </a:r>
            <a:r>
              <a:rPr lang="es-CO" sz="2900" spc="-65" noProof="0" dirty="0">
                <a:latin typeface="Microsoft Sans Serif"/>
                <a:cs typeface="Microsoft Sans Serif"/>
              </a:rPr>
              <a:t> </a:t>
            </a:r>
            <a:r>
              <a:rPr lang="es-CO" sz="2900" spc="-80" noProof="0" dirty="0">
                <a:latin typeface="Microsoft Sans Serif"/>
                <a:cs typeface="Microsoft Sans Serif"/>
              </a:rPr>
              <a:t>tanto,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puede</a:t>
            </a:r>
            <a:r>
              <a:rPr lang="es-CO" sz="2900" spc="-110" noProof="0" dirty="0">
                <a:latin typeface="Microsoft Sans Serif"/>
                <a:cs typeface="Microsoft Sans Serif"/>
              </a:rPr>
              <a:t> </a:t>
            </a:r>
            <a:r>
              <a:rPr lang="es-CO" sz="2900" spc="-150" noProof="0" dirty="0">
                <a:latin typeface="Microsoft Sans Serif"/>
                <a:cs typeface="Microsoft Sans Serif"/>
              </a:rPr>
              <a:t>determinarse</a:t>
            </a:r>
            <a:r>
              <a:rPr lang="es-CO" sz="2900" spc="-13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para</a:t>
            </a:r>
            <a:r>
              <a:rPr lang="es-CO" sz="2900" spc="15" noProof="0" dirty="0">
                <a:latin typeface="Microsoft Sans Serif"/>
                <a:cs typeface="Microsoft Sans Serif"/>
              </a:rPr>
              <a:t> </a:t>
            </a:r>
            <a:r>
              <a:rPr lang="es-CO" sz="2900" spc="-114" noProof="0" dirty="0">
                <a:latin typeface="Microsoft Sans Serif"/>
                <a:cs typeface="Microsoft Sans Serif"/>
              </a:rPr>
              <a:t>atributos </a:t>
            </a:r>
            <a:r>
              <a:rPr lang="es-CO" sz="2900" spc="-145" noProof="0" dirty="0">
                <a:latin typeface="Microsoft Sans Serif"/>
                <a:cs typeface="Microsoft Sans Serif"/>
              </a:rPr>
              <a:t>cualitativos</a:t>
            </a:r>
            <a:r>
              <a:rPr lang="es-CO" sz="2900" spc="-15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y</a:t>
            </a:r>
            <a:r>
              <a:rPr lang="es-CO" sz="2900" spc="90" noProof="0" dirty="0">
                <a:latin typeface="Microsoft Sans Serif"/>
                <a:cs typeface="Microsoft Sans Serif"/>
              </a:rPr>
              <a:t> </a:t>
            </a:r>
            <a:r>
              <a:rPr lang="es-CO" sz="2900" spc="-75" noProof="0" dirty="0">
                <a:latin typeface="Microsoft Sans Serif"/>
                <a:cs typeface="Microsoft Sans Serif"/>
              </a:rPr>
              <a:t>cuantitativos.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332740" marR="915035" indent="-320040">
              <a:lnSpc>
                <a:spcPct val="100000"/>
              </a:lnSpc>
              <a:spcBef>
                <a:spcPts val="180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lang="es-CO" sz="2900" spc="-595" noProof="0" dirty="0">
                <a:latin typeface="Microsoft Sans Serif"/>
                <a:cs typeface="Microsoft Sans Serif"/>
              </a:rPr>
              <a:t>E</a:t>
            </a:r>
            <a:r>
              <a:rPr lang="es-CO" sz="2900" spc="-360" noProof="0" dirty="0">
                <a:latin typeface="Microsoft Sans Serif"/>
                <a:cs typeface="Microsoft Sans Serif"/>
              </a:rPr>
              <a:t>s </a:t>
            </a:r>
            <a:r>
              <a:rPr lang="es-CO" sz="2900" spc="-125" noProof="0" dirty="0">
                <a:latin typeface="Microsoft Sans Serif"/>
                <a:cs typeface="Microsoft Sans Serif"/>
              </a:rPr>
              <a:t>po</a:t>
            </a:r>
            <a:r>
              <a:rPr lang="es-CO" sz="2900" spc="-130" noProof="0" dirty="0">
                <a:latin typeface="Microsoft Sans Serif"/>
                <a:cs typeface="Microsoft Sans Serif"/>
              </a:rPr>
              <a:t>s</a:t>
            </a:r>
            <a:r>
              <a:rPr lang="es-CO" sz="2900" spc="-140" noProof="0" dirty="0">
                <a:latin typeface="Microsoft Sans Serif"/>
                <a:cs typeface="Microsoft Sans Serif"/>
              </a:rPr>
              <a:t>ibl</a:t>
            </a:r>
            <a:r>
              <a:rPr lang="es-CO" sz="2900" spc="-10" noProof="0" dirty="0">
                <a:latin typeface="Microsoft Sans Serif"/>
                <a:cs typeface="Microsoft Sans Serif"/>
              </a:rPr>
              <a:t>e</a:t>
            </a:r>
            <a:r>
              <a:rPr lang="es-CO" sz="2900" spc="-105" noProof="0" dirty="0">
                <a:latin typeface="Microsoft Sans Serif"/>
                <a:cs typeface="Microsoft Sans Serif"/>
              </a:rPr>
              <a:t>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que</a:t>
            </a:r>
            <a:r>
              <a:rPr lang="es-CO" sz="2900" spc="-14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la</a:t>
            </a:r>
            <a:r>
              <a:rPr lang="es-CO" sz="2900" spc="25" noProof="0" dirty="0">
                <a:latin typeface="Microsoft Sans Serif"/>
                <a:cs typeface="Microsoft Sans Serif"/>
              </a:rPr>
              <a:t> </a:t>
            </a:r>
            <a:r>
              <a:rPr lang="es-CO" sz="2900" spc="-135" noProof="0" dirty="0">
                <a:latin typeface="Microsoft Sans Serif"/>
                <a:cs typeface="Microsoft Sans Serif"/>
              </a:rPr>
              <a:t>mayor</a:t>
            </a:r>
            <a:r>
              <a:rPr lang="es-CO" sz="2900" spc="-125" noProof="0" dirty="0">
                <a:latin typeface="Microsoft Sans Serif"/>
                <a:cs typeface="Microsoft Sans Serif"/>
              </a:rPr>
              <a:t> </a:t>
            </a:r>
            <a:r>
              <a:rPr lang="es-CO" sz="2900" spc="-150" noProof="0" dirty="0">
                <a:latin typeface="Microsoft Sans Serif"/>
                <a:cs typeface="Microsoft Sans Serif"/>
              </a:rPr>
              <a:t>frecuencia</a:t>
            </a:r>
            <a:r>
              <a:rPr lang="es-CO" sz="2900" spc="-160" noProof="0" dirty="0">
                <a:latin typeface="Microsoft Sans Serif"/>
                <a:cs typeface="Microsoft Sans Serif"/>
              </a:rPr>
              <a:t> </a:t>
            </a:r>
            <a:r>
              <a:rPr lang="es-CO" sz="2900" spc="-150" noProof="0" dirty="0">
                <a:latin typeface="Microsoft Sans Serif"/>
                <a:cs typeface="Microsoft Sans Serif"/>
              </a:rPr>
              <a:t>corresponda</a:t>
            </a:r>
            <a:r>
              <a:rPr lang="es-CO" sz="2900" spc="-18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a</a:t>
            </a:r>
            <a:r>
              <a:rPr lang="es-CO" sz="2900" spc="65" noProof="0" dirty="0">
                <a:latin typeface="Microsoft Sans Serif"/>
                <a:cs typeface="Microsoft Sans Serif"/>
              </a:rPr>
              <a:t> </a:t>
            </a:r>
            <a:r>
              <a:rPr lang="es-CO" sz="2900" spc="-135" noProof="0" dirty="0">
                <a:latin typeface="Microsoft Sans Serif"/>
                <a:cs typeface="Microsoft Sans Serif"/>
              </a:rPr>
              <a:t>varios</a:t>
            </a:r>
            <a:r>
              <a:rPr lang="es-CO" sz="2900" spc="-145" noProof="0" dirty="0">
                <a:latin typeface="Microsoft Sans Serif"/>
                <a:cs typeface="Microsoft Sans Serif"/>
              </a:rPr>
              <a:t> </a:t>
            </a:r>
            <a:r>
              <a:rPr lang="es-CO" sz="2900" spc="-105" noProof="0" dirty="0">
                <a:latin typeface="Microsoft Sans Serif"/>
                <a:cs typeface="Microsoft Sans Serif"/>
              </a:rPr>
              <a:t>valores </a:t>
            </a:r>
            <a:r>
              <a:rPr lang="es-CO" sz="2900" spc="-125" noProof="0" dirty="0">
                <a:latin typeface="Microsoft Sans Serif"/>
                <a:cs typeface="Microsoft Sans Serif"/>
              </a:rPr>
              <a:t>diferentes,</a:t>
            </a:r>
            <a:r>
              <a:rPr lang="es-CO" sz="2900" spc="-22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lo</a:t>
            </a:r>
            <a:r>
              <a:rPr lang="es-CO" sz="2900" spc="-195" noProof="0" dirty="0">
                <a:latin typeface="Microsoft Sans Serif"/>
                <a:cs typeface="Microsoft Sans Serif"/>
              </a:rPr>
              <a:t> </a:t>
            </a:r>
            <a:r>
              <a:rPr lang="es-CO" sz="2900" spc="-110" noProof="0" dirty="0">
                <a:latin typeface="Microsoft Sans Serif"/>
                <a:cs typeface="Microsoft Sans Serif"/>
              </a:rPr>
              <a:t>que</a:t>
            </a:r>
            <a:r>
              <a:rPr lang="es-CO" sz="2900" spc="-16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da</a:t>
            </a:r>
            <a:r>
              <a:rPr lang="es-CO" sz="2900" spc="-25" noProof="0" dirty="0">
                <a:latin typeface="Microsoft Sans Serif"/>
                <a:cs typeface="Microsoft Sans Serif"/>
              </a:rPr>
              <a:t> </a:t>
            </a:r>
            <a:r>
              <a:rPr lang="es-CO" sz="2900" spc="-65" noProof="0" dirty="0">
                <a:latin typeface="Microsoft Sans Serif"/>
                <a:cs typeface="Microsoft Sans Serif"/>
              </a:rPr>
              <a:t>lugar</a:t>
            </a:r>
            <a:r>
              <a:rPr lang="es-CO" sz="2900" spc="-1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a</a:t>
            </a:r>
            <a:r>
              <a:rPr lang="es-CO" sz="2900" spc="-15" noProof="0" dirty="0">
                <a:latin typeface="Microsoft Sans Serif"/>
                <a:cs typeface="Microsoft Sans Serif"/>
              </a:rPr>
              <a:t> </a:t>
            </a:r>
            <a:r>
              <a:rPr lang="es-CO" sz="2900" spc="-220" noProof="0" dirty="0">
                <a:latin typeface="Microsoft Sans Serif"/>
                <a:cs typeface="Microsoft Sans Serif"/>
              </a:rPr>
              <a:t>más</a:t>
            </a:r>
            <a:r>
              <a:rPr lang="es-CO" sz="2900" spc="-34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85" noProof="0" dirty="0">
                <a:latin typeface="Microsoft Sans Serif"/>
                <a:cs typeface="Microsoft Sans Serif"/>
              </a:rPr>
              <a:t> </a:t>
            </a:r>
            <a:r>
              <a:rPr lang="es-CO" sz="2900" spc="-229" noProof="0" dirty="0">
                <a:latin typeface="Microsoft Sans Serif"/>
                <a:cs typeface="Microsoft Sans Serif"/>
              </a:rPr>
              <a:t>una</a:t>
            </a:r>
            <a:r>
              <a:rPr lang="es-CO" sz="2900" spc="-10" noProof="0" dirty="0">
                <a:latin typeface="Microsoft Sans Serif"/>
                <a:cs typeface="Microsoft Sans Serif"/>
              </a:rPr>
              <a:t> MODA.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332740" marR="1073150" indent="-320040">
              <a:lnSpc>
                <a:spcPct val="100000"/>
              </a:lnSpc>
              <a:spcBef>
                <a:spcPts val="180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lang="es-CO" sz="2900" spc="-254" noProof="0" dirty="0">
                <a:latin typeface="Microsoft Sans Serif"/>
                <a:cs typeface="Microsoft Sans Serif"/>
              </a:rPr>
              <a:t>Los</a:t>
            </a:r>
            <a:r>
              <a:rPr lang="es-CO" sz="2900" spc="-375" noProof="0" dirty="0">
                <a:latin typeface="Microsoft Sans Serif"/>
                <a:cs typeface="Microsoft Sans Serif"/>
              </a:rPr>
              <a:t> </a:t>
            </a:r>
            <a:r>
              <a:rPr lang="es-CO" sz="2900" spc="-225" noProof="0" dirty="0">
                <a:latin typeface="Microsoft Sans Serif"/>
                <a:cs typeface="Microsoft Sans Serif"/>
              </a:rPr>
              <a:t>conjuntos</a:t>
            </a:r>
            <a:r>
              <a:rPr lang="es-CO" sz="2900" spc="-24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50" noProof="0" dirty="0">
                <a:latin typeface="Microsoft Sans Serif"/>
                <a:cs typeface="Microsoft Sans Serif"/>
              </a:rPr>
              <a:t> </a:t>
            </a:r>
            <a:r>
              <a:rPr lang="es-CO" sz="2900" spc="-80" noProof="0" dirty="0">
                <a:latin typeface="Microsoft Sans Serif"/>
                <a:cs typeface="Microsoft Sans Serif"/>
              </a:rPr>
              <a:t>datos</a:t>
            </a:r>
            <a:r>
              <a:rPr lang="es-CO" sz="2900" spc="-350" noProof="0" dirty="0">
                <a:latin typeface="Microsoft Sans Serif"/>
                <a:cs typeface="Microsoft Sans Serif"/>
              </a:rPr>
              <a:t> </a:t>
            </a:r>
            <a:r>
              <a:rPr lang="es-CO" sz="2900" spc="-185" noProof="0" dirty="0">
                <a:latin typeface="Microsoft Sans Serif"/>
                <a:cs typeface="Microsoft Sans Serif"/>
              </a:rPr>
              <a:t>con</a:t>
            </a:r>
            <a:r>
              <a:rPr lang="es-CO" sz="2900" spc="-270" noProof="0" dirty="0">
                <a:latin typeface="Microsoft Sans Serif"/>
                <a:cs typeface="Microsoft Sans Serif"/>
              </a:rPr>
              <a:t> </a:t>
            </a:r>
            <a:r>
              <a:rPr lang="es-CO" sz="2900" spc="-235" noProof="0" dirty="0">
                <a:latin typeface="Microsoft Sans Serif"/>
                <a:cs typeface="Microsoft Sans Serif"/>
              </a:rPr>
              <a:t>uno,</a:t>
            </a:r>
            <a:r>
              <a:rPr lang="es-CO" sz="2900" spc="-160" noProof="0" dirty="0">
                <a:latin typeface="Microsoft Sans Serif"/>
                <a:cs typeface="Microsoft Sans Serif"/>
              </a:rPr>
              <a:t> </a:t>
            </a:r>
            <a:r>
              <a:rPr lang="es-CO" sz="2900" spc="-150" noProof="0" dirty="0">
                <a:latin typeface="Microsoft Sans Serif"/>
                <a:cs typeface="Microsoft Sans Serif"/>
              </a:rPr>
              <a:t>dos</a:t>
            </a:r>
            <a:r>
              <a:rPr lang="es-CO" sz="2900" spc="-21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o</a:t>
            </a:r>
            <a:r>
              <a:rPr lang="es-CO" sz="2900" spc="-125" noProof="0" dirty="0">
                <a:latin typeface="Microsoft Sans Serif"/>
                <a:cs typeface="Microsoft Sans Serif"/>
              </a:rPr>
              <a:t> </a:t>
            </a:r>
            <a:r>
              <a:rPr lang="es-CO" sz="2900" spc="-90" noProof="0" dirty="0">
                <a:latin typeface="Microsoft Sans Serif"/>
                <a:cs typeface="Microsoft Sans Serif"/>
              </a:rPr>
              <a:t>tres</a:t>
            </a:r>
            <a:r>
              <a:rPr lang="es-CO" sz="2900" spc="-350" noProof="0" dirty="0">
                <a:latin typeface="Microsoft Sans Serif"/>
                <a:cs typeface="Microsoft Sans Serif"/>
              </a:rPr>
              <a:t> </a:t>
            </a:r>
            <a:r>
              <a:rPr lang="es-CO" sz="2900" spc="-180" noProof="0" dirty="0">
                <a:latin typeface="Microsoft Sans Serif"/>
                <a:cs typeface="Microsoft Sans Serif"/>
              </a:rPr>
              <a:t>modas</a:t>
            </a:r>
            <a:r>
              <a:rPr lang="es-CO" sz="2900" spc="-235" noProof="0" dirty="0">
                <a:latin typeface="Microsoft Sans Serif"/>
                <a:cs typeface="Microsoft Sans Serif"/>
              </a:rPr>
              <a:t> </a:t>
            </a:r>
            <a:r>
              <a:rPr lang="es-CO" sz="2900" spc="-170" noProof="0" dirty="0">
                <a:latin typeface="Microsoft Sans Serif"/>
                <a:cs typeface="Microsoft Sans Serif"/>
              </a:rPr>
              <a:t>se</a:t>
            </a:r>
            <a:r>
              <a:rPr lang="es-CO" sz="2900" spc="-320" noProof="0" dirty="0">
                <a:latin typeface="Microsoft Sans Serif"/>
                <a:cs typeface="Microsoft Sans Serif"/>
              </a:rPr>
              <a:t> </a:t>
            </a:r>
            <a:r>
              <a:rPr lang="es-CO" sz="2900" spc="-155" noProof="0" dirty="0">
                <a:latin typeface="Microsoft Sans Serif"/>
                <a:cs typeface="Microsoft Sans Serif"/>
              </a:rPr>
              <a:t>denominan </a:t>
            </a:r>
            <a:r>
              <a:rPr lang="es-CO" sz="2900" spc="-165" noProof="0" dirty="0">
                <a:latin typeface="Microsoft Sans Serif"/>
                <a:cs typeface="Microsoft Sans Serif"/>
              </a:rPr>
              <a:t>unimodal,</a:t>
            </a:r>
            <a:r>
              <a:rPr lang="es-CO" sz="2900" spc="-135" noProof="0" dirty="0">
                <a:latin typeface="Microsoft Sans Serif"/>
                <a:cs typeface="Microsoft Sans Serif"/>
              </a:rPr>
              <a:t> </a:t>
            </a:r>
            <a:r>
              <a:rPr lang="es-CO" sz="2900" spc="-100" noProof="0" dirty="0">
                <a:latin typeface="Microsoft Sans Serif"/>
                <a:cs typeface="Microsoft Sans Serif"/>
              </a:rPr>
              <a:t>bimodal</a:t>
            </a:r>
            <a:r>
              <a:rPr lang="es-CO" sz="2900" spc="-8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y</a:t>
            </a:r>
            <a:r>
              <a:rPr lang="es-CO" sz="2900" spc="55" noProof="0" dirty="0">
                <a:latin typeface="Microsoft Sans Serif"/>
                <a:cs typeface="Microsoft Sans Serif"/>
              </a:rPr>
              <a:t> </a:t>
            </a:r>
            <a:r>
              <a:rPr lang="es-CO" sz="2900" spc="-100" noProof="0" dirty="0" err="1">
                <a:latin typeface="Microsoft Sans Serif"/>
                <a:cs typeface="Microsoft Sans Serif"/>
              </a:rPr>
              <a:t>trimodal</a:t>
            </a:r>
            <a:r>
              <a:rPr lang="es-CO" sz="2900" spc="-100" noProof="0" dirty="0">
                <a:latin typeface="Microsoft Sans Serif"/>
                <a:cs typeface="Microsoft Sans Serif"/>
              </a:rPr>
              <a:t>, </a:t>
            </a:r>
            <a:r>
              <a:rPr lang="es-CO" sz="2900" spc="-105" noProof="0" dirty="0">
                <a:latin typeface="Microsoft Sans Serif"/>
                <a:cs typeface="Microsoft Sans Serif"/>
              </a:rPr>
              <a:t>respectivamente.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18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520" noProof="0" dirty="0">
                <a:latin typeface="Microsoft Sans Serif"/>
                <a:cs typeface="Microsoft Sans Serif"/>
              </a:rPr>
              <a:t>E</a:t>
            </a:r>
            <a:r>
              <a:rPr lang="es-CO" sz="2900" spc="-229" noProof="0" dirty="0">
                <a:latin typeface="Microsoft Sans Serif"/>
                <a:cs typeface="Microsoft Sans Serif"/>
              </a:rPr>
              <a:t>n </a:t>
            </a:r>
            <a:r>
              <a:rPr lang="es-CO" sz="2900" spc="-125" noProof="0" dirty="0">
                <a:latin typeface="Microsoft Sans Serif"/>
                <a:cs typeface="Microsoft Sans Serif"/>
              </a:rPr>
              <a:t>gener</a:t>
            </a:r>
            <a:r>
              <a:rPr lang="es-CO" sz="2900" spc="-135" noProof="0" dirty="0">
                <a:latin typeface="Microsoft Sans Serif"/>
                <a:cs typeface="Microsoft Sans Serif"/>
              </a:rPr>
              <a:t>a</a:t>
            </a:r>
            <a:r>
              <a:rPr lang="es-CO" sz="2900" spc="-130" noProof="0" dirty="0">
                <a:latin typeface="Microsoft Sans Serif"/>
                <a:cs typeface="Microsoft Sans Serif"/>
              </a:rPr>
              <a:t>l</a:t>
            </a:r>
            <a:r>
              <a:rPr lang="es-CO" sz="2900" spc="-5" noProof="0" dirty="0">
                <a:latin typeface="Microsoft Sans Serif"/>
                <a:cs typeface="Microsoft Sans Serif"/>
              </a:rPr>
              <a:t>,</a:t>
            </a:r>
            <a:r>
              <a:rPr lang="es-CO" sz="2900" spc="-150" noProof="0" dirty="0">
                <a:latin typeface="Microsoft Sans Serif"/>
                <a:cs typeface="Microsoft Sans Serif"/>
              </a:rPr>
              <a:t> </a:t>
            </a:r>
            <a:r>
              <a:rPr lang="es-CO" sz="2900" spc="-175" noProof="0" dirty="0">
                <a:latin typeface="Microsoft Sans Serif"/>
                <a:cs typeface="Microsoft Sans Serif"/>
              </a:rPr>
              <a:t>un</a:t>
            </a:r>
            <a:r>
              <a:rPr lang="es-CO" sz="2900" spc="-310" noProof="0" dirty="0">
                <a:latin typeface="Microsoft Sans Serif"/>
                <a:cs typeface="Microsoft Sans Serif"/>
              </a:rPr>
              <a:t> </a:t>
            </a:r>
            <a:r>
              <a:rPr lang="es-CO" sz="2900" spc="-200" noProof="0" dirty="0">
                <a:latin typeface="Microsoft Sans Serif"/>
                <a:cs typeface="Microsoft Sans Serif"/>
              </a:rPr>
              <a:t>conjunto</a:t>
            </a:r>
            <a:r>
              <a:rPr lang="es-CO" sz="2900" spc="-21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55" noProof="0" dirty="0">
                <a:latin typeface="Microsoft Sans Serif"/>
                <a:cs typeface="Microsoft Sans Serif"/>
              </a:rPr>
              <a:t>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datos</a:t>
            </a:r>
            <a:r>
              <a:rPr lang="es-CO" sz="2900" spc="-130" noProof="0" dirty="0">
                <a:latin typeface="Microsoft Sans Serif"/>
                <a:cs typeface="Microsoft Sans Serif"/>
              </a:rPr>
              <a:t> </a:t>
            </a:r>
            <a:r>
              <a:rPr lang="es-CO" sz="2900" spc="-185" noProof="0" dirty="0">
                <a:latin typeface="Microsoft Sans Serif"/>
                <a:cs typeface="Microsoft Sans Serif"/>
              </a:rPr>
              <a:t>con</a:t>
            </a:r>
            <a:r>
              <a:rPr lang="es-CO" sz="2900" spc="-254" noProof="0" dirty="0">
                <a:latin typeface="Microsoft Sans Serif"/>
                <a:cs typeface="Microsoft Sans Serif"/>
              </a:rPr>
              <a:t> </a:t>
            </a:r>
            <a:r>
              <a:rPr lang="es-CO" sz="2900" spc="-150" noProof="0" dirty="0">
                <a:latin typeface="Microsoft Sans Serif"/>
                <a:cs typeface="Microsoft Sans Serif"/>
              </a:rPr>
              <a:t>dos</a:t>
            </a:r>
            <a:r>
              <a:rPr lang="es-CO" sz="2900" spc="-229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o</a:t>
            </a:r>
            <a:r>
              <a:rPr lang="es-CO" sz="2900" spc="-125" noProof="0" dirty="0">
                <a:latin typeface="Microsoft Sans Serif"/>
                <a:cs typeface="Microsoft Sans Serif"/>
              </a:rPr>
              <a:t> </a:t>
            </a:r>
            <a:r>
              <a:rPr lang="es-CO" sz="2900" spc="-215" noProof="0" dirty="0">
                <a:latin typeface="Microsoft Sans Serif"/>
                <a:cs typeface="Microsoft Sans Serif"/>
              </a:rPr>
              <a:t>más</a:t>
            </a:r>
            <a:r>
              <a:rPr lang="es-CO" sz="2900" spc="-315" noProof="0" dirty="0">
                <a:latin typeface="Microsoft Sans Serif"/>
                <a:cs typeface="Microsoft Sans Serif"/>
              </a:rPr>
              <a:t> </a:t>
            </a:r>
            <a:r>
              <a:rPr lang="es-CO" sz="2900" spc="-180" noProof="0" dirty="0">
                <a:latin typeface="Microsoft Sans Serif"/>
                <a:cs typeface="Microsoft Sans Serif"/>
              </a:rPr>
              <a:t>modas</a:t>
            </a:r>
            <a:r>
              <a:rPr lang="es-CO" sz="2900" spc="-250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es</a:t>
            </a:r>
            <a:r>
              <a:rPr lang="es-CO" sz="2900" spc="-310" noProof="0" dirty="0">
                <a:latin typeface="Microsoft Sans Serif"/>
                <a:cs typeface="Microsoft Sans Serif"/>
              </a:rPr>
              <a:t> </a:t>
            </a:r>
            <a:r>
              <a:rPr lang="es-CO" sz="2900" spc="-45" noProof="0" dirty="0">
                <a:latin typeface="Microsoft Sans Serif"/>
                <a:cs typeface="Microsoft Sans Serif"/>
              </a:rPr>
              <a:t>multimodal.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180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150" noProof="0" dirty="0">
                <a:latin typeface="Microsoft Sans Serif"/>
                <a:cs typeface="Microsoft Sans Serif"/>
              </a:rPr>
              <a:t>Si</a:t>
            </a:r>
            <a:r>
              <a:rPr lang="es-CO" sz="2900" spc="-210" noProof="0" dirty="0">
                <a:latin typeface="Microsoft Sans Serif"/>
                <a:cs typeface="Microsoft Sans Serif"/>
              </a:rPr>
              <a:t> </a:t>
            </a:r>
            <a:r>
              <a:rPr lang="es-CO" sz="2900" spc="-65" noProof="0" dirty="0">
                <a:latin typeface="Microsoft Sans Serif"/>
                <a:cs typeface="Microsoft Sans Serif"/>
              </a:rPr>
              <a:t>cada</a:t>
            </a:r>
            <a:r>
              <a:rPr lang="es-CO" sz="2900" spc="-100" noProof="0" dirty="0">
                <a:latin typeface="Microsoft Sans Serif"/>
                <a:cs typeface="Microsoft Sans Serif"/>
              </a:rPr>
              <a:t> </a:t>
            </a:r>
            <a:r>
              <a:rPr lang="es-CO" sz="2900" spc="-70" noProof="0" dirty="0">
                <a:latin typeface="Microsoft Sans Serif"/>
                <a:cs typeface="Microsoft Sans Serif"/>
              </a:rPr>
              <a:t>valor</a:t>
            </a:r>
            <a:r>
              <a:rPr lang="es-CO" sz="2900" spc="-6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70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los</a:t>
            </a:r>
            <a:r>
              <a:rPr lang="es-CO" sz="2900" spc="-210" noProof="0" dirty="0">
                <a:latin typeface="Microsoft Sans Serif"/>
                <a:cs typeface="Microsoft Sans Serif"/>
              </a:rPr>
              <a:t>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datos</a:t>
            </a:r>
            <a:r>
              <a:rPr lang="es-CO" sz="2900" spc="-130" noProof="0" dirty="0">
                <a:latin typeface="Microsoft Sans Serif"/>
                <a:cs typeface="Microsoft Sans Serif"/>
              </a:rPr>
              <a:t> </a:t>
            </a:r>
            <a:r>
              <a:rPr lang="es-CO" sz="2900" spc="-140" noProof="0" dirty="0">
                <a:latin typeface="Microsoft Sans Serif"/>
                <a:cs typeface="Microsoft Sans Serif"/>
              </a:rPr>
              <a:t>ocurre</a:t>
            </a:r>
            <a:r>
              <a:rPr lang="es-CO" sz="2900" spc="-195" noProof="0" dirty="0">
                <a:latin typeface="Microsoft Sans Serif"/>
                <a:cs typeface="Microsoft Sans Serif"/>
              </a:rPr>
              <a:t> </a:t>
            </a:r>
            <a:r>
              <a:rPr lang="es-CO" sz="2900" spc="-170" noProof="0" dirty="0">
                <a:latin typeface="Microsoft Sans Serif"/>
                <a:cs typeface="Microsoft Sans Serif"/>
              </a:rPr>
              <a:t>sólo</a:t>
            </a:r>
            <a:r>
              <a:rPr lang="es-CO" sz="2900" spc="-155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una</a:t>
            </a:r>
            <a:r>
              <a:rPr lang="es-CO" sz="2900" spc="-210" noProof="0" dirty="0">
                <a:latin typeface="Microsoft Sans Serif"/>
                <a:cs typeface="Microsoft Sans Serif"/>
              </a:rPr>
              <a:t> </a:t>
            </a:r>
            <a:r>
              <a:rPr lang="es-CO" sz="2900" spc="-145" noProof="0" dirty="0">
                <a:latin typeface="Microsoft Sans Serif"/>
                <a:cs typeface="Microsoft Sans Serif"/>
              </a:rPr>
              <a:t>vez,</a:t>
            </a:r>
            <a:r>
              <a:rPr lang="es-CO" sz="2900" spc="-165" noProof="0" dirty="0">
                <a:latin typeface="Microsoft Sans Serif"/>
                <a:cs typeface="Microsoft Sans Serif"/>
              </a:rPr>
              <a:t> </a:t>
            </a:r>
            <a:r>
              <a:rPr lang="es-CO" sz="2900" spc="-229" noProof="0" dirty="0">
                <a:latin typeface="Microsoft Sans Serif"/>
                <a:cs typeface="Microsoft Sans Serif"/>
              </a:rPr>
              <a:t>entonces</a:t>
            </a:r>
            <a:r>
              <a:rPr lang="es-CO" sz="2900" spc="-245" noProof="0" dirty="0">
                <a:latin typeface="Microsoft Sans Serif"/>
                <a:cs typeface="Microsoft Sans Serif"/>
              </a:rPr>
              <a:t> </a:t>
            </a:r>
            <a:r>
              <a:rPr lang="es-CO" sz="2900" spc="-125" noProof="0" dirty="0">
                <a:latin typeface="Microsoft Sans Serif"/>
                <a:cs typeface="Microsoft Sans Serif"/>
              </a:rPr>
              <a:t>no</a:t>
            </a:r>
            <a:r>
              <a:rPr lang="es-CO" sz="2900" spc="-235" noProof="0" dirty="0">
                <a:latin typeface="Microsoft Sans Serif"/>
                <a:cs typeface="Microsoft Sans Serif"/>
              </a:rPr>
              <a:t> </a:t>
            </a:r>
            <a:r>
              <a:rPr lang="es-CO" sz="2900" spc="-95" noProof="0" dirty="0">
                <a:latin typeface="Microsoft Sans Serif"/>
                <a:cs typeface="Microsoft Sans Serif"/>
              </a:rPr>
              <a:t>hay</a:t>
            </a:r>
            <a:r>
              <a:rPr lang="es-CO" sz="2900" spc="-114" noProof="0" dirty="0">
                <a:latin typeface="Microsoft Sans Serif"/>
                <a:cs typeface="Microsoft Sans Serif"/>
              </a:rPr>
              <a:t> </a:t>
            </a:r>
            <a:r>
              <a:rPr lang="es-CO" sz="2900" spc="-95" noProof="0" dirty="0">
                <a:latin typeface="Microsoft Sans Serif"/>
                <a:cs typeface="Microsoft Sans Serif"/>
              </a:rPr>
              <a:t>moda.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2047" y="28955"/>
            <a:ext cx="4523105" cy="399415"/>
          </a:xfrm>
          <a:prstGeom prst="rect">
            <a:avLst/>
          </a:prstGeom>
          <a:solidFill>
            <a:srgbClr val="EBB391"/>
          </a:solidFill>
        </p:spPr>
        <p:txBody>
          <a:bodyPr vert="horz" wrap="square" lIns="0" tIns="24130" rIns="0" bIns="0" rtlCol="0">
            <a:spAutoFit/>
          </a:bodyPr>
          <a:lstStyle/>
          <a:p>
            <a:pPr marL="493395">
              <a:lnSpc>
                <a:spcPct val="100000"/>
              </a:lnSpc>
              <a:spcBef>
                <a:spcPts val="190"/>
              </a:spcBef>
            </a:pPr>
            <a:r>
              <a:rPr lang="es-CO" sz="2000" spc="-22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MEDIDAS</a:t>
            </a:r>
            <a:r>
              <a:rPr lang="es-CO" sz="2000" spc="-20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19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lang="es-CO" sz="2000" spc="-29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23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TENDENCIA</a:t>
            </a:r>
            <a:r>
              <a:rPr lang="es-CO" sz="2000" spc="-14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28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CENTRAL</a:t>
            </a:r>
            <a:endParaRPr lang="es-CO" sz="2000" noProof="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5299" y="330149"/>
            <a:ext cx="15875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pc="-220" noProof="0" dirty="0"/>
              <a:t>MODA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8508" y="3969258"/>
            <a:ext cx="60325" cy="1714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8508" y="5735878"/>
            <a:ext cx="60325" cy="1714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95299" y="1603628"/>
            <a:ext cx="10409555" cy="44531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lang="es-CO" sz="2900" spc="-125" noProof="0" dirty="0">
                <a:latin typeface="Microsoft Sans Serif"/>
                <a:cs typeface="Microsoft Sans Serif"/>
              </a:rPr>
              <a:t>La</a:t>
            </a:r>
            <a:r>
              <a:rPr lang="es-CO" sz="2900" spc="-240" noProof="0" dirty="0">
                <a:latin typeface="Microsoft Sans Serif"/>
                <a:cs typeface="Microsoft Sans Serif"/>
              </a:rPr>
              <a:t> </a:t>
            </a:r>
            <a:r>
              <a:rPr lang="es-CO" sz="2900" spc="-130" noProof="0" dirty="0">
                <a:latin typeface="Microsoft Sans Serif"/>
                <a:cs typeface="Microsoft Sans Serif"/>
              </a:rPr>
              <a:t>moda</a:t>
            </a:r>
            <a:r>
              <a:rPr lang="es-CO" sz="2900" spc="-180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es</a:t>
            </a:r>
            <a:r>
              <a:rPr lang="es-CO" sz="2900" spc="-30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el</a:t>
            </a:r>
            <a:r>
              <a:rPr lang="es-CO" sz="2900" spc="-140" noProof="0" dirty="0">
                <a:latin typeface="Microsoft Sans Serif"/>
                <a:cs typeface="Microsoft Sans Serif"/>
              </a:rPr>
              <a:t> </a:t>
            </a:r>
            <a:r>
              <a:rPr lang="es-CO" sz="2900" spc="-70" noProof="0" dirty="0">
                <a:latin typeface="Microsoft Sans Serif"/>
                <a:cs typeface="Microsoft Sans Serif"/>
              </a:rPr>
              <a:t>valor </a:t>
            </a:r>
            <a:r>
              <a:rPr lang="es-CO" sz="2900" spc="-110" noProof="0" dirty="0">
                <a:latin typeface="Microsoft Sans Serif"/>
                <a:cs typeface="Microsoft Sans Serif"/>
              </a:rPr>
              <a:t>que</a:t>
            </a:r>
            <a:r>
              <a:rPr lang="es-CO" sz="2900" spc="-165" noProof="0" dirty="0">
                <a:latin typeface="Microsoft Sans Serif"/>
                <a:cs typeface="Microsoft Sans Serif"/>
              </a:rPr>
              <a:t> </a:t>
            </a:r>
            <a:r>
              <a:rPr lang="es-CO" sz="2900" spc="-90" noProof="0" dirty="0">
                <a:latin typeface="Microsoft Sans Serif"/>
                <a:cs typeface="Microsoft Sans Serif"/>
              </a:rPr>
              <a:t>aparece</a:t>
            </a:r>
            <a:r>
              <a:rPr lang="es-CO" sz="2900" spc="-110" noProof="0" dirty="0">
                <a:latin typeface="Microsoft Sans Serif"/>
                <a:cs typeface="Microsoft Sans Serif"/>
              </a:rPr>
              <a:t> </a:t>
            </a:r>
            <a:r>
              <a:rPr lang="es-CO" sz="2900" spc="-185" noProof="0" dirty="0">
                <a:latin typeface="Microsoft Sans Serif"/>
                <a:cs typeface="Microsoft Sans Serif"/>
              </a:rPr>
              <a:t>con</a:t>
            </a:r>
            <a:r>
              <a:rPr lang="es-CO" sz="2900" spc="-315" noProof="0" dirty="0">
                <a:latin typeface="Microsoft Sans Serif"/>
                <a:cs typeface="Microsoft Sans Serif"/>
              </a:rPr>
              <a:t> </a:t>
            </a:r>
            <a:r>
              <a:rPr lang="es-CO" sz="2900" spc="-130" noProof="0" dirty="0">
                <a:latin typeface="Microsoft Sans Serif"/>
                <a:cs typeface="Microsoft Sans Serif"/>
              </a:rPr>
              <a:t>mayor</a:t>
            </a:r>
            <a:r>
              <a:rPr lang="es-CO" sz="2900" spc="-185" noProof="0" dirty="0">
                <a:latin typeface="Microsoft Sans Serif"/>
                <a:cs typeface="Microsoft Sans Serif"/>
              </a:rPr>
              <a:t> </a:t>
            </a:r>
            <a:r>
              <a:rPr lang="es-CO" sz="2900" spc="-150" noProof="0" dirty="0">
                <a:latin typeface="Microsoft Sans Serif"/>
                <a:cs typeface="Microsoft Sans Serif"/>
              </a:rPr>
              <a:t>frecuencia.</a:t>
            </a:r>
            <a:r>
              <a:rPr lang="es-CO" sz="2900" spc="-175" noProof="0" dirty="0">
                <a:latin typeface="Microsoft Sans Serif"/>
                <a:cs typeface="Microsoft Sans Serif"/>
              </a:rPr>
              <a:t> </a:t>
            </a:r>
            <a:r>
              <a:rPr lang="es-CO" sz="2900" spc="-190" noProof="0" dirty="0">
                <a:latin typeface="Microsoft Sans Serif"/>
                <a:cs typeface="Microsoft Sans Serif"/>
              </a:rPr>
              <a:t>Por</a:t>
            </a:r>
            <a:r>
              <a:rPr lang="es-CO" sz="2900" spc="-26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lo</a:t>
            </a:r>
            <a:r>
              <a:rPr lang="es-CO" sz="2900" spc="-65" noProof="0" dirty="0">
                <a:latin typeface="Microsoft Sans Serif"/>
                <a:cs typeface="Microsoft Sans Serif"/>
              </a:rPr>
              <a:t> </a:t>
            </a:r>
            <a:r>
              <a:rPr lang="es-CO" sz="2900" spc="-80" noProof="0" dirty="0">
                <a:latin typeface="Microsoft Sans Serif"/>
                <a:cs typeface="Microsoft Sans Serif"/>
              </a:rPr>
              <a:t>tanto,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puede</a:t>
            </a:r>
            <a:r>
              <a:rPr lang="es-CO" sz="2900" spc="-110" noProof="0" dirty="0">
                <a:latin typeface="Microsoft Sans Serif"/>
                <a:cs typeface="Microsoft Sans Serif"/>
              </a:rPr>
              <a:t> </a:t>
            </a:r>
            <a:r>
              <a:rPr lang="es-CO" sz="2900" spc="-150" noProof="0" dirty="0">
                <a:latin typeface="Microsoft Sans Serif"/>
                <a:cs typeface="Microsoft Sans Serif"/>
              </a:rPr>
              <a:t>determinarse</a:t>
            </a:r>
            <a:r>
              <a:rPr lang="es-CO" sz="2900" spc="-13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para</a:t>
            </a:r>
            <a:r>
              <a:rPr lang="es-CO" sz="2900" spc="15" noProof="0" dirty="0">
                <a:latin typeface="Microsoft Sans Serif"/>
                <a:cs typeface="Microsoft Sans Serif"/>
              </a:rPr>
              <a:t> </a:t>
            </a:r>
            <a:r>
              <a:rPr lang="es-CO" sz="2900" spc="-114" noProof="0" dirty="0">
                <a:latin typeface="Microsoft Sans Serif"/>
                <a:cs typeface="Microsoft Sans Serif"/>
              </a:rPr>
              <a:t>atributos </a:t>
            </a:r>
            <a:r>
              <a:rPr lang="es-CO" sz="2900" spc="-145" noProof="0" dirty="0">
                <a:latin typeface="Microsoft Sans Serif"/>
                <a:cs typeface="Microsoft Sans Serif"/>
              </a:rPr>
              <a:t>cualitativos</a:t>
            </a:r>
            <a:r>
              <a:rPr lang="es-CO" sz="2900" spc="-15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y</a:t>
            </a:r>
            <a:r>
              <a:rPr lang="es-CO" sz="2900" spc="90" noProof="0" dirty="0">
                <a:latin typeface="Microsoft Sans Serif"/>
                <a:cs typeface="Microsoft Sans Serif"/>
              </a:rPr>
              <a:t> </a:t>
            </a:r>
            <a:r>
              <a:rPr lang="es-CO" sz="2900" spc="-75" noProof="0" dirty="0">
                <a:latin typeface="Microsoft Sans Serif"/>
                <a:cs typeface="Microsoft Sans Serif"/>
              </a:rPr>
              <a:t>cuantitativos.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120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200" noProof="0" dirty="0">
                <a:latin typeface="Microsoft Sans Serif"/>
                <a:cs typeface="Microsoft Sans Serif"/>
              </a:rPr>
              <a:t>Ejemplo:</a:t>
            </a:r>
            <a:r>
              <a:rPr lang="es-CO" sz="2900" spc="-155" noProof="0" dirty="0">
                <a:latin typeface="Microsoft Sans Serif"/>
                <a:cs typeface="Microsoft Sans Serif"/>
              </a:rPr>
              <a:t> </a:t>
            </a:r>
            <a:r>
              <a:rPr lang="es-CO" sz="2900" spc="-60" noProof="0" dirty="0">
                <a:latin typeface="Microsoft Sans Serif"/>
                <a:cs typeface="Microsoft Sans Serif"/>
              </a:rPr>
              <a:t>atributo</a:t>
            </a:r>
            <a:r>
              <a:rPr lang="es-CO" sz="2900" spc="-145" noProof="0" dirty="0">
                <a:latin typeface="Microsoft Sans Serif"/>
                <a:cs typeface="Microsoft Sans Serif"/>
              </a:rPr>
              <a:t> </a:t>
            </a:r>
            <a:r>
              <a:rPr lang="es-CO" sz="2900" spc="-80" noProof="0" dirty="0">
                <a:latin typeface="Microsoft Sans Serif"/>
                <a:cs typeface="Microsoft Sans Serif"/>
              </a:rPr>
              <a:t>numérico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345"/>
              </a:spcBef>
              <a:buClr>
                <a:srgbClr val="DD8046"/>
              </a:buClr>
              <a:buFont typeface="Wingdings"/>
              <a:buChar char=""/>
            </a:pPr>
            <a:endParaRPr lang="es-CO" sz="2900" noProof="0" dirty="0">
              <a:latin typeface="Microsoft Sans Serif"/>
              <a:cs typeface="Microsoft Sans Serif"/>
            </a:endParaRPr>
          </a:p>
          <a:p>
            <a:pPr marL="533400">
              <a:lnSpc>
                <a:spcPct val="100000"/>
              </a:lnSpc>
              <a:spcBef>
                <a:spcPts val="5"/>
              </a:spcBef>
            </a:pPr>
            <a:r>
              <a:rPr lang="es-CO" sz="2600" spc="-114" noProof="0" dirty="0">
                <a:latin typeface="Microsoft Sans Serif"/>
                <a:cs typeface="Microsoft Sans Serif"/>
              </a:rPr>
              <a:t>Hay</a:t>
            </a:r>
            <a:r>
              <a:rPr lang="es-CO" sz="2600" spc="-5" noProof="0" dirty="0">
                <a:latin typeface="Microsoft Sans Serif"/>
                <a:cs typeface="Microsoft Sans Serif"/>
              </a:rPr>
              <a:t> </a:t>
            </a:r>
            <a:r>
              <a:rPr lang="es-CO" sz="2600" noProof="0" dirty="0">
                <a:latin typeface="Microsoft Sans Serif"/>
                <a:cs typeface="Microsoft Sans Serif"/>
              </a:rPr>
              <a:t>2</a:t>
            </a:r>
            <a:r>
              <a:rPr lang="es-CO" sz="2600" spc="10" noProof="0" dirty="0">
                <a:latin typeface="Microsoft Sans Serif"/>
                <a:cs typeface="Microsoft Sans Serif"/>
              </a:rPr>
              <a:t> </a:t>
            </a:r>
            <a:r>
              <a:rPr lang="es-CO" sz="2600" spc="-190" noProof="0" dirty="0">
                <a:latin typeface="Microsoft Sans Serif"/>
                <a:cs typeface="Microsoft Sans Serif"/>
              </a:rPr>
              <a:t>modas</a:t>
            </a:r>
            <a:r>
              <a:rPr lang="es-CO" sz="2600" spc="-170" noProof="0" dirty="0">
                <a:latin typeface="Microsoft Sans Serif"/>
                <a:cs typeface="Microsoft Sans Serif"/>
              </a:rPr>
              <a:t> </a:t>
            </a:r>
            <a:r>
              <a:rPr lang="es-CO" sz="2600" noProof="0" dirty="0">
                <a:latin typeface="Microsoft Sans Serif"/>
                <a:cs typeface="Microsoft Sans Serif"/>
              </a:rPr>
              <a:t>y</a:t>
            </a:r>
            <a:r>
              <a:rPr lang="es-CO" sz="2600" spc="15" noProof="0" dirty="0">
                <a:latin typeface="Microsoft Sans Serif"/>
                <a:cs typeface="Microsoft Sans Serif"/>
              </a:rPr>
              <a:t> </a:t>
            </a:r>
            <a:r>
              <a:rPr lang="es-CO" sz="2600" spc="-270" noProof="0" dirty="0">
                <a:latin typeface="Microsoft Sans Serif"/>
                <a:cs typeface="Microsoft Sans Serif"/>
              </a:rPr>
              <a:t>sus</a:t>
            </a:r>
            <a:r>
              <a:rPr lang="es-CO" sz="2600" spc="-409" noProof="0" dirty="0">
                <a:latin typeface="Microsoft Sans Serif"/>
                <a:cs typeface="Microsoft Sans Serif"/>
              </a:rPr>
              <a:t> </a:t>
            </a:r>
            <a:r>
              <a:rPr lang="es-CO" sz="2600" spc="-220" noProof="0" dirty="0">
                <a:latin typeface="Microsoft Sans Serif"/>
                <a:cs typeface="Microsoft Sans Serif"/>
              </a:rPr>
              <a:t>valores son</a:t>
            </a:r>
            <a:r>
              <a:rPr lang="es-CO" sz="2600" spc="-280" noProof="0" dirty="0">
                <a:latin typeface="Microsoft Sans Serif"/>
                <a:cs typeface="Microsoft Sans Serif"/>
              </a:rPr>
              <a:t> </a:t>
            </a:r>
            <a:r>
              <a:rPr lang="es-CO" sz="2600" noProof="0" dirty="0">
                <a:latin typeface="Microsoft Sans Serif"/>
                <a:cs typeface="Microsoft Sans Serif"/>
              </a:rPr>
              <a:t>52</a:t>
            </a:r>
            <a:r>
              <a:rPr lang="es-CO" sz="2600" spc="-5" noProof="0" dirty="0">
                <a:latin typeface="Microsoft Sans Serif"/>
                <a:cs typeface="Microsoft Sans Serif"/>
              </a:rPr>
              <a:t> </a:t>
            </a:r>
            <a:r>
              <a:rPr lang="es-CO" sz="2600" noProof="0" dirty="0">
                <a:latin typeface="Microsoft Sans Serif"/>
                <a:cs typeface="Microsoft Sans Serif"/>
              </a:rPr>
              <a:t>y</a:t>
            </a:r>
            <a:r>
              <a:rPr lang="es-CO" sz="2600" spc="25" noProof="0" dirty="0">
                <a:latin typeface="Microsoft Sans Serif"/>
                <a:cs typeface="Microsoft Sans Serif"/>
              </a:rPr>
              <a:t> </a:t>
            </a:r>
            <a:r>
              <a:rPr lang="es-CO" sz="2600" spc="-25" noProof="0" dirty="0">
                <a:latin typeface="Microsoft Sans Serif"/>
                <a:cs typeface="Microsoft Sans Serif"/>
              </a:rPr>
              <a:t>70</a:t>
            </a:r>
            <a:endParaRPr lang="es-CO" sz="2600" noProof="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180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200" noProof="0" dirty="0">
                <a:latin typeface="Microsoft Sans Serif"/>
                <a:cs typeface="Microsoft Sans Serif"/>
              </a:rPr>
              <a:t>Ejemplo:</a:t>
            </a:r>
            <a:r>
              <a:rPr lang="es-CO" sz="2900" spc="-155" noProof="0" dirty="0">
                <a:latin typeface="Microsoft Sans Serif"/>
                <a:cs typeface="Microsoft Sans Serif"/>
              </a:rPr>
              <a:t> </a:t>
            </a:r>
            <a:r>
              <a:rPr lang="es-CO" sz="2900" spc="-60" noProof="0" dirty="0">
                <a:latin typeface="Microsoft Sans Serif"/>
                <a:cs typeface="Microsoft Sans Serif"/>
              </a:rPr>
              <a:t>atributo</a:t>
            </a:r>
            <a:r>
              <a:rPr lang="es-CO" sz="2900" spc="-145" noProof="0" dirty="0">
                <a:latin typeface="Microsoft Sans Serif"/>
                <a:cs typeface="Microsoft Sans Serif"/>
              </a:rPr>
              <a:t> </a:t>
            </a:r>
            <a:r>
              <a:rPr lang="es-CO" sz="2900" spc="-30" noProof="0" dirty="0">
                <a:latin typeface="Microsoft Sans Serif"/>
                <a:cs typeface="Microsoft Sans Serif"/>
              </a:rPr>
              <a:t>nominal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225"/>
              </a:spcBef>
            </a:pPr>
            <a:endParaRPr lang="es-CO" sz="2900" noProof="0" dirty="0">
              <a:latin typeface="Microsoft Sans Serif"/>
              <a:cs typeface="Microsoft Sans Serif"/>
            </a:endParaRPr>
          </a:p>
          <a:p>
            <a:pPr marL="563880">
              <a:lnSpc>
                <a:spcPct val="100000"/>
              </a:lnSpc>
            </a:pPr>
            <a:r>
              <a:rPr lang="es-CO" sz="2600" spc="-135" noProof="0" dirty="0">
                <a:latin typeface="Arial MT"/>
                <a:cs typeface="Arial MT"/>
              </a:rPr>
              <a:t>La</a:t>
            </a:r>
            <a:r>
              <a:rPr lang="es-CO" sz="2600" spc="-254" noProof="0" dirty="0">
                <a:latin typeface="Arial MT"/>
                <a:cs typeface="Arial MT"/>
              </a:rPr>
              <a:t> </a:t>
            </a:r>
            <a:r>
              <a:rPr lang="es-CO" sz="2600" spc="-135" noProof="0" dirty="0">
                <a:latin typeface="Arial MT"/>
                <a:cs typeface="Arial MT"/>
              </a:rPr>
              <a:t>moda</a:t>
            </a:r>
            <a:r>
              <a:rPr lang="es-CO" sz="2600" spc="-125" noProof="0" dirty="0">
                <a:latin typeface="Arial MT"/>
                <a:cs typeface="Arial MT"/>
              </a:rPr>
              <a:t> </a:t>
            </a:r>
            <a:r>
              <a:rPr lang="es-CO" sz="2600" spc="-150" noProof="0" dirty="0">
                <a:latin typeface="Arial MT"/>
                <a:cs typeface="Arial MT"/>
              </a:rPr>
              <a:t>es</a:t>
            </a:r>
            <a:r>
              <a:rPr lang="es-CO" sz="2600" spc="-330" noProof="0" dirty="0">
                <a:latin typeface="Arial MT"/>
                <a:cs typeface="Arial MT"/>
              </a:rPr>
              <a:t> </a:t>
            </a:r>
            <a:r>
              <a:rPr lang="es-CO" sz="2600" spc="-95" noProof="0" dirty="0">
                <a:latin typeface="Arial MT"/>
                <a:cs typeface="Arial MT"/>
              </a:rPr>
              <a:t>“chino”</a:t>
            </a:r>
            <a:r>
              <a:rPr lang="es-CO" sz="2600" spc="-160" noProof="0" dirty="0">
                <a:latin typeface="Arial MT"/>
                <a:cs typeface="Arial MT"/>
              </a:rPr>
              <a:t> </a:t>
            </a:r>
            <a:r>
              <a:rPr lang="es-CO" sz="2600" noProof="0" dirty="0">
                <a:latin typeface="Arial MT"/>
                <a:cs typeface="Arial MT"/>
              </a:rPr>
              <a:t>por</a:t>
            </a:r>
            <a:r>
              <a:rPr lang="es-CO" sz="2600" spc="-70" noProof="0" dirty="0">
                <a:latin typeface="Arial MT"/>
                <a:cs typeface="Arial MT"/>
              </a:rPr>
              <a:t> </a:t>
            </a:r>
            <a:r>
              <a:rPr lang="es-CO" sz="2600" spc="-135" noProof="0" dirty="0">
                <a:latin typeface="Arial MT"/>
                <a:cs typeface="Arial MT"/>
              </a:rPr>
              <a:t>ser</a:t>
            </a:r>
            <a:r>
              <a:rPr lang="es-CO" sz="2600" spc="-229" noProof="0" dirty="0">
                <a:latin typeface="Arial MT"/>
                <a:cs typeface="Arial MT"/>
              </a:rPr>
              <a:t> </a:t>
            </a:r>
            <a:r>
              <a:rPr lang="es-CO" sz="2600" noProof="0" dirty="0">
                <a:latin typeface="Arial MT"/>
                <a:cs typeface="Arial MT"/>
              </a:rPr>
              <a:t>el</a:t>
            </a:r>
            <a:r>
              <a:rPr lang="es-CO" sz="2600" spc="-75" noProof="0" dirty="0">
                <a:latin typeface="Arial MT"/>
                <a:cs typeface="Arial MT"/>
              </a:rPr>
              <a:t> </a:t>
            </a:r>
            <a:r>
              <a:rPr lang="es-CO" sz="2600" spc="-70" noProof="0" dirty="0">
                <a:latin typeface="Arial MT"/>
                <a:cs typeface="Arial MT"/>
              </a:rPr>
              <a:t>valor</a:t>
            </a:r>
            <a:r>
              <a:rPr lang="es-CO" sz="2600" spc="-130" noProof="0" dirty="0">
                <a:latin typeface="Arial MT"/>
                <a:cs typeface="Arial MT"/>
              </a:rPr>
              <a:t> </a:t>
            </a:r>
            <a:r>
              <a:rPr lang="es-CO" sz="2600" spc="-125" noProof="0" dirty="0">
                <a:latin typeface="Arial MT"/>
                <a:cs typeface="Arial MT"/>
              </a:rPr>
              <a:t>que</a:t>
            </a:r>
            <a:r>
              <a:rPr lang="es-CO" sz="2600" spc="-150" noProof="0" dirty="0">
                <a:latin typeface="Arial MT"/>
                <a:cs typeface="Arial MT"/>
              </a:rPr>
              <a:t> </a:t>
            </a:r>
            <a:r>
              <a:rPr lang="es-CO" sz="2600" spc="-100" noProof="0" dirty="0">
                <a:latin typeface="Arial MT"/>
                <a:cs typeface="Arial MT"/>
              </a:rPr>
              <a:t>aparece </a:t>
            </a:r>
            <a:r>
              <a:rPr lang="es-CO" sz="2600" spc="-210" noProof="0" dirty="0">
                <a:latin typeface="Arial MT"/>
                <a:cs typeface="Arial MT"/>
              </a:rPr>
              <a:t>más</a:t>
            </a:r>
            <a:r>
              <a:rPr lang="es-CO" sz="2600" spc="-305" noProof="0" dirty="0">
                <a:latin typeface="Arial MT"/>
                <a:cs typeface="Arial MT"/>
              </a:rPr>
              <a:t> </a:t>
            </a:r>
            <a:r>
              <a:rPr lang="es-CO" sz="2600" spc="-10" noProof="0" dirty="0">
                <a:latin typeface="Arial MT"/>
                <a:cs typeface="Arial MT"/>
              </a:rPr>
              <a:t>veces</a:t>
            </a:r>
            <a:endParaRPr lang="es-CO" sz="2600" noProof="0" dirty="0">
              <a:latin typeface="Arial MT"/>
              <a:cs typeface="Arial MT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827025"/>
              </p:ext>
            </p:extLst>
          </p:nvPr>
        </p:nvGraphicFramePr>
        <p:xfrm>
          <a:off x="1211910" y="3284931"/>
          <a:ext cx="10078713" cy="4527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9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43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52755">
                <a:tc>
                  <a:txBody>
                    <a:bodyPr/>
                    <a:lstStyle/>
                    <a:p>
                      <a:pPr marL="236220">
                        <a:lnSpc>
                          <a:spcPts val="2660"/>
                        </a:lnSpc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30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ts val="2660"/>
                        </a:lnSpc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36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ts val="2660"/>
                        </a:lnSpc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47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ts val="2660"/>
                        </a:lnSpc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ts val="2660"/>
                        </a:lnSpc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52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ts val="2660"/>
                        </a:lnSpc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52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ts val="2660"/>
                        </a:lnSpc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56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ts val="2660"/>
                        </a:lnSpc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60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ts val="2660"/>
                        </a:lnSpc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63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ts val="2660"/>
                        </a:lnSpc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70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ts val="2660"/>
                        </a:lnSpc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70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ts val="2660"/>
                        </a:lnSpc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110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8E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326066"/>
              </p:ext>
            </p:extLst>
          </p:nvPr>
        </p:nvGraphicFramePr>
        <p:xfrm>
          <a:off x="1618741" y="4949697"/>
          <a:ext cx="8126727" cy="456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4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4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44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44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6565">
                <a:tc>
                  <a:txBody>
                    <a:bodyPr/>
                    <a:lstStyle/>
                    <a:p>
                      <a:pPr marL="17653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lang="es-CO" sz="2400" b="1" spc="-40" noProof="0" dirty="0">
                          <a:latin typeface="Arial"/>
                          <a:cs typeface="Arial"/>
                        </a:rPr>
                        <a:t>español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9908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lang="es-CO" sz="2400" b="1" spc="-10" noProof="0" dirty="0">
                          <a:latin typeface="Arial"/>
                          <a:cs typeface="Arial"/>
                        </a:rPr>
                        <a:t>inglés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3340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lang="es-CO" sz="2400" b="1" spc="-10" noProof="0" dirty="0">
                          <a:latin typeface="Arial"/>
                          <a:cs typeface="Arial"/>
                        </a:rPr>
                        <a:t>chino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30035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lang="es-CO" sz="2400" b="1" spc="-10" noProof="0" dirty="0">
                          <a:latin typeface="Arial"/>
                          <a:cs typeface="Arial"/>
                        </a:rPr>
                        <a:t>inglés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3359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lang="es-CO" sz="2400" b="1" spc="-10" noProof="0" dirty="0">
                          <a:latin typeface="Arial"/>
                          <a:cs typeface="Arial"/>
                        </a:rPr>
                        <a:t>chino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3359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lang="es-CO" sz="2400" b="1" spc="-10" noProof="0" dirty="0">
                          <a:latin typeface="Arial"/>
                          <a:cs typeface="Arial"/>
                        </a:rPr>
                        <a:t>chino</a:t>
                      </a:r>
                      <a:endParaRPr lang="es-CO" sz="2400" noProof="0" dirty="0">
                        <a:latin typeface="Arial"/>
                        <a:cs typeface="Arial"/>
                      </a:endParaRPr>
                    </a:p>
                  </a:txBody>
                  <a:tcPr marL="0" marR="0" marT="228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8E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3432047" y="28955"/>
            <a:ext cx="4523105" cy="399415"/>
          </a:xfrm>
          <a:prstGeom prst="rect">
            <a:avLst/>
          </a:prstGeom>
          <a:solidFill>
            <a:srgbClr val="EBB391"/>
          </a:solidFill>
        </p:spPr>
        <p:txBody>
          <a:bodyPr vert="horz" wrap="square" lIns="0" tIns="24130" rIns="0" bIns="0" rtlCol="0">
            <a:spAutoFit/>
          </a:bodyPr>
          <a:lstStyle/>
          <a:p>
            <a:pPr marL="493395">
              <a:lnSpc>
                <a:spcPct val="100000"/>
              </a:lnSpc>
              <a:spcBef>
                <a:spcPts val="190"/>
              </a:spcBef>
            </a:pPr>
            <a:r>
              <a:rPr lang="es-CO" sz="2000" spc="-22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MEDIDAS</a:t>
            </a:r>
            <a:r>
              <a:rPr lang="es-CO" sz="2000" spc="-20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19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lang="es-CO" sz="2000" spc="-29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23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TENDENCIA</a:t>
            </a:r>
            <a:r>
              <a:rPr lang="es-CO" sz="2000" spc="-14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28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CENTRAL</a:t>
            </a:r>
            <a:endParaRPr lang="es-CO" sz="2000" noProof="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5299" y="330149"/>
            <a:ext cx="36048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pc="-655" noProof="0" dirty="0"/>
              <a:t>R</a:t>
            </a:r>
            <a:r>
              <a:rPr lang="es-CO" spc="-600" noProof="0" dirty="0"/>
              <a:t>A</a:t>
            </a:r>
            <a:r>
              <a:rPr lang="es-CO" spc="-100" noProof="0" dirty="0"/>
              <a:t>N</a:t>
            </a:r>
            <a:r>
              <a:rPr lang="es-CO" spc="-105" noProof="0" dirty="0"/>
              <a:t>G</a:t>
            </a:r>
            <a:r>
              <a:rPr lang="es-CO" noProof="0" dirty="0"/>
              <a:t>O</a:t>
            </a:r>
            <a:r>
              <a:rPr lang="es-CO" spc="-85" noProof="0" dirty="0"/>
              <a:t> </a:t>
            </a:r>
            <a:r>
              <a:rPr lang="es-CO" spc="-450" noProof="0" dirty="0"/>
              <a:t>MEDIO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5299" y="1603628"/>
            <a:ext cx="10255885" cy="2540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lang="es-CO" sz="2900" spc="-200" noProof="0" dirty="0">
                <a:latin typeface="Microsoft Sans Serif"/>
                <a:cs typeface="Microsoft Sans Serif"/>
              </a:rPr>
              <a:t>El</a:t>
            </a:r>
            <a:r>
              <a:rPr lang="es-CO" sz="2900" spc="-295" noProof="0" dirty="0">
                <a:latin typeface="Microsoft Sans Serif"/>
                <a:cs typeface="Microsoft Sans Serif"/>
              </a:rPr>
              <a:t> </a:t>
            </a:r>
            <a:r>
              <a:rPr lang="es-CO" sz="2900" spc="-90" noProof="0" dirty="0">
                <a:latin typeface="Microsoft Sans Serif"/>
                <a:cs typeface="Microsoft Sans Serif"/>
              </a:rPr>
              <a:t>rango</a:t>
            </a:r>
            <a:r>
              <a:rPr lang="es-CO" sz="2900" spc="-114" noProof="0" dirty="0">
                <a:latin typeface="Microsoft Sans Serif"/>
                <a:cs typeface="Microsoft Sans Serif"/>
              </a:rPr>
              <a:t> </a:t>
            </a:r>
            <a:r>
              <a:rPr lang="es-CO" sz="2900" spc="-140" noProof="0" dirty="0">
                <a:latin typeface="Microsoft Sans Serif"/>
                <a:cs typeface="Microsoft Sans Serif"/>
              </a:rPr>
              <a:t>medio</a:t>
            </a:r>
            <a:r>
              <a:rPr lang="es-CO" sz="2900" spc="-165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es</a:t>
            </a:r>
            <a:r>
              <a:rPr lang="es-CO" sz="2900" spc="-315" noProof="0" dirty="0">
                <a:latin typeface="Microsoft Sans Serif"/>
                <a:cs typeface="Microsoft Sans Serif"/>
              </a:rPr>
              <a:t> </a:t>
            </a:r>
            <a:r>
              <a:rPr lang="es-CO" sz="2900" spc="-20" noProof="0" dirty="0">
                <a:latin typeface="Microsoft Sans Serif"/>
                <a:cs typeface="Microsoft Sans Serif"/>
              </a:rPr>
              <a:t>fácil</a:t>
            </a:r>
            <a:r>
              <a:rPr lang="es-CO" sz="2900" spc="-3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40" noProof="0" dirty="0">
                <a:latin typeface="Microsoft Sans Serif"/>
                <a:cs typeface="Microsoft Sans Serif"/>
              </a:rPr>
              <a:t> </a:t>
            </a:r>
            <a:r>
              <a:rPr lang="es-CO" sz="2900" spc="-135" noProof="0" dirty="0">
                <a:latin typeface="Microsoft Sans Serif"/>
                <a:cs typeface="Microsoft Sans Serif"/>
              </a:rPr>
              <a:t>calcular</a:t>
            </a:r>
            <a:r>
              <a:rPr lang="es-CO" sz="2900" spc="-11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y</a:t>
            </a:r>
            <a:r>
              <a:rPr lang="es-CO" sz="2900" spc="35" noProof="0" dirty="0">
                <a:latin typeface="Microsoft Sans Serif"/>
                <a:cs typeface="Microsoft Sans Serif"/>
              </a:rPr>
              <a:t> </a:t>
            </a:r>
            <a:r>
              <a:rPr lang="es-CO" sz="2900" spc="-145" noProof="0" dirty="0">
                <a:latin typeface="Microsoft Sans Serif"/>
                <a:cs typeface="Microsoft Sans Serif"/>
              </a:rPr>
              <a:t>también</a:t>
            </a:r>
            <a:r>
              <a:rPr lang="es-CO" sz="2900" spc="-110" noProof="0" dirty="0">
                <a:latin typeface="Microsoft Sans Serif"/>
                <a:cs typeface="Microsoft Sans Serif"/>
              </a:rPr>
              <a:t>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puede</a:t>
            </a:r>
            <a:r>
              <a:rPr lang="es-CO" sz="2900" spc="-125" noProof="0" dirty="0">
                <a:latin typeface="Microsoft Sans Serif"/>
                <a:cs typeface="Microsoft Sans Serif"/>
              </a:rPr>
              <a:t> utilizarse</a:t>
            </a:r>
            <a:r>
              <a:rPr lang="es-CO" sz="2900" spc="-120" noProof="0" dirty="0">
                <a:latin typeface="Microsoft Sans Serif"/>
                <a:cs typeface="Microsoft Sans Serif"/>
              </a:rPr>
              <a:t> </a:t>
            </a:r>
            <a:r>
              <a:rPr lang="es-CO" sz="2900" spc="-20" noProof="0" dirty="0">
                <a:latin typeface="Microsoft Sans Serif"/>
                <a:cs typeface="Microsoft Sans Serif"/>
              </a:rPr>
              <a:t>para </a:t>
            </a:r>
            <a:r>
              <a:rPr lang="es-CO" sz="2900" spc="-110" noProof="0" dirty="0">
                <a:latin typeface="Microsoft Sans Serif"/>
                <a:cs typeface="Microsoft Sans Serif"/>
              </a:rPr>
              <a:t>evaluar</a:t>
            </a:r>
            <a:r>
              <a:rPr lang="es-CO" sz="2900" spc="-10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la</a:t>
            </a:r>
            <a:r>
              <a:rPr lang="es-CO" sz="2900" spc="10" noProof="0" dirty="0">
                <a:latin typeface="Microsoft Sans Serif"/>
                <a:cs typeface="Microsoft Sans Serif"/>
              </a:rPr>
              <a:t> </a:t>
            </a:r>
            <a:r>
              <a:rPr lang="es-CO" sz="2900" spc="-150" noProof="0" dirty="0">
                <a:latin typeface="Microsoft Sans Serif"/>
                <a:cs typeface="Microsoft Sans Serif"/>
              </a:rPr>
              <a:t>tendencia</a:t>
            </a:r>
            <a:r>
              <a:rPr lang="es-CO" sz="2900" spc="-180" noProof="0" dirty="0">
                <a:latin typeface="Microsoft Sans Serif"/>
                <a:cs typeface="Microsoft Sans Serif"/>
              </a:rPr>
              <a:t> </a:t>
            </a:r>
            <a:r>
              <a:rPr lang="es-CO" sz="2900" spc="-114" noProof="0" dirty="0">
                <a:latin typeface="Microsoft Sans Serif"/>
                <a:cs typeface="Microsoft Sans Serif"/>
              </a:rPr>
              <a:t>central</a:t>
            </a:r>
            <a:r>
              <a:rPr lang="es-CO" sz="2900" spc="-13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60" noProof="0" dirty="0">
                <a:latin typeface="Microsoft Sans Serif"/>
                <a:cs typeface="Microsoft Sans Serif"/>
              </a:rPr>
              <a:t> </a:t>
            </a:r>
            <a:r>
              <a:rPr lang="es-CO" sz="2900" spc="-180" noProof="0" dirty="0">
                <a:latin typeface="Microsoft Sans Serif"/>
                <a:cs typeface="Microsoft Sans Serif"/>
              </a:rPr>
              <a:t>un</a:t>
            </a:r>
            <a:r>
              <a:rPr lang="es-CO" sz="2900" spc="-310" noProof="0" dirty="0">
                <a:latin typeface="Microsoft Sans Serif"/>
                <a:cs typeface="Microsoft Sans Serif"/>
              </a:rPr>
              <a:t> </a:t>
            </a:r>
            <a:r>
              <a:rPr lang="es-CO" sz="2900" spc="-200" noProof="0" dirty="0">
                <a:latin typeface="Microsoft Sans Serif"/>
                <a:cs typeface="Microsoft Sans Serif"/>
              </a:rPr>
              <a:t>conjunto</a:t>
            </a:r>
            <a:r>
              <a:rPr lang="es-CO" sz="2900" spc="-18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95" noProof="0" dirty="0">
                <a:latin typeface="Microsoft Sans Serif"/>
                <a:cs typeface="Microsoft Sans Serif"/>
              </a:rPr>
              <a:t>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datos</a:t>
            </a:r>
            <a:r>
              <a:rPr lang="es-CO" sz="2900" spc="-135" noProof="0" dirty="0">
                <a:latin typeface="Microsoft Sans Serif"/>
                <a:cs typeface="Microsoft Sans Serif"/>
              </a:rPr>
              <a:t> </a:t>
            </a:r>
            <a:r>
              <a:rPr lang="es-CO" sz="2900" spc="-125" noProof="0" dirty="0">
                <a:latin typeface="Microsoft Sans Serif"/>
                <a:cs typeface="Microsoft Sans Serif"/>
              </a:rPr>
              <a:t>numéricos.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590" noProof="0" dirty="0">
                <a:latin typeface="Microsoft Sans Serif"/>
                <a:cs typeface="Microsoft Sans Serif"/>
              </a:rPr>
              <a:t>E</a:t>
            </a:r>
            <a:r>
              <a:rPr lang="es-CO" sz="2900" spc="-355" noProof="0" dirty="0">
                <a:latin typeface="Microsoft Sans Serif"/>
                <a:cs typeface="Microsoft Sans Serif"/>
              </a:rPr>
              <a:t>s</a:t>
            </a:r>
            <a:r>
              <a:rPr lang="es-CO" sz="2900" spc="-35" noProof="0" dirty="0">
                <a:latin typeface="Microsoft Sans Serif"/>
                <a:cs typeface="Microsoft Sans Serif"/>
              </a:rPr>
              <a:t>l</a:t>
            </a:r>
            <a:r>
              <a:rPr lang="es-CO" sz="2900" spc="-5" noProof="0" dirty="0">
                <a:latin typeface="Microsoft Sans Serif"/>
                <a:cs typeface="Microsoft Sans Serif"/>
              </a:rPr>
              <a:t>a</a:t>
            </a:r>
            <a:r>
              <a:rPr lang="es-CO" sz="2900" noProof="0" dirty="0">
                <a:latin typeface="Microsoft Sans Serif"/>
                <a:cs typeface="Microsoft Sans Serif"/>
              </a:rPr>
              <a:t> </a:t>
            </a:r>
            <a:r>
              <a:rPr lang="es-CO" sz="2900" spc="-125" noProof="0" dirty="0">
                <a:latin typeface="Microsoft Sans Serif"/>
                <a:cs typeface="Microsoft Sans Serif"/>
              </a:rPr>
              <a:t>media</a:t>
            </a:r>
            <a:r>
              <a:rPr lang="es-CO" sz="2900" spc="-114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90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los</a:t>
            </a:r>
            <a:r>
              <a:rPr lang="es-CO" sz="2900" spc="-195" noProof="0" dirty="0">
                <a:latin typeface="Microsoft Sans Serif"/>
                <a:cs typeface="Microsoft Sans Serif"/>
              </a:rPr>
              <a:t> </a:t>
            </a:r>
            <a:r>
              <a:rPr lang="es-CO" sz="2900" spc="-140" noProof="0" dirty="0">
                <a:latin typeface="Microsoft Sans Serif"/>
                <a:cs typeface="Microsoft Sans Serif"/>
              </a:rPr>
              <a:t>valores</a:t>
            </a:r>
            <a:r>
              <a:rPr lang="es-CO" sz="2900" spc="-170" noProof="0" dirty="0">
                <a:latin typeface="Microsoft Sans Serif"/>
                <a:cs typeface="Microsoft Sans Serif"/>
              </a:rPr>
              <a:t> máximo</a:t>
            </a:r>
            <a:r>
              <a:rPr lang="es-CO" sz="2900" spc="-204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y</a:t>
            </a:r>
            <a:r>
              <a:rPr lang="es-CO" sz="2900" spc="25" noProof="0" dirty="0">
                <a:latin typeface="Microsoft Sans Serif"/>
                <a:cs typeface="Microsoft Sans Serif"/>
              </a:rPr>
              <a:t> </a:t>
            </a:r>
            <a:r>
              <a:rPr lang="es-CO" sz="2900" spc="-220" noProof="0" dirty="0">
                <a:latin typeface="Microsoft Sans Serif"/>
                <a:cs typeface="Microsoft Sans Serif"/>
              </a:rPr>
              <a:t>mínimo</a:t>
            </a:r>
            <a:r>
              <a:rPr lang="es-CO" sz="2900" spc="-26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del</a:t>
            </a:r>
            <a:r>
              <a:rPr lang="es-CO" sz="2900" spc="-45" noProof="0" dirty="0">
                <a:latin typeface="Microsoft Sans Serif"/>
                <a:cs typeface="Microsoft Sans Serif"/>
              </a:rPr>
              <a:t> </a:t>
            </a:r>
            <a:r>
              <a:rPr lang="es-CO" sz="2900" spc="-80" noProof="0" dirty="0">
                <a:latin typeface="Microsoft Sans Serif"/>
                <a:cs typeface="Microsoft Sans Serif"/>
              </a:rPr>
              <a:t>conjunto.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875"/>
              </a:spcBef>
              <a:buClr>
                <a:srgbClr val="DD8046"/>
              </a:buClr>
              <a:buFont typeface="Wingdings"/>
              <a:buChar char=""/>
            </a:pPr>
            <a:endParaRPr lang="es-CO" sz="2900" noProof="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55" noProof="0" dirty="0">
                <a:latin typeface="Microsoft Sans Serif"/>
                <a:cs typeface="Microsoft Sans Serif"/>
              </a:rPr>
              <a:t>Ejemplo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2047" y="28955"/>
            <a:ext cx="4523105" cy="399415"/>
          </a:xfrm>
          <a:prstGeom prst="rect">
            <a:avLst/>
          </a:prstGeom>
          <a:solidFill>
            <a:srgbClr val="EBB391"/>
          </a:solidFill>
        </p:spPr>
        <p:txBody>
          <a:bodyPr vert="horz" wrap="square" lIns="0" tIns="24130" rIns="0" bIns="0" rtlCol="0">
            <a:spAutoFit/>
          </a:bodyPr>
          <a:lstStyle/>
          <a:p>
            <a:pPr marL="493395">
              <a:lnSpc>
                <a:spcPct val="100000"/>
              </a:lnSpc>
              <a:spcBef>
                <a:spcPts val="190"/>
              </a:spcBef>
            </a:pPr>
            <a:r>
              <a:rPr lang="es-CO" sz="2000" spc="-22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MEDIDAS</a:t>
            </a:r>
            <a:r>
              <a:rPr lang="es-CO" sz="2000" spc="-20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19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DE</a:t>
            </a:r>
            <a:r>
              <a:rPr lang="es-CO" sz="2000" spc="-29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23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TENDENCIA</a:t>
            </a:r>
            <a:r>
              <a:rPr lang="es-CO" sz="2000" spc="-14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28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CENTRAL</a:t>
            </a:r>
            <a:endParaRPr lang="es-CO" sz="2000" noProof="0" dirty="0">
              <a:latin typeface="Microsoft Sans Serif"/>
              <a:cs typeface="Microsoft Sans Serif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517814"/>
              </p:ext>
            </p:extLst>
          </p:nvPr>
        </p:nvGraphicFramePr>
        <p:xfrm>
          <a:off x="1211910" y="4367923"/>
          <a:ext cx="10078713" cy="64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9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43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23622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30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215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36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215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47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215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215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52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215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52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215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56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215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60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215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63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215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70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215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70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215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110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215" marB="0">
                    <a:solidFill>
                      <a:srgbClr val="F8E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384805" y="5751067"/>
            <a:ext cx="20764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2400" noProof="0" dirty="0">
                <a:latin typeface="Cambria Math"/>
                <a:cs typeface="Cambria Math"/>
              </a:rPr>
              <a:t>𝑟𝑎𝑛𝑔𝑜</a:t>
            </a:r>
            <a:r>
              <a:rPr lang="es-CO" sz="2400" spc="-65" noProof="0" dirty="0">
                <a:latin typeface="Cambria Math"/>
                <a:cs typeface="Cambria Math"/>
              </a:rPr>
              <a:t> </a:t>
            </a:r>
            <a:r>
              <a:rPr lang="es-CO" sz="2400" noProof="0" dirty="0">
                <a:latin typeface="Cambria Math"/>
                <a:cs typeface="Cambria Math"/>
              </a:rPr>
              <a:t>𝑚𝑒𝑑𝑖𝑜</a:t>
            </a:r>
            <a:r>
              <a:rPr lang="es-CO" sz="2400" spc="60" noProof="0" dirty="0">
                <a:latin typeface="Cambria Math"/>
                <a:cs typeface="Cambria Math"/>
              </a:rPr>
              <a:t> </a:t>
            </a:r>
            <a:r>
              <a:rPr lang="es-CO" sz="2400" spc="-50" noProof="0" dirty="0">
                <a:latin typeface="Cambria Math"/>
                <a:cs typeface="Cambria Math"/>
              </a:rPr>
              <a:t>=</a:t>
            </a:r>
            <a:endParaRPr lang="es-CO" sz="2400" noProof="0" dirty="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50664" y="5977128"/>
            <a:ext cx="2520315" cy="20955"/>
          </a:xfrm>
          <a:custGeom>
            <a:avLst/>
            <a:gdLst/>
            <a:ahLst/>
            <a:cxnLst/>
            <a:rect l="l" t="t" r="r" b="b"/>
            <a:pathLst>
              <a:path w="2520315" h="20954">
                <a:moveTo>
                  <a:pt x="2520188" y="0"/>
                </a:moveTo>
                <a:lnTo>
                  <a:pt x="0" y="0"/>
                </a:lnTo>
                <a:lnTo>
                  <a:pt x="0" y="20802"/>
                </a:lnTo>
                <a:lnTo>
                  <a:pt x="2520188" y="20802"/>
                </a:lnTo>
                <a:lnTo>
                  <a:pt x="25201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8" name="object 8"/>
          <p:cNvSpPr txBox="1"/>
          <p:nvPr/>
        </p:nvSpPr>
        <p:spPr>
          <a:xfrm>
            <a:off x="4538853" y="5520944"/>
            <a:ext cx="25215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2400" noProof="0" dirty="0">
                <a:latin typeface="Cambria Math"/>
                <a:cs typeface="Cambria Math"/>
              </a:rPr>
              <a:t>𝑚𝑎𝑥𝑖𝑚𝑜</a:t>
            </a:r>
            <a:r>
              <a:rPr lang="es-CO" sz="2400" spc="-55" noProof="0" dirty="0">
                <a:latin typeface="Cambria Math"/>
                <a:cs typeface="Cambria Math"/>
              </a:rPr>
              <a:t> </a:t>
            </a:r>
            <a:r>
              <a:rPr lang="es-CO" sz="2400" noProof="0" dirty="0">
                <a:latin typeface="Cambria Math"/>
                <a:cs typeface="Cambria Math"/>
              </a:rPr>
              <a:t>+</a:t>
            </a:r>
            <a:r>
              <a:rPr lang="es-CO" sz="2400" spc="-110" noProof="0" dirty="0">
                <a:latin typeface="Cambria Math"/>
                <a:cs typeface="Cambria Math"/>
              </a:rPr>
              <a:t> </a:t>
            </a:r>
            <a:r>
              <a:rPr lang="es-CO" sz="2400" spc="-10" noProof="0" dirty="0">
                <a:latin typeface="Cambria Math"/>
                <a:cs typeface="Cambria Math"/>
              </a:rPr>
              <a:t>𝑚𝑖𝑛𝑖𝑚𝑜</a:t>
            </a:r>
            <a:endParaRPr lang="es-CO" sz="2400" noProof="0" dirty="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14491" y="5954979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2400" spc="-50" noProof="0" dirty="0">
                <a:latin typeface="Cambria Math"/>
                <a:cs typeface="Cambria Math"/>
              </a:rPr>
              <a:t>2</a:t>
            </a:r>
            <a:endParaRPr lang="es-CO" sz="2400" noProof="0" dirty="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44257" y="5751067"/>
            <a:ext cx="253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2400" spc="-50" noProof="0" dirty="0">
                <a:latin typeface="Cambria Math"/>
                <a:cs typeface="Cambria Math"/>
              </a:rPr>
              <a:t>=</a:t>
            </a:r>
            <a:endParaRPr lang="es-CO" sz="2400" noProof="0" dirty="0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533131" y="5977128"/>
            <a:ext cx="1203960" cy="20955"/>
          </a:xfrm>
          <a:custGeom>
            <a:avLst/>
            <a:gdLst/>
            <a:ahLst/>
            <a:cxnLst/>
            <a:rect l="l" t="t" r="r" b="b"/>
            <a:pathLst>
              <a:path w="1203959" h="20954">
                <a:moveTo>
                  <a:pt x="1203959" y="0"/>
                </a:moveTo>
                <a:lnTo>
                  <a:pt x="0" y="0"/>
                </a:lnTo>
                <a:lnTo>
                  <a:pt x="0" y="20802"/>
                </a:lnTo>
                <a:lnTo>
                  <a:pt x="1203959" y="20802"/>
                </a:lnTo>
                <a:lnTo>
                  <a:pt x="12039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12" name="object 12"/>
          <p:cNvSpPr txBox="1"/>
          <p:nvPr/>
        </p:nvSpPr>
        <p:spPr>
          <a:xfrm>
            <a:off x="8040369" y="5954979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2400" spc="-50" noProof="0" dirty="0">
                <a:latin typeface="Cambria Math"/>
                <a:cs typeface="Cambria Math"/>
              </a:rPr>
              <a:t>2</a:t>
            </a:r>
            <a:endParaRPr lang="es-CO" sz="2400" noProof="0" dirty="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810370" y="5751067"/>
            <a:ext cx="253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2400" spc="-50" noProof="0" dirty="0">
                <a:latin typeface="Cambria Math"/>
                <a:cs typeface="Cambria Math"/>
              </a:rPr>
              <a:t>=</a:t>
            </a:r>
            <a:endParaRPr lang="es-CO" sz="2400" noProof="0" dirty="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22209" y="5520944"/>
            <a:ext cx="2133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12265" algn="l"/>
              </a:tabLst>
            </a:pPr>
            <a:r>
              <a:rPr lang="es-CO" sz="2400" noProof="0" dirty="0">
                <a:latin typeface="Cambria Math"/>
                <a:cs typeface="Cambria Math"/>
              </a:rPr>
              <a:t>110</a:t>
            </a:r>
            <a:r>
              <a:rPr lang="es-CO" sz="2400" spc="-35" noProof="0" dirty="0">
                <a:latin typeface="Cambria Math"/>
                <a:cs typeface="Cambria Math"/>
              </a:rPr>
              <a:t> </a:t>
            </a:r>
            <a:r>
              <a:rPr lang="es-CO" sz="2400" noProof="0" dirty="0">
                <a:latin typeface="Cambria Math"/>
                <a:cs typeface="Cambria Math"/>
              </a:rPr>
              <a:t>+</a:t>
            </a:r>
            <a:r>
              <a:rPr lang="es-CO" sz="2400" spc="-20" noProof="0" dirty="0">
                <a:latin typeface="Cambria Math"/>
                <a:cs typeface="Cambria Math"/>
              </a:rPr>
              <a:t> </a:t>
            </a:r>
            <a:r>
              <a:rPr lang="es-CO" sz="2400" spc="-25" noProof="0" dirty="0">
                <a:latin typeface="Cambria Math"/>
                <a:cs typeface="Cambria Math"/>
              </a:rPr>
              <a:t>30</a:t>
            </a:r>
            <a:r>
              <a:rPr lang="es-CO" sz="2400" noProof="0" dirty="0">
                <a:latin typeface="Cambria Math"/>
                <a:cs typeface="Cambria Math"/>
              </a:rPr>
              <a:t>	</a:t>
            </a:r>
            <a:r>
              <a:rPr lang="es-CO" sz="2400" spc="-25" noProof="0" dirty="0">
                <a:latin typeface="Cambria Math"/>
                <a:cs typeface="Cambria Math"/>
              </a:rPr>
              <a:t>140</a:t>
            </a:r>
            <a:endParaRPr lang="es-CO" sz="2400" noProof="0" dirty="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133331" y="5977128"/>
            <a:ext cx="506095" cy="20955"/>
          </a:xfrm>
          <a:custGeom>
            <a:avLst/>
            <a:gdLst/>
            <a:ahLst/>
            <a:cxnLst/>
            <a:rect l="l" t="t" r="r" b="b"/>
            <a:pathLst>
              <a:path w="506095" h="20954">
                <a:moveTo>
                  <a:pt x="505587" y="0"/>
                </a:moveTo>
                <a:lnTo>
                  <a:pt x="0" y="0"/>
                </a:lnTo>
                <a:lnTo>
                  <a:pt x="0" y="20802"/>
                </a:lnTo>
                <a:lnTo>
                  <a:pt x="505587" y="20802"/>
                </a:lnTo>
                <a:lnTo>
                  <a:pt x="5055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16" name="object 16"/>
          <p:cNvSpPr txBox="1"/>
          <p:nvPr/>
        </p:nvSpPr>
        <p:spPr>
          <a:xfrm>
            <a:off x="9290431" y="5954979"/>
            <a:ext cx="194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2400" spc="-50" noProof="0" dirty="0">
                <a:latin typeface="Cambria Math"/>
                <a:cs typeface="Cambria Math"/>
              </a:rPr>
              <a:t>2</a:t>
            </a:r>
            <a:endParaRPr lang="es-CO" sz="2400" noProof="0" dirty="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712579" y="5751067"/>
            <a:ext cx="6629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2400" noProof="0" dirty="0">
                <a:latin typeface="Cambria Math"/>
                <a:cs typeface="Cambria Math"/>
              </a:rPr>
              <a:t>=</a:t>
            </a:r>
            <a:r>
              <a:rPr lang="es-CO" sz="2400" spc="30" noProof="0" dirty="0">
                <a:latin typeface="Cambria Math"/>
                <a:cs typeface="Cambria Math"/>
              </a:rPr>
              <a:t> </a:t>
            </a:r>
            <a:r>
              <a:rPr lang="es-CO" sz="2400" spc="-25" noProof="0" dirty="0">
                <a:latin typeface="Cambria Math"/>
                <a:cs typeface="Cambria Math"/>
              </a:rPr>
              <a:t>70</a:t>
            </a:r>
            <a:endParaRPr lang="es-CO" sz="2400" noProof="0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80160"/>
            <a:ext cx="711835" cy="228600"/>
          </a:xfrm>
          <a:custGeom>
            <a:avLst/>
            <a:gdLst/>
            <a:ahLst/>
            <a:cxnLst/>
            <a:rect l="l" t="t" r="r" b="b"/>
            <a:pathLst>
              <a:path w="711835" h="228600">
                <a:moveTo>
                  <a:pt x="711581" y="0"/>
                </a:moveTo>
                <a:lnTo>
                  <a:pt x="0" y="0"/>
                </a:lnTo>
                <a:lnTo>
                  <a:pt x="0" y="228600"/>
                </a:lnTo>
                <a:lnTo>
                  <a:pt x="711581" y="228600"/>
                </a:lnTo>
                <a:lnTo>
                  <a:pt x="711581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3" name="object 3"/>
          <p:cNvSpPr/>
          <p:nvPr/>
        </p:nvSpPr>
        <p:spPr>
          <a:xfrm>
            <a:off x="787908" y="1280160"/>
            <a:ext cx="7324090" cy="228600"/>
          </a:xfrm>
          <a:custGeom>
            <a:avLst/>
            <a:gdLst/>
            <a:ahLst/>
            <a:cxnLst/>
            <a:rect l="l" t="t" r="r" b="b"/>
            <a:pathLst>
              <a:path w="7324090" h="228600">
                <a:moveTo>
                  <a:pt x="7323963" y="0"/>
                </a:moveTo>
                <a:lnTo>
                  <a:pt x="0" y="0"/>
                </a:lnTo>
                <a:lnTo>
                  <a:pt x="0" y="228600"/>
                </a:lnTo>
                <a:lnTo>
                  <a:pt x="7323963" y="228600"/>
                </a:lnTo>
                <a:lnTo>
                  <a:pt x="7323963" y="0"/>
                </a:lnTo>
                <a:close/>
              </a:path>
            </a:pathLst>
          </a:custGeom>
          <a:solidFill>
            <a:srgbClr val="92B6D2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4" name="object 4"/>
          <p:cNvSpPr/>
          <p:nvPr/>
        </p:nvSpPr>
        <p:spPr>
          <a:xfrm>
            <a:off x="11568683" y="1280160"/>
            <a:ext cx="623570" cy="228600"/>
          </a:xfrm>
          <a:custGeom>
            <a:avLst/>
            <a:gdLst/>
            <a:ahLst/>
            <a:cxnLst/>
            <a:rect l="l" t="t" r="r" b="b"/>
            <a:pathLst>
              <a:path w="623570" h="228600">
                <a:moveTo>
                  <a:pt x="623062" y="0"/>
                </a:moveTo>
                <a:lnTo>
                  <a:pt x="0" y="0"/>
                </a:lnTo>
                <a:lnTo>
                  <a:pt x="0" y="228600"/>
                </a:lnTo>
                <a:lnTo>
                  <a:pt x="623062" y="228600"/>
                </a:lnTo>
                <a:lnTo>
                  <a:pt x="623062" y="0"/>
                </a:lnTo>
                <a:close/>
              </a:path>
            </a:pathLst>
          </a:custGeom>
          <a:solidFill>
            <a:srgbClr val="92B6D2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757085"/>
              </p:ext>
            </p:extLst>
          </p:nvPr>
        </p:nvGraphicFramePr>
        <p:xfrm>
          <a:off x="8196071" y="117347"/>
          <a:ext cx="3330575" cy="1723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3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5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lang="es-CO" sz="2000" spc="-10" noProof="0" dirty="0">
                          <a:latin typeface="Microsoft Sans Serif"/>
                          <a:cs typeface="Microsoft Sans Serif"/>
                        </a:rPr>
                        <a:t>Media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4130" marB="0">
                    <a:lnT w="12700">
                      <a:solidFill>
                        <a:srgbClr val="DD8046"/>
                      </a:solidFill>
                      <a:prstDash val="solid"/>
                    </a:lnT>
                    <a:lnB w="12700">
                      <a:solidFill>
                        <a:srgbClr val="DD80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lang="es-CO" sz="2000" spc="-10" noProof="0" dirty="0">
                          <a:latin typeface="Microsoft Sans Serif"/>
                          <a:cs typeface="Microsoft Sans Serif"/>
                        </a:rPr>
                        <a:t>39.702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4130" marB="0">
                    <a:lnT w="12700">
                      <a:solidFill>
                        <a:srgbClr val="DD8046"/>
                      </a:solidFill>
                      <a:prstDash val="solid"/>
                    </a:lnT>
                    <a:lnB w="12700">
                      <a:solidFill>
                        <a:srgbClr val="DD80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CO" sz="2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es-CO" sz="2000" spc="-10" noProof="0" dirty="0">
                          <a:latin typeface="Microsoft Sans Serif"/>
                          <a:cs typeface="Microsoft Sans Serif"/>
                        </a:rPr>
                        <a:t>Mediana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4765" marB="0">
                    <a:lnT w="12700">
                      <a:solidFill>
                        <a:srgbClr val="DD8046"/>
                      </a:solidFill>
                      <a:prstDash val="solid"/>
                    </a:lnT>
                    <a:solidFill>
                      <a:srgbClr val="DD8046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38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4765" marB="0">
                    <a:lnT w="12700">
                      <a:solidFill>
                        <a:srgbClr val="DD8046"/>
                      </a:solidFill>
                      <a:prstDash val="solid"/>
                    </a:lnT>
                    <a:solidFill>
                      <a:srgbClr val="DD8046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CO" sz="2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D8046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lang="es-CO" sz="2000" spc="-20" noProof="0" dirty="0">
                          <a:latin typeface="Microsoft Sans Serif"/>
                          <a:cs typeface="Microsoft Sans Serif"/>
                        </a:rPr>
                        <a:t>Moda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38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CO" sz="2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3946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845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lang="es-CO" sz="2000" spc="-540" noProof="0" dirty="0">
                          <a:latin typeface="Microsoft Sans Serif"/>
                          <a:cs typeface="Microsoft Sans Serif"/>
                        </a:rPr>
                        <a:t>R</a:t>
                      </a:r>
                      <a:r>
                        <a:rPr lang="es-CO" sz="2000" spc="-90" noProof="0" dirty="0">
                          <a:latin typeface="Microsoft Sans Serif"/>
                          <a:cs typeface="Microsoft Sans Serif"/>
                        </a:rPr>
                        <a:t>an</a:t>
                      </a:r>
                      <a:r>
                        <a:rPr lang="es-CO" sz="2000" spc="-100" noProof="0" dirty="0">
                          <a:latin typeface="Microsoft Sans Serif"/>
                          <a:cs typeface="Microsoft Sans Serif"/>
                        </a:rPr>
                        <a:t>g</a:t>
                      </a:r>
                      <a:r>
                        <a:rPr lang="es-CO" sz="2000" spc="-5" noProof="0" dirty="0"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lang="es-CO" sz="2000" spc="-105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spc="-20" noProof="0" dirty="0">
                          <a:latin typeface="Microsoft Sans Serif"/>
                          <a:cs typeface="Microsoft Sans Serif"/>
                        </a:rPr>
                        <a:t>medio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70" marB="0">
                    <a:lnB w="12700">
                      <a:solidFill>
                        <a:srgbClr val="DD8046"/>
                      </a:solidFill>
                      <a:prstDash val="solid"/>
                    </a:lnB>
                    <a:solidFill>
                      <a:srgbClr val="DD8046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51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70" marB="0">
                    <a:lnB w="12700">
                      <a:solidFill>
                        <a:srgbClr val="DD8046"/>
                      </a:solidFill>
                      <a:prstDash val="solid"/>
                    </a:lnB>
                    <a:solidFill>
                      <a:srgbClr val="DD8046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CO" sz="2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3946">
                      <a:solidFill>
                        <a:srgbClr val="FFFFFF"/>
                      </a:solidFill>
                      <a:prstDash val="solid"/>
                    </a:lnR>
                    <a:solidFill>
                      <a:srgbClr val="DD8046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19" y="2253995"/>
            <a:ext cx="7662672" cy="2718816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33400" y="1848992"/>
            <a:ext cx="7795259" cy="3247390"/>
            <a:chOff x="533400" y="1848992"/>
            <a:chExt cx="7795259" cy="3247390"/>
          </a:xfrm>
        </p:grpSpPr>
        <p:sp>
          <p:nvSpPr>
            <p:cNvPr id="8" name="object 8"/>
            <p:cNvSpPr/>
            <p:nvPr/>
          </p:nvSpPr>
          <p:spPr>
            <a:xfrm>
              <a:off x="3211067" y="1857755"/>
              <a:ext cx="362585" cy="288290"/>
            </a:xfrm>
            <a:custGeom>
              <a:avLst/>
              <a:gdLst/>
              <a:ahLst/>
              <a:cxnLst/>
              <a:rect l="l" t="t" r="r" b="b"/>
              <a:pathLst>
                <a:path w="362585" h="288289">
                  <a:moveTo>
                    <a:pt x="271906" y="0"/>
                  </a:moveTo>
                  <a:lnTo>
                    <a:pt x="90678" y="0"/>
                  </a:lnTo>
                  <a:lnTo>
                    <a:pt x="90678" y="143891"/>
                  </a:lnTo>
                  <a:lnTo>
                    <a:pt x="0" y="143891"/>
                  </a:lnTo>
                  <a:lnTo>
                    <a:pt x="181229" y="287782"/>
                  </a:lnTo>
                  <a:lnTo>
                    <a:pt x="362584" y="143891"/>
                  </a:lnTo>
                  <a:lnTo>
                    <a:pt x="271906" y="143891"/>
                  </a:lnTo>
                  <a:lnTo>
                    <a:pt x="27190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3211829" y="1858517"/>
              <a:ext cx="362585" cy="288290"/>
            </a:xfrm>
            <a:custGeom>
              <a:avLst/>
              <a:gdLst/>
              <a:ahLst/>
              <a:cxnLst/>
              <a:rect l="l" t="t" r="r" b="b"/>
              <a:pathLst>
                <a:path w="362585" h="288289">
                  <a:moveTo>
                    <a:pt x="362584" y="143891"/>
                  </a:moveTo>
                  <a:lnTo>
                    <a:pt x="181356" y="287782"/>
                  </a:lnTo>
                  <a:lnTo>
                    <a:pt x="0" y="143891"/>
                  </a:lnTo>
                  <a:lnTo>
                    <a:pt x="90678" y="143891"/>
                  </a:lnTo>
                  <a:lnTo>
                    <a:pt x="90678" y="0"/>
                  </a:lnTo>
                  <a:lnTo>
                    <a:pt x="271906" y="0"/>
                  </a:lnTo>
                  <a:lnTo>
                    <a:pt x="271906" y="143891"/>
                  </a:lnTo>
                  <a:lnTo>
                    <a:pt x="362584" y="143891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400" y="2165603"/>
              <a:ext cx="7795259" cy="2930652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895299" y="330149"/>
            <a:ext cx="30099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pc="-140" noProof="0" dirty="0"/>
              <a:t>Atributo</a:t>
            </a:r>
            <a:r>
              <a:rPr lang="es-CO" spc="-150" noProof="0" dirty="0"/>
              <a:t> </a:t>
            </a:r>
            <a:r>
              <a:rPr lang="es-CO" spc="-350" noProof="0" dirty="0"/>
              <a:t>AGE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3353180" y="5146928"/>
            <a:ext cx="307340" cy="311785"/>
            <a:chOff x="3353180" y="5146928"/>
            <a:chExt cx="307340" cy="311785"/>
          </a:xfrm>
        </p:grpSpPr>
        <p:sp>
          <p:nvSpPr>
            <p:cNvPr id="13" name="object 13"/>
            <p:cNvSpPr/>
            <p:nvPr/>
          </p:nvSpPr>
          <p:spPr>
            <a:xfrm>
              <a:off x="3361943" y="5155691"/>
              <a:ext cx="288290" cy="292735"/>
            </a:xfrm>
            <a:custGeom>
              <a:avLst/>
              <a:gdLst/>
              <a:ahLst/>
              <a:cxnLst/>
              <a:rect l="l" t="t" r="r" b="b"/>
              <a:pathLst>
                <a:path w="288289" h="292735">
                  <a:moveTo>
                    <a:pt x="143890" y="0"/>
                  </a:moveTo>
                  <a:lnTo>
                    <a:pt x="0" y="144525"/>
                  </a:lnTo>
                  <a:lnTo>
                    <a:pt x="71881" y="144525"/>
                  </a:lnTo>
                  <a:lnTo>
                    <a:pt x="71881" y="292226"/>
                  </a:lnTo>
                  <a:lnTo>
                    <a:pt x="215772" y="292226"/>
                  </a:lnTo>
                  <a:lnTo>
                    <a:pt x="215772" y="144525"/>
                  </a:lnTo>
                  <a:lnTo>
                    <a:pt x="287781" y="144525"/>
                  </a:lnTo>
                  <a:lnTo>
                    <a:pt x="14389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14" name="object 14"/>
            <p:cNvSpPr/>
            <p:nvPr/>
          </p:nvSpPr>
          <p:spPr>
            <a:xfrm>
              <a:off x="3362705" y="5156453"/>
              <a:ext cx="288290" cy="292735"/>
            </a:xfrm>
            <a:custGeom>
              <a:avLst/>
              <a:gdLst/>
              <a:ahLst/>
              <a:cxnLst/>
              <a:rect l="l" t="t" r="r" b="b"/>
              <a:pathLst>
                <a:path w="288289" h="292735">
                  <a:moveTo>
                    <a:pt x="0" y="144526"/>
                  </a:moveTo>
                  <a:lnTo>
                    <a:pt x="143891" y="0"/>
                  </a:lnTo>
                  <a:lnTo>
                    <a:pt x="287782" y="144526"/>
                  </a:lnTo>
                  <a:lnTo>
                    <a:pt x="215773" y="144526"/>
                  </a:lnTo>
                  <a:lnTo>
                    <a:pt x="215773" y="292227"/>
                  </a:lnTo>
                  <a:lnTo>
                    <a:pt x="71882" y="292227"/>
                  </a:lnTo>
                  <a:lnTo>
                    <a:pt x="71882" y="144526"/>
                  </a:lnTo>
                  <a:lnTo>
                    <a:pt x="0" y="144526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757042" y="5468213"/>
            <a:ext cx="1315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1800" spc="-55" noProof="0" dirty="0">
                <a:latin typeface="Microsoft Sans Serif"/>
                <a:cs typeface="Microsoft Sans Serif"/>
              </a:rPr>
              <a:t>Media</a:t>
            </a:r>
            <a:r>
              <a:rPr lang="es-CO" sz="1800" spc="-65" noProof="0" dirty="0">
                <a:latin typeface="Microsoft Sans Serif"/>
                <a:cs typeface="Microsoft Sans Serif"/>
              </a:rPr>
              <a:t> </a:t>
            </a:r>
            <a:r>
              <a:rPr lang="es-CO" sz="1800" noProof="0" dirty="0">
                <a:latin typeface="Microsoft Sans Serif"/>
                <a:cs typeface="Microsoft Sans Serif"/>
              </a:rPr>
              <a:t>=</a:t>
            </a:r>
            <a:r>
              <a:rPr lang="es-CO" sz="1800" spc="150" noProof="0" dirty="0">
                <a:latin typeface="Microsoft Sans Serif"/>
                <a:cs typeface="Microsoft Sans Serif"/>
              </a:rPr>
              <a:t> </a:t>
            </a:r>
            <a:r>
              <a:rPr lang="es-CO" sz="1800" spc="-20" noProof="0" dirty="0">
                <a:latin typeface="Microsoft Sans Serif"/>
                <a:cs typeface="Microsoft Sans Serif"/>
              </a:rPr>
              <a:t>39.7</a:t>
            </a:r>
            <a:endParaRPr lang="es-CO" sz="1800" noProof="0" dirty="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83535" y="1492377"/>
            <a:ext cx="1083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1800" spc="-55" noProof="0" dirty="0">
                <a:latin typeface="Microsoft Sans Serif"/>
                <a:cs typeface="Microsoft Sans Serif"/>
              </a:rPr>
              <a:t>Moda</a:t>
            </a:r>
            <a:r>
              <a:rPr lang="es-CO" sz="1800" spc="-90" noProof="0" dirty="0">
                <a:latin typeface="Microsoft Sans Serif"/>
                <a:cs typeface="Microsoft Sans Serif"/>
              </a:rPr>
              <a:t> </a:t>
            </a:r>
            <a:r>
              <a:rPr lang="es-CO" sz="1800" noProof="0" dirty="0">
                <a:latin typeface="Microsoft Sans Serif"/>
                <a:cs typeface="Microsoft Sans Serif"/>
              </a:rPr>
              <a:t>=</a:t>
            </a:r>
            <a:r>
              <a:rPr lang="es-CO" sz="1800" spc="130" noProof="0" dirty="0">
                <a:latin typeface="Microsoft Sans Serif"/>
                <a:cs typeface="Microsoft Sans Serif"/>
              </a:rPr>
              <a:t> </a:t>
            </a:r>
            <a:r>
              <a:rPr lang="es-CO" sz="1800" spc="-25" noProof="0" dirty="0">
                <a:latin typeface="Microsoft Sans Serif"/>
                <a:cs typeface="Microsoft Sans Serif"/>
              </a:rPr>
              <a:t>38</a:t>
            </a:r>
            <a:endParaRPr lang="es-CO" sz="1800" noProof="0" dirty="0">
              <a:latin typeface="Microsoft Sans Serif"/>
              <a:cs typeface="Microsoft Sans Serif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211378"/>
              </p:ext>
            </p:extLst>
          </p:nvPr>
        </p:nvGraphicFramePr>
        <p:xfrm>
          <a:off x="8481059" y="2048129"/>
          <a:ext cx="1728470" cy="4075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es-CO" sz="1800" b="1" spc="-25" noProof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lang="es-CO" sz="1800" noProof="0" dirty="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2B6D2"/>
                    </a:solidFill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es-CO" sz="1800" b="1" spc="-25" noProof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AGE</a:t>
                      </a:r>
                      <a:endParaRPr lang="es-CO" sz="1800" noProof="0" dirty="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2B6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lang="es-CO" sz="1800" spc="-50" noProof="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21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lang="es-CO" sz="1800" spc="-50" noProof="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22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lang="es-CO" sz="1800" b="1" spc="-50" noProof="0" dirty="0">
                          <a:latin typeface="Arial"/>
                          <a:cs typeface="Arial"/>
                        </a:rPr>
                        <a:t>…</a:t>
                      </a:r>
                      <a:endParaRPr lang="es-CO" sz="1800" noProof="0" dirty="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CO" sz="2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88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38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89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38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90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38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91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38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s-CO" sz="1800" b="1" spc="-25" noProof="0" dirty="0">
                          <a:latin typeface="Arial"/>
                          <a:cs typeface="Arial"/>
                        </a:rPr>
                        <a:t>...</a:t>
                      </a:r>
                      <a:endParaRPr lang="es-CO" sz="1800" noProof="0" dirty="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CO" sz="2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177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76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178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81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18" name="object 18"/>
          <p:cNvGrpSpPr/>
          <p:nvPr/>
        </p:nvGrpSpPr>
        <p:grpSpPr>
          <a:xfrm>
            <a:off x="10214229" y="4099940"/>
            <a:ext cx="307340" cy="308610"/>
            <a:chOff x="10214229" y="4099940"/>
            <a:chExt cx="307340" cy="308610"/>
          </a:xfrm>
        </p:grpSpPr>
        <p:sp>
          <p:nvSpPr>
            <p:cNvPr id="19" name="object 19"/>
            <p:cNvSpPr/>
            <p:nvPr/>
          </p:nvSpPr>
          <p:spPr>
            <a:xfrm>
              <a:off x="10222992" y="4108703"/>
              <a:ext cx="288290" cy="289560"/>
            </a:xfrm>
            <a:custGeom>
              <a:avLst/>
              <a:gdLst/>
              <a:ahLst/>
              <a:cxnLst/>
              <a:rect l="l" t="t" r="r" b="b"/>
              <a:pathLst>
                <a:path w="288290" h="289560">
                  <a:moveTo>
                    <a:pt x="143890" y="0"/>
                  </a:moveTo>
                  <a:lnTo>
                    <a:pt x="0" y="144653"/>
                  </a:lnTo>
                  <a:lnTo>
                    <a:pt x="143890" y="289306"/>
                  </a:lnTo>
                  <a:lnTo>
                    <a:pt x="143890" y="216916"/>
                  </a:lnTo>
                  <a:lnTo>
                    <a:pt x="287781" y="216916"/>
                  </a:lnTo>
                  <a:lnTo>
                    <a:pt x="287781" y="72263"/>
                  </a:lnTo>
                  <a:lnTo>
                    <a:pt x="143890" y="72263"/>
                  </a:lnTo>
                  <a:lnTo>
                    <a:pt x="14389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20" name="object 20"/>
            <p:cNvSpPr/>
            <p:nvPr/>
          </p:nvSpPr>
          <p:spPr>
            <a:xfrm>
              <a:off x="10223754" y="4109465"/>
              <a:ext cx="288290" cy="289560"/>
            </a:xfrm>
            <a:custGeom>
              <a:avLst/>
              <a:gdLst/>
              <a:ahLst/>
              <a:cxnLst/>
              <a:rect l="l" t="t" r="r" b="b"/>
              <a:pathLst>
                <a:path w="288290" h="289560">
                  <a:moveTo>
                    <a:pt x="0" y="144652"/>
                  </a:moveTo>
                  <a:lnTo>
                    <a:pt x="143891" y="0"/>
                  </a:lnTo>
                  <a:lnTo>
                    <a:pt x="143891" y="72262"/>
                  </a:lnTo>
                  <a:lnTo>
                    <a:pt x="287781" y="72262"/>
                  </a:lnTo>
                  <a:lnTo>
                    <a:pt x="287781" y="216915"/>
                  </a:lnTo>
                  <a:lnTo>
                    <a:pt x="143891" y="216915"/>
                  </a:lnTo>
                  <a:lnTo>
                    <a:pt x="143891" y="289305"/>
                  </a:lnTo>
                  <a:lnTo>
                    <a:pt x="0" y="144652"/>
                  </a:lnTo>
                  <a:close/>
                </a:path>
              </a:pathLst>
            </a:custGeom>
            <a:ln w="19049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0619358" y="4085970"/>
            <a:ext cx="1358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1800" spc="-75" noProof="0" dirty="0">
                <a:latin typeface="Microsoft Sans Serif"/>
                <a:cs typeface="Microsoft Sans Serif"/>
              </a:rPr>
              <a:t>Mediana </a:t>
            </a:r>
            <a:r>
              <a:rPr lang="es-CO" sz="1800" noProof="0" dirty="0">
                <a:latin typeface="Microsoft Sans Serif"/>
                <a:cs typeface="Microsoft Sans Serif"/>
              </a:rPr>
              <a:t>=</a:t>
            </a:r>
            <a:r>
              <a:rPr lang="es-CO" sz="1800" spc="160" noProof="0" dirty="0">
                <a:latin typeface="Microsoft Sans Serif"/>
                <a:cs typeface="Microsoft Sans Serif"/>
              </a:rPr>
              <a:t> </a:t>
            </a:r>
            <a:r>
              <a:rPr lang="es-CO" sz="1800" spc="-25" noProof="0" dirty="0">
                <a:latin typeface="Microsoft Sans Serif"/>
                <a:cs typeface="Microsoft Sans Serif"/>
              </a:rPr>
              <a:t>38</a:t>
            </a:r>
            <a:endParaRPr lang="es-CO" sz="1800" noProof="0" dirty="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84623" y="5465165"/>
            <a:ext cx="1744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1800" spc="-165" noProof="0" dirty="0">
                <a:latin typeface="Microsoft Sans Serif"/>
                <a:cs typeface="Microsoft Sans Serif"/>
              </a:rPr>
              <a:t>Rango</a:t>
            </a:r>
            <a:r>
              <a:rPr lang="es-CO" sz="1800" spc="-35" noProof="0" dirty="0">
                <a:latin typeface="Microsoft Sans Serif"/>
                <a:cs typeface="Microsoft Sans Serif"/>
              </a:rPr>
              <a:t> </a:t>
            </a:r>
            <a:r>
              <a:rPr lang="es-CO" sz="1800" spc="-95" noProof="0" dirty="0">
                <a:latin typeface="Microsoft Sans Serif"/>
                <a:cs typeface="Microsoft Sans Serif"/>
              </a:rPr>
              <a:t>medio</a:t>
            </a:r>
            <a:r>
              <a:rPr lang="es-CO" sz="1800" spc="-65" noProof="0" dirty="0">
                <a:latin typeface="Microsoft Sans Serif"/>
                <a:cs typeface="Microsoft Sans Serif"/>
              </a:rPr>
              <a:t> </a:t>
            </a:r>
            <a:r>
              <a:rPr lang="es-CO" sz="1800" noProof="0" dirty="0">
                <a:latin typeface="Microsoft Sans Serif"/>
                <a:cs typeface="Microsoft Sans Serif"/>
              </a:rPr>
              <a:t>=</a:t>
            </a:r>
            <a:r>
              <a:rPr lang="es-CO" sz="1800" spc="175" noProof="0" dirty="0">
                <a:latin typeface="Microsoft Sans Serif"/>
                <a:cs typeface="Microsoft Sans Serif"/>
              </a:rPr>
              <a:t> </a:t>
            </a:r>
            <a:r>
              <a:rPr lang="es-CO" sz="1800" spc="-25" noProof="0" dirty="0">
                <a:latin typeface="Microsoft Sans Serif"/>
                <a:cs typeface="Microsoft Sans Serif"/>
              </a:rPr>
              <a:t>51</a:t>
            </a:r>
            <a:endParaRPr lang="es-CO" sz="1800" noProof="0" dirty="0">
              <a:latin typeface="Microsoft Sans Serif"/>
              <a:cs typeface="Microsoft Sans Serif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718684" y="5146928"/>
            <a:ext cx="308610" cy="311785"/>
            <a:chOff x="4718684" y="5146928"/>
            <a:chExt cx="308610" cy="311785"/>
          </a:xfrm>
        </p:grpSpPr>
        <p:sp>
          <p:nvSpPr>
            <p:cNvPr id="24" name="object 24"/>
            <p:cNvSpPr/>
            <p:nvPr/>
          </p:nvSpPr>
          <p:spPr>
            <a:xfrm>
              <a:off x="4727447" y="5155691"/>
              <a:ext cx="289560" cy="292735"/>
            </a:xfrm>
            <a:custGeom>
              <a:avLst/>
              <a:gdLst/>
              <a:ahLst/>
              <a:cxnLst/>
              <a:rect l="l" t="t" r="r" b="b"/>
              <a:pathLst>
                <a:path w="289560" h="292735">
                  <a:moveTo>
                    <a:pt x="144652" y="0"/>
                  </a:moveTo>
                  <a:lnTo>
                    <a:pt x="0" y="144525"/>
                  </a:lnTo>
                  <a:lnTo>
                    <a:pt x="72389" y="144525"/>
                  </a:lnTo>
                  <a:lnTo>
                    <a:pt x="72389" y="292226"/>
                  </a:lnTo>
                  <a:lnTo>
                    <a:pt x="216915" y="292226"/>
                  </a:lnTo>
                  <a:lnTo>
                    <a:pt x="216915" y="144525"/>
                  </a:lnTo>
                  <a:lnTo>
                    <a:pt x="289305" y="144525"/>
                  </a:lnTo>
                  <a:lnTo>
                    <a:pt x="1446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25" name="object 25"/>
            <p:cNvSpPr/>
            <p:nvPr/>
          </p:nvSpPr>
          <p:spPr>
            <a:xfrm>
              <a:off x="4728209" y="5156453"/>
              <a:ext cx="289560" cy="292735"/>
            </a:xfrm>
            <a:custGeom>
              <a:avLst/>
              <a:gdLst/>
              <a:ahLst/>
              <a:cxnLst/>
              <a:rect l="l" t="t" r="r" b="b"/>
              <a:pathLst>
                <a:path w="289560" h="292735">
                  <a:moveTo>
                    <a:pt x="0" y="144526"/>
                  </a:moveTo>
                  <a:lnTo>
                    <a:pt x="144652" y="0"/>
                  </a:lnTo>
                  <a:lnTo>
                    <a:pt x="289305" y="144526"/>
                  </a:lnTo>
                  <a:lnTo>
                    <a:pt x="216915" y="144526"/>
                  </a:lnTo>
                  <a:lnTo>
                    <a:pt x="216915" y="292227"/>
                  </a:lnTo>
                  <a:lnTo>
                    <a:pt x="72389" y="292227"/>
                  </a:lnTo>
                  <a:lnTo>
                    <a:pt x="72389" y="144526"/>
                  </a:lnTo>
                  <a:lnTo>
                    <a:pt x="0" y="144526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80160"/>
            <a:ext cx="711835" cy="228600"/>
          </a:xfrm>
          <a:custGeom>
            <a:avLst/>
            <a:gdLst/>
            <a:ahLst/>
            <a:cxnLst/>
            <a:rect l="l" t="t" r="r" b="b"/>
            <a:pathLst>
              <a:path w="711835" h="228600">
                <a:moveTo>
                  <a:pt x="711581" y="0"/>
                </a:moveTo>
                <a:lnTo>
                  <a:pt x="0" y="0"/>
                </a:lnTo>
                <a:lnTo>
                  <a:pt x="0" y="228600"/>
                </a:lnTo>
                <a:lnTo>
                  <a:pt x="711581" y="228600"/>
                </a:lnTo>
                <a:lnTo>
                  <a:pt x="711581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3" name="object 3"/>
          <p:cNvSpPr/>
          <p:nvPr/>
        </p:nvSpPr>
        <p:spPr>
          <a:xfrm>
            <a:off x="787908" y="1280160"/>
            <a:ext cx="7324090" cy="228600"/>
          </a:xfrm>
          <a:custGeom>
            <a:avLst/>
            <a:gdLst/>
            <a:ahLst/>
            <a:cxnLst/>
            <a:rect l="l" t="t" r="r" b="b"/>
            <a:pathLst>
              <a:path w="7324090" h="228600">
                <a:moveTo>
                  <a:pt x="7323963" y="0"/>
                </a:moveTo>
                <a:lnTo>
                  <a:pt x="0" y="0"/>
                </a:lnTo>
                <a:lnTo>
                  <a:pt x="0" y="228600"/>
                </a:lnTo>
                <a:lnTo>
                  <a:pt x="7323963" y="228600"/>
                </a:lnTo>
                <a:lnTo>
                  <a:pt x="7323963" y="0"/>
                </a:lnTo>
                <a:close/>
              </a:path>
            </a:pathLst>
          </a:custGeom>
          <a:solidFill>
            <a:srgbClr val="92B6D2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4" name="object 4"/>
          <p:cNvSpPr/>
          <p:nvPr/>
        </p:nvSpPr>
        <p:spPr>
          <a:xfrm>
            <a:off x="11568683" y="1280160"/>
            <a:ext cx="623570" cy="228600"/>
          </a:xfrm>
          <a:custGeom>
            <a:avLst/>
            <a:gdLst/>
            <a:ahLst/>
            <a:cxnLst/>
            <a:rect l="l" t="t" r="r" b="b"/>
            <a:pathLst>
              <a:path w="623570" h="228600">
                <a:moveTo>
                  <a:pt x="623062" y="0"/>
                </a:moveTo>
                <a:lnTo>
                  <a:pt x="0" y="0"/>
                </a:lnTo>
                <a:lnTo>
                  <a:pt x="0" y="228600"/>
                </a:lnTo>
                <a:lnTo>
                  <a:pt x="623062" y="228600"/>
                </a:lnTo>
                <a:lnTo>
                  <a:pt x="623062" y="0"/>
                </a:lnTo>
                <a:close/>
              </a:path>
            </a:pathLst>
          </a:custGeom>
          <a:solidFill>
            <a:srgbClr val="92B6D2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010677"/>
              </p:ext>
            </p:extLst>
          </p:nvPr>
        </p:nvGraphicFramePr>
        <p:xfrm>
          <a:off x="8196071" y="117347"/>
          <a:ext cx="3330575" cy="1723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83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5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lang="es-CO" sz="2000" spc="-10" noProof="0" dirty="0">
                          <a:latin typeface="Microsoft Sans Serif"/>
                          <a:cs typeface="Microsoft Sans Serif"/>
                        </a:rPr>
                        <a:t>Media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4130" marB="0">
                    <a:lnT w="12700">
                      <a:solidFill>
                        <a:srgbClr val="DD8046"/>
                      </a:solidFill>
                      <a:prstDash val="solid"/>
                    </a:lnT>
                    <a:lnB w="12700">
                      <a:solidFill>
                        <a:srgbClr val="DD80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lang="es-CO" sz="2000" spc="-10" noProof="0" dirty="0">
                          <a:latin typeface="Microsoft Sans Serif"/>
                          <a:cs typeface="Microsoft Sans Serif"/>
                        </a:rPr>
                        <a:t>39.702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4130" marB="0">
                    <a:lnT w="12700">
                      <a:solidFill>
                        <a:srgbClr val="DD8046"/>
                      </a:solidFill>
                      <a:prstDash val="solid"/>
                    </a:lnT>
                    <a:lnB w="12700">
                      <a:solidFill>
                        <a:srgbClr val="DD80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CO" sz="2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335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es-CO" sz="2000" spc="-10" noProof="0" dirty="0">
                          <a:latin typeface="Microsoft Sans Serif"/>
                          <a:cs typeface="Microsoft Sans Serif"/>
                        </a:rPr>
                        <a:t>Mediana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4765" marB="0">
                    <a:lnT w="12700">
                      <a:solidFill>
                        <a:srgbClr val="DD8046"/>
                      </a:solidFill>
                      <a:prstDash val="solid"/>
                    </a:lnT>
                    <a:solidFill>
                      <a:srgbClr val="DD8046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38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4765" marB="0">
                    <a:lnT w="12700">
                      <a:solidFill>
                        <a:srgbClr val="DD8046"/>
                      </a:solidFill>
                      <a:prstDash val="solid"/>
                    </a:lnT>
                    <a:solidFill>
                      <a:srgbClr val="DD8046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CO" sz="2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D8046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lang="es-CO" sz="2000" spc="-20" noProof="0" dirty="0">
                          <a:latin typeface="Microsoft Sans Serif"/>
                          <a:cs typeface="Microsoft Sans Serif"/>
                        </a:rPr>
                        <a:t>Moda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15430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38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CO" sz="2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3946">
                      <a:solidFill>
                        <a:srgbClr val="FFFFF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845"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lang="es-CO" sz="2000" spc="-540" noProof="0" dirty="0">
                          <a:latin typeface="Microsoft Sans Serif"/>
                          <a:cs typeface="Microsoft Sans Serif"/>
                        </a:rPr>
                        <a:t>R</a:t>
                      </a:r>
                      <a:r>
                        <a:rPr lang="es-CO" sz="2000" spc="-90" noProof="0" dirty="0">
                          <a:latin typeface="Microsoft Sans Serif"/>
                          <a:cs typeface="Microsoft Sans Serif"/>
                        </a:rPr>
                        <a:t>an</a:t>
                      </a:r>
                      <a:r>
                        <a:rPr lang="es-CO" sz="2000" spc="-100" noProof="0" dirty="0">
                          <a:latin typeface="Microsoft Sans Serif"/>
                          <a:cs typeface="Microsoft Sans Serif"/>
                        </a:rPr>
                        <a:t>g</a:t>
                      </a:r>
                      <a:r>
                        <a:rPr lang="es-CO" sz="2000" spc="-5" noProof="0" dirty="0">
                          <a:latin typeface="Microsoft Sans Serif"/>
                          <a:cs typeface="Microsoft Sans Serif"/>
                        </a:rPr>
                        <a:t>o</a:t>
                      </a:r>
                      <a:r>
                        <a:rPr lang="es-CO" sz="2000" spc="-105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spc="-20" noProof="0" dirty="0">
                          <a:latin typeface="Microsoft Sans Serif"/>
                          <a:cs typeface="Microsoft Sans Serif"/>
                        </a:rPr>
                        <a:t>medio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70" marB="0">
                    <a:lnB w="12700">
                      <a:solidFill>
                        <a:srgbClr val="DD8046"/>
                      </a:solidFill>
                      <a:prstDash val="solid"/>
                    </a:lnB>
                    <a:solidFill>
                      <a:srgbClr val="DD8046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51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6670" marB="0">
                    <a:lnB w="12700">
                      <a:solidFill>
                        <a:srgbClr val="DD8046"/>
                      </a:solidFill>
                      <a:prstDash val="solid"/>
                    </a:lnB>
                    <a:solidFill>
                      <a:srgbClr val="DD8046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CO" sz="2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83946">
                      <a:solidFill>
                        <a:srgbClr val="FFFFFF"/>
                      </a:solidFill>
                      <a:prstDash val="solid"/>
                    </a:lnR>
                    <a:solidFill>
                      <a:srgbClr val="DD8046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219" y="2253995"/>
            <a:ext cx="7662672" cy="271881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95299" y="330149"/>
            <a:ext cx="30099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pc="-140" noProof="0" dirty="0"/>
              <a:t>Atributo</a:t>
            </a:r>
            <a:r>
              <a:rPr lang="es-CO" spc="-150" noProof="0" dirty="0"/>
              <a:t> </a:t>
            </a:r>
            <a:r>
              <a:rPr lang="es-CO" spc="-350" noProof="0" dirty="0"/>
              <a:t>AGE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3353180" y="5146928"/>
            <a:ext cx="307340" cy="311785"/>
            <a:chOff x="3353180" y="5146928"/>
            <a:chExt cx="307340" cy="311785"/>
          </a:xfrm>
        </p:grpSpPr>
        <p:sp>
          <p:nvSpPr>
            <p:cNvPr id="9" name="object 9"/>
            <p:cNvSpPr/>
            <p:nvPr/>
          </p:nvSpPr>
          <p:spPr>
            <a:xfrm>
              <a:off x="3361943" y="5155691"/>
              <a:ext cx="288290" cy="292735"/>
            </a:xfrm>
            <a:custGeom>
              <a:avLst/>
              <a:gdLst/>
              <a:ahLst/>
              <a:cxnLst/>
              <a:rect l="l" t="t" r="r" b="b"/>
              <a:pathLst>
                <a:path w="288289" h="292735">
                  <a:moveTo>
                    <a:pt x="143890" y="0"/>
                  </a:moveTo>
                  <a:lnTo>
                    <a:pt x="0" y="144525"/>
                  </a:lnTo>
                  <a:lnTo>
                    <a:pt x="71881" y="144525"/>
                  </a:lnTo>
                  <a:lnTo>
                    <a:pt x="71881" y="292226"/>
                  </a:lnTo>
                  <a:lnTo>
                    <a:pt x="215772" y="292226"/>
                  </a:lnTo>
                  <a:lnTo>
                    <a:pt x="215772" y="144525"/>
                  </a:lnTo>
                  <a:lnTo>
                    <a:pt x="287781" y="144525"/>
                  </a:lnTo>
                  <a:lnTo>
                    <a:pt x="14389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10" name="object 10"/>
            <p:cNvSpPr/>
            <p:nvPr/>
          </p:nvSpPr>
          <p:spPr>
            <a:xfrm>
              <a:off x="3362705" y="5156453"/>
              <a:ext cx="288290" cy="292735"/>
            </a:xfrm>
            <a:custGeom>
              <a:avLst/>
              <a:gdLst/>
              <a:ahLst/>
              <a:cxnLst/>
              <a:rect l="l" t="t" r="r" b="b"/>
              <a:pathLst>
                <a:path w="288289" h="292735">
                  <a:moveTo>
                    <a:pt x="0" y="144526"/>
                  </a:moveTo>
                  <a:lnTo>
                    <a:pt x="143891" y="0"/>
                  </a:lnTo>
                  <a:lnTo>
                    <a:pt x="287782" y="144526"/>
                  </a:lnTo>
                  <a:lnTo>
                    <a:pt x="215773" y="144526"/>
                  </a:lnTo>
                  <a:lnTo>
                    <a:pt x="215773" y="292227"/>
                  </a:lnTo>
                  <a:lnTo>
                    <a:pt x="71882" y="292227"/>
                  </a:lnTo>
                  <a:lnTo>
                    <a:pt x="71882" y="144526"/>
                  </a:lnTo>
                  <a:lnTo>
                    <a:pt x="0" y="144526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757042" y="5468213"/>
            <a:ext cx="1315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1800" spc="-55" noProof="0" dirty="0">
                <a:latin typeface="Microsoft Sans Serif"/>
                <a:cs typeface="Microsoft Sans Serif"/>
              </a:rPr>
              <a:t>Media</a:t>
            </a:r>
            <a:r>
              <a:rPr lang="es-CO" sz="1800" spc="-65" noProof="0" dirty="0">
                <a:latin typeface="Microsoft Sans Serif"/>
                <a:cs typeface="Microsoft Sans Serif"/>
              </a:rPr>
              <a:t> </a:t>
            </a:r>
            <a:r>
              <a:rPr lang="es-CO" sz="1800" noProof="0" dirty="0">
                <a:latin typeface="Microsoft Sans Serif"/>
                <a:cs typeface="Microsoft Sans Serif"/>
              </a:rPr>
              <a:t>=</a:t>
            </a:r>
            <a:r>
              <a:rPr lang="es-CO" sz="1800" spc="150" noProof="0" dirty="0">
                <a:latin typeface="Microsoft Sans Serif"/>
                <a:cs typeface="Microsoft Sans Serif"/>
              </a:rPr>
              <a:t> </a:t>
            </a:r>
            <a:r>
              <a:rPr lang="es-CO" sz="1800" spc="-20" noProof="0" dirty="0">
                <a:latin typeface="Microsoft Sans Serif"/>
                <a:cs typeface="Microsoft Sans Serif"/>
              </a:rPr>
              <a:t>39.7</a:t>
            </a:r>
            <a:endParaRPr lang="es-CO" sz="1800" noProof="0" dirty="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3202304" y="1848992"/>
            <a:ext cx="381635" cy="307340"/>
            <a:chOff x="3202304" y="1848992"/>
            <a:chExt cx="381635" cy="307340"/>
          </a:xfrm>
        </p:grpSpPr>
        <p:sp>
          <p:nvSpPr>
            <p:cNvPr id="13" name="object 13"/>
            <p:cNvSpPr/>
            <p:nvPr/>
          </p:nvSpPr>
          <p:spPr>
            <a:xfrm>
              <a:off x="3211067" y="1857755"/>
              <a:ext cx="362585" cy="288290"/>
            </a:xfrm>
            <a:custGeom>
              <a:avLst/>
              <a:gdLst/>
              <a:ahLst/>
              <a:cxnLst/>
              <a:rect l="l" t="t" r="r" b="b"/>
              <a:pathLst>
                <a:path w="362585" h="288289">
                  <a:moveTo>
                    <a:pt x="271906" y="0"/>
                  </a:moveTo>
                  <a:lnTo>
                    <a:pt x="90678" y="0"/>
                  </a:lnTo>
                  <a:lnTo>
                    <a:pt x="90678" y="143891"/>
                  </a:lnTo>
                  <a:lnTo>
                    <a:pt x="0" y="143891"/>
                  </a:lnTo>
                  <a:lnTo>
                    <a:pt x="181229" y="287782"/>
                  </a:lnTo>
                  <a:lnTo>
                    <a:pt x="362584" y="143891"/>
                  </a:lnTo>
                  <a:lnTo>
                    <a:pt x="271906" y="143891"/>
                  </a:lnTo>
                  <a:lnTo>
                    <a:pt x="27190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14" name="object 14"/>
            <p:cNvSpPr/>
            <p:nvPr/>
          </p:nvSpPr>
          <p:spPr>
            <a:xfrm>
              <a:off x="3211829" y="1858517"/>
              <a:ext cx="362585" cy="288290"/>
            </a:xfrm>
            <a:custGeom>
              <a:avLst/>
              <a:gdLst/>
              <a:ahLst/>
              <a:cxnLst/>
              <a:rect l="l" t="t" r="r" b="b"/>
              <a:pathLst>
                <a:path w="362585" h="288289">
                  <a:moveTo>
                    <a:pt x="362584" y="143891"/>
                  </a:moveTo>
                  <a:lnTo>
                    <a:pt x="181356" y="287782"/>
                  </a:lnTo>
                  <a:lnTo>
                    <a:pt x="0" y="143891"/>
                  </a:lnTo>
                  <a:lnTo>
                    <a:pt x="90678" y="143891"/>
                  </a:lnTo>
                  <a:lnTo>
                    <a:pt x="90678" y="0"/>
                  </a:lnTo>
                  <a:lnTo>
                    <a:pt x="271906" y="0"/>
                  </a:lnTo>
                  <a:lnTo>
                    <a:pt x="271906" y="143891"/>
                  </a:lnTo>
                  <a:lnTo>
                    <a:pt x="362584" y="143891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883535" y="1492377"/>
            <a:ext cx="1083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1800" spc="-55" noProof="0" dirty="0">
                <a:latin typeface="Microsoft Sans Serif"/>
                <a:cs typeface="Microsoft Sans Serif"/>
              </a:rPr>
              <a:t>Moda</a:t>
            </a:r>
            <a:r>
              <a:rPr lang="es-CO" sz="1800" spc="-90" noProof="0" dirty="0">
                <a:latin typeface="Microsoft Sans Serif"/>
                <a:cs typeface="Microsoft Sans Serif"/>
              </a:rPr>
              <a:t> </a:t>
            </a:r>
            <a:r>
              <a:rPr lang="es-CO" sz="1800" noProof="0" dirty="0">
                <a:latin typeface="Microsoft Sans Serif"/>
                <a:cs typeface="Microsoft Sans Serif"/>
              </a:rPr>
              <a:t>=</a:t>
            </a:r>
            <a:r>
              <a:rPr lang="es-CO" sz="1800" spc="130" noProof="0" dirty="0">
                <a:latin typeface="Microsoft Sans Serif"/>
                <a:cs typeface="Microsoft Sans Serif"/>
              </a:rPr>
              <a:t> </a:t>
            </a:r>
            <a:r>
              <a:rPr lang="es-CO" sz="1800" spc="-25" noProof="0" dirty="0">
                <a:latin typeface="Microsoft Sans Serif"/>
                <a:cs typeface="Microsoft Sans Serif"/>
              </a:rPr>
              <a:t>38</a:t>
            </a:r>
            <a:endParaRPr lang="es-CO" sz="1800" noProof="0" dirty="0">
              <a:latin typeface="Microsoft Sans Serif"/>
              <a:cs typeface="Microsoft Sans Serif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743713"/>
              </p:ext>
            </p:extLst>
          </p:nvPr>
        </p:nvGraphicFramePr>
        <p:xfrm>
          <a:off x="8481059" y="2048129"/>
          <a:ext cx="1728470" cy="4075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es-CO" sz="1800" b="1" spc="-25" noProof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lang="es-CO" sz="1800" noProof="0" dirty="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2B6D2"/>
                    </a:solidFill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es-CO" sz="1800" b="1" spc="-25" noProof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AGE</a:t>
                      </a:r>
                      <a:endParaRPr lang="es-CO" sz="1800" noProof="0" dirty="0">
                        <a:latin typeface="Arial"/>
                        <a:cs typeface="Arial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2B6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lang="es-CO" sz="1800" spc="-50" noProof="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21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lang="es-CO" sz="1800" spc="-50" noProof="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22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98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lang="es-CO" sz="1800" b="1" spc="-50" noProof="0" dirty="0">
                          <a:latin typeface="Arial"/>
                          <a:cs typeface="Arial"/>
                        </a:rPr>
                        <a:t>…</a:t>
                      </a:r>
                      <a:endParaRPr lang="es-CO" sz="1800" noProof="0" dirty="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CO" sz="2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88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38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984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89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38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90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38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91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38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s-CO" sz="1800" b="1" spc="-25" noProof="0" dirty="0">
                          <a:latin typeface="Arial"/>
                          <a:cs typeface="Arial"/>
                        </a:rPr>
                        <a:t>...</a:t>
                      </a:r>
                      <a:endParaRPr lang="es-CO" sz="1800" noProof="0" dirty="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lang="es-CO" sz="2000" noProof="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177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76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178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81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17" name="object 17"/>
          <p:cNvGrpSpPr/>
          <p:nvPr/>
        </p:nvGrpSpPr>
        <p:grpSpPr>
          <a:xfrm>
            <a:off x="10214229" y="4099940"/>
            <a:ext cx="307340" cy="308610"/>
            <a:chOff x="10214229" y="4099940"/>
            <a:chExt cx="307340" cy="308610"/>
          </a:xfrm>
        </p:grpSpPr>
        <p:sp>
          <p:nvSpPr>
            <p:cNvPr id="18" name="object 18"/>
            <p:cNvSpPr/>
            <p:nvPr/>
          </p:nvSpPr>
          <p:spPr>
            <a:xfrm>
              <a:off x="10222992" y="4108703"/>
              <a:ext cx="288290" cy="289560"/>
            </a:xfrm>
            <a:custGeom>
              <a:avLst/>
              <a:gdLst/>
              <a:ahLst/>
              <a:cxnLst/>
              <a:rect l="l" t="t" r="r" b="b"/>
              <a:pathLst>
                <a:path w="288290" h="289560">
                  <a:moveTo>
                    <a:pt x="143890" y="0"/>
                  </a:moveTo>
                  <a:lnTo>
                    <a:pt x="0" y="144653"/>
                  </a:lnTo>
                  <a:lnTo>
                    <a:pt x="143890" y="289306"/>
                  </a:lnTo>
                  <a:lnTo>
                    <a:pt x="143890" y="216916"/>
                  </a:lnTo>
                  <a:lnTo>
                    <a:pt x="287781" y="216916"/>
                  </a:lnTo>
                  <a:lnTo>
                    <a:pt x="287781" y="72263"/>
                  </a:lnTo>
                  <a:lnTo>
                    <a:pt x="143890" y="72263"/>
                  </a:lnTo>
                  <a:lnTo>
                    <a:pt x="143890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19" name="object 19"/>
            <p:cNvSpPr/>
            <p:nvPr/>
          </p:nvSpPr>
          <p:spPr>
            <a:xfrm>
              <a:off x="10223754" y="4109465"/>
              <a:ext cx="288290" cy="289560"/>
            </a:xfrm>
            <a:custGeom>
              <a:avLst/>
              <a:gdLst/>
              <a:ahLst/>
              <a:cxnLst/>
              <a:rect l="l" t="t" r="r" b="b"/>
              <a:pathLst>
                <a:path w="288290" h="289560">
                  <a:moveTo>
                    <a:pt x="0" y="144652"/>
                  </a:moveTo>
                  <a:lnTo>
                    <a:pt x="143891" y="0"/>
                  </a:lnTo>
                  <a:lnTo>
                    <a:pt x="143891" y="72262"/>
                  </a:lnTo>
                  <a:lnTo>
                    <a:pt x="287781" y="72262"/>
                  </a:lnTo>
                  <a:lnTo>
                    <a:pt x="287781" y="216915"/>
                  </a:lnTo>
                  <a:lnTo>
                    <a:pt x="143891" y="216915"/>
                  </a:lnTo>
                  <a:lnTo>
                    <a:pt x="143891" y="289305"/>
                  </a:lnTo>
                  <a:lnTo>
                    <a:pt x="0" y="144652"/>
                  </a:lnTo>
                  <a:close/>
                </a:path>
              </a:pathLst>
            </a:custGeom>
            <a:ln w="19049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0619358" y="4085970"/>
            <a:ext cx="13582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1800" spc="-75" noProof="0" dirty="0">
                <a:latin typeface="Microsoft Sans Serif"/>
                <a:cs typeface="Microsoft Sans Serif"/>
              </a:rPr>
              <a:t>Mediana </a:t>
            </a:r>
            <a:r>
              <a:rPr lang="es-CO" sz="1800" noProof="0" dirty="0">
                <a:latin typeface="Microsoft Sans Serif"/>
                <a:cs typeface="Microsoft Sans Serif"/>
              </a:rPr>
              <a:t>=</a:t>
            </a:r>
            <a:r>
              <a:rPr lang="es-CO" sz="1800" spc="160" noProof="0" dirty="0">
                <a:latin typeface="Microsoft Sans Serif"/>
                <a:cs typeface="Microsoft Sans Serif"/>
              </a:rPr>
              <a:t> </a:t>
            </a:r>
            <a:r>
              <a:rPr lang="es-CO" sz="1800" spc="-25" noProof="0" dirty="0">
                <a:latin typeface="Microsoft Sans Serif"/>
                <a:cs typeface="Microsoft Sans Serif"/>
              </a:rPr>
              <a:t>38</a:t>
            </a:r>
            <a:endParaRPr lang="es-CO" sz="1800" noProof="0" dirty="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84623" y="5465165"/>
            <a:ext cx="1744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1800" spc="-165" noProof="0" dirty="0">
                <a:latin typeface="Microsoft Sans Serif"/>
                <a:cs typeface="Microsoft Sans Serif"/>
              </a:rPr>
              <a:t>Rango</a:t>
            </a:r>
            <a:r>
              <a:rPr lang="es-CO" sz="1800" spc="-35" noProof="0" dirty="0">
                <a:latin typeface="Microsoft Sans Serif"/>
                <a:cs typeface="Microsoft Sans Serif"/>
              </a:rPr>
              <a:t> </a:t>
            </a:r>
            <a:r>
              <a:rPr lang="es-CO" sz="1800" spc="-95" noProof="0" dirty="0">
                <a:latin typeface="Microsoft Sans Serif"/>
                <a:cs typeface="Microsoft Sans Serif"/>
              </a:rPr>
              <a:t>medio</a:t>
            </a:r>
            <a:r>
              <a:rPr lang="es-CO" sz="1800" spc="-65" noProof="0" dirty="0">
                <a:latin typeface="Microsoft Sans Serif"/>
                <a:cs typeface="Microsoft Sans Serif"/>
              </a:rPr>
              <a:t> </a:t>
            </a:r>
            <a:r>
              <a:rPr lang="es-CO" sz="1800" noProof="0" dirty="0">
                <a:latin typeface="Microsoft Sans Serif"/>
                <a:cs typeface="Microsoft Sans Serif"/>
              </a:rPr>
              <a:t>=</a:t>
            </a:r>
            <a:r>
              <a:rPr lang="es-CO" sz="1800" spc="175" noProof="0" dirty="0">
                <a:latin typeface="Microsoft Sans Serif"/>
                <a:cs typeface="Microsoft Sans Serif"/>
              </a:rPr>
              <a:t> </a:t>
            </a:r>
            <a:r>
              <a:rPr lang="es-CO" sz="1800" spc="-25" noProof="0" dirty="0">
                <a:latin typeface="Microsoft Sans Serif"/>
                <a:cs typeface="Microsoft Sans Serif"/>
              </a:rPr>
              <a:t>51</a:t>
            </a:r>
            <a:endParaRPr lang="es-CO" sz="1800" noProof="0" dirty="0">
              <a:latin typeface="Microsoft Sans Serif"/>
              <a:cs typeface="Microsoft Sans Serif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718684" y="5146928"/>
            <a:ext cx="308610" cy="311785"/>
            <a:chOff x="4718684" y="5146928"/>
            <a:chExt cx="308610" cy="311785"/>
          </a:xfrm>
        </p:grpSpPr>
        <p:sp>
          <p:nvSpPr>
            <p:cNvPr id="23" name="object 23"/>
            <p:cNvSpPr/>
            <p:nvPr/>
          </p:nvSpPr>
          <p:spPr>
            <a:xfrm>
              <a:off x="4727447" y="5155691"/>
              <a:ext cx="289560" cy="292735"/>
            </a:xfrm>
            <a:custGeom>
              <a:avLst/>
              <a:gdLst/>
              <a:ahLst/>
              <a:cxnLst/>
              <a:rect l="l" t="t" r="r" b="b"/>
              <a:pathLst>
                <a:path w="289560" h="292735">
                  <a:moveTo>
                    <a:pt x="144652" y="0"/>
                  </a:moveTo>
                  <a:lnTo>
                    <a:pt x="0" y="144525"/>
                  </a:lnTo>
                  <a:lnTo>
                    <a:pt x="72389" y="144525"/>
                  </a:lnTo>
                  <a:lnTo>
                    <a:pt x="72389" y="292226"/>
                  </a:lnTo>
                  <a:lnTo>
                    <a:pt x="216915" y="292226"/>
                  </a:lnTo>
                  <a:lnTo>
                    <a:pt x="216915" y="144525"/>
                  </a:lnTo>
                  <a:lnTo>
                    <a:pt x="289305" y="144525"/>
                  </a:lnTo>
                  <a:lnTo>
                    <a:pt x="144652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24" name="object 24"/>
            <p:cNvSpPr/>
            <p:nvPr/>
          </p:nvSpPr>
          <p:spPr>
            <a:xfrm>
              <a:off x="4728209" y="5156453"/>
              <a:ext cx="289560" cy="292735"/>
            </a:xfrm>
            <a:custGeom>
              <a:avLst/>
              <a:gdLst/>
              <a:ahLst/>
              <a:cxnLst/>
              <a:rect l="l" t="t" r="r" b="b"/>
              <a:pathLst>
                <a:path w="289560" h="292735">
                  <a:moveTo>
                    <a:pt x="0" y="144526"/>
                  </a:moveTo>
                  <a:lnTo>
                    <a:pt x="144652" y="0"/>
                  </a:lnTo>
                  <a:lnTo>
                    <a:pt x="289305" y="144526"/>
                  </a:lnTo>
                  <a:lnTo>
                    <a:pt x="216915" y="144526"/>
                  </a:lnTo>
                  <a:lnTo>
                    <a:pt x="216915" y="292227"/>
                  </a:lnTo>
                  <a:lnTo>
                    <a:pt x="72389" y="292227"/>
                  </a:lnTo>
                  <a:lnTo>
                    <a:pt x="72389" y="144526"/>
                  </a:lnTo>
                  <a:lnTo>
                    <a:pt x="0" y="144526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5299" y="330149"/>
            <a:ext cx="66897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pc="-175" noProof="0" dirty="0"/>
              <a:t>Medidas</a:t>
            </a:r>
            <a:r>
              <a:rPr lang="es-CO" spc="-215" noProof="0" dirty="0"/>
              <a:t> </a:t>
            </a:r>
            <a:r>
              <a:rPr lang="es-CO" noProof="0" dirty="0"/>
              <a:t>de</a:t>
            </a:r>
            <a:r>
              <a:rPr lang="es-CO" spc="-155" noProof="0" dirty="0"/>
              <a:t> </a:t>
            </a:r>
            <a:r>
              <a:rPr lang="es-CO" spc="-220" noProof="0" dirty="0"/>
              <a:t>tendencia</a:t>
            </a:r>
            <a:r>
              <a:rPr lang="es-CO" spc="-235" noProof="0" dirty="0"/>
              <a:t> </a:t>
            </a:r>
            <a:r>
              <a:rPr lang="es-CO" spc="-165" noProof="0" dirty="0"/>
              <a:t>central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94944" y="2493264"/>
            <a:ext cx="11041380" cy="2376170"/>
            <a:chOff x="694944" y="2493264"/>
            <a:chExt cx="11041380" cy="23761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28359" y="3386329"/>
              <a:ext cx="324612" cy="761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4944" y="2493264"/>
              <a:ext cx="11041380" cy="2375916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816863" y="1988820"/>
            <a:ext cx="3408045" cy="462280"/>
          </a:xfrm>
          <a:prstGeom prst="rect">
            <a:avLst/>
          </a:prstGeom>
          <a:solidFill>
            <a:srgbClr val="B85B2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022350">
              <a:lnSpc>
                <a:spcPct val="100000"/>
              </a:lnSpc>
              <a:spcBef>
                <a:spcPts val="170"/>
              </a:spcBef>
            </a:pPr>
            <a:r>
              <a:rPr lang="es-CO" sz="2400" spc="-29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SIMETRICO</a:t>
            </a:r>
            <a:endParaRPr lang="es-CO" sz="2400" noProof="0" dirty="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68952" y="1988820"/>
            <a:ext cx="3406140" cy="462280"/>
          </a:xfrm>
          <a:prstGeom prst="rect">
            <a:avLst/>
          </a:prstGeom>
          <a:solidFill>
            <a:srgbClr val="ABB620"/>
          </a:solidFill>
        </p:spPr>
        <p:txBody>
          <a:bodyPr vert="horz" wrap="square" lIns="0" tIns="21590" rIns="0" bIns="0" rtlCol="0">
            <a:spAutoFit/>
          </a:bodyPr>
          <a:lstStyle/>
          <a:p>
            <a:pPr marL="599440">
              <a:lnSpc>
                <a:spcPct val="100000"/>
              </a:lnSpc>
              <a:spcBef>
                <a:spcPts val="170"/>
              </a:spcBef>
            </a:pPr>
            <a:r>
              <a:rPr lang="es-CO" sz="2400" spc="-23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SESGO</a:t>
            </a:r>
            <a:r>
              <a:rPr lang="es-CO" sz="2400" spc="-22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400" spc="-11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POSITIVO</a:t>
            </a:r>
            <a:endParaRPr lang="es-CO" sz="2400" noProof="0" dirty="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21040" y="1988820"/>
            <a:ext cx="3366770" cy="462280"/>
          </a:xfrm>
          <a:prstGeom prst="rect">
            <a:avLst/>
          </a:prstGeom>
          <a:solidFill>
            <a:srgbClr val="D6B05C"/>
          </a:solidFill>
        </p:spPr>
        <p:txBody>
          <a:bodyPr vert="horz" wrap="square" lIns="0" tIns="21590" rIns="0" bIns="0" rtlCol="0">
            <a:spAutoFit/>
          </a:bodyPr>
          <a:lstStyle/>
          <a:p>
            <a:pPr marL="513080">
              <a:lnSpc>
                <a:spcPct val="100000"/>
              </a:lnSpc>
              <a:spcBef>
                <a:spcPts val="170"/>
              </a:spcBef>
            </a:pPr>
            <a:r>
              <a:rPr lang="es-CO" sz="2400" spc="-23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SESGO</a:t>
            </a:r>
            <a:r>
              <a:rPr lang="es-CO" sz="2400" spc="-229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400" spc="-11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NEGATIVO</a:t>
            </a:r>
            <a:endParaRPr lang="es-CO" sz="2400" noProof="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5299" y="330149"/>
            <a:ext cx="66897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pc="-175" noProof="0" dirty="0"/>
              <a:t>Medidas</a:t>
            </a:r>
            <a:r>
              <a:rPr lang="es-CO" spc="-215" noProof="0" dirty="0"/>
              <a:t> </a:t>
            </a:r>
            <a:r>
              <a:rPr lang="es-CO" noProof="0" dirty="0"/>
              <a:t>de</a:t>
            </a:r>
            <a:r>
              <a:rPr lang="es-CO" spc="-155" noProof="0" dirty="0"/>
              <a:t> </a:t>
            </a:r>
            <a:r>
              <a:rPr lang="es-CO" spc="-220" noProof="0" dirty="0"/>
              <a:t>tendencia</a:t>
            </a:r>
            <a:r>
              <a:rPr lang="es-CO" spc="-235" noProof="0" dirty="0"/>
              <a:t> </a:t>
            </a:r>
            <a:r>
              <a:rPr lang="es-CO" spc="-165" noProof="0" dirty="0"/>
              <a:t>central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908" y="4948428"/>
            <a:ext cx="6532245" cy="1649095"/>
          </a:xfrm>
          <a:prstGeom prst="rect">
            <a:avLst/>
          </a:prstGeom>
          <a:solidFill>
            <a:srgbClr val="F7EEDE"/>
          </a:solidFill>
        </p:spPr>
        <p:txBody>
          <a:bodyPr vert="horz" wrap="square" lIns="0" tIns="22860" rIns="0" bIns="0" rtlCol="0">
            <a:spAutoFit/>
          </a:bodyPr>
          <a:lstStyle/>
          <a:p>
            <a:pPr marL="411480" marR="220979" indent="-320675">
              <a:lnSpc>
                <a:spcPct val="100000"/>
              </a:lnSpc>
              <a:spcBef>
                <a:spcPts val="180"/>
              </a:spcBef>
              <a:buClr>
                <a:srgbClr val="DD8046"/>
              </a:buClr>
              <a:buSzPct val="60416"/>
              <a:buFont typeface="Wingdings"/>
              <a:buChar char=""/>
              <a:tabLst>
                <a:tab pos="411480" algn="l"/>
              </a:tabLst>
            </a:pPr>
            <a:r>
              <a:rPr lang="es-CO" sz="2400" spc="-215" noProof="0" dirty="0">
                <a:latin typeface="Microsoft Sans Serif"/>
                <a:cs typeface="Microsoft Sans Serif"/>
              </a:rPr>
              <a:t>En</a:t>
            </a:r>
            <a:r>
              <a:rPr lang="es-CO" sz="2400" spc="-405" noProof="0" dirty="0">
                <a:latin typeface="Microsoft Sans Serif"/>
                <a:cs typeface="Microsoft Sans Serif"/>
              </a:rPr>
              <a:t> </a:t>
            </a:r>
            <a:r>
              <a:rPr lang="es-CO" sz="2400" spc="-215" noProof="0" dirty="0">
                <a:latin typeface="Microsoft Sans Serif"/>
                <a:cs typeface="Microsoft Sans Serif"/>
              </a:rPr>
              <a:t>una</a:t>
            </a:r>
            <a:r>
              <a:rPr lang="es-CO" sz="2400" spc="15" noProof="0" dirty="0">
                <a:latin typeface="Microsoft Sans Serif"/>
                <a:cs typeface="Microsoft Sans Serif"/>
              </a:rPr>
              <a:t> </a:t>
            </a:r>
            <a:r>
              <a:rPr lang="es-CO" sz="2400" spc="-135" noProof="0" dirty="0">
                <a:latin typeface="Microsoft Sans Serif"/>
                <a:cs typeface="Microsoft Sans Serif"/>
              </a:rPr>
              <a:t>curva</a:t>
            </a:r>
            <a:r>
              <a:rPr lang="es-CO" sz="2400" spc="-25" noProof="0" dirty="0">
                <a:latin typeface="Microsoft Sans Serif"/>
                <a:cs typeface="Microsoft Sans Serif"/>
              </a:rPr>
              <a:t> </a:t>
            </a:r>
            <a:r>
              <a:rPr lang="es-CO" sz="2400" noProof="0" dirty="0">
                <a:latin typeface="Microsoft Sans Serif"/>
                <a:cs typeface="Microsoft Sans Serif"/>
              </a:rPr>
              <a:t>de</a:t>
            </a:r>
            <a:r>
              <a:rPr lang="es-CO" sz="2400" spc="-45" noProof="0" dirty="0">
                <a:latin typeface="Microsoft Sans Serif"/>
                <a:cs typeface="Microsoft Sans Serif"/>
              </a:rPr>
              <a:t> </a:t>
            </a:r>
            <a:r>
              <a:rPr lang="es-CO" sz="2400" spc="-145" noProof="0" dirty="0">
                <a:latin typeface="Microsoft Sans Serif"/>
                <a:cs typeface="Microsoft Sans Serif"/>
              </a:rPr>
              <a:t>frecuencia</a:t>
            </a:r>
            <a:r>
              <a:rPr lang="es-CO" sz="2400" spc="10" noProof="0" dirty="0">
                <a:latin typeface="Microsoft Sans Serif"/>
                <a:cs typeface="Microsoft Sans Serif"/>
              </a:rPr>
              <a:t> </a:t>
            </a:r>
            <a:r>
              <a:rPr lang="es-CO" sz="2400" spc="-165" noProof="0" dirty="0">
                <a:latin typeface="Microsoft Sans Serif"/>
                <a:cs typeface="Microsoft Sans Serif"/>
              </a:rPr>
              <a:t>unimodal</a:t>
            </a:r>
            <a:r>
              <a:rPr lang="es-CO" sz="2400" spc="45" noProof="0" dirty="0">
                <a:latin typeface="Microsoft Sans Serif"/>
                <a:cs typeface="Microsoft Sans Serif"/>
              </a:rPr>
              <a:t> </a:t>
            </a:r>
            <a:r>
              <a:rPr lang="es-CO" sz="2400" spc="-180" noProof="0" dirty="0">
                <a:latin typeface="Microsoft Sans Serif"/>
                <a:cs typeface="Microsoft Sans Serif"/>
              </a:rPr>
              <a:t>con</a:t>
            </a:r>
            <a:r>
              <a:rPr lang="es-CO" sz="2400" spc="-204" noProof="0" dirty="0">
                <a:latin typeface="Microsoft Sans Serif"/>
                <a:cs typeface="Microsoft Sans Serif"/>
              </a:rPr>
              <a:t> </a:t>
            </a:r>
            <a:r>
              <a:rPr lang="es-CO" sz="2400" spc="-25" noProof="0" dirty="0">
                <a:latin typeface="Microsoft Sans Serif"/>
                <a:cs typeface="Microsoft Sans Serif"/>
              </a:rPr>
              <a:t>una </a:t>
            </a:r>
            <a:r>
              <a:rPr lang="es-CO" sz="2400" spc="-125" noProof="0" dirty="0">
                <a:latin typeface="Microsoft Sans Serif"/>
                <a:cs typeface="Microsoft Sans Serif"/>
              </a:rPr>
              <a:t>distribución</a:t>
            </a:r>
            <a:r>
              <a:rPr lang="es-CO" sz="2400" spc="-85" noProof="0" dirty="0">
                <a:latin typeface="Microsoft Sans Serif"/>
                <a:cs typeface="Microsoft Sans Serif"/>
              </a:rPr>
              <a:t> </a:t>
            </a:r>
            <a:r>
              <a:rPr lang="es-CO" sz="2400" noProof="0" dirty="0">
                <a:latin typeface="Microsoft Sans Serif"/>
                <a:cs typeface="Microsoft Sans Serif"/>
              </a:rPr>
              <a:t>de</a:t>
            </a:r>
            <a:r>
              <a:rPr lang="es-CO" sz="2400" spc="-40" noProof="0" dirty="0">
                <a:latin typeface="Microsoft Sans Serif"/>
                <a:cs typeface="Microsoft Sans Serif"/>
              </a:rPr>
              <a:t> </a:t>
            </a:r>
            <a:r>
              <a:rPr lang="es-CO" sz="2400" spc="-114" noProof="0" dirty="0">
                <a:latin typeface="Microsoft Sans Serif"/>
                <a:cs typeface="Microsoft Sans Serif"/>
              </a:rPr>
              <a:t>datos</a:t>
            </a:r>
            <a:r>
              <a:rPr lang="es-CO" sz="2400" spc="-85" noProof="0" dirty="0">
                <a:latin typeface="Microsoft Sans Serif"/>
                <a:cs typeface="Microsoft Sans Serif"/>
              </a:rPr>
              <a:t> </a:t>
            </a:r>
            <a:r>
              <a:rPr lang="es-CO" sz="2400" spc="-114" noProof="0" dirty="0">
                <a:latin typeface="Microsoft Sans Serif"/>
                <a:cs typeface="Microsoft Sans Serif"/>
              </a:rPr>
              <a:t>perfectamente</a:t>
            </a:r>
            <a:r>
              <a:rPr lang="es-CO" sz="2400" spc="-110" noProof="0" dirty="0">
                <a:latin typeface="Microsoft Sans Serif"/>
                <a:cs typeface="Microsoft Sans Serif"/>
              </a:rPr>
              <a:t> </a:t>
            </a:r>
            <a:r>
              <a:rPr lang="es-CO" sz="2400" spc="-145" noProof="0" dirty="0">
                <a:latin typeface="Microsoft Sans Serif"/>
                <a:cs typeface="Microsoft Sans Serif"/>
              </a:rPr>
              <a:t>simétrica,</a:t>
            </a:r>
            <a:r>
              <a:rPr lang="es-CO" sz="2400" spc="-95" noProof="0" dirty="0">
                <a:latin typeface="Microsoft Sans Serif"/>
                <a:cs typeface="Microsoft Sans Serif"/>
              </a:rPr>
              <a:t> </a:t>
            </a:r>
            <a:r>
              <a:rPr lang="es-CO" sz="2400" spc="-25" noProof="0" dirty="0">
                <a:latin typeface="Microsoft Sans Serif"/>
                <a:cs typeface="Microsoft Sans Serif"/>
              </a:rPr>
              <a:t>la </a:t>
            </a:r>
            <a:r>
              <a:rPr lang="es-CO" sz="2400" spc="-130" noProof="0" dirty="0">
                <a:latin typeface="Microsoft Sans Serif"/>
                <a:cs typeface="Microsoft Sans Serif"/>
              </a:rPr>
              <a:t>media,</a:t>
            </a:r>
            <a:r>
              <a:rPr lang="es-CO" sz="2400" noProof="0" dirty="0">
                <a:latin typeface="Microsoft Sans Serif"/>
                <a:cs typeface="Microsoft Sans Serif"/>
              </a:rPr>
              <a:t> la</a:t>
            </a:r>
            <a:r>
              <a:rPr lang="es-CO" sz="2400" spc="20" noProof="0" dirty="0">
                <a:latin typeface="Microsoft Sans Serif"/>
                <a:cs typeface="Microsoft Sans Serif"/>
              </a:rPr>
              <a:t> </a:t>
            </a:r>
            <a:r>
              <a:rPr lang="es-CO" sz="2400" spc="-135" noProof="0" dirty="0">
                <a:latin typeface="Microsoft Sans Serif"/>
                <a:cs typeface="Microsoft Sans Serif"/>
              </a:rPr>
              <a:t>mediana</a:t>
            </a:r>
            <a:r>
              <a:rPr lang="es-CO" sz="2400" spc="-65" noProof="0" dirty="0">
                <a:latin typeface="Microsoft Sans Serif"/>
                <a:cs typeface="Microsoft Sans Serif"/>
              </a:rPr>
              <a:t> </a:t>
            </a:r>
            <a:r>
              <a:rPr lang="es-CO" sz="2400" noProof="0" dirty="0">
                <a:latin typeface="Microsoft Sans Serif"/>
                <a:cs typeface="Microsoft Sans Serif"/>
              </a:rPr>
              <a:t>y</a:t>
            </a:r>
            <a:r>
              <a:rPr lang="es-CO" sz="2400" spc="25" noProof="0" dirty="0">
                <a:latin typeface="Microsoft Sans Serif"/>
                <a:cs typeface="Microsoft Sans Serif"/>
              </a:rPr>
              <a:t> </a:t>
            </a:r>
            <a:r>
              <a:rPr lang="es-CO" sz="2400" noProof="0" dirty="0">
                <a:latin typeface="Microsoft Sans Serif"/>
                <a:cs typeface="Microsoft Sans Serif"/>
              </a:rPr>
              <a:t>la</a:t>
            </a:r>
            <a:r>
              <a:rPr lang="es-CO" sz="2400" spc="20" noProof="0" dirty="0">
                <a:latin typeface="Microsoft Sans Serif"/>
                <a:cs typeface="Microsoft Sans Serif"/>
              </a:rPr>
              <a:t> </a:t>
            </a:r>
            <a:r>
              <a:rPr lang="es-CO" sz="2400" spc="-150" noProof="0" dirty="0">
                <a:latin typeface="Microsoft Sans Serif"/>
                <a:cs typeface="Microsoft Sans Serif"/>
              </a:rPr>
              <a:t>moda</a:t>
            </a:r>
            <a:r>
              <a:rPr lang="es-CO" sz="2400" spc="-20" noProof="0" dirty="0">
                <a:latin typeface="Microsoft Sans Serif"/>
                <a:cs typeface="Microsoft Sans Serif"/>
              </a:rPr>
              <a:t> </a:t>
            </a:r>
            <a:r>
              <a:rPr lang="es-CO" sz="2400" spc="-170" noProof="0" dirty="0">
                <a:latin typeface="Microsoft Sans Serif"/>
                <a:cs typeface="Microsoft Sans Serif"/>
              </a:rPr>
              <a:t>coinciden</a:t>
            </a:r>
            <a:r>
              <a:rPr lang="es-CO" sz="2400" spc="-70" noProof="0" dirty="0">
                <a:latin typeface="Microsoft Sans Serif"/>
                <a:cs typeface="Microsoft Sans Serif"/>
              </a:rPr>
              <a:t> </a:t>
            </a:r>
            <a:r>
              <a:rPr lang="es-CO" sz="2400" spc="-180" noProof="0" dirty="0">
                <a:latin typeface="Microsoft Sans Serif"/>
                <a:cs typeface="Microsoft Sans Serif"/>
              </a:rPr>
              <a:t>con</a:t>
            </a:r>
            <a:r>
              <a:rPr lang="es-CO" sz="2400" spc="-200" noProof="0" dirty="0">
                <a:latin typeface="Microsoft Sans Serif"/>
                <a:cs typeface="Microsoft Sans Serif"/>
              </a:rPr>
              <a:t> </a:t>
            </a:r>
            <a:r>
              <a:rPr lang="es-CO" sz="2400" spc="-25" noProof="0" dirty="0">
                <a:latin typeface="Microsoft Sans Serif"/>
                <a:cs typeface="Microsoft Sans Serif"/>
              </a:rPr>
              <a:t>el </a:t>
            </a:r>
            <a:r>
              <a:rPr lang="es-CO" sz="2400" spc="-70" noProof="0" dirty="0">
                <a:latin typeface="Microsoft Sans Serif"/>
                <a:cs typeface="Microsoft Sans Serif"/>
              </a:rPr>
              <a:t>valor</a:t>
            </a:r>
            <a:r>
              <a:rPr lang="es-CO" sz="2400" spc="-65" noProof="0" dirty="0">
                <a:latin typeface="Microsoft Sans Serif"/>
                <a:cs typeface="Microsoft Sans Serif"/>
              </a:rPr>
              <a:t> </a:t>
            </a:r>
            <a:r>
              <a:rPr lang="es-CO" sz="2400" spc="-10" noProof="0" dirty="0">
                <a:latin typeface="Microsoft Sans Serif"/>
                <a:cs typeface="Microsoft Sans Serif"/>
              </a:rPr>
              <a:t>central.</a:t>
            </a:r>
            <a:endParaRPr lang="es-CO" sz="2400" noProof="0" dirty="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94944" y="2493264"/>
            <a:ext cx="11041380" cy="2376170"/>
            <a:chOff x="694944" y="2493264"/>
            <a:chExt cx="11041380" cy="237617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28359" y="3386329"/>
              <a:ext cx="324612" cy="7619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4944" y="2493264"/>
              <a:ext cx="11041380" cy="2375916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816863" y="1988820"/>
            <a:ext cx="3408045" cy="462280"/>
          </a:xfrm>
          <a:prstGeom prst="rect">
            <a:avLst/>
          </a:prstGeom>
          <a:solidFill>
            <a:srgbClr val="B85B20"/>
          </a:solidFill>
        </p:spPr>
        <p:txBody>
          <a:bodyPr vert="horz" wrap="square" lIns="0" tIns="21590" rIns="0" bIns="0" rtlCol="0">
            <a:spAutoFit/>
          </a:bodyPr>
          <a:lstStyle/>
          <a:p>
            <a:pPr marL="1022350">
              <a:lnSpc>
                <a:spcPct val="100000"/>
              </a:lnSpc>
              <a:spcBef>
                <a:spcPts val="170"/>
              </a:spcBef>
            </a:pPr>
            <a:r>
              <a:rPr lang="es-CO" sz="2400" spc="-29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SIMETRICO</a:t>
            </a:r>
            <a:endParaRPr lang="es-CO" sz="2400" noProof="0" dirty="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568952" y="1988820"/>
            <a:ext cx="3406140" cy="462280"/>
          </a:xfrm>
          <a:prstGeom prst="rect">
            <a:avLst/>
          </a:prstGeom>
          <a:solidFill>
            <a:srgbClr val="ABB620"/>
          </a:solidFill>
        </p:spPr>
        <p:txBody>
          <a:bodyPr vert="horz" wrap="square" lIns="0" tIns="21590" rIns="0" bIns="0" rtlCol="0">
            <a:spAutoFit/>
          </a:bodyPr>
          <a:lstStyle/>
          <a:p>
            <a:pPr marL="599440">
              <a:lnSpc>
                <a:spcPct val="100000"/>
              </a:lnSpc>
              <a:spcBef>
                <a:spcPts val="170"/>
              </a:spcBef>
            </a:pPr>
            <a:r>
              <a:rPr lang="es-CO" sz="2400" spc="-23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SESGO</a:t>
            </a:r>
            <a:r>
              <a:rPr lang="es-CO" sz="2400" spc="-22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400" spc="-11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POSITIVO</a:t>
            </a:r>
            <a:endParaRPr lang="es-CO" sz="2400" noProof="0" dirty="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21040" y="1988820"/>
            <a:ext cx="3366770" cy="462280"/>
          </a:xfrm>
          <a:prstGeom prst="rect">
            <a:avLst/>
          </a:prstGeom>
          <a:solidFill>
            <a:srgbClr val="D6B05C"/>
          </a:solidFill>
        </p:spPr>
        <p:txBody>
          <a:bodyPr vert="horz" wrap="square" lIns="0" tIns="21590" rIns="0" bIns="0" rtlCol="0">
            <a:spAutoFit/>
          </a:bodyPr>
          <a:lstStyle/>
          <a:p>
            <a:pPr marL="513080">
              <a:lnSpc>
                <a:spcPct val="100000"/>
              </a:lnSpc>
              <a:spcBef>
                <a:spcPts val="170"/>
              </a:spcBef>
            </a:pPr>
            <a:r>
              <a:rPr lang="es-CO" sz="2400" spc="-23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SESGO</a:t>
            </a:r>
            <a:r>
              <a:rPr lang="es-CO" sz="2400" spc="-229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400" spc="-11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NEGATIVO</a:t>
            </a:r>
            <a:endParaRPr lang="es-CO" sz="2400" noProof="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5299" y="330149"/>
            <a:ext cx="66897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pc="-175" noProof="0" dirty="0"/>
              <a:t>Medidas</a:t>
            </a:r>
            <a:r>
              <a:rPr lang="es-CO" spc="-215" noProof="0" dirty="0"/>
              <a:t> </a:t>
            </a:r>
            <a:r>
              <a:rPr lang="es-CO" noProof="0" dirty="0"/>
              <a:t>de</a:t>
            </a:r>
            <a:r>
              <a:rPr lang="es-CO" spc="-155" noProof="0" dirty="0"/>
              <a:t> </a:t>
            </a:r>
            <a:r>
              <a:rPr lang="es-CO" spc="-220" noProof="0" dirty="0"/>
              <a:t>tendencia</a:t>
            </a:r>
            <a:r>
              <a:rPr lang="es-CO" spc="-235" noProof="0" dirty="0"/>
              <a:t> </a:t>
            </a:r>
            <a:r>
              <a:rPr lang="es-CO" spc="-165" noProof="0" dirty="0"/>
              <a:t>central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68952" y="5059679"/>
            <a:ext cx="7277100" cy="1321435"/>
          </a:xfrm>
          <a:prstGeom prst="rect">
            <a:avLst/>
          </a:prstGeom>
          <a:solidFill>
            <a:srgbClr val="F7EEDE"/>
          </a:solidFill>
        </p:spPr>
        <p:txBody>
          <a:bodyPr vert="horz" wrap="square" lIns="0" tIns="23495" rIns="0" bIns="0" rtlCol="0">
            <a:spAutoFit/>
          </a:bodyPr>
          <a:lstStyle/>
          <a:p>
            <a:pPr marL="411480" indent="-319405">
              <a:lnSpc>
                <a:spcPts val="2795"/>
              </a:lnSpc>
              <a:spcBef>
                <a:spcPts val="185"/>
              </a:spcBef>
              <a:buClr>
                <a:srgbClr val="DD8046"/>
              </a:buClr>
              <a:buSzPct val="60416"/>
              <a:buFont typeface="Wingdings"/>
              <a:buChar char=""/>
              <a:tabLst>
                <a:tab pos="411480" algn="l"/>
              </a:tabLst>
            </a:pPr>
            <a:r>
              <a:rPr lang="es-CO" sz="2400" spc="-155" noProof="0" dirty="0">
                <a:latin typeface="Microsoft Sans Serif"/>
                <a:cs typeface="Microsoft Sans Serif"/>
              </a:rPr>
              <a:t>El</a:t>
            </a:r>
            <a:r>
              <a:rPr lang="es-CO" sz="2400" spc="-265" noProof="0" dirty="0">
                <a:latin typeface="Microsoft Sans Serif"/>
                <a:cs typeface="Microsoft Sans Serif"/>
              </a:rPr>
              <a:t> </a:t>
            </a:r>
            <a:r>
              <a:rPr lang="es-CO" sz="2400" spc="-190" noProof="0" dirty="0">
                <a:latin typeface="Microsoft Sans Serif"/>
                <a:cs typeface="Microsoft Sans Serif"/>
              </a:rPr>
              <a:t>sesgo</a:t>
            </a:r>
            <a:r>
              <a:rPr lang="es-CO" sz="2400" spc="-200" noProof="0" dirty="0">
                <a:latin typeface="Microsoft Sans Serif"/>
                <a:cs typeface="Microsoft Sans Serif"/>
              </a:rPr>
              <a:t> </a:t>
            </a:r>
            <a:r>
              <a:rPr lang="es-CO" sz="2400" spc="-110" noProof="0" dirty="0">
                <a:latin typeface="Microsoft Sans Serif"/>
                <a:cs typeface="Microsoft Sans Serif"/>
              </a:rPr>
              <a:t>cuantifica</a:t>
            </a:r>
            <a:r>
              <a:rPr lang="es-CO" sz="2400" spc="-70" noProof="0" dirty="0">
                <a:latin typeface="Microsoft Sans Serif"/>
                <a:cs typeface="Microsoft Sans Serif"/>
              </a:rPr>
              <a:t> </a:t>
            </a:r>
            <a:r>
              <a:rPr lang="es-CO" sz="2400" noProof="0" dirty="0">
                <a:latin typeface="Microsoft Sans Serif"/>
                <a:cs typeface="Microsoft Sans Serif"/>
              </a:rPr>
              <a:t>la</a:t>
            </a:r>
            <a:r>
              <a:rPr lang="es-CO" sz="2400" spc="-55" noProof="0" dirty="0">
                <a:latin typeface="Microsoft Sans Serif"/>
                <a:cs typeface="Microsoft Sans Serif"/>
              </a:rPr>
              <a:t> </a:t>
            </a:r>
            <a:r>
              <a:rPr lang="es-CO" sz="2400" spc="-110" noProof="0" dirty="0">
                <a:latin typeface="Microsoft Sans Serif"/>
                <a:cs typeface="Microsoft Sans Serif"/>
              </a:rPr>
              <a:t>asimetría</a:t>
            </a:r>
            <a:r>
              <a:rPr lang="es-CO" sz="2400" spc="-114" noProof="0" dirty="0">
                <a:latin typeface="Microsoft Sans Serif"/>
                <a:cs typeface="Microsoft Sans Serif"/>
              </a:rPr>
              <a:t> </a:t>
            </a:r>
            <a:r>
              <a:rPr lang="es-CO" sz="2400" noProof="0" dirty="0">
                <a:latin typeface="Microsoft Sans Serif"/>
                <a:cs typeface="Microsoft Sans Serif"/>
              </a:rPr>
              <a:t>de</a:t>
            </a:r>
            <a:r>
              <a:rPr lang="es-CO" sz="2400" spc="-60" noProof="0" dirty="0">
                <a:latin typeface="Microsoft Sans Serif"/>
                <a:cs typeface="Microsoft Sans Serif"/>
              </a:rPr>
              <a:t> </a:t>
            </a:r>
            <a:r>
              <a:rPr lang="es-CO" sz="2400" spc="-155" noProof="0" dirty="0">
                <a:latin typeface="Microsoft Sans Serif"/>
                <a:cs typeface="Microsoft Sans Serif"/>
              </a:rPr>
              <a:t>una</a:t>
            </a:r>
            <a:r>
              <a:rPr lang="es-CO" sz="2400" spc="-175" noProof="0" dirty="0">
                <a:latin typeface="Microsoft Sans Serif"/>
                <a:cs typeface="Microsoft Sans Serif"/>
              </a:rPr>
              <a:t> </a:t>
            </a:r>
            <a:r>
              <a:rPr lang="es-CO" sz="2400" spc="-30" noProof="0" dirty="0">
                <a:latin typeface="Microsoft Sans Serif"/>
                <a:cs typeface="Microsoft Sans Serif"/>
              </a:rPr>
              <a:t>distribución</a:t>
            </a:r>
            <a:endParaRPr lang="es-CO" sz="2400" noProof="0" dirty="0">
              <a:latin typeface="Microsoft Sans Serif"/>
              <a:cs typeface="Microsoft Sans Serif"/>
            </a:endParaRPr>
          </a:p>
          <a:p>
            <a:pPr marL="411480" indent="-319405">
              <a:lnSpc>
                <a:spcPts val="2780"/>
              </a:lnSpc>
              <a:buClr>
                <a:srgbClr val="DD8046"/>
              </a:buClr>
              <a:buSzPct val="60416"/>
              <a:buFont typeface="Wingdings"/>
              <a:buChar char=""/>
              <a:tabLst>
                <a:tab pos="411480" algn="l"/>
              </a:tabLst>
            </a:pPr>
            <a:r>
              <a:rPr lang="es-CO" sz="2400" spc="-130" noProof="0" dirty="0">
                <a:latin typeface="Microsoft Sans Serif"/>
                <a:cs typeface="Microsoft Sans Serif"/>
              </a:rPr>
              <a:t>Si</a:t>
            </a:r>
            <a:r>
              <a:rPr lang="es-CO" sz="2400" spc="-190" noProof="0" dirty="0">
                <a:latin typeface="Microsoft Sans Serif"/>
                <a:cs typeface="Microsoft Sans Serif"/>
              </a:rPr>
              <a:t> </a:t>
            </a:r>
            <a:r>
              <a:rPr lang="es-CO" sz="2400" spc="-60" noProof="0" dirty="0">
                <a:latin typeface="Microsoft Sans Serif"/>
                <a:cs typeface="Microsoft Sans Serif"/>
              </a:rPr>
              <a:t>Media</a:t>
            </a:r>
            <a:r>
              <a:rPr lang="es-CO" sz="2400" spc="-75" noProof="0" dirty="0">
                <a:latin typeface="Microsoft Sans Serif"/>
                <a:cs typeface="Microsoft Sans Serif"/>
              </a:rPr>
              <a:t> </a:t>
            </a:r>
            <a:r>
              <a:rPr lang="es-CO" sz="2400" noProof="0" dirty="0">
                <a:latin typeface="Microsoft Sans Serif"/>
                <a:cs typeface="Microsoft Sans Serif"/>
              </a:rPr>
              <a:t>&gt;</a:t>
            </a:r>
            <a:r>
              <a:rPr lang="es-CO" sz="2400" spc="180" noProof="0" dirty="0">
                <a:latin typeface="Microsoft Sans Serif"/>
                <a:cs typeface="Microsoft Sans Serif"/>
              </a:rPr>
              <a:t> </a:t>
            </a:r>
            <a:r>
              <a:rPr lang="es-CO" sz="2400" spc="-85" noProof="0" dirty="0">
                <a:latin typeface="Microsoft Sans Serif"/>
                <a:cs typeface="Microsoft Sans Serif"/>
              </a:rPr>
              <a:t>Moda,</a:t>
            </a:r>
            <a:r>
              <a:rPr lang="es-CO" sz="2400" spc="-55" noProof="0" dirty="0">
                <a:latin typeface="Microsoft Sans Serif"/>
                <a:cs typeface="Microsoft Sans Serif"/>
              </a:rPr>
              <a:t> </a:t>
            </a:r>
            <a:r>
              <a:rPr lang="es-CO" sz="2400" noProof="0" dirty="0">
                <a:latin typeface="Microsoft Sans Serif"/>
                <a:cs typeface="Microsoft Sans Serif"/>
              </a:rPr>
              <a:t>el</a:t>
            </a:r>
            <a:r>
              <a:rPr lang="es-CO" sz="2400" spc="-75" noProof="0" dirty="0">
                <a:latin typeface="Microsoft Sans Serif"/>
                <a:cs typeface="Microsoft Sans Serif"/>
              </a:rPr>
              <a:t> </a:t>
            </a:r>
            <a:r>
              <a:rPr lang="es-CO" sz="2400" spc="-220" noProof="0" dirty="0">
                <a:latin typeface="Microsoft Sans Serif"/>
                <a:cs typeface="Microsoft Sans Serif"/>
              </a:rPr>
              <a:t>sesgo</a:t>
            </a:r>
            <a:r>
              <a:rPr lang="es-CO" sz="2400" spc="-40" noProof="0" dirty="0">
                <a:latin typeface="Microsoft Sans Serif"/>
                <a:cs typeface="Microsoft Sans Serif"/>
              </a:rPr>
              <a:t> </a:t>
            </a:r>
            <a:r>
              <a:rPr lang="es-CO" sz="2400" spc="-160" noProof="0" dirty="0">
                <a:latin typeface="Microsoft Sans Serif"/>
                <a:cs typeface="Microsoft Sans Serif"/>
              </a:rPr>
              <a:t>es</a:t>
            </a:r>
            <a:r>
              <a:rPr lang="es-CO" sz="2400" spc="-235" noProof="0" dirty="0">
                <a:latin typeface="Microsoft Sans Serif"/>
                <a:cs typeface="Microsoft Sans Serif"/>
              </a:rPr>
              <a:t> </a:t>
            </a:r>
            <a:r>
              <a:rPr lang="es-CO" sz="2400" spc="-10" noProof="0" dirty="0">
                <a:latin typeface="Microsoft Sans Serif"/>
                <a:cs typeface="Microsoft Sans Serif"/>
              </a:rPr>
              <a:t>positivo.</a:t>
            </a:r>
            <a:endParaRPr lang="es-CO" sz="2400" noProof="0" dirty="0">
              <a:latin typeface="Microsoft Sans Serif"/>
              <a:cs typeface="Microsoft Sans Serif"/>
            </a:endParaRPr>
          </a:p>
          <a:p>
            <a:pPr marL="411480" indent="-319405">
              <a:lnSpc>
                <a:spcPts val="3465"/>
              </a:lnSpc>
              <a:buClr>
                <a:srgbClr val="DD8046"/>
              </a:buClr>
              <a:buSzPct val="60416"/>
              <a:buFont typeface="Wingdings"/>
              <a:buChar char=""/>
              <a:tabLst>
                <a:tab pos="411480" algn="l"/>
              </a:tabLst>
            </a:pPr>
            <a:r>
              <a:rPr lang="es-CO" sz="2400" spc="-130" noProof="0" dirty="0">
                <a:latin typeface="Microsoft Sans Serif"/>
                <a:cs typeface="Microsoft Sans Serif"/>
              </a:rPr>
              <a:t>Si</a:t>
            </a:r>
            <a:r>
              <a:rPr lang="es-CO" sz="2400" spc="-190" noProof="0" dirty="0">
                <a:latin typeface="Microsoft Sans Serif"/>
                <a:cs typeface="Microsoft Sans Serif"/>
              </a:rPr>
              <a:t> </a:t>
            </a:r>
            <a:r>
              <a:rPr lang="es-CO" sz="2400" spc="-60" noProof="0" dirty="0">
                <a:latin typeface="Microsoft Sans Serif"/>
                <a:cs typeface="Microsoft Sans Serif"/>
              </a:rPr>
              <a:t>Media</a:t>
            </a:r>
            <a:r>
              <a:rPr lang="es-CO" sz="2400" spc="-75" noProof="0" dirty="0">
                <a:latin typeface="Microsoft Sans Serif"/>
                <a:cs typeface="Microsoft Sans Serif"/>
              </a:rPr>
              <a:t> </a:t>
            </a:r>
            <a:r>
              <a:rPr lang="es-CO" sz="2400" noProof="0" dirty="0">
                <a:latin typeface="Microsoft Sans Serif"/>
                <a:cs typeface="Microsoft Sans Serif"/>
              </a:rPr>
              <a:t>&lt;</a:t>
            </a:r>
            <a:r>
              <a:rPr lang="es-CO" sz="2400" spc="180" noProof="0" dirty="0">
                <a:latin typeface="Microsoft Sans Serif"/>
                <a:cs typeface="Microsoft Sans Serif"/>
              </a:rPr>
              <a:t> </a:t>
            </a:r>
            <a:r>
              <a:rPr lang="es-CO" sz="2400" spc="-85" noProof="0" dirty="0">
                <a:latin typeface="Microsoft Sans Serif"/>
                <a:cs typeface="Microsoft Sans Serif"/>
              </a:rPr>
              <a:t>Moda,</a:t>
            </a:r>
            <a:r>
              <a:rPr lang="es-CO" sz="2400" spc="-55" noProof="0" dirty="0">
                <a:latin typeface="Microsoft Sans Serif"/>
                <a:cs typeface="Microsoft Sans Serif"/>
              </a:rPr>
              <a:t> </a:t>
            </a:r>
            <a:r>
              <a:rPr lang="es-CO" sz="2400" noProof="0" dirty="0">
                <a:latin typeface="Microsoft Sans Serif"/>
                <a:cs typeface="Microsoft Sans Serif"/>
              </a:rPr>
              <a:t>el</a:t>
            </a:r>
            <a:r>
              <a:rPr lang="es-CO" sz="2400" spc="-75" noProof="0" dirty="0">
                <a:latin typeface="Microsoft Sans Serif"/>
                <a:cs typeface="Microsoft Sans Serif"/>
              </a:rPr>
              <a:t> </a:t>
            </a:r>
            <a:r>
              <a:rPr lang="es-CO" sz="2400" spc="-220" noProof="0" dirty="0">
                <a:latin typeface="Microsoft Sans Serif"/>
                <a:cs typeface="Microsoft Sans Serif"/>
              </a:rPr>
              <a:t>sesgo</a:t>
            </a:r>
            <a:r>
              <a:rPr lang="es-CO" sz="2400" spc="-40" noProof="0" dirty="0">
                <a:latin typeface="Microsoft Sans Serif"/>
                <a:cs typeface="Microsoft Sans Serif"/>
              </a:rPr>
              <a:t> </a:t>
            </a:r>
            <a:r>
              <a:rPr lang="es-CO" sz="2400" spc="-160" noProof="0" dirty="0">
                <a:latin typeface="Microsoft Sans Serif"/>
                <a:cs typeface="Microsoft Sans Serif"/>
              </a:rPr>
              <a:t>es</a:t>
            </a:r>
            <a:r>
              <a:rPr lang="es-CO" sz="2400" spc="-235" noProof="0" dirty="0">
                <a:latin typeface="Microsoft Sans Serif"/>
                <a:cs typeface="Microsoft Sans Serif"/>
              </a:rPr>
              <a:t> </a:t>
            </a:r>
            <a:r>
              <a:rPr lang="es-CO" sz="2400" spc="-10" noProof="0" dirty="0">
                <a:latin typeface="Microsoft Sans Serif"/>
                <a:cs typeface="Microsoft Sans Serif"/>
              </a:rPr>
              <a:t>negativo</a:t>
            </a:r>
            <a:r>
              <a:rPr lang="es-CO" sz="2900" spc="-10" noProof="0" dirty="0">
                <a:latin typeface="Microsoft Sans Serif"/>
                <a:cs typeface="Microsoft Sans Serif"/>
              </a:rPr>
              <a:t>.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71500" y="1969007"/>
            <a:ext cx="11165205" cy="3025140"/>
            <a:chOff x="571500" y="1969007"/>
            <a:chExt cx="11165205" cy="30251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28359" y="3386329"/>
              <a:ext cx="324612" cy="7619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4944" y="2493263"/>
              <a:ext cx="11041380" cy="237591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71500" y="1969007"/>
              <a:ext cx="3796029" cy="3025140"/>
            </a:xfrm>
            <a:custGeom>
              <a:avLst/>
              <a:gdLst/>
              <a:ahLst/>
              <a:cxnLst/>
              <a:rect l="l" t="t" r="r" b="b"/>
              <a:pathLst>
                <a:path w="3796029" h="3025140">
                  <a:moveTo>
                    <a:pt x="3795903" y="0"/>
                  </a:moveTo>
                  <a:lnTo>
                    <a:pt x="0" y="0"/>
                  </a:lnTo>
                  <a:lnTo>
                    <a:pt x="0" y="3025140"/>
                  </a:lnTo>
                  <a:lnTo>
                    <a:pt x="3795903" y="3025140"/>
                  </a:lnTo>
                  <a:lnTo>
                    <a:pt x="3795903" y="0"/>
                  </a:lnTo>
                  <a:close/>
                </a:path>
              </a:pathLst>
            </a:custGeom>
            <a:solidFill>
              <a:srgbClr val="FFFFFF">
                <a:alpha val="56861"/>
              </a:srgbClr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568952" y="1988820"/>
            <a:ext cx="3406140" cy="462280"/>
          </a:xfrm>
          <a:prstGeom prst="rect">
            <a:avLst/>
          </a:prstGeom>
          <a:solidFill>
            <a:srgbClr val="ABB620"/>
          </a:solidFill>
        </p:spPr>
        <p:txBody>
          <a:bodyPr vert="horz" wrap="square" lIns="0" tIns="21590" rIns="0" bIns="0" rtlCol="0">
            <a:spAutoFit/>
          </a:bodyPr>
          <a:lstStyle/>
          <a:p>
            <a:pPr marL="599440">
              <a:lnSpc>
                <a:spcPct val="100000"/>
              </a:lnSpc>
              <a:spcBef>
                <a:spcPts val="170"/>
              </a:spcBef>
            </a:pPr>
            <a:r>
              <a:rPr lang="es-CO" sz="2400" spc="-23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SESGO</a:t>
            </a:r>
            <a:r>
              <a:rPr lang="es-CO" sz="2400" spc="-22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400" spc="-11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POSITIVO</a:t>
            </a:r>
            <a:endParaRPr lang="es-CO" sz="2400" noProof="0" dirty="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21040" y="1988820"/>
            <a:ext cx="3366770" cy="462280"/>
          </a:xfrm>
          <a:prstGeom prst="rect">
            <a:avLst/>
          </a:prstGeom>
          <a:solidFill>
            <a:srgbClr val="D6B05C"/>
          </a:solidFill>
        </p:spPr>
        <p:txBody>
          <a:bodyPr vert="horz" wrap="square" lIns="0" tIns="21590" rIns="0" bIns="0" rtlCol="0">
            <a:spAutoFit/>
          </a:bodyPr>
          <a:lstStyle/>
          <a:p>
            <a:pPr marL="513080">
              <a:lnSpc>
                <a:spcPct val="100000"/>
              </a:lnSpc>
              <a:spcBef>
                <a:spcPts val="170"/>
              </a:spcBef>
            </a:pPr>
            <a:r>
              <a:rPr lang="es-CO" sz="2400" spc="-23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SESGO</a:t>
            </a:r>
            <a:r>
              <a:rPr lang="es-CO" sz="2400" spc="-229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400" spc="-11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NEGATIVO</a:t>
            </a:r>
            <a:endParaRPr lang="es-CO" sz="2400" noProof="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5299" y="330149"/>
            <a:ext cx="749680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pc="-285" noProof="0" dirty="0"/>
              <a:t>Descripciones</a:t>
            </a:r>
            <a:r>
              <a:rPr lang="es-CO" spc="-705" noProof="0" dirty="0"/>
              <a:t> </a:t>
            </a:r>
            <a:r>
              <a:rPr lang="es-CO" spc="-250" noProof="0" dirty="0"/>
              <a:t>estadísticas</a:t>
            </a:r>
            <a:r>
              <a:rPr lang="es-CO" spc="-285" noProof="0" dirty="0"/>
              <a:t> </a:t>
            </a:r>
            <a:r>
              <a:rPr lang="es-CO" spc="-215" noProof="0" dirty="0"/>
              <a:t>básicas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5299" y="1603628"/>
            <a:ext cx="10299065" cy="910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lang="es-CO" sz="2900" spc="-114" noProof="0" dirty="0">
                <a:latin typeface="Microsoft Sans Serif"/>
                <a:cs typeface="Microsoft Sans Serif"/>
              </a:rPr>
              <a:t>Identifican</a:t>
            </a:r>
            <a:r>
              <a:rPr lang="es-CO" sz="2900" spc="-200" noProof="0" dirty="0">
                <a:latin typeface="Microsoft Sans Serif"/>
                <a:cs typeface="Microsoft Sans Serif"/>
              </a:rPr>
              <a:t> </a:t>
            </a:r>
            <a:r>
              <a:rPr lang="es-CO" sz="2900" spc="-85" noProof="0" dirty="0">
                <a:latin typeface="Microsoft Sans Serif"/>
                <a:cs typeface="Microsoft Sans Serif"/>
              </a:rPr>
              <a:t>propiedades</a:t>
            </a:r>
            <a:r>
              <a:rPr lang="es-CO" sz="2900" spc="-36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35" noProof="0" dirty="0">
                <a:latin typeface="Microsoft Sans Serif"/>
                <a:cs typeface="Microsoft Sans Serif"/>
              </a:rPr>
              <a:t> </a:t>
            </a:r>
            <a:r>
              <a:rPr lang="es-CO" sz="2900" spc="-80" noProof="0" dirty="0">
                <a:latin typeface="Microsoft Sans Serif"/>
                <a:cs typeface="Microsoft Sans Serif"/>
              </a:rPr>
              <a:t>los</a:t>
            </a:r>
            <a:r>
              <a:rPr lang="es-CO" sz="2900" spc="-450" noProof="0" dirty="0">
                <a:latin typeface="Microsoft Sans Serif"/>
                <a:cs typeface="Microsoft Sans Serif"/>
              </a:rPr>
              <a:t>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datos</a:t>
            </a:r>
            <a:r>
              <a:rPr lang="es-CO" sz="2900" spc="-12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y</a:t>
            </a:r>
            <a:r>
              <a:rPr lang="es-CO" sz="2900" spc="60" noProof="0" dirty="0">
                <a:latin typeface="Microsoft Sans Serif"/>
                <a:cs typeface="Microsoft Sans Serif"/>
              </a:rPr>
              <a:t> </a:t>
            </a:r>
            <a:r>
              <a:rPr lang="es-CO" sz="2900" spc="-150" noProof="0" dirty="0">
                <a:latin typeface="Microsoft Sans Serif"/>
                <a:cs typeface="Microsoft Sans Serif"/>
              </a:rPr>
              <a:t>destacan</a:t>
            </a:r>
            <a:r>
              <a:rPr lang="es-CO" sz="2900" spc="-200" noProof="0" dirty="0">
                <a:latin typeface="Microsoft Sans Serif"/>
                <a:cs typeface="Microsoft Sans Serif"/>
              </a:rPr>
              <a:t> </a:t>
            </a:r>
            <a:r>
              <a:rPr lang="es-CO" sz="2900" spc="-110" noProof="0" dirty="0">
                <a:latin typeface="Microsoft Sans Serif"/>
                <a:cs typeface="Microsoft Sans Serif"/>
              </a:rPr>
              <a:t>qué</a:t>
            </a:r>
            <a:r>
              <a:rPr lang="es-CO" sz="2900" spc="-130" noProof="0" dirty="0">
                <a:latin typeface="Microsoft Sans Serif"/>
                <a:cs typeface="Microsoft Sans Serif"/>
              </a:rPr>
              <a:t> </a:t>
            </a:r>
            <a:r>
              <a:rPr lang="es-CO" sz="2900" spc="-140" noProof="0" dirty="0">
                <a:latin typeface="Microsoft Sans Serif"/>
                <a:cs typeface="Microsoft Sans Serif"/>
              </a:rPr>
              <a:t>valores</a:t>
            </a:r>
            <a:r>
              <a:rPr lang="es-CO" sz="2900" spc="-125" noProof="0" dirty="0">
                <a:latin typeface="Microsoft Sans Serif"/>
                <a:cs typeface="Microsoft Sans Serif"/>
              </a:rPr>
              <a:t> </a:t>
            </a:r>
            <a:r>
              <a:rPr lang="es-CO" sz="2900" spc="-60" noProof="0" dirty="0">
                <a:latin typeface="Microsoft Sans Serif"/>
                <a:cs typeface="Microsoft Sans Serif"/>
              </a:rPr>
              <a:t>deben </a:t>
            </a:r>
            <a:r>
              <a:rPr lang="es-CO" sz="2900" spc="-80" noProof="0" dirty="0">
                <a:latin typeface="Microsoft Sans Serif"/>
                <a:cs typeface="Microsoft Sans Serif"/>
              </a:rPr>
              <a:t>tratarse</a:t>
            </a:r>
            <a:r>
              <a:rPr lang="es-CO" sz="2900" spc="-145" noProof="0" dirty="0">
                <a:latin typeface="Microsoft Sans Serif"/>
                <a:cs typeface="Microsoft Sans Serif"/>
              </a:rPr>
              <a:t> </a:t>
            </a:r>
            <a:r>
              <a:rPr lang="es-CO" sz="2900" spc="-215" noProof="0" dirty="0">
                <a:latin typeface="Microsoft Sans Serif"/>
                <a:cs typeface="Microsoft Sans Serif"/>
              </a:rPr>
              <a:t>como</a:t>
            </a:r>
            <a:r>
              <a:rPr lang="es-CO" sz="2900" spc="-260" noProof="0" dirty="0">
                <a:latin typeface="Microsoft Sans Serif"/>
                <a:cs typeface="Microsoft Sans Serif"/>
              </a:rPr>
              <a:t> </a:t>
            </a:r>
            <a:r>
              <a:rPr lang="es-CO" sz="2900" spc="-80" noProof="0" dirty="0">
                <a:latin typeface="Microsoft Sans Serif"/>
                <a:cs typeface="Microsoft Sans Serif"/>
              </a:rPr>
              <a:t>ruido</a:t>
            </a:r>
            <a:r>
              <a:rPr lang="es-CO" sz="2900" spc="-13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o</a:t>
            </a:r>
            <a:r>
              <a:rPr lang="es-CO" sz="2900" spc="-90" noProof="0" dirty="0">
                <a:latin typeface="Microsoft Sans Serif"/>
                <a:cs typeface="Microsoft Sans Serif"/>
              </a:rPr>
              <a:t>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valores</a:t>
            </a:r>
            <a:r>
              <a:rPr lang="es-CO" sz="2900" spc="-300" noProof="0" dirty="0">
                <a:latin typeface="Microsoft Sans Serif"/>
                <a:cs typeface="Microsoft Sans Serif"/>
              </a:rPr>
              <a:t> </a:t>
            </a:r>
            <a:r>
              <a:rPr lang="es-CO" sz="2900" spc="-10" noProof="0" dirty="0">
                <a:latin typeface="Microsoft Sans Serif"/>
                <a:cs typeface="Microsoft Sans Serif"/>
              </a:rPr>
              <a:t>atípicos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1336" y="3433419"/>
            <a:ext cx="2279015" cy="2150110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10" noProof="0" dirty="0">
                <a:latin typeface="Microsoft Sans Serif"/>
                <a:cs typeface="Microsoft Sans Serif"/>
              </a:rPr>
              <a:t>Media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10" noProof="0" dirty="0">
                <a:latin typeface="Microsoft Sans Serif"/>
                <a:cs typeface="Microsoft Sans Serif"/>
              </a:rPr>
              <a:t>Mediana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20" noProof="0" dirty="0">
                <a:latin typeface="Microsoft Sans Serif"/>
                <a:cs typeface="Microsoft Sans Serif"/>
              </a:rPr>
              <a:t>Moda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790" noProof="0" dirty="0">
                <a:latin typeface="Microsoft Sans Serif"/>
                <a:cs typeface="Microsoft Sans Serif"/>
              </a:rPr>
              <a:t>R</a:t>
            </a:r>
            <a:r>
              <a:rPr lang="es-CO" sz="2900" spc="-140" noProof="0" dirty="0">
                <a:latin typeface="Microsoft Sans Serif"/>
                <a:cs typeface="Microsoft Sans Serif"/>
              </a:rPr>
              <a:t>ang</a:t>
            </a:r>
            <a:r>
              <a:rPr lang="es-CO" sz="2900" spc="-10" noProof="0" dirty="0">
                <a:latin typeface="Microsoft Sans Serif"/>
                <a:cs typeface="Microsoft Sans Serif"/>
              </a:rPr>
              <a:t>o</a:t>
            </a:r>
            <a:r>
              <a:rPr lang="es-CO" sz="2900" spc="-85" noProof="0" dirty="0">
                <a:latin typeface="Microsoft Sans Serif"/>
                <a:cs typeface="Microsoft Sans Serif"/>
              </a:rPr>
              <a:t> </a:t>
            </a:r>
            <a:r>
              <a:rPr lang="es-CO" sz="2900" spc="-140" noProof="0" dirty="0">
                <a:latin typeface="Microsoft Sans Serif"/>
                <a:cs typeface="Microsoft Sans Serif"/>
              </a:rPr>
              <a:t>medio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69914" y="2710433"/>
            <a:ext cx="5617845" cy="3601720"/>
          </a:xfrm>
          <a:prstGeom prst="rect">
            <a:avLst/>
          </a:prstGeom>
          <a:ln w="38100">
            <a:solidFill>
              <a:srgbClr val="B85B2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lang="es-CO" sz="2900" noProof="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lang="es-CO" sz="2900" noProof="0" dirty="0">
              <a:latin typeface="Times New Roman"/>
              <a:cs typeface="Times New Roman"/>
            </a:endParaRPr>
          </a:p>
          <a:p>
            <a:pPr marL="643255" indent="-319405">
              <a:lnSpc>
                <a:spcPct val="100000"/>
              </a:lnSpc>
              <a:buClr>
                <a:srgbClr val="DD8046"/>
              </a:buClr>
              <a:buSzPct val="60344"/>
              <a:buFont typeface="Wingdings"/>
              <a:buChar char=""/>
              <a:tabLst>
                <a:tab pos="643255" algn="l"/>
              </a:tabLst>
            </a:pPr>
            <a:r>
              <a:rPr lang="es-CO" sz="2900" spc="-10" noProof="0" dirty="0">
                <a:latin typeface="Microsoft Sans Serif"/>
                <a:cs typeface="Microsoft Sans Serif"/>
              </a:rPr>
              <a:t>Varianza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643255" indent="-31940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643255" algn="l"/>
              </a:tabLst>
            </a:pPr>
            <a:r>
              <a:rPr lang="es-CO" sz="2900" spc="-204" noProof="0" dirty="0">
                <a:latin typeface="Microsoft Sans Serif"/>
                <a:cs typeface="Microsoft Sans Serif"/>
              </a:rPr>
              <a:t>Desviación</a:t>
            </a:r>
            <a:r>
              <a:rPr lang="es-CO" sz="2900" spc="-105" noProof="0" dirty="0">
                <a:latin typeface="Microsoft Sans Serif"/>
                <a:cs typeface="Microsoft Sans Serif"/>
              </a:rPr>
              <a:t> </a:t>
            </a:r>
            <a:r>
              <a:rPr lang="es-CO" sz="2900" spc="-10" noProof="0" dirty="0">
                <a:latin typeface="Microsoft Sans Serif"/>
                <a:cs typeface="Microsoft Sans Serif"/>
              </a:rPr>
              <a:t>estándar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643255" indent="-319405">
              <a:lnSpc>
                <a:spcPct val="100000"/>
              </a:lnSpc>
              <a:spcBef>
                <a:spcPts val="70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643255" algn="l"/>
              </a:tabLst>
            </a:pPr>
            <a:r>
              <a:rPr lang="es-CO" sz="2900" spc="-270" noProof="0" dirty="0">
                <a:latin typeface="Microsoft Sans Serif"/>
                <a:cs typeface="Microsoft Sans Serif"/>
              </a:rPr>
              <a:t>Rango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64325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643255" algn="l"/>
              </a:tabLst>
            </a:pPr>
            <a:r>
              <a:rPr lang="es-CO" sz="2900" spc="-40" noProof="0" dirty="0">
                <a:latin typeface="Microsoft Sans Serif"/>
                <a:cs typeface="Microsoft Sans Serif"/>
              </a:rPr>
              <a:t>Cuartiles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643255" indent="-319405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643255" algn="l"/>
              </a:tabLst>
            </a:pPr>
            <a:r>
              <a:rPr lang="es-CO" sz="2900" spc="-785" noProof="0" dirty="0">
                <a:latin typeface="Microsoft Sans Serif"/>
                <a:cs typeface="Microsoft Sans Serif"/>
              </a:rPr>
              <a:t>R</a:t>
            </a:r>
            <a:r>
              <a:rPr lang="es-CO" sz="2900" spc="-120" noProof="0" dirty="0">
                <a:latin typeface="Microsoft Sans Serif"/>
                <a:cs typeface="Microsoft Sans Serif"/>
              </a:rPr>
              <a:t>a</a:t>
            </a:r>
            <a:r>
              <a:rPr lang="es-CO" sz="2900" spc="-125" noProof="0" dirty="0">
                <a:latin typeface="Microsoft Sans Serif"/>
                <a:cs typeface="Microsoft Sans Serif"/>
              </a:rPr>
              <a:t>ng</a:t>
            </a:r>
            <a:r>
              <a:rPr lang="es-CO" sz="2900" spc="-5" noProof="0" dirty="0">
                <a:latin typeface="Microsoft Sans Serif"/>
                <a:cs typeface="Microsoft Sans Serif"/>
              </a:rPr>
              <a:t>o</a:t>
            </a:r>
            <a:r>
              <a:rPr lang="es-CO" sz="2900" spc="-170" noProof="0" dirty="0">
                <a:latin typeface="Microsoft Sans Serif"/>
                <a:cs typeface="Microsoft Sans Serif"/>
              </a:rPr>
              <a:t> </a:t>
            </a:r>
            <a:r>
              <a:rPr lang="es-CO" sz="2900" spc="-40" noProof="0" dirty="0" err="1">
                <a:latin typeface="Microsoft Sans Serif"/>
                <a:cs typeface="Microsoft Sans Serif"/>
              </a:rPr>
              <a:t>Intercuartil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00800" y="2833116"/>
            <a:ext cx="5181600" cy="640080"/>
          </a:xfrm>
          <a:prstGeom prst="rect">
            <a:avLst/>
          </a:prstGeom>
          <a:solidFill>
            <a:srgbClr val="B88F2C"/>
          </a:solidFill>
        </p:spPr>
        <p:txBody>
          <a:bodyPr vert="horz" wrap="square" lIns="0" tIns="1136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895"/>
              </a:spcBef>
            </a:pPr>
            <a:r>
              <a:rPr lang="es-CO" sz="2400" b="1" spc="-229" noProof="0" dirty="0">
                <a:solidFill>
                  <a:srgbClr val="FFFFFF"/>
                </a:solidFill>
                <a:latin typeface="Arial"/>
                <a:cs typeface="Arial"/>
              </a:rPr>
              <a:t>MEDIDAS</a:t>
            </a:r>
            <a:r>
              <a:rPr lang="es-CO" sz="2400" b="1" spc="-260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CO" sz="2400" b="1" spc="-195" noProof="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lang="es-CO" sz="2400" b="1" spc="-340" noProof="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s-CO" sz="2400" b="1" spc="-135" noProof="0" dirty="0">
                <a:solidFill>
                  <a:srgbClr val="FFFFFF"/>
                </a:solidFill>
                <a:latin typeface="Arial"/>
                <a:cs typeface="Arial"/>
              </a:rPr>
              <a:t>DISPERSION</a:t>
            </a:r>
            <a:endParaRPr lang="es-CO" sz="2400" noProof="0" dirty="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23316" y="2709672"/>
            <a:ext cx="5544185" cy="3166745"/>
          </a:xfrm>
          <a:custGeom>
            <a:avLst/>
            <a:gdLst/>
            <a:ahLst/>
            <a:cxnLst/>
            <a:rect l="l" t="t" r="r" b="b"/>
            <a:pathLst>
              <a:path w="5544185" h="3166745">
                <a:moveTo>
                  <a:pt x="5543804" y="0"/>
                </a:moveTo>
                <a:lnTo>
                  <a:pt x="0" y="0"/>
                </a:lnTo>
                <a:lnTo>
                  <a:pt x="0" y="3166364"/>
                </a:lnTo>
                <a:lnTo>
                  <a:pt x="5543804" y="3166364"/>
                </a:lnTo>
                <a:lnTo>
                  <a:pt x="5543804" y="0"/>
                </a:lnTo>
                <a:close/>
              </a:path>
            </a:pathLst>
          </a:custGeom>
          <a:solidFill>
            <a:srgbClr val="FFFFFF">
              <a:alpha val="67842"/>
            </a:srgbClr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5299" y="330149"/>
            <a:ext cx="88982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pc="-580" noProof="0" dirty="0"/>
              <a:t>V</a:t>
            </a:r>
            <a:r>
              <a:rPr lang="es-CO" spc="-605" noProof="0" dirty="0"/>
              <a:t>A</a:t>
            </a:r>
            <a:r>
              <a:rPr lang="es-CO" spc="-660" noProof="0" dirty="0"/>
              <a:t>R</a:t>
            </a:r>
            <a:r>
              <a:rPr lang="es-CO" spc="-325" noProof="0" dirty="0"/>
              <a:t>I</a:t>
            </a:r>
            <a:r>
              <a:rPr lang="es-CO" spc="-320" noProof="0" dirty="0"/>
              <a:t>AN</a:t>
            </a:r>
            <a:r>
              <a:rPr lang="es-CO" spc="-345" noProof="0" dirty="0"/>
              <a:t>Z</a:t>
            </a:r>
            <a:r>
              <a:rPr lang="es-CO" spc="-5" noProof="0" dirty="0"/>
              <a:t>A</a:t>
            </a:r>
            <a:r>
              <a:rPr lang="es-CO" spc="-220" noProof="0" dirty="0"/>
              <a:t> </a:t>
            </a:r>
            <a:r>
              <a:rPr lang="es-CO" noProof="0" dirty="0"/>
              <a:t>Y</a:t>
            </a:r>
            <a:r>
              <a:rPr lang="es-CO" spc="-445" noProof="0" dirty="0"/>
              <a:t> </a:t>
            </a:r>
            <a:r>
              <a:rPr lang="es-CO" spc="-780" noProof="0" dirty="0"/>
              <a:t>DE</a:t>
            </a:r>
            <a:r>
              <a:rPr lang="es-CO" spc="-730" noProof="0" dirty="0"/>
              <a:t>S</a:t>
            </a:r>
            <a:r>
              <a:rPr lang="es-CO" spc="-285" noProof="0" dirty="0"/>
              <a:t>V</a:t>
            </a:r>
            <a:r>
              <a:rPr lang="es-CO" spc="-290" noProof="0" dirty="0"/>
              <a:t>I</a:t>
            </a:r>
            <a:r>
              <a:rPr lang="es-CO" spc="-465" noProof="0" dirty="0"/>
              <a:t>A</a:t>
            </a:r>
            <a:r>
              <a:rPr lang="es-CO" spc="-280" noProof="0" dirty="0"/>
              <a:t>CI</a:t>
            </a:r>
            <a:r>
              <a:rPr lang="es-CO" spc="-285" noProof="0" dirty="0"/>
              <a:t>O</a:t>
            </a:r>
            <a:r>
              <a:rPr lang="es-CO" spc="-10" noProof="0" dirty="0"/>
              <a:t>N</a:t>
            </a:r>
            <a:r>
              <a:rPr lang="es-CO" spc="-195" noProof="0" dirty="0"/>
              <a:t> </a:t>
            </a:r>
            <a:r>
              <a:rPr lang="es-CO" spc="-875" noProof="0" dirty="0"/>
              <a:t>E</a:t>
            </a:r>
            <a:r>
              <a:rPr lang="es-CO" spc="-869" noProof="0" dirty="0"/>
              <a:t>S</a:t>
            </a:r>
            <a:r>
              <a:rPr lang="es-CO" spc="-855" noProof="0" dirty="0"/>
              <a:t>T</a:t>
            </a:r>
            <a:r>
              <a:rPr lang="es-CO" spc="-350" dirty="0"/>
              <a:t>Á</a:t>
            </a:r>
            <a:r>
              <a:rPr lang="es-CO" spc="-350" noProof="0" dirty="0"/>
              <a:t>N</a:t>
            </a:r>
            <a:r>
              <a:rPr lang="es-CO" spc="-434" noProof="0" dirty="0"/>
              <a:t>D</a:t>
            </a:r>
            <a:r>
              <a:rPr lang="es-CO" spc="-610" noProof="0" dirty="0"/>
              <a:t>A</a:t>
            </a:r>
            <a:r>
              <a:rPr lang="es-CO" spc="-605" noProof="0" dirty="0"/>
              <a:t>R</a:t>
            </a:r>
            <a:endParaRPr lang="es-CO" spc="-10" noProof="0" dirty="0"/>
          </a:p>
        </p:txBody>
      </p:sp>
      <p:sp>
        <p:nvSpPr>
          <p:cNvPr id="4" name="object 4"/>
          <p:cNvSpPr txBox="1"/>
          <p:nvPr/>
        </p:nvSpPr>
        <p:spPr>
          <a:xfrm>
            <a:off x="917244" y="1603705"/>
            <a:ext cx="10538460" cy="2857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lang="es-CO" sz="2900" spc="-125" noProof="0" dirty="0">
                <a:latin typeface="Microsoft Sans Serif"/>
                <a:cs typeface="Microsoft Sans Serif"/>
              </a:rPr>
              <a:t>La</a:t>
            </a:r>
            <a:r>
              <a:rPr lang="es-CO" sz="2900" spc="-250" noProof="0" dirty="0">
                <a:latin typeface="Microsoft Sans Serif"/>
                <a:cs typeface="Microsoft Sans Serif"/>
              </a:rPr>
              <a:t> </a:t>
            </a:r>
            <a:r>
              <a:rPr lang="es-CO" sz="2900" b="1" spc="-110" noProof="0" dirty="0">
                <a:latin typeface="Arial"/>
                <a:cs typeface="Arial"/>
              </a:rPr>
              <a:t>varianza</a:t>
            </a:r>
            <a:r>
              <a:rPr lang="es-CO" sz="2900" b="1" spc="-155" noProof="0" dirty="0">
                <a:latin typeface="Arial"/>
                <a:cs typeface="Arial"/>
              </a:rPr>
              <a:t> </a:t>
            </a:r>
            <a:r>
              <a:rPr lang="es-CO" sz="2900" spc="-130" noProof="0" dirty="0">
                <a:latin typeface="Microsoft Sans Serif"/>
                <a:cs typeface="Microsoft Sans Serif"/>
              </a:rPr>
              <a:t>mide</a:t>
            </a:r>
            <a:r>
              <a:rPr lang="es-CO" sz="2900" spc="-17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la</a:t>
            </a:r>
            <a:r>
              <a:rPr lang="es-CO" sz="2900" spc="15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dispersión</a:t>
            </a:r>
            <a:r>
              <a:rPr lang="es-CO" sz="2900" spc="-229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50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los</a:t>
            </a:r>
            <a:r>
              <a:rPr lang="es-CO" sz="2900" spc="-220" noProof="0" dirty="0">
                <a:latin typeface="Microsoft Sans Serif"/>
                <a:cs typeface="Microsoft Sans Serif"/>
              </a:rPr>
              <a:t> </a:t>
            </a:r>
            <a:r>
              <a:rPr lang="es-CO" sz="2900" spc="-110" noProof="0" dirty="0">
                <a:latin typeface="Microsoft Sans Serif"/>
                <a:cs typeface="Microsoft Sans Serif"/>
              </a:rPr>
              <a:t>datos</a:t>
            </a:r>
            <a:r>
              <a:rPr lang="es-CO" sz="2900" spc="-165" noProof="0" dirty="0">
                <a:latin typeface="Microsoft Sans Serif"/>
                <a:cs typeface="Microsoft Sans Serif"/>
              </a:rPr>
              <a:t> </a:t>
            </a:r>
            <a:r>
              <a:rPr lang="es-CO" sz="2900" spc="-185" noProof="0" dirty="0">
                <a:latin typeface="Microsoft Sans Serif"/>
                <a:cs typeface="Microsoft Sans Serif"/>
              </a:rPr>
              <a:t>con</a:t>
            </a:r>
            <a:r>
              <a:rPr lang="es-CO" sz="2900" spc="-270" noProof="0" dirty="0">
                <a:latin typeface="Microsoft Sans Serif"/>
                <a:cs typeface="Microsoft Sans Serif"/>
              </a:rPr>
              <a:t> </a:t>
            </a:r>
            <a:r>
              <a:rPr lang="es-CO" sz="2900" spc="-155" noProof="0" dirty="0">
                <a:latin typeface="Microsoft Sans Serif"/>
                <a:cs typeface="Microsoft Sans Serif"/>
              </a:rPr>
              <a:t>respecto</a:t>
            </a:r>
            <a:r>
              <a:rPr lang="es-CO" sz="2900" spc="-19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a</a:t>
            </a:r>
            <a:r>
              <a:rPr lang="es-CO" sz="2900" spc="2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la</a:t>
            </a:r>
            <a:r>
              <a:rPr lang="es-CO" sz="2900" spc="20" noProof="0" dirty="0">
                <a:latin typeface="Microsoft Sans Serif"/>
                <a:cs typeface="Microsoft Sans Serif"/>
              </a:rPr>
              <a:t> </a:t>
            </a:r>
            <a:r>
              <a:rPr lang="es-CO" sz="2900" spc="-85" noProof="0" dirty="0">
                <a:latin typeface="Microsoft Sans Serif"/>
                <a:cs typeface="Microsoft Sans Serif"/>
              </a:rPr>
              <a:t>media. </a:t>
            </a:r>
            <a:r>
              <a:rPr lang="es-CO" sz="2900" spc="-125" noProof="0" dirty="0">
                <a:latin typeface="Microsoft Sans Serif"/>
                <a:cs typeface="Microsoft Sans Serif"/>
              </a:rPr>
              <a:t>La</a:t>
            </a:r>
            <a:r>
              <a:rPr lang="es-CO" sz="2900" spc="-240" noProof="0" dirty="0">
                <a:latin typeface="Microsoft Sans Serif"/>
                <a:cs typeface="Microsoft Sans Serif"/>
              </a:rPr>
              <a:t> </a:t>
            </a:r>
            <a:r>
              <a:rPr lang="es-CO" sz="2900" b="1" spc="-195" noProof="0" dirty="0">
                <a:latin typeface="Arial"/>
                <a:cs typeface="Arial"/>
              </a:rPr>
              <a:t>desviación</a:t>
            </a:r>
            <a:r>
              <a:rPr lang="es-CO" sz="2900" b="1" spc="-295" noProof="0" dirty="0">
                <a:latin typeface="Arial"/>
                <a:cs typeface="Arial"/>
              </a:rPr>
              <a:t> </a:t>
            </a:r>
            <a:r>
              <a:rPr lang="es-CO" sz="2900" b="1" spc="-200" noProof="0" dirty="0">
                <a:latin typeface="Arial"/>
                <a:cs typeface="Arial"/>
              </a:rPr>
              <a:t>estándar</a:t>
            </a:r>
            <a:r>
              <a:rPr lang="es-CO" sz="2900" b="1" spc="-265" noProof="0" dirty="0">
                <a:latin typeface="Arial"/>
                <a:cs typeface="Arial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es</a:t>
            </a:r>
            <a:r>
              <a:rPr lang="es-CO" sz="2900" spc="-29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la</a:t>
            </a:r>
            <a:r>
              <a:rPr lang="es-CO" sz="2900" spc="-95" noProof="0" dirty="0">
                <a:latin typeface="Microsoft Sans Serif"/>
                <a:cs typeface="Microsoft Sans Serif"/>
              </a:rPr>
              <a:t> </a:t>
            </a:r>
            <a:r>
              <a:rPr lang="es-CO" sz="2900" spc="-20" noProof="0" dirty="0">
                <a:latin typeface="Microsoft Sans Serif"/>
                <a:cs typeface="Microsoft Sans Serif"/>
              </a:rPr>
              <a:t>raíz</a:t>
            </a:r>
            <a:r>
              <a:rPr lang="es-CO" sz="2900" spc="-70" noProof="0" dirty="0">
                <a:latin typeface="Microsoft Sans Serif"/>
                <a:cs typeface="Microsoft Sans Serif"/>
              </a:rPr>
              <a:t> </a:t>
            </a:r>
            <a:r>
              <a:rPr lang="es-CO" sz="2900" spc="-85" noProof="0" dirty="0">
                <a:latin typeface="Microsoft Sans Serif"/>
                <a:cs typeface="Microsoft Sans Serif"/>
              </a:rPr>
              <a:t>cuadrada</a:t>
            </a:r>
            <a:r>
              <a:rPr lang="es-CO" sz="2900" spc="-14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8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la</a:t>
            </a:r>
            <a:r>
              <a:rPr lang="es-CO" sz="2900" spc="-20" noProof="0" dirty="0">
                <a:latin typeface="Microsoft Sans Serif"/>
                <a:cs typeface="Microsoft Sans Serif"/>
              </a:rPr>
              <a:t> </a:t>
            </a:r>
            <a:r>
              <a:rPr lang="es-CO" sz="2900" spc="-10" noProof="0" dirty="0">
                <a:latin typeface="Microsoft Sans Serif"/>
                <a:cs typeface="Microsoft Sans Serif"/>
              </a:rPr>
              <a:t>varianza.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332740" marR="190500" indent="-320040">
              <a:lnSpc>
                <a:spcPct val="100000"/>
              </a:lnSpc>
              <a:spcBef>
                <a:spcPts val="72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lang="es-CO" sz="2900" spc="-165" noProof="0" dirty="0">
                <a:latin typeface="Microsoft Sans Serif"/>
                <a:cs typeface="Microsoft Sans Serif"/>
              </a:rPr>
              <a:t>Valores</a:t>
            </a:r>
            <a:r>
              <a:rPr lang="es-CO" sz="2900" spc="-305" noProof="0" dirty="0">
                <a:latin typeface="Microsoft Sans Serif"/>
                <a:cs typeface="Microsoft Sans Serif"/>
              </a:rPr>
              <a:t> </a:t>
            </a:r>
            <a:r>
              <a:rPr lang="es-CO" sz="2900" spc="-125" noProof="0" dirty="0">
                <a:latin typeface="Microsoft Sans Serif"/>
                <a:cs typeface="Microsoft Sans Serif"/>
              </a:rPr>
              <a:t>bajos</a:t>
            </a:r>
            <a:r>
              <a:rPr lang="es-CO" sz="2900" spc="-225" noProof="0" dirty="0">
                <a:latin typeface="Microsoft Sans Serif"/>
                <a:cs typeface="Microsoft Sans Serif"/>
              </a:rPr>
              <a:t> </a:t>
            </a:r>
            <a:r>
              <a:rPr lang="es-CO" sz="2900" spc="-145" noProof="0" dirty="0">
                <a:latin typeface="Microsoft Sans Serif"/>
                <a:cs typeface="Microsoft Sans Serif"/>
              </a:rPr>
              <a:t>indican</a:t>
            </a:r>
            <a:r>
              <a:rPr lang="es-CO" sz="2900" spc="-285" noProof="0" dirty="0">
                <a:latin typeface="Microsoft Sans Serif"/>
                <a:cs typeface="Microsoft Sans Serif"/>
              </a:rPr>
              <a:t>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que</a:t>
            </a:r>
            <a:r>
              <a:rPr lang="es-CO" sz="2900" spc="-350" noProof="0" dirty="0">
                <a:latin typeface="Microsoft Sans Serif"/>
                <a:cs typeface="Microsoft Sans Serif"/>
              </a:rPr>
              <a:t> </a:t>
            </a:r>
            <a:r>
              <a:rPr lang="es-CO" sz="2900" spc="-130" noProof="0" dirty="0">
                <a:latin typeface="Microsoft Sans Serif"/>
                <a:cs typeface="Microsoft Sans Serif"/>
              </a:rPr>
              <a:t>las</a:t>
            </a:r>
            <a:r>
              <a:rPr lang="es-CO" sz="2900" spc="-300" noProof="0" dirty="0">
                <a:latin typeface="Microsoft Sans Serif"/>
                <a:cs typeface="Microsoft Sans Serif"/>
              </a:rPr>
              <a:t> </a:t>
            </a:r>
            <a:r>
              <a:rPr lang="es-CO" sz="2900" spc="-190" noProof="0" dirty="0">
                <a:latin typeface="Microsoft Sans Serif"/>
                <a:cs typeface="Microsoft Sans Serif"/>
              </a:rPr>
              <a:t>observaciones</a:t>
            </a:r>
            <a:r>
              <a:rPr lang="es-CO" sz="2900" spc="-400" noProof="0" dirty="0">
                <a:latin typeface="Microsoft Sans Serif"/>
                <a:cs typeface="Microsoft Sans Serif"/>
              </a:rPr>
              <a:t> </a:t>
            </a:r>
            <a:r>
              <a:rPr lang="es-CO" sz="2900" spc="-50" noProof="0" dirty="0">
                <a:latin typeface="Microsoft Sans Serif"/>
                <a:cs typeface="Microsoft Sans Serif"/>
              </a:rPr>
              <a:t>de</a:t>
            </a:r>
            <a:r>
              <a:rPr lang="es-CO" sz="2900" spc="-125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los</a:t>
            </a:r>
            <a:r>
              <a:rPr lang="es-CO" sz="2900" spc="-430" noProof="0" dirty="0">
                <a:latin typeface="Microsoft Sans Serif"/>
                <a:cs typeface="Microsoft Sans Serif"/>
              </a:rPr>
              <a:t>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datos</a:t>
            </a:r>
            <a:r>
              <a:rPr lang="es-CO" sz="2900" spc="-245" noProof="0" dirty="0">
                <a:latin typeface="Microsoft Sans Serif"/>
                <a:cs typeface="Microsoft Sans Serif"/>
              </a:rPr>
              <a:t> </a:t>
            </a:r>
            <a:r>
              <a:rPr lang="es-CO" sz="2900" spc="-145" noProof="0" dirty="0">
                <a:latin typeface="Microsoft Sans Serif"/>
                <a:cs typeface="Microsoft Sans Serif"/>
              </a:rPr>
              <a:t>tienden</a:t>
            </a:r>
            <a:r>
              <a:rPr lang="es-CO" sz="2900" spc="-295" noProof="0" dirty="0">
                <a:latin typeface="Microsoft Sans Serif"/>
                <a:cs typeface="Microsoft Sans Serif"/>
              </a:rPr>
              <a:t> </a:t>
            </a:r>
            <a:r>
              <a:rPr lang="es-CO" sz="2900" spc="-50" noProof="0" dirty="0">
                <a:latin typeface="Microsoft Sans Serif"/>
                <a:cs typeface="Microsoft Sans Serif"/>
              </a:rPr>
              <a:t>a </a:t>
            </a:r>
            <a:r>
              <a:rPr lang="es-CO" sz="2900" spc="-114" noProof="0" dirty="0">
                <a:latin typeface="Microsoft Sans Serif"/>
                <a:cs typeface="Microsoft Sans Serif"/>
              </a:rPr>
              <a:t>estar</a:t>
            </a:r>
            <a:r>
              <a:rPr lang="es-CO" sz="2900" spc="-140" noProof="0" dirty="0">
                <a:latin typeface="Microsoft Sans Serif"/>
                <a:cs typeface="Microsoft Sans Serif"/>
              </a:rPr>
              <a:t> </a:t>
            </a:r>
            <a:r>
              <a:rPr lang="es-CO" sz="2900" spc="-175" noProof="0" dirty="0">
                <a:latin typeface="Microsoft Sans Serif"/>
                <a:cs typeface="Microsoft Sans Serif"/>
              </a:rPr>
              <a:t>muy</a:t>
            </a:r>
            <a:r>
              <a:rPr lang="es-CO" sz="2900" spc="-260" noProof="0" dirty="0">
                <a:latin typeface="Microsoft Sans Serif"/>
                <a:cs typeface="Microsoft Sans Serif"/>
              </a:rPr>
              <a:t> </a:t>
            </a:r>
            <a:r>
              <a:rPr lang="es-CO" sz="2900" spc="-140" noProof="0" dirty="0">
                <a:latin typeface="Microsoft Sans Serif"/>
                <a:cs typeface="Microsoft Sans Serif"/>
              </a:rPr>
              <a:t>cerca</a:t>
            </a:r>
            <a:r>
              <a:rPr lang="es-CO" sz="2900" spc="-18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6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la</a:t>
            </a:r>
            <a:r>
              <a:rPr lang="es-CO" sz="2900" spc="20" noProof="0" dirty="0">
                <a:latin typeface="Microsoft Sans Serif"/>
                <a:cs typeface="Microsoft Sans Serif"/>
              </a:rPr>
              <a:t>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media,</a:t>
            </a:r>
            <a:r>
              <a:rPr lang="es-CO" sz="2900" spc="-155" noProof="0" dirty="0">
                <a:latin typeface="Microsoft Sans Serif"/>
                <a:cs typeface="Microsoft Sans Serif"/>
              </a:rPr>
              <a:t> </a:t>
            </a:r>
            <a:r>
              <a:rPr lang="es-CO" sz="2900" spc="-180" noProof="0" dirty="0">
                <a:latin typeface="Microsoft Sans Serif"/>
                <a:cs typeface="Microsoft Sans Serif"/>
              </a:rPr>
              <a:t>mientras</a:t>
            </a:r>
            <a:r>
              <a:rPr lang="es-CO" sz="2900" spc="-200" noProof="0" dirty="0">
                <a:latin typeface="Microsoft Sans Serif"/>
                <a:cs typeface="Microsoft Sans Serif"/>
              </a:rPr>
              <a:t> </a:t>
            </a:r>
            <a:r>
              <a:rPr lang="es-CO" sz="2900" spc="-110" noProof="0" dirty="0">
                <a:latin typeface="Microsoft Sans Serif"/>
                <a:cs typeface="Microsoft Sans Serif"/>
              </a:rPr>
              <a:t>que</a:t>
            </a:r>
            <a:r>
              <a:rPr lang="es-CO" sz="2900" spc="-155" noProof="0" dirty="0">
                <a:latin typeface="Microsoft Sans Serif"/>
                <a:cs typeface="Microsoft Sans Serif"/>
              </a:rPr>
              <a:t> </a:t>
            </a:r>
            <a:r>
              <a:rPr lang="es-CO" sz="2900" spc="-140" noProof="0" dirty="0">
                <a:latin typeface="Microsoft Sans Serif"/>
                <a:cs typeface="Microsoft Sans Serif"/>
              </a:rPr>
              <a:t>valores</a:t>
            </a:r>
            <a:r>
              <a:rPr lang="es-CO" sz="2900" spc="-180" noProof="0" dirty="0">
                <a:latin typeface="Microsoft Sans Serif"/>
                <a:cs typeface="Microsoft Sans Serif"/>
              </a:rPr>
              <a:t> </a:t>
            </a:r>
            <a:r>
              <a:rPr lang="es-CO" sz="2900" spc="-125" noProof="0" dirty="0">
                <a:latin typeface="Microsoft Sans Serif"/>
                <a:cs typeface="Microsoft Sans Serif"/>
              </a:rPr>
              <a:t>altos</a:t>
            </a:r>
            <a:r>
              <a:rPr lang="es-CO" sz="2900" spc="-120" noProof="0" dirty="0">
                <a:latin typeface="Microsoft Sans Serif"/>
                <a:cs typeface="Microsoft Sans Serif"/>
              </a:rPr>
              <a:t> </a:t>
            </a:r>
            <a:r>
              <a:rPr lang="es-CO" sz="2900" spc="-135" noProof="0" dirty="0">
                <a:latin typeface="Microsoft Sans Serif"/>
                <a:cs typeface="Microsoft Sans Serif"/>
              </a:rPr>
              <a:t>indican </a:t>
            </a:r>
            <a:r>
              <a:rPr lang="es-CO" sz="2900" spc="-35" noProof="0" dirty="0">
                <a:latin typeface="Microsoft Sans Serif"/>
                <a:cs typeface="Microsoft Sans Serif"/>
              </a:rPr>
              <a:t>que </a:t>
            </a:r>
            <a:r>
              <a:rPr lang="es-CO" sz="2900" spc="-145" noProof="0" dirty="0">
                <a:latin typeface="Microsoft Sans Serif"/>
                <a:cs typeface="Microsoft Sans Serif"/>
              </a:rPr>
              <a:t>los</a:t>
            </a:r>
            <a:r>
              <a:rPr lang="es-CO" sz="2900" spc="-215" noProof="0" dirty="0">
                <a:latin typeface="Microsoft Sans Serif"/>
                <a:cs typeface="Microsoft Sans Serif"/>
              </a:rPr>
              <a:t> </a:t>
            </a:r>
            <a:r>
              <a:rPr lang="es-CO" sz="2900" spc="-80" noProof="0" dirty="0">
                <a:latin typeface="Microsoft Sans Serif"/>
                <a:cs typeface="Microsoft Sans Serif"/>
              </a:rPr>
              <a:t>datos</a:t>
            </a:r>
            <a:r>
              <a:rPr lang="es-CO" sz="2900" spc="-340" noProof="0" dirty="0">
                <a:latin typeface="Microsoft Sans Serif"/>
                <a:cs typeface="Microsoft Sans Serif"/>
              </a:rPr>
              <a:t> </a:t>
            </a:r>
            <a:r>
              <a:rPr lang="es-CO" sz="2900" spc="-175" noProof="0" dirty="0">
                <a:latin typeface="Microsoft Sans Serif"/>
                <a:cs typeface="Microsoft Sans Serif"/>
              </a:rPr>
              <a:t>están</a:t>
            </a:r>
            <a:r>
              <a:rPr lang="es-CO" sz="2900" spc="-155" noProof="0" dirty="0">
                <a:latin typeface="Microsoft Sans Serif"/>
                <a:cs typeface="Microsoft Sans Serif"/>
              </a:rPr>
              <a:t> </a:t>
            </a:r>
            <a:r>
              <a:rPr lang="es-CO" sz="2900" spc="-204" noProof="0" dirty="0">
                <a:latin typeface="Microsoft Sans Serif"/>
                <a:cs typeface="Microsoft Sans Serif"/>
              </a:rPr>
              <a:t>muy</a:t>
            </a:r>
            <a:r>
              <a:rPr lang="es-CO" sz="2900" spc="-130" noProof="0" dirty="0">
                <a:latin typeface="Microsoft Sans Serif"/>
                <a:cs typeface="Microsoft Sans Serif"/>
              </a:rPr>
              <a:t> </a:t>
            </a:r>
            <a:r>
              <a:rPr lang="es-CO" sz="2900" spc="-90" noProof="0" dirty="0">
                <a:latin typeface="Microsoft Sans Serif"/>
                <a:cs typeface="Microsoft Sans Serif"/>
              </a:rPr>
              <a:t>dispersos.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69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b="1" spc="-245" noProof="0" dirty="0">
                <a:latin typeface="Arial"/>
                <a:cs typeface="Arial"/>
              </a:rPr>
              <a:t>Estimadores</a:t>
            </a:r>
            <a:r>
              <a:rPr lang="es-CO" sz="2900" b="1" spc="-370" noProof="0" dirty="0">
                <a:latin typeface="Arial"/>
                <a:cs typeface="Arial"/>
              </a:rPr>
              <a:t> </a:t>
            </a:r>
            <a:r>
              <a:rPr lang="es-CO" sz="2900" b="1" spc="-114" noProof="0" dirty="0">
                <a:latin typeface="Arial"/>
                <a:cs typeface="Arial"/>
              </a:rPr>
              <a:t>de</a:t>
            </a:r>
            <a:r>
              <a:rPr lang="es-CO" sz="2900" b="1" spc="-280" noProof="0" dirty="0">
                <a:latin typeface="Arial"/>
                <a:cs typeface="Arial"/>
              </a:rPr>
              <a:t> </a:t>
            </a:r>
            <a:r>
              <a:rPr lang="es-CO" sz="2900" b="1" noProof="0" dirty="0">
                <a:latin typeface="Arial"/>
                <a:cs typeface="Arial"/>
              </a:rPr>
              <a:t>la</a:t>
            </a:r>
            <a:r>
              <a:rPr lang="es-CO" sz="2900" b="1" spc="-110" noProof="0" dirty="0">
                <a:latin typeface="Arial"/>
                <a:cs typeface="Arial"/>
              </a:rPr>
              <a:t> varianza</a:t>
            </a:r>
            <a:r>
              <a:rPr lang="es-CO" sz="2900" b="1" spc="-175" noProof="0" dirty="0">
                <a:latin typeface="Arial"/>
                <a:cs typeface="Arial"/>
              </a:rPr>
              <a:t> </a:t>
            </a:r>
            <a:r>
              <a:rPr lang="es-CO" sz="2900" b="1" spc="-55" noProof="0" dirty="0">
                <a:latin typeface="Arial"/>
                <a:cs typeface="Arial"/>
              </a:rPr>
              <a:t>muestral</a:t>
            </a:r>
            <a:endParaRPr lang="es-CO" sz="2900" noProof="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32047" y="28955"/>
            <a:ext cx="4523105" cy="399415"/>
          </a:xfrm>
          <a:prstGeom prst="rect">
            <a:avLst/>
          </a:prstGeom>
          <a:solidFill>
            <a:srgbClr val="ABB620"/>
          </a:solidFill>
        </p:spPr>
        <p:txBody>
          <a:bodyPr vert="horz" wrap="square" lIns="0" tIns="24130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90"/>
              </a:spcBef>
            </a:pPr>
            <a:r>
              <a:rPr lang="es-CO" sz="2000" spc="-22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MEDIDAS</a:t>
            </a:r>
            <a:r>
              <a:rPr lang="es-CO" sz="2000" spc="-19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DE</a:t>
            </a:r>
            <a:r>
              <a:rPr lang="es-CO" sz="2000" spc="-29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14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DISPERSION</a:t>
            </a:r>
            <a:endParaRPr lang="es-CO" sz="2000" noProof="0" dirty="0">
              <a:latin typeface="Microsoft Sans Serif"/>
              <a:cs typeface="Microsoft Sans Serif"/>
            </a:endParaRPr>
          </a:p>
        </p:txBody>
      </p:sp>
      <p:pic>
        <p:nvPicPr>
          <p:cNvPr id="1026" name="Picture 2" descr="Varianza y desviación estándar, ejemplos y ejercicios | Matemóvil">
            <a:extLst>
              <a:ext uri="{FF2B5EF4-FFF2-40B4-BE49-F238E27FC236}">
                <a16:creationId xmlns:a16="http://schemas.microsoft.com/office/drawing/2014/main" id="{EF7BFED9-FCAA-20B4-C755-943811CC5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424" y="4572000"/>
            <a:ext cx="5372100" cy="2089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rrow: Right 1">
            <a:extLst>
              <a:ext uri="{FF2B5EF4-FFF2-40B4-BE49-F238E27FC236}">
                <a16:creationId xmlns:a16="http://schemas.microsoft.com/office/drawing/2014/main" id="{189B9193-3542-C6E4-13FE-1D72B2F19D51}"/>
              </a:ext>
            </a:extLst>
          </p:cNvPr>
          <p:cNvSpPr/>
          <p:nvPr/>
        </p:nvSpPr>
        <p:spPr>
          <a:xfrm>
            <a:off x="2895600" y="6172200"/>
            <a:ext cx="536447" cy="304800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95299" y="1603628"/>
            <a:ext cx="1500505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200" noProof="0" dirty="0">
                <a:latin typeface="Microsoft Sans Serif"/>
                <a:cs typeface="Microsoft Sans Serif"/>
              </a:rPr>
              <a:t>Ejemplo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479175"/>
              </p:ext>
            </p:extLst>
          </p:nvPr>
        </p:nvGraphicFramePr>
        <p:xfrm>
          <a:off x="1211910" y="2204859"/>
          <a:ext cx="10078713" cy="64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9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43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23622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30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36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47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52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52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56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60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63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70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70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110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895299" y="2879005"/>
            <a:ext cx="3019425" cy="512961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52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114" noProof="0" dirty="0">
                <a:latin typeface="Microsoft Sans Serif"/>
                <a:cs typeface="Microsoft Sans Serif"/>
              </a:rPr>
              <a:t>Varianza</a:t>
            </a:r>
            <a:r>
              <a:rPr lang="es-CO" sz="2900" spc="-125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muestral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86952" y="4005065"/>
            <a:ext cx="336550" cy="19685"/>
          </a:xfrm>
          <a:custGeom>
            <a:avLst/>
            <a:gdLst/>
            <a:ahLst/>
            <a:cxnLst/>
            <a:rect l="l" t="t" r="r" b="b"/>
            <a:pathLst>
              <a:path w="336550" h="19685">
                <a:moveTo>
                  <a:pt x="336423" y="0"/>
                </a:moveTo>
                <a:lnTo>
                  <a:pt x="0" y="0"/>
                </a:lnTo>
                <a:lnTo>
                  <a:pt x="0" y="19316"/>
                </a:lnTo>
                <a:lnTo>
                  <a:pt x="336423" y="19316"/>
                </a:lnTo>
                <a:lnTo>
                  <a:pt x="3364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11" name="object 11"/>
          <p:cNvSpPr txBox="1"/>
          <p:nvPr/>
        </p:nvSpPr>
        <p:spPr>
          <a:xfrm>
            <a:off x="-564516" y="4014076"/>
            <a:ext cx="3227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2850515" algn="l"/>
              </a:tabLst>
            </a:pPr>
            <a:r>
              <a:rPr lang="es-CO" sz="2625" baseline="-46031" noProof="0" dirty="0">
                <a:latin typeface="Cambria Math"/>
                <a:cs typeface="Cambria Math"/>
              </a:rPr>
              <a:t>	</a:t>
            </a:r>
            <a:r>
              <a:rPr lang="es-CO" sz="2400" spc="-25" noProof="0" dirty="0">
                <a:latin typeface="Cambria Math"/>
                <a:cs typeface="Cambria Math"/>
              </a:rPr>
              <a:t>11</a:t>
            </a:r>
            <a:endParaRPr lang="es-CO" sz="2400" noProof="0" dirty="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57755" y="3588589"/>
            <a:ext cx="1949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2400" spc="-50" noProof="0" dirty="0">
                <a:latin typeface="Cambria Math"/>
                <a:cs typeface="Cambria Math"/>
              </a:rPr>
              <a:t>1</a:t>
            </a:r>
            <a:endParaRPr lang="es-CO" sz="2400" noProof="0" dirty="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358516" y="3790340"/>
            <a:ext cx="100965" cy="368935"/>
          </a:xfrm>
          <a:custGeom>
            <a:avLst/>
            <a:gdLst/>
            <a:ahLst/>
            <a:cxnLst/>
            <a:rect l="l" t="t" r="r" b="b"/>
            <a:pathLst>
              <a:path w="100965" h="368935">
                <a:moveTo>
                  <a:pt x="3683" y="0"/>
                </a:moveTo>
                <a:lnTo>
                  <a:pt x="0" y="12191"/>
                </a:lnTo>
                <a:lnTo>
                  <a:pt x="16891" y="21081"/>
                </a:lnTo>
                <a:lnTo>
                  <a:pt x="31623" y="33908"/>
                </a:lnTo>
                <a:lnTo>
                  <a:pt x="54610" y="71500"/>
                </a:lnTo>
                <a:lnTo>
                  <a:pt x="68452" y="122554"/>
                </a:lnTo>
                <a:lnTo>
                  <a:pt x="73151" y="184530"/>
                </a:lnTo>
                <a:lnTo>
                  <a:pt x="72009" y="216788"/>
                </a:lnTo>
                <a:lnTo>
                  <a:pt x="62738" y="273303"/>
                </a:lnTo>
                <a:lnTo>
                  <a:pt x="44196" y="318134"/>
                </a:lnTo>
                <a:lnTo>
                  <a:pt x="16891" y="347725"/>
                </a:lnTo>
                <a:lnTo>
                  <a:pt x="0" y="356488"/>
                </a:lnTo>
                <a:lnTo>
                  <a:pt x="3683" y="368807"/>
                </a:lnTo>
                <a:lnTo>
                  <a:pt x="44830" y="346709"/>
                </a:lnTo>
                <a:lnTo>
                  <a:pt x="75311" y="305307"/>
                </a:lnTo>
                <a:lnTo>
                  <a:pt x="94106" y="249554"/>
                </a:lnTo>
                <a:lnTo>
                  <a:pt x="100456" y="184403"/>
                </a:lnTo>
                <a:lnTo>
                  <a:pt x="98933" y="150621"/>
                </a:lnTo>
                <a:lnTo>
                  <a:pt x="86360" y="90042"/>
                </a:lnTo>
                <a:lnTo>
                  <a:pt x="61341" y="40258"/>
                </a:lnTo>
                <a:lnTo>
                  <a:pt x="25526" y="8508"/>
                </a:lnTo>
                <a:lnTo>
                  <a:pt x="36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14" name="object 14"/>
          <p:cNvSpPr/>
          <p:nvPr/>
        </p:nvSpPr>
        <p:spPr>
          <a:xfrm>
            <a:off x="2666502" y="3790340"/>
            <a:ext cx="100965" cy="368935"/>
          </a:xfrm>
          <a:custGeom>
            <a:avLst/>
            <a:gdLst/>
            <a:ahLst/>
            <a:cxnLst/>
            <a:rect l="l" t="t" r="r" b="b"/>
            <a:pathLst>
              <a:path w="100964" h="368935">
                <a:moveTo>
                  <a:pt x="96774" y="0"/>
                </a:moveTo>
                <a:lnTo>
                  <a:pt x="55625" y="21970"/>
                </a:lnTo>
                <a:lnTo>
                  <a:pt x="25146" y="63372"/>
                </a:lnTo>
                <a:lnTo>
                  <a:pt x="6223" y="119252"/>
                </a:lnTo>
                <a:lnTo>
                  <a:pt x="0" y="184530"/>
                </a:lnTo>
                <a:lnTo>
                  <a:pt x="1524" y="218185"/>
                </a:lnTo>
                <a:lnTo>
                  <a:pt x="14097" y="278637"/>
                </a:lnTo>
                <a:lnTo>
                  <a:pt x="38988" y="328421"/>
                </a:lnTo>
                <a:lnTo>
                  <a:pt x="74803" y="360171"/>
                </a:lnTo>
                <a:lnTo>
                  <a:pt x="96774" y="368807"/>
                </a:lnTo>
                <a:lnTo>
                  <a:pt x="100457" y="356488"/>
                </a:lnTo>
                <a:lnTo>
                  <a:pt x="83566" y="347725"/>
                </a:lnTo>
                <a:lnTo>
                  <a:pt x="68834" y="334898"/>
                </a:lnTo>
                <a:lnTo>
                  <a:pt x="45847" y="297433"/>
                </a:lnTo>
                <a:lnTo>
                  <a:pt x="32004" y="246379"/>
                </a:lnTo>
                <a:lnTo>
                  <a:pt x="27432" y="184403"/>
                </a:lnTo>
                <a:lnTo>
                  <a:pt x="28575" y="152145"/>
                </a:lnTo>
                <a:lnTo>
                  <a:pt x="37719" y="95630"/>
                </a:lnTo>
                <a:lnTo>
                  <a:pt x="56261" y="50672"/>
                </a:lnTo>
                <a:lnTo>
                  <a:pt x="83566" y="21081"/>
                </a:lnTo>
                <a:lnTo>
                  <a:pt x="100457" y="12191"/>
                </a:lnTo>
                <a:lnTo>
                  <a:pt x="967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15" name="object 15"/>
          <p:cNvSpPr txBox="1"/>
          <p:nvPr/>
        </p:nvSpPr>
        <p:spPr>
          <a:xfrm>
            <a:off x="2740925" y="3738269"/>
            <a:ext cx="56121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s-CO" sz="2400" noProof="0" dirty="0">
                <a:latin typeface="Cambria Math"/>
                <a:cs typeface="Cambria Math"/>
              </a:rPr>
              <a:t>(30</a:t>
            </a:r>
            <a:r>
              <a:rPr lang="es-CO" sz="2400" spc="-5" noProof="0" dirty="0">
                <a:latin typeface="Cambria Math"/>
                <a:cs typeface="Cambria Math"/>
              </a:rPr>
              <a:t> </a:t>
            </a:r>
            <a:r>
              <a:rPr lang="es-CO" sz="2400" noProof="0" dirty="0">
                <a:latin typeface="Cambria Math"/>
                <a:cs typeface="Cambria Math"/>
              </a:rPr>
              <a:t>− 58)</a:t>
            </a:r>
            <a:r>
              <a:rPr lang="es-CO" sz="2625" baseline="23809" noProof="0" dirty="0">
                <a:latin typeface="Cambria Math"/>
                <a:cs typeface="Cambria Math"/>
              </a:rPr>
              <a:t>2</a:t>
            </a:r>
            <a:r>
              <a:rPr lang="es-CO" sz="2400" noProof="0" dirty="0">
                <a:latin typeface="Cambria Math"/>
                <a:cs typeface="Cambria Math"/>
              </a:rPr>
              <a:t>+(36</a:t>
            </a:r>
            <a:r>
              <a:rPr lang="es-CO" sz="2400" spc="-15" noProof="0" dirty="0">
                <a:latin typeface="Cambria Math"/>
                <a:cs typeface="Cambria Math"/>
              </a:rPr>
              <a:t> </a:t>
            </a:r>
            <a:r>
              <a:rPr lang="es-CO" sz="2400" noProof="0" dirty="0">
                <a:latin typeface="Cambria Math"/>
                <a:cs typeface="Cambria Math"/>
              </a:rPr>
              <a:t>−</a:t>
            </a:r>
            <a:r>
              <a:rPr lang="es-CO" sz="2400" spc="15" noProof="0" dirty="0">
                <a:latin typeface="Cambria Math"/>
                <a:cs typeface="Cambria Math"/>
              </a:rPr>
              <a:t> </a:t>
            </a:r>
            <a:r>
              <a:rPr lang="es-CO" sz="2400" noProof="0" dirty="0">
                <a:latin typeface="Cambria Math"/>
                <a:cs typeface="Cambria Math"/>
              </a:rPr>
              <a:t>58)</a:t>
            </a:r>
            <a:r>
              <a:rPr lang="es-CO" sz="2625" baseline="23809" noProof="0" dirty="0">
                <a:latin typeface="Cambria Math"/>
                <a:cs typeface="Cambria Math"/>
              </a:rPr>
              <a:t>2</a:t>
            </a:r>
            <a:r>
              <a:rPr lang="es-CO" sz="2400" noProof="0" dirty="0">
                <a:latin typeface="Cambria Math"/>
                <a:cs typeface="Cambria Math"/>
              </a:rPr>
              <a:t>+</a:t>
            </a:r>
            <a:r>
              <a:rPr lang="es-CO" sz="2400" spc="-160" noProof="0" dirty="0">
                <a:latin typeface="Cambria Math"/>
                <a:cs typeface="Cambria Math"/>
              </a:rPr>
              <a:t> </a:t>
            </a:r>
            <a:r>
              <a:rPr lang="es-CO" sz="2400" noProof="0" dirty="0">
                <a:latin typeface="Cambria Math"/>
                <a:cs typeface="Cambria Math"/>
              </a:rPr>
              <a:t>⋯</a:t>
            </a:r>
            <a:r>
              <a:rPr lang="es-CO" sz="2400" spc="-135" noProof="0" dirty="0">
                <a:latin typeface="Cambria Math"/>
                <a:cs typeface="Cambria Math"/>
              </a:rPr>
              <a:t> </a:t>
            </a:r>
            <a:r>
              <a:rPr lang="es-CO" sz="2400" noProof="0" dirty="0">
                <a:latin typeface="Cambria Math"/>
                <a:cs typeface="Cambria Math"/>
              </a:rPr>
              <a:t>+</a:t>
            </a:r>
            <a:r>
              <a:rPr lang="es-CO" sz="2400" spc="10" noProof="0" dirty="0">
                <a:latin typeface="Cambria Math"/>
                <a:cs typeface="Cambria Math"/>
              </a:rPr>
              <a:t> </a:t>
            </a:r>
            <a:r>
              <a:rPr lang="es-CO" sz="2400" noProof="0" dirty="0">
                <a:latin typeface="Cambria Math"/>
                <a:cs typeface="Cambria Math"/>
              </a:rPr>
              <a:t>(110</a:t>
            </a:r>
            <a:r>
              <a:rPr lang="es-CO" sz="2400" spc="-5" noProof="0" dirty="0">
                <a:latin typeface="Cambria Math"/>
                <a:cs typeface="Cambria Math"/>
              </a:rPr>
              <a:t> </a:t>
            </a:r>
            <a:r>
              <a:rPr lang="es-CO" sz="2400" noProof="0" dirty="0">
                <a:latin typeface="Cambria Math"/>
                <a:cs typeface="Cambria Math"/>
              </a:rPr>
              <a:t>−</a:t>
            </a:r>
            <a:r>
              <a:rPr lang="es-CO" sz="2400" spc="10" noProof="0" dirty="0">
                <a:latin typeface="Cambria Math"/>
                <a:cs typeface="Cambria Math"/>
              </a:rPr>
              <a:t> </a:t>
            </a:r>
            <a:r>
              <a:rPr lang="es-CO" sz="2400" spc="-20" noProof="0" dirty="0">
                <a:latin typeface="Cambria Math"/>
                <a:cs typeface="Cambria Math"/>
              </a:rPr>
              <a:t>58)</a:t>
            </a:r>
            <a:r>
              <a:rPr lang="es-CO" sz="2625" spc="-30" baseline="23809" noProof="0" dirty="0">
                <a:latin typeface="Cambria Math"/>
                <a:cs typeface="Cambria Math"/>
              </a:rPr>
              <a:t>2</a:t>
            </a:r>
            <a:endParaRPr lang="es-CO" sz="2625" baseline="23809" noProof="0" dirty="0">
              <a:latin typeface="Cambria Math"/>
              <a:cs typeface="Cambria Math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133600" y="5674468"/>
            <a:ext cx="1435735" cy="292735"/>
          </a:xfrm>
          <a:custGeom>
            <a:avLst/>
            <a:gdLst/>
            <a:ahLst/>
            <a:cxnLst/>
            <a:rect l="l" t="t" r="r" b="b"/>
            <a:pathLst>
              <a:path w="1435735" h="292735">
                <a:moveTo>
                  <a:pt x="212852" y="0"/>
                </a:moveTo>
                <a:lnTo>
                  <a:pt x="174879" y="0"/>
                </a:lnTo>
                <a:lnTo>
                  <a:pt x="101346" y="253390"/>
                </a:lnTo>
                <a:lnTo>
                  <a:pt x="48768" y="138201"/>
                </a:lnTo>
                <a:lnTo>
                  <a:pt x="0" y="160464"/>
                </a:lnTo>
                <a:lnTo>
                  <a:pt x="4572" y="171602"/>
                </a:lnTo>
                <a:lnTo>
                  <a:pt x="29718" y="160464"/>
                </a:lnTo>
                <a:lnTo>
                  <a:pt x="91313" y="292569"/>
                </a:lnTo>
                <a:lnTo>
                  <a:pt x="105791" y="292569"/>
                </a:lnTo>
                <a:lnTo>
                  <a:pt x="185928" y="19735"/>
                </a:lnTo>
                <a:lnTo>
                  <a:pt x="194564" y="19735"/>
                </a:lnTo>
                <a:lnTo>
                  <a:pt x="194564" y="20027"/>
                </a:lnTo>
                <a:lnTo>
                  <a:pt x="1435481" y="20027"/>
                </a:lnTo>
                <a:lnTo>
                  <a:pt x="1435481" y="266"/>
                </a:lnTo>
                <a:lnTo>
                  <a:pt x="212852" y="266"/>
                </a:lnTo>
                <a:lnTo>
                  <a:pt x="2128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17" name="object 17"/>
          <p:cNvSpPr txBox="1"/>
          <p:nvPr/>
        </p:nvSpPr>
        <p:spPr>
          <a:xfrm>
            <a:off x="857199" y="4473256"/>
            <a:ext cx="4686300" cy="1526700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702945">
              <a:lnSpc>
                <a:spcPct val="100000"/>
              </a:lnSpc>
              <a:spcBef>
                <a:spcPts val="359"/>
              </a:spcBef>
            </a:pPr>
            <a:r>
              <a:rPr lang="es-CO" sz="2400" noProof="0" dirty="0">
                <a:latin typeface="Cambria Math"/>
                <a:cs typeface="Cambria Math"/>
              </a:rPr>
              <a:t>𝑆</a:t>
            </a:r>
            <a:r>
              <a:rPr lang="es-CO" sz="2625" baseline="23809" noProof="0" dirty="0">
                <a:latin typeface="Cambria Math"/>
                <a:cs typeface="Cambria Math"/>
              </a:rPr>
              <a:t>2</a:t>
            </a:r>
            <a:r>
              <a:rPr lang="es-CO" sz="2400" noProof="0" dirty="0">
                <a:latin typeface="Cambria Math"/>
                <a:cs typeface="Cambria Math"/>
              </a:rPr>
              <a:t>≈</a:t>
            </a:r>
            <a:r>
              <a:rPr lang="es-CO" sz="2400" spc="310" noProof="0" dirty="0">
                <a:latin typeface="Cambria Math"/>
                <a:cs typeface="Cambria Math"/>
              </a:rPr>
              <a:t> </a:t>
            </a:r>
            <a:r>
              <a:rPr lang="es-CO" sz="2400" spc="-10" noProof="0" dirty="0">
                <a:latin typeface="Cambria Math"/>
                <a:cs typeface="Cambria Math"/>
              </a:rPr>
              <a:t>413.6364</a:t>
            </a:r>
            <a:endParaRPr lang="es-CO" sz="2400" noProof="0" dirty="0">
              <a:latin typeface="Cambria Math"/>
              <a:cs typeface="Cambria Math"/>
            </a:endParaRPr>
          </a:p>
          <a:p>
            <a:pPr marL="370205" indent="-319405">
              <a:lnSpc>
                <a:spcPct val="100000"/>
              </a:lnSpc>
              <a:spcBef>
                <a:spcPts val="149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70205" algn="l"/>
              </a:tabLst>
            </a:pPr>
            <a:r>
              <a:rPr lang="es-CO" sz="2900" spc="-204" noProof="0" dirty="0">
                <a:latin typeface="Microsoft Sans Serif"/>
                <a:cs typeface="Microsoft Sans Serif"/>
              </a:rPr>
              <a:t>Desviación</a:t>
            </a:r>
            <a:r>
              <a:rPr lang="es-CO" sz="2900" spc="-114" noProof="0" dirty="0">
                <a:latin typeface="Microsoft Sans Serif"/>
                <a:cs typeface="Microsoft Sans Serif"/>
              </a:rPr>
              <a:t> </a:t>
            </a:r>
            <a:r>
              <a:rPr lang="es-CO" sz="2900" spc="-135" noProof="0" dirty="0">
                <a:latin typeface="Microsoft Sans Serif"/>
                <a:cs typeface="Microsoft Sans Serif"/>
              </a:rPr>
              <a:t>estándar</a:t>
            </a:r>
            <a:r>
              <a:rPr lang="es-CO" sz="2900" spc="15" noProof="0" dirty="0">
                <a:latin typeface="Microsoft Sans Serif"/>
                <a:cs typeface="Microsoft Sans Serif"/>
              </a:rPr>
              <a:t> </a:t>
            </a:r>
            <a:r>
              <a:rPr lang="es-CO" sz="2900" spc="-135" noProof="0" dirty="0">
                <a:latin typeface="Microsoft Sans Serif"/>
                <a:cs typeface="Microsoft Sans Serif"/>
              </a:rPr>
              <a:t>muestral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704215">
              <a:lnSpc>
                <a:spcPct val="100000"/>
              </a:lnSpc>
              <a:spcBef>
                <a:spcPts val="800"/>
              </a:spcBef>
              <a:tabLst>
                <a:tab pos="1466215" algn="l"/>
              </a:tabLst>
            </a:pPr>
            <a:r>
              <a:rPr lang="es-CO" sz="2400" noProof="0" dirty="0">
                <a:latin typeface="Cambria Math"/>
                <a:cs typeface="Cambria Math"/>
              </a:rPr>
              <a:t>𝑆</a:t>
            </a:r>
            <a:r>
              <a:rPr lang="es-CO" sz="2400" spc="175" noProof="0" dirty="0">
                <a:latin typeface="Cambria Math"/>
                <a:cs typeface="Cambria Math"/>
              </a:rPr>
              <a:t> </a:t>
            </a:r>
            <a:r>
              <a:rPr lang="es-CO" sz="2400" spc="-60" noProof="0" dirty="0">
                <a:latin typeface="Cambria Math"/>
                <a:cs typeface="Cambria Math"/>
              </a:rPr>
              <a:t>≈</a:t>
            </a:r>
            <a:r>
              <a:rPr lang="es-CO" sz="2400" noProof="0" dirty="0">
                <a:latin typeface="Cambria Math"/>
                <a:cs typeface="Cambria Math"/>
              </a:rPr>
              <a:t>	413.6364</a:t>
            </a:r>
            <a:r>
              <a:rPr lang="es-CO" sz="2400" spc="20" noProof="0" dirty="0">
                <a:latin typeface="Cambria Math"/>
                <a:cs typeface="Cambria Math"/>
              </a:rPr>
              <a:t> </a:t>
            </a:r>
            <a:r>
              <a:rPr lang="es-CO" sz="2400" noProof="0" dirty="0">
                <a:latin typeface="Cambria Math"/>
                <a:cs typeface="Cambria Math"/>
              </a:rPr>
              <a:t>≈</a:t>
            </a:r>
            <a:r>
              <a:rPr lang="es-CO" sz="2400" spc="55" noProof="0" dirty="0">
                <a:latin typeface="Cambria Math"/>
                <a:cs typeface="Cambria Math"/>
              </a:rPr>
              <a:t> </a:t>
            </a:r>
            <a:r>
              <a:rPr lang="es-CO" sz="2400" spc="-10" noProof="0" dirty="0">
                <a:latin typeface="Cambria Math"/>
                <a:cs typeface="Cambria Math"/>
              </a:rPr>
              <a:t>20.3381</a:t>
            </a:r>
            <a:endParaRPr lang="es-CO" sz="2400" noProof="0" dirty="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32047" y="28955"/>
            <a:ext cx="4523105" cy="399415"/>
          </a:xfrm>
          <a:prstGeom prst="rect">
            <a:avLst/>
          </a:prstGeom>
          <a:solidFill>
            <a:srgbClr val="ABB620"/>
          </a:solidFill>
        </p:spPr>
        <p:txBody>
          <a:bodyPr vert="horz" wrap="square" lIns="0" tIns="24130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90"/>
              </a:spcBef>
            </a:pPr>
            <a:r>
              <a:rPr lang="es-CO" sz="2000" spc="-22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MEDIDAS</a:t>
            </a:r>
            <a:r>
              <a:rPr lang="es-CO" sz="2000" spc="-19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DE</a:t>
            </a:r>
            <a:r>
              <a:rPr lang="es-CO" sz="2000" spc="-29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14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DISPERSION</a:t>
            </a:r>
            <a:endParaRPr lang="es-CO" sz="2000" noProof="0" dirty="0">
              <a:latin typeface="Microsoft Sans Serif"/>
              <a:cs typeface="Microsoft Sans Serif"/>
            </a:endParaRP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ABA38BBD-5ED2-D3EF-2C69-96CF39D5A6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5299" y="330149"/>
            <a:ext cx="88982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pc="-580" noProof="0" dirty="0"/>
              <a:t>V</a:t>
            </a:r>
            <a:r>
              <a:rPr lang="es-CO" spc="-605" noProof="0" dirty="0"/>
              <a:t>A</a:t>
            </a:r>
            <a:r>
              <a:rPr lang="es-CO" spc="-660" noProof="0" dirty="0"/>
              <a:t>R</a:t>
            </a:r>
            <a:r>
              <a:rPr lang="es-CO" spc="-325" noProof="0" dirty="0"/>
              <a:t>I</a:t>
            </a:r>
            <a:r>
              <a:rPr lang="es-CO" spc="-320" noProof="0" dirty="0"/>
              <a:t>AN</a:t>
            </a:r>
            <a:r>
              <a:rPr lang="es-CO" spc="-345" noProof="0" dirty="0"/>
              <a:t>Z</a:t>
            </a:r>
            <a:r>
              <a:rPr lang="es-CO" spc="-5" noProof="0" dirty="0"/>
              <a:t>A</a:t>
            </a:r>
            <a:r>
              <a:rPr lang="es-CO" spc="-220" noProof="0" dirty="0"/>
              <a:t> </a:t>
            </a:r>
            <a:r>
              <a:rPr lang="es-CO" noProof="0" dirty="0"/>
              <a:t>Y</a:t>
            </a:r>
            <a:r>
              <a:rPr lang="es-CO" spc="-445" noProof="0" dirty="0"/>
              <a:t> </a:t>
            </a:r>
            <a:r>
              <a:rPr lang="es-CO" spc="-780" noProof="0" dirty="0"/>
              <a:t>DE</a:t>
            </a:r>
            <a:r>
              <a:rPr lang="es-CO" spc="-730" noProof="0" dirty="0"/>
              <a:t>S</a:t>
            </a:r>
            <a:r>
              <a:rPr lang="es-CO" spc="-285" noProof="0" dirty="0"/>
              <a:t>V</a:t>
            </a:r>
            <a:r>
              <a:rPr lang="es-CO" spc="-290" noProof="0" dirty="0"/>
              <a:t>I</a:t>
            </a:r>
            <a:r>
              <a:rPr lang="es-CO" spc="-465" noProof="0" dirty="0"/>
              <a:t>A</a:t>
            </a:r>
            <a:r>
              <a:rPr lang="es-CO" spc="-280" noProof="0" dirty="0"/>
              <a:t>CI</a:t>
            </a:r>
            <a:r>
              <a:rPr lang="es-CO" spc="-285" noProof="0" dirty="0"/>
              <a:t>O</a:t>
            </a:r>
            <a:r>
              <a:rPr lang="es-CO" spc="-10" noProof="0" dirty="0"/>
              <a:t>N</a:t>
            </a:r>
            <a:r>
              <a:rPr lang="es-CO" spc="-195" noProof="0" dirty="0"/>
              <a:t> </a:t>
            </a:r>
            <a:r>
              <a:rPr lang="es-CO" spc="-875" noProof="0" dirty="0"/>
              <a:t>E</a:t>
            </a:r>
            <a:r>
              <a:rPr lang="es-CO" spc="-869" noProof="0" dirty="0"/>
              <a:t>S</a:t>
            </a:r>
            <a:r>
              <a:rPr lang="es-CO" spc="-855" noProof="0" dirty="0"/>
              <a:t>T</a:t>
            </a:r>
            <a:r>
              <a:rPr lang="es-CO" spc="-350" dirty="0"/>
              <a:t>Á</a:t>
            </a:r>
            <a:r>
              <a:rPr lang="es-CO" spc="-350" noProof="0" dirty="0"/>
              <a:t>N</a:t>
            </a:r>
            <a:r>
              <a:rPr lang="es-CO" spc="-434" noProof="0" dirty="0"/>
              <a:t>D</a:t>
            </a:r>
            <a:r>
              <a:rPr lang="es-CO" spc="-610" noProof="0" dirty="0"/>
              <a:t>A</a:t>
            </a:r>
            <a:r>
              <a:rPr lang="es-CO" spc="-605" noProof="0" dirty="0"/>
              <a:t>R</a:t>
            </a:r>
            <a:endParaRPr lang="es-CO" spc="-10" noProof="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5299" y="330149"/>
            <a:ext cx="18935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pc="-665" noProof="0" dirty="0"/>
              <a:t>R</a:t>
            </a:r>
            <a:r>
              <a:rPr lang="es-CO" spc="-610" noProof="0" dirty="0"/>
              <a:t>A</a:t>
            </a:r>
            <a:r>
              <a:rPr lang="es-CO" spc="-110" noProof="0" dirty="0"/>
              <a:t>N</a:t>
            </a:r>
            <a:r>
              <a:rPr lang="es-CO" spc="-114" noProof="0" dirty="0"/>
              <a:t>G</a:t>
            </a:r>
            <a:r>
              <a:rPr lang="es-CO" spc="-10" noProof="0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5299" y="1603628"/>
            <a:ext cx="10654030" cy="2007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lang="es-CO" sz="2900" spc="-200" noProof="0" dirty="0">
                <a:latin typeface="Microsoft Sans Serif"/>
                <a:cs typeface="Microsoft Sans Serif"/>
              </a:rPr>
              <a:t>El</a:t>
            </a:r>
            <a:r>
              <a:rPr lang="es-CO" sz="2900" spc="-295" noProof="0" dirty="0">
                <a:latin typeface="Microsoft Sans Serif"/>
                <a:cs typeface="Microsoft Sans Serif"/>
              </a:rPr>
              <a:t> </a:t>
            </a:r>
            <a:r>
              <a:rPr lang="es-CO" sz="2900" spc="-90" noProof="0" dirty="0">
                <a:latin typeface="Microsoft Sans Serif"/>
                <a:cs typeface="Microsoft Sans Serif"/>
              </a:rPr>
              <a:t>rango</a:t>
            </a:r>
            <a:r>
              <a:rPr lang="es-CO" sz="2900" spc="-14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45" noProof="0" dirty="0">
                <a:latin typeface="Microsoft Sans Serif"/>
                <a:cs typeface="Microsoft Sans Serif"/>
              </a:rPr>
              <a:t> </a:t>
            </a:r>
            <a:r>
              <a:rPr lang="es-CO" sz="2900" spc="-175" noProof="0" dirty="0">
                <a:latin typeface="Microsoft Sans Serif"/>
                <a:cs typeface="Microsoft Sans Serif"/>
              </a:rPr>
              <a:t>un</a:t>
            </a:r>
            <a:r>
              <a:rPr lang="es-CO" sz="2900" spc="-325" noProof="0" dirty="0">
                <a:latin typeface="Microsoft Sans Serif"/>
                <a:cs typeface="Microsoft Sans Serif"/>
              </a:rPr>
              <a:t> </a:t>
            </a:r>
            <a:r>
              <a:rPr lang="es-CO" sz="2900" spc="-200" noProof="0" dirty="0">
                <a:latin typeface="Microsoft Sans Serif"/>
                <a:cs typeface="Microsoft Sans Serif"/>
              </a:rPr>
              <a:t>conjunto</a:t>
            </a:r>
            <a:r>
              <a:rPr lang="es-CO" sz="2900" spc="-19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45" noProof="0" dirty="0">
                <a:latin typeface="Microsoft Sans Serif"/>
                <a:cs typeface="Microsoft Sans Serif"/>
              </a:rPr>
              <a:t> </a:t>
            </a:r>
            <a:r>
              <a:rPr lang="es-CO" sz="2900" spc="-140" noProof="0" dirty="0">
                <a:latin typeface="Microsoft Sans Serif"/>
                <a:cs typeface="Microsoft Sans Serif"/>
              </a:rPr>
              <a:t>valores</a:t>
            </a:r>
            <a:r>
              <a:rPr lang="es-CO" sz="2900" spc="-130" noProof="0" dirty="0">
                <a:latin typeface="Microsoft Sans Serif"/>
                <a:cs typeface="Microsoft Sans Serif"/>
              </a:rPr>
              <a:t> </a:t>
            </a:r>
            <a:r>
              <a:rPr lang="es-CO" sz="2900" spc="-250" noProof="0" dirty="0">
                <a:latin typeface="Microsoft Sans Serif"/>
                <a:cs typeface="Microsoft Sans Serif"/>
              </a:rPr>
              <a:t>numéricos</a:t>
            </a:r>
            <a:r>
              <a:rPr lang="es-CO" sz="2900" spc="-180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es</a:t>
            </a:r>
            <a:r>
              <a:rPr lang="es-CO" sz="2900" spc="-30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la</a:t>
            </a:r>
            <a:r>
              <a:rPr lang="es-CO" sz="2900" spc="20" noProof="0" dirty="0">
                <a:latin typeface="Microsoft Sans Serif"/>
                <a:cs typeface="Microsoft Sans Serif"/>
              </a:rPr>
              <a:t> </a:t>
            </a:r>
            <a:r>
              <a:rPr lang="es-CO" sz="2900" spc="-95" noProof="0" dirty="0">
                <a:latin typeface="Microsoft Sans Serif"/>
                <a:cs typeface="Microsoft Sans Serif"/>
              </a:rPr>
              <a:t>diferencia</a:t>
            </a:r>
            <a:r>
              <a:rPr lang="es-CO" sz="2900" spc="-80" noProof="0" dirty="0">
                <a:latin typeface="Microsoft Sans Serif"/>
                <a:cs typeface="Microsoft Sans Serif"/>
              </a:rPr>
              <a:t> </a:t>
            </a:r>
            <a:r>
              <a:rPr lang="es-CO" sz="2900" spc="-114" noProof="0" dirty="0">
                <a:latin typeface="Microsoft Sans Serif"/>
                <a:cs typeface="Microsoft Sans Serif"/>
              </a:rPr>
              <a:t>entre</a:t>
            </a:r>
            <a:r>
              <a:rPr lang="es-CO" sz="2900" spc="-125" noProof="0" dirty="0">
                <a:latin typeface="Microsoft Sans Serif"/>
                <a:cs typeface="Microsoft Sans Serif"/>
              </a:rPr>
              <a:t> </a:t>
            </a:r>
            <a:r>
              <a:rPr lang="es-CO" sz="2900" spc="-50" noProof="0" dirty="0">
                <a:latin typeface="Microsoft Sans Serif"/>
                <a:cs typeface="Microsoft Sans Serif"/>
              </a:rPr>
              <a:t>los </a:t>
            </a:r>
            <a:r>
              <a:rPr lang="es-CO" sz="2900" spc="-140" noProof="0" dirty="0">
                <a:latin typeface="Microsoft Sans Serif"/>
                <a:cs typeface="Microsoft Sans Serif"/>
              </a:rPr>
              <a:t>valores</a:t>
            </a:r>
            <a:r>
              <a:rPr lang="es-CO" sz="2900" spc="-165" noProof="0" dirty="0">
                <a:latin typeface="Microsoft Sans Serif"/>
                <a:cs typeface="Microsoft Sans Serif"/>
              </a:rPr>
              <a:t> </a:t>
            </a:r>
            <a:r>
              <a:rPr lang="es-CO" sz="2900" spc="-170" noProof="0" dirty="0">
                <a:latin typeface="Microsoft Sans Serif"/>
                <a:cs typeface="Microsoft Sans Serif"/>
              </a:rPr>
              <a:t>máximo</a:t>
            </a:r>
            <a:r>
              <a:rPr lang="es-CO" sz="2900" spc="-204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y</a:t>
            </a:r>
            <a:r>
              <a:rPr lang="es-CO" sz="2900" spc="40" noProof="0" dirty="0">
                <a:latin typeface="Microsoft Sans Serif"/>
                <a:cs typeface="Microsoft Sans Serif"/>
              </a:rPr>
              <a:t> </a:t>
            </a:r>
            <a:r>
              <a:rPr lang="es-CO" sz="2900" spc="-220" noProof="0" dirty="0">
                <a:latin typeface="Microsoft Sans Serif"/>
                <a:cs typeface="Microsoft Sans Serif"/>
              </a:rPr>
              <a:t>mínimo</a:t>
            </a:r>
            <a:r>
              <a:rPr lang="es-CO" sz="2900" spc="-22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60" noProof="0" dirty="0">
                <a:latin typeface="Microsoft Sans Serif"/>
                <a:cs typeface="Microsoft Sans Serif"/>
              </a:rPr>
              <a:t> </a:t>
            </a:r>
            <a:r>
              <a:rPr lang="es-CO" sz="2900" spc="-135" noProof="0" dirty="0">
                <a:latin typeface="Microsoft Sans Serif"/>
                <a:cs typeface="Microsoft Sans Serif"/>
              </a:rPr>
              <a:t>dicho</a:t>
            </a:r>
            <a:r>
              <a:rPr lang="es-CO" sz="2900" spc="-145" noProof="0" dirty="0">
                <a:latin typeface="Microsoft Sans Serif"/>
                <a:cs typeface="Microsoft Sans Serif"/>
              </a:rPr>
              <a:t> </a:t>
            </a:r>
            <a:r>
              <a:rPr lang="es-CO" sz="2900" spc="-85" noProof="0" dirty="0">
                <a:latin typeface="Microsoft Sans Serif"/>
                <a:cs typeface="Microsoft Sans Serif"/>
              </a:rPr>
              <a:t>conjunto.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875"/>
              </a:spcBef>
              <a:buClr>
                <a:srgbClr val="DD8046"/>
              </a:buClr>
              <a:buFont typeface="Wingdings"/>
              <a:buChar char=""/>
            </a:pPr>
            <a:endParaRPr lang="es-CO" sz="2900" noProof="0" dirty="0">
              <a:latin typeface="Microsoft Sans Serif"/>
              <a:cs typeface="Microsoft Sans Serif"/>
            </a:endParaRPr>
          </a:p>
          <a:p>
            <a:pPr marL="332105" indent="-319405">
              <a:lnSpc>
                <a:spcPct val="100000"/>
              </a:lnSpc>
              <a:spcBef>
                <a:spcPts val="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55" noProof="0" dirty="0">
                <a:latin typeface="Microsoft Sans Serif"/>
                <a:cs typeface="Microsoft Sans Serif"/>
              </a:rPr>
              <a:t>Ejemplo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2047" y="28955"/>
            <a:ext cx="4523105" cy="399415"/>
          </a:xfrm>
          <a:prstGeom prst="rect">
            <a:avLst/>
          </a:prstGeom>
          <a:solidFill>
            <a:srgbClr val="ABB620"/>
          </a:solidFill>
        </p:spPr>
        <p:txBody>
          <a:bodyPr vert="horz" wrap="square" lIns="0" tIns="24130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90"/>
              </a:spcBef>
            </a:pPr>
            <a:r>
              <a:rPr lang="es-CO" sz="2000" spc="-22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MEDIDAS</a:t>
            </a:r>
            <a:r>
              <a:rPr lang="es-CO" sz="2000" spc="-19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DE</a:t>
            </a:r>
            <a:r>
              <a:rPr lang="es-CO" sz="2000" spc="-29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14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DISPERSION</a:t>
            </a:r>
            <a:endParaRPr lang="es-CO" sz="2000" noProof="0" dirty="0">
              <a:latin typeface="Microsoft Sans Serif"/>
              <a:cs typeface="Microsoft Sans Serif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4354003"/>
              </p:ext>
            </p:extLst>
          </p:nvPr>
        </p:nvGraphicFramePr>
        <p:xfrm>
          <a:off x="1199451" y="3861066"/>
          <a:ext cx="10076175" cy="64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9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94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94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94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375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8328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23622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30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36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47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52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52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56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60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63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70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70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19113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110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181350" y="5092446"/>
            <a:ext cx="60871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2400" noProof="0" dirty="0">
                <a:latin typeface="Cambria Math"/>
                <a:cs typeface="Cambria Math"/>
              </a:rPr>
              <a:t>𝑟𝑎𝑛𝑔𝑜</a:t>
            </a:r>
            <a:r>
              <a:rPr lang="es-CO" sz="2400" spc="105" noProof="0" dirty="0">
                <a:latin typeface="Cambria Math"/>
                <a:cs typeface="Cambria Math"/>
              </a:rPr>
              <a:t> </a:t>
            </a:r>
            <a:r>
              <a:rPr lang="es-CO" sz="2400" noProof="0" dirty="0">
                <a:latin typeface="Cambria Math"/>
                <a:cs typeface="Cambria Math"/>
              </a:rPr>
              <a:t>=</a:t>
            </a:r>
            <a:r>
              <a:rPr lang="es-CO" sz="2400" spc="100" noProof="0" dirty="0">
                <a:latin typeface="Cambria Math"/>
                <a:cs typeface="Cambria Math"/>
              </a:rPr>
              <a:t> </a:t>
            </a:r>
            <a:r>
              <a:rPr lang="es-CO" sz="2400" noProof="0" dirty="0">
                <a:latin typeface="Cambria Math"/>
                <a:cs typeface="Cambria Math"/>
              </a:rPr>
              <a:t>𝑚𝑎𝑥𝑖𝑚𝑜</a:t>
            </a:r>
            <a:r>
              <a:rPr lang="es-CO" sz="2400" spc="25" noProof="0" dirty="0">
                <a:latin typeface="Cambria Math"/>
                <a:cs typeface="Cambria Math"/>
              </a:rPr>
              <a:t> </a:t>
            </a:r>
            <a:r>
              <a:rPr lang="es-CO" sz="2400" noProof="0" dirty="0">
                <a:latin typeface="Cambria Math"/>
                <a:cs typeface="Cambria Math"/>
              </a:rPr>
              <a:t>−</a:t>
            </a:r>
            <a:r>
              <a:rPr lang="es-CO" sz="2400" spc="-30" noProof="0" dirty="0">
                <a:latin typeface="Cambria Math"/>
                <a:cs typeface="Cambria Math"/>
              </a:rPr>
              <a:t> </a:t>
            </a:r>
            <a:r>
              <a:rPr lang="es-CO" sz="2400" noProof="0" dirty="0">
                <a:latin typeface="Cambria Math"/>
                <a:cs typeface="Cambria Math"/>
              </a:rPr>
              <a:t>𝑚𝑖𝑛𝑖𝑚𝑜</a:t>
            </a:r>
            <a:r>
              <a:rPr lang="es-CO" sz="2400" spc="120" noProof="0" dirty="0">
                <a:latin typeface="Cambria Math"/>
                <a:cs typeface="Cambria Math"/>
              </a:rPr>
              <a:t> </a:t>
            </a:r>
            <a:r>
              <a:rPr lang="es-CO" sz="2400" noProof="0" dirty="0">
                <a:latin typeface="Cambria Math"/>
                <a:cs typeface="Cambria Math"/>
              </a:rPr>
              <a:t>=</a:t>
            </a:r>
            <a:r>
              <a:rPr lang="es-CO" sz="2400" spc="90" noProof="0" dirty="0">
                <a:latin typeface="Cambria Math"/>
                <a:cs typeface="Cambria Math"/>
              </a:rPr>
              <a:t> </a:t>
            </a:r>
            <a:r>
              <a:rPr lang="es-CO" sz="2400" noProof="0" dirty="0">
                <a:latin typeface="Cambria Math"/>
                <a:cs typeface="Cambria Math"/>
              </a:rPr>
              <a:t>110</a:t>
            </a:r>
            <a:r>
              <a:rPr lang="es-CO" sz="2400" spc="-70" noProof="0" dirty="0">
                <a:latin typeface="Cambria Math"/>
                <a:cs typeface="Cambria Math"/>
              </a:rPr>
              <a:t> </a:t>
            </a:r>
            <a:r>
              <a:rPr lang="es-CO" sz="2400" noProof="0" dirty="0">
                <a:latin typeface="Cambria Math"/>
                <a:cs typeface="Cambria Math"/>
              </a:rPr>
              <a:t>−</a:t>
            </a:r>
            <a:r>
              <a:rPr lang="es-CO" sz="2400" spc="-40" noProof="0" dirty="0">
                <a:latin typeface="Cambria Math"/>
                <a:cs typeface="Cambria Math"/>
              </a:rPr>
              <a:t> </a:t>
            </a:r>
            <a:r>
              <a:rPr lang="es-CO" sz="2400" noProof="0" dirty="0">
                <a:latin typeface="Cambria Math"/>
                <a:cs typeface="Cambria Math"/>
              </a:rPr>
              <a:t>30</a:t>
            </a:r>
            <a:r>
              <a:rPr lang="es-CO" sz="2400" spc="85" noProof="0" dirty="0">
                <a:latin typeface="Cambria Math"/>
                <a:cs typeface="Cambria Math"/>
              </a:rPr>
              <a:t> </a:t>
            </a:r>
            <a:r>
              <a:rPr lang="es-CO" sz="2400" noProof="0" dirty="0">
                <a:latin typeface="Cambria Math"/>
                <a:cs typeface="Cambria Math"/>
              </a:rPr>
              <a:t>=</a:t>
            </a:r>
            <a:r>
              <a:rPr lang="es-CO" sz="2400" spc="95" noProof="0" dirty="0">
                <a:latin typeface="Cambria Math"/>
                <a:cs typeface="Cambria Math"/>
              </a:rPr>
              <a:t> </a:t>
            </a:r>
            <a:r>
              <a:rPr lang="es-CO" sz="2400" spc="-25" noProof="0" dirty="0">
                <a:latin typeface="Cambria Math"/>
                <a:cs typeface="Cambria Math"/>
              </a:rPr>
              <a:t>80</a:t>
            </a:r>
            <a:endParaRPr lang="es-CO" sz="2400" noProof="0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lang="es-CO" spc="-140" noProof="0" dirty="0"/>
              <a:t>Atributo</a:t>
            </a:r>
            <a:r>
              <a:rPr lang="es-CO" spc="-150" noProof="0" dirty="0"/>
              <a:t> </a:t>
            </a:r>
            <a:r>
              <a:rPr lang="es-CO" spc="-350" noProof="0" dirty="0"/>
              <a:t>AGE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44880" y="2031492"/>
            <a:ext cx="7842884" cy="3644900"/>
            <a:chOff x="944880" y="2031492"/>
            <a:chExt cx="7842884" cy="3644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4880" y="2031492"/>
              <a:ext cx="7842504" cy="349910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648456" y="5373624"/>
              <a:ext cx="289560" cy="292735"/>
            </a:xfrm>
            <a:custGeom>
              <a:avLst/>
              <a:gdLst/>
              <a:ahLst/>
              <a:cxnLst/>
              <a:rect l="l" t="t" r="r" b="b"/>
              <a:pathLst>
                <a:path w="289560" h="292735">
                  <a:moveTo>
                    <a:pt x="144653" y="0"/>
                  </a:moveTo>
                  <a:lnTo>
                    <a:pt x="0" y="144525"/>
                  </a:lnTo>
                  <a:lnTo>
                    <a:pt x="72263" y="144525"/>
                  </a:lnTo>
                  <a:lnTo>
                    <a:pt x="72263" y="292226"/>
                  </a:lnTo>
                  <a:lnTo>
                    <a:pt x="216916" y="292226"/>
                  </a:lnTo>
                  <a:lnTo>
                    <a:pt x="216916" y="144525"/>
                  </a:lnTo>
                  <a:lnTo>
                    <a:pt x="289306" y="144525"/>
                  </a:lnTo>
                  <a:lnTo>
                    <a:pt x="144653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3649218" y="5374386"/>
              <a:ext cx="289560" cy="292735"/>
            </a:xfrm>
            <a:custGeom>
              <a:avLst/>
              <a:gdLst/>
              <a:ahLst/>
              <a:cxnLst/>
              <a:rect l="l" t="t" r="r" b="b"/>
              <a:pathLst>
                <a:path w="289560" h="292735">
                  <a:moveTo>
                    <a:pt x="0" y="144525"/>
                  </a:moveTo>
                  <a:lnTo>
                    <a:pt x="144653" y="0"/>
                  </a:lnTo>
                  <a:lnTo>
                    <a:pt x="289306" y="144525"/>
                  </a:lnTo>
                  <a:lnTo>
                    <a:pt x="216916" y="144525"/>
                  </a:lnTo>
                  <a:lnTo>
                    <a:pt x="216916" y="292226"/>
                  </a:lnTo>
                  <a:lnTo>
                    <a:pt x="72262" y="292226"/>
                  </a:lnTo>
                  <a:lnTo>
                    <a:pt x="72262" y="144525"/>
                  </a:lnTo>
                  <a:lnTo>
                    <a:pt x="0" y="144525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7915703"/>
              </p:ext>
            </p:extLst>
          </p:nvPr>
        </p:nvGraphicFramePr>
        <p:xfrm>
          <a:off x="8759570" y="1904110"/>
          <a:ext cx="2927350" cy="1979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3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lang="es-CO" sz="2000" b="1" spc="-10" noProof="0" dirty="0">
                          <a:latin typeface="Arial"/>
                          <a:cs typeface="Arial"/>
                        </a:rPr>
                        <a:t>Media</a:t>
                      </a:r>
                      <a:endParaRPr lang="es-CO" sz="2000" noProof="0" dirty="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T w="12700">
                      <a:solidFill>
                        <a:srgbClr val="DD8046"/>
                      </a:solidFill>
                      <a:prstDash val="solid"/>
                    </a:lnT>
                    <a:lnB w="12700">
                      <a:solidFill>
                        <a:srgbClr val="DD80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lang="es-CO" sz="2000" b="1" spc="-10" noProof="0" dirty="0">
                          <a:latin typeface="Arial"/>
                          <a:cs typeface="Arial"/>
                        </a:rPr>
                        <a:t>39.702</a:t>
                      </a:r>
                      <a:endParaRPr lang="es-CO" sz="2000" noProof="0" dirty="0">
                        <a:latin typeface="Arial"/>
                        <a:cs typeface="Arial"/>
                      </a:endParaRPr>
                    </a:p>
                  </a:txBody>
                  <a:tcPr marL="0" marR="0" marT="24130" marB="0">
                    <a:lnT w="12700">
                      <a:solidFill>
                        <a:srgbClr val="DD8046"/>
                      </a:solidFill>
                      <a:prstDash val="solid"/>
                    </a:lnT>
                    <a:lnB w="12700">
                      <a:solidFill>
                        <a:srgbClr val="DD80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es-CO" sz="2000" b="1" spc="-45" noProof="0" dirty="0">
                          <a:latin typeface="Arial"/>
                          <a:cs typeface="Arial"/>
                        </a:rPr>
                        <a:t>Desviación</a:t>
                      </a:r>
                      <a:endParaRPr lang="es-CO" sz="2000" noProof="0" dirty="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T w="12700">
                      <a:solidFill>
                        <a:srgbClr val="DD8046"/>
                      </a:solidFill>
                      <a:prstDash val="solid"/>
                    </a:lnT>
                    <a:solidFill>
                      <a:srgbClr val="F8E4DA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es-CO" sz="2000" b="1" spc="-10" noProof="0" dirty="0">
                          <a:latin typeface="Arial"/>
                          <a:cs typeface="Arial"/>
                        </a:rPr>
                        <a:t>10.871</a:t>
                      </a:r>
                      <a:endParaRPr lang="es-CO" sz="2000" noProof="0" dirty="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T w="12700">
                      <a:solidFill>
                        <a:srgbClr val="DD8046"/>
                      </a:solidFill>
                      <a:prstDash val="solid"/>
                    </a:lnT>
                    <a:solidFill>
                      <a:srgbClr val="F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s-CO" sz="2000" b="1" spc="-10" noProof="0" dirty="0">
                          <a:latin typeface="Arial"/>
                          <a:cs typeface="Arial"/>
                        </a:rPr>
                        <a:t>Mínimo</a:t>
                      </a:r>
                      <a:endParaRPr lang="es-CO" sz="2000" noProof="0" dirty="0">
                        <a:latin typeface="Arial"/>
                        <a:cs typeface="Arial"/>
                      </a:endParaRPr>
                    </a:p>
                  </a:txBody>
                  <a:tcPr marL="0" marR="0" marT="25400" marB="0"/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s-CO" sz="2000" b="1" spc="-25" noProof="0" dirty="0">
                          <a:latin typeface="Arial"/>
                          <a:cs typeface="Arial"/>
                        </a:rPr>
                        <a:t>21</a:t>
                      </a:r>
                      <a:endParaRPr lang="es-CO" sz="2000" noProof="0" dirty="0">
                        <a:latin typeface="Arial"/>
                        <a:cs typeface="Arial"/>
                      </a:endParaRPr>
                    </a:p>
                  </a:txBody>
                  <a:tcPr marL="0" marR="0" marT="2540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es-CO" sz="2000" b="1" spc="-10" noProof="0" dirty="0">
                          <a:latin typeface="Arial"/>
                          <a:cs typeface="Arial"/>
                        </a:rPr>
                        <a:t>Máximo</a:t>
                      </a:r>
                      <a:endParaRPr lang="es-CO" sz="2000" noProof="0" dirty="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solidFill>
                      <a:srgbClr val="F8E4DA"/>
                    </a:solidFill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lang="es-CO" sz="2000" b="1" spc="-25" noProof="0" dirty="0">
                          <a:latin typeface="Arial"/>
                          <a:cs typeface="Arial"/>
                        </a:rPr>
                        <a:t>81</a:t>
                      </a:r>
                      <a:endParaRPr lang="es-CO" sz="2000" noProof="0" dirty="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solidFill>
                      <a:srgbClr val="F8E4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s-CO" sz="2000" b="1" spc="-10" noProof="0" dirty="0">
                          <a:latin typeface="Arial"/>
                          <a:cs typeface="Arial"/>
                        </a:rPr>
                        <a:t>Rango</a:t>
                      </a:r>
                      <a:endParaRPr lang="es-CO" sz="2000" noProof="0" dirty="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B w="12700">
                      <a:solidFill>
                        <a:srgbClr val="DD80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lang="es-CO" sz="2000" b="1" spc="-25" noProof="0" dirty="0">
                          <a:latin typeface="Arial"/>
                          <a:cs typeface="Arial"/>
                        </a:rPr>
                        <a:t>60</a:t>
                      </a:r>
                      <a:endParaRPr lang="es-CO" sz="2000" noProof="0" dirty="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B w="12700">
                      <a:solidFill>
                        <a:srgbClr val="DD80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1706117" y="5735573"/>
            <a:ext cx="7056120" cy="290830"/>
          </a:xfrm>
          <a:custGeom>
            <a:avLst/>
            <a:gdLst/>
            <a:ahLst/>
            <a:cxnLst/>
            <a:rect l="l" t="t" r="r" b="b"/>
            <a:pathLst>
              <a:path w="7056120" h="290829">
                <a:moveTo>
                  <a:pt x="2735580" y="28917"/>
                </a:moveTo>
                <a:lnTo>
                  <a:pt x="2735326" y="46685"/>
                </a:lnTo>
                <a:lnTo>
                  <a:pt x="2734436" y="61201"/>
                </a:lnTo>
                <a:lnTo>
                  <a:pt x="2733294" y="70992"/>
                </a:lnTo>
                <a:lnTo>
                  <a:pt x="2731770" y="74574"/>
                </a:lnTo>
                <a:lnTo>
                  <a:pt x="2079497" y="74574"/>
                </a:lnTo>
                <a:lnTo>
                  <a:pt x="2077973" y="70992"/>
                </a:lnTo>
                <a:lnTo>
                  <a:pt x="2076831" y="61201"/>
                </a:lnTo>
                <a:lnTo>
                  <a:pt x="2075942" y="46685"/>
                </a:lnTo>
                <a:lnTo>
                  <a:pt x="2075687" y="28917"/>
                </a:lnTo>
              </a:path>
              <a:path w="7056120" h="290829">
                <a:moveTo>
                  <a:pt x="2075687" y="0"/>
                </a:moveTo>
                <a:lnTo>
                  <a:pt x="2075180" y="29019"/>
                </a:lnTo>
                <a:lnTo>
                  <a:pt x="2073909" y="52730"/>
                </a:lnTo>
                <a:lnTo>
                  <a:pt x="2071878" y="68719"/>
                </a:lnTo>
                <a:lnTo>
                  <a:pt x="2069465" y="74574"/>
                </a:lnTo>
                <a:lnTo>
                  <a:pt x="1374775" y="74574"/>
                </a:lnTo>
                <a:lnTo>
                  <a:pt x="1372362" y="68719"/>
                </a:lnTo>
                <a:lnTo>
                  <a:pt x="1370330" y="52730"/>
                </a:lnTo>
                <a:lnTo>
                  <a:pt x="1369059" y="29019"/>
                </a:lnTo>
                <a:lnTo>
                  <a:pt x="1368552" y="0"/>
                </a:lnTo>
              </a:path>
              <a:path w="7056120" h="290829">
                <a:moveTo>
                  <a:pt x="7056120" y="143065"/>
                </a:moveTo>
                <a:lnTo>
                  <a:pt x="7055104" y="200532"/>
                </a:lnTo>
                <a:lnTo>
                  <a:pt x="7052563" y="247459"/>
                </a:lnTo>
                <a:lnTo>
                  <a:pt x="7048627" y="279107"/>
                </a:lnTo>
                <a:lnTo>
                  <a:pt x="7043801" y="290703"/>
                </a:lnTo>
                <a:lnTo>
                  <a:pt x="12318" y="290703"/>
                </a:lnTo>
                <a:lnTo>
                  <a:pt x="7493" y="279107"/>
                </a:lnTo>
                <a:lnTo>
                  <a:pt x="3556" y="247459"/>
                </a:lnTo>
                <a:lnTo>
                  <a:pt x="1015" y="200532"/>
                </a:lnTo>
                <a:lnTo>
                  <a:pt x="0" y="143065"/>
                </a:lnTo>
              </a:path>
            </a:pathLst>
          </a:custGeom>
          <a:ln w="38100">
            <a:solidFill>
              <a:srgbClr val="92B6D2"/>
            </a:solidFill>
          </a:ln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819732"/>
              </p:ext>
            </p:extLst>
          </p:nvPr>
        </p:nvGraphicFramePr>
        <p:xfrm>
          <a:off x="9755758" y="4157090"/>
          <a:ext cx="1713230" cy="2212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56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lang="es-CO" sz="1800" b="1" spc="-25" noProof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lang="es-CO" sz="1800" noProof="0" dirty="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2B6D2"/>
                    </a:solidFill>
                  </a:tcPr>
                </a:tc>
                <a:tc>
                  <a:txBody>
                    <a:bodyPr/>
                    <a:lstStyle/>
                    <a:p>
                      <a:pPr marL="2984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lang="es-CO" sz="1800" b="1" spc="-25" noProof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AGE</a:t>
                      </a:r>
                      <a:endParaRPr lang="es-CO" sz="1800" noProof="0" dirty="0">
                        <a:latin typeface="Arial"/>
                        <a:cs typeface="Arial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2B6D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s-CO" sz="1800" b="1" spc="-50" noProof="0" dirty="0">
                          <a:latin typeface="Arial"/>
                          <a:cs typeface="Arial"/>
                        </a:rPr>
                        <a:t>…</a:t>
                      </a:r>
                      <a:endParaRPr lang="es-CO" sz="1800" noProof="0" dirty="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lang="es-CO" sz="1800" b="1" spc="-50" noProof="0" dirty="0">
                          <a:latin typeface="Arial"/>
                          <a:cs typeface="Arial"/>
                        </a:rPr>
                        <a:t>…</a:t>
                      </a:r>
                      <a:endParaRPr lang="es-CO" sz="1800" noProof="0" dirty="0">
                        <a:latin typeface="Arial"/>
                        <a:cs typeface="Arial"/>
                      </a:endParaRPr>
                    </a:p>
                  </a:txBody>
                  <a:tcPr marL="0" marR="0" marT="2920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175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62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176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74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177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76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178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3E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s-CO" sz="1800" spc="-25" noProof="0" dirty="0">
                          <a:latin typeface="Microsoft Sans Serif"/>
                          <a:cs typeface="Microsoft Sans Serif"/>
                        </a:rPr>
                        <a:t>81</a:t>
                      </a:r>
                      <a:endParaRPr lang="es-CO" sz="18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CE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5299" y="330149"/>
            <a:ext cx="71640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pc="-280" noProof="0" dirty="0"/>
              <a:t>Cuantiles,</a:t>
            </a:r>
            <a:r>
              <a:rPr lang="es-CO" spc="-275" noProof="0" dirty="0"/>
              <a:t> </a:t>
            </a:r>
            <a:r>
              <a:rPr lang="es-CO" spc="-225" noProof="0" dirty="0"/>
              <a:t>Cuartiles</a:t>
            </a:r>
            <a:r>
              <a:rPr lang="es-CO" spc="-145" noProof="0" dirty="0"/>
              <a:t> </a:t>
            </a:r>
            <a:r>
              <a:rPr lang="es-CO" noProof="0" dirty="0"/>
              <a:t>y</a:t>
            </a:r>
            <a:r>
              <a:rPr lang="es-CO" spc="95" noProof="0" dirty="0"/>
              <a:t> </a:t>
            </a:r>
            <a:r>
              <a:rPr lang="es-CO" spc="-320" noProof="0" dirty="0"/>
              <a:t>Percentiles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8508" y="3709923"/>
            <a:ext cx="60325" cy="1714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8508" y="4182617"/>
            <a:ext cx="60325" cy="1714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8508" y="4655058"/>
            <a:ext cx="60325" cy="17145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95298" y="1603628"/>
            <a:ext cx="10763301" cy="44934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lang="es-CO" sz="2900" spc="-254" noProof="0" dirty="0">
                <a:latin typeface="Microsoft Sans Serif"/>
                <a:cs typeface="Microsoft Sans Serif"/>
              </a:rPr>
              <a:t>Los</a:t>
            </a:r>
            <a:r>
              <a:rPr lang="es-CO" sz="2900" spc="-365" noProof="0" dirty="0">
                <a:latin typeface="Microsoft Sans Serif"/>
                <a:cs typeface="Microsoft Sans Serif"/>
              </a:rPr>
              <a:t> </a:t>
            </a:r>
            <a:r>
              <a:rPr lang="es-CO" sz="2900" spc="-185" noProof="0" dirty="0">
                <a:latin typeface="Microsoft Sans Serif"/>
                <a:cs typeface="Microsoft Sans Serif"/>
              </a:rPr>
              <a:t>cuantiles</a:t>
            </a:r>
            <a:r>
              <a:rPr lang="es-CO" sz="2900" spc="-415" noProof="0" dirty="0">
                <a:latin typeface="Microsoft Sans Serif"/>
                <a:cs typeface="Microsoft Sans Serif"/>
              </a:rPr>
              <a:t> </a:t>
            </a:r>
            <a:r>
              <a:rPr lang="es-CO" sz="2900" spc="-225" noProof="0" dirty="0">
                <a:latin typeface="Microsoft Sans Serif"/>
                <a:cs typeface="Microsoft Sans Serif"/>
              </a:rPr>
              <a:t>son</a:t>
            </a:r>
            <a:r>
              <a:rPr lang="es-CO" sz="2900" spc="-200" noProof="0" dirty="0">
                <a:latin typeface="Microsoft Sans Serif"/>
                <a:cs typeface="Microsoft Sans Serif"/>
              </a:rPr>
              <a:t> </a:t>
            </a:r>
            <a:r>
              <a:rPr lang="es-CO" sz="2900" spc="-145" noProof="0" dirty="0">
                <a:latin typeface="Microsoft Sans Serif"/>
                <a:cs typeface="Microsoft Sans Serif"/>
              </a:rPr>
              <a:t>valores</a:t>
            </a:r>
            <a:r>
              <a:rPr lang="es-CO" sz="2900" spc="-320" noProof="0" dirty="0">
                <a:latin typeface="Microsoft Sans Serif"/>
                <a:cs typeface="Microsoft Sans Serif"/>
              </a:rPr>
              <a:t> </a:t>
            </a:r>
            <a:r>
              <a:rPr lang="es-CO" sz="2900" spc="-110" noProof="0" dirty="0">
                <a:latin typeface="Microsoft Sans Serif"/>
                <a:cs typeface="Microsoft Sans Serif"/>
              </a:rPr>
              <a:t>que</a:t>
            </a:r>
            <a:r>
              <a:rPr lang="es-CO" sz="2900" spc="-340" noProof="0" dirty="0">
                <a:latin typeface="Microsoft Sans Serif"/>
                <a:cs typeface="Microsoft Sans Serif"/>
              </a:rPr>
              <a:t> </a:t>
            </a:r>
            <a:r>
              <a:rPr lang="es-CO" sz="2900" spc="-105" noProof="0" dirty="0">
                <a:latin typeface="Microsoft Sans Serif"/>
                <a:cs typeface="Microsoft Sans Serif"/>
              </a:rPr>
              <a:t>dividen</a:t>
            </a:r>
            <a:r>
              <a:rPr lang="es-CO" sz="2900" spc="-215" noProof="0" dirty="0">
                <a:latin typeface="Microsoft Sans Serif"/>
                <a:cs typeface="Microsoft Sans Serif"/>
              </a:rPr>
              <a:t> </a:t>
            </a:r>
            <a:r>
              <a:rPr lang="es-CO" sz="2900" spc="-175" noProof="0" dirty="0">
                <a:latin typeface="Microsoft Sans Serif"/>
                <a:cs typeface="Microsoft Sans Serif"/>
              </a:rPr>
              <a:t>un</a:t>
            </a:r>
            <a:r>
              <a:rPr lang="es-CO" sz="2900" spc="-270" noProof="0" dirty="0">
                <a:latin typeface="Microsoft Sans Serif"/>
                <a:cs typeface="Microsoft Sans Serif"/>
              </a:rPr>
              <a:t> </a:t>
            </a:r>
            <a:r>
              <a:rPr lang="es-CO" sz="2900" spc="-180" noProof="0" dirty="0">
                <a:latin typeface="Microsoft Sans Serif"/>
                <a:cs typeface="Microsoft Sans Serif"/>
              </a:rPr>
              <a:t>conjunto</a:t>
            </a:r>
            <a:r>
              <a:rPr lang="es-CO" sz="2900" spc="130" noProof="0" dirty="0">
                <a:latin typeface="Microsoft Sans Serif"/>
                <a:cs typeface="Microsoft Sans Serif"/>
              </a:rPr>
              <a:t> </a:t>
            </a:r>
            <a:r>
              <a:rPr lang="es-CO" sz="2900" spc="-210" noProof="0" dirty="0">
                <a:latin typeface="Microsoft Sans Serif"/>
                <a:cs typeface="Microsoft Sans Serif"/>
              </a:rPr>
              <a:t>numérico</a:t>
            </a:r>
            <a:r>
              <a:rPr lang="es-CO" sz="2900" spc="80" noProof="0" dirty="0">
                <a:latin typeface="Microsoft Sans Serif"/>
                <a:cs typeface="Microsoft Sans Serif"/>
              </a:rPr>
              <a:t> </a:t>
            </a:r>
            <a:r>
              <a:rPr lang="es-CO" sz="2900" spc="-10" noProof="0" dirty="0">
                <a:latin typeface="Microsoft Sans Serif"/>
                <a:cs typeface="Microsoft Sans Serif"/>
              </a:rPr>
              <a:t>ordenado </a:t>
            </a:r>
            <a:r>
              <a:rPr lang="es-CO" sz="2900" spc="-125" noProof="0" dirty="0">
                <a:latin typeface="Microsoft Sans Serif"/>
                <a:cs typeface="Microsoft Sans Serif"/>
              </a:rPr>
              <a:t>en</a:t>
            </a:r>
            <a:r>
              <a:rPr lang="es-CO" sz="2900" spc="-200" noProof="0" dirty="0">
                <a:latin typeface="Microsoft Sans Serif"/>
                <a:cs typeface="Microsoft Sans Serif"/>
              </a:rPr>
              <a:t> </a:t>
            </a:r>
            <a:r>
              <a:rPr lang="es-CO" sz="2900" spc="-95" noProof="0" dirty="0">
                <a:latin typeface="Microsoft Sans Serif"/>
                <a:cs typeface="Microsoft Sans Serif"/>
              </a:rPr>
              <a:t>partes </a:t>
            </a:r>
            <a:r>
              <a:rPr lang="es-CO" sz="2900" spc="-145" noProof="0" dirty="0">
                <a:latin typeface="Microsoft Sans Serif"/>
                <a:cs typeface="Microsoft Sans Serif"/>
              </a:rPr>
              <a:t>iguales.</a:t>
            </a:r>
            <a:r>
              <a:rPr lang="es-CO" sz="2900" spc="-140" noProof="0" dirty="0">
                <a:latin typeface="Microsoft Sans Serif"/>
                <a:cs typeface="Microsoft Sans Serif"/>
              </a:rPr>
              <a:t> </a:t>
            </a:r>
            <a:r>
              <a:rPr lang="es-CO" sz="2900" spc="-595" noProof="0" dirty="0">
                <a:latin typeface="Microsoft Sans Serif"/>
                <a:cs typeface="Microsoft Sans Serif"/>
              </a:rPr>
              <a:t>E</a:t>
            </a:r>
            <a:r>
              <a:rPr lang="es-CO" sz="2900" spc="-370" noProof="0" dirty="0">
                <a:latin typeface="Microsoft Sans Serif"/>
                <a:cs typeface="Microsoft Sans Serif"/>
              </a:rPr>
              <a:t>s </a:t>
            </a:r>
            <a:r>
              <a:rPr lang="es-CO" sz="2900" spc="-114" noProof="0" dirty="0">
                <a:latin typeface="Microsoft Sans Serif"/>
                <a:cs typeface="Microsoft Sans Serif"/>
              </a:rPr>
              <a:t>de</a:t>
            </a:r>
            <a:r>
              <a:rPr lang="es-CO" sz="2900" spc="-120" noProof="0" dirty="0">
                <a:latin typeface="Microsoft Sans Serif"/>
                <a:cs typeface="Microsoft Sans Serif"/>
              </a:rPr>
              <a:t>c</a:t>
            </a:r>
            <a:r>
              <a:rPr lang="es-CO" sz="2900" spc="-130" noProof="0" dirty="0">
                <a:latin typeface="Microsoft Sans Serif"/>
                <a:cs typeface="Microsoft Sans Serif"/>
              </a:rPr>
              <a:t>i</a:t>
            </a:r>
            <a:r>
              <a:rPr lang="es-CO" sz="2900" spc="-10" noProof="0" dirty="0">
                <a:latin typeface="Microsoft Sans Serif"/>
                <a:cs typeface="Microsoft Sans Serif"/>
              </a:rPr>
              <a:t>r</a:t>
            </a:r>
            <a:r>
              <a:rPr lang="es-CO" sz="2900" spc="-75" noProof="0" dirty="0">
                <a:latin typeface="Microsoft Sans Serif"/>
                <a:cs typeface="Microsoft Sans Serif"/>
              </a:rPr>
              <a:t>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que</a:t>
            </a:r>
            <a:r>
              <a:rPr lang="es-CO" sz="2900" spc="-110" noProof="0" dirty="0">
                <a:latin typeface="Microsoft Sans Serif"/>
                <a:cs typeface="Microsoft Sans Serif"/>
              </a:rPr>
              <a:t> </a:t>
            </a:r>
            <a:r>
              <a:rPr lang="es-CO" sz="2900" spc="-145" noProof="0" dirty="0">
                <a:latin typeface="Microsoft Sans Serif"/>
                <a:cs typeface="Microsoft Sans Serif"/>
              </a:rPr>
              <a:t>determinan</a:t>
            </a:r>
            <a:r>
              <a:rPr lang="es-CO" sz="2900" spc="-114" noProof="0" dirty="0">
                <a:latin typeface="Microsoft Sans Serif"/>
                <a:cs typeface="Microsoft Sans Serif"/>
              </a:rPr>
              <a:t> </a:t>
            </a:r>
            <a:r>
              <a:rPr lang="es-CO" sz="2900" spc="-140" noProof="0" dirty="0">
                <a:latin typeface="Microsoft Sans Serif"/>
                <a:cs typeface="Microsoft Sans Serif"/>
              </a:rPr>
              <a:t>intervalos</a:t>
            </a:r>
            <a:r>
              <a:rPr lang="es-CO" sz="2900" spc="-75" noProof="0" dirty="0">
                <a:latin typeface="Microsoft Sans Serif"/>
                <a:cs typeface="Microsoft Sans Serif"/>
              </a:rPr>
              <a:t>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que </a:t>
            </a:r>
            <a:r>
              <a:rPr lang="es-CO" sz="2900" spc="-165" noProof="0" dirty="0">
                <a:latin typeface="Microsoft Sans Serif"/>
                <a:cs typeface="Microsoft Sans Serif"/>
              </a:rPr>
              <a:t>comprenden </a:t>
            </a:r>
            <a:r>
              <a:rPr lang="es-CO" sz="2900" noProof="0" dirty="0">
                <a:latin typeface="Microsoft Sans Serif"/>
                <a:cs typeface="Microsoft Sans Serif"/>
              </a:rPr>
              <a:t>el</a:t>
            </a:r>
            <a:r>
              <a:rPr lang="es-CO" sz="2900" spc="-150" noProof="0" dirty="0">
                <a:latin typeface="Microsoft Sans Serif"/>
                <a:cs typeface="Microsoft Sans Serif"/>
              </a:rPr>
              <a:t> </a:t>
            </a:r>
            <a:r>
              <a:rPr lang="es-CO" sz="2900" spc="-275" noProof="0" dirty="0">
                <a:latin typeface="Microsoft Sans Serif"/>
                <a:cs typeface="Microsoft Sans Serif"/>
              </a:rPr>
              <a:t>mismo</a:t>
            </a:r>
            <a:r>
              <a:rPr lang="es-CO" sz="2900" spc="-310" noProof="0" dirty="0">
                <a:latin typeface="Microsoft Sans Serif"/>
                <a:cs typeface="Microsoft Sans Serif"/>
              </a:rPr>
              <a:t> </a:t>
            </a:r>
            <a:r>
              <a:rPr lang="es-CO" sz="2900" spc="-245" noProof="0" dirty="0">
                <a:latin typeface="Microsoft Sans Serif"/>
                <a:cs typeface="Microsoft Sans Serif"/>
              </a:rPr>
              <a:t>número</a:t>
            </a:r>
            <a:r>
              <a:rPr lang="es-CO" sz="2900" spc="-15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95" noProof="0" dirty="0">
                <a:latin typeface="Microsoft Sans Serif"/>
                <a:cs typeface="Microsoft Sans Serif"/>
              </a:rPr>
              <a:t> </a:t>
            </a:r>
            <a:r>
              <a:rPr lang="es-CO" sz="2900" spc="-20" noProof="0" dirty="0">
                <a:latin typeface="Microsoft Sans Serif"/>
                <a:cs typeface="Microsoft Sans Serif"/>
              </a:rPr>
              <a:t>valores.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331470" marR="3267075" indent="-319405">
              <a:lnSpc>
                <a:spcPct val="118300"/>
              </a:lnSpc>
              <a:spcBef>
                <a:spcPts val="7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563880" algn="l"/>
              </a:tabLst>
            </a:pPr>
            <a:r>
              <a:rPr lang="es-CO" sz="2900" spc="-254" noProof="0" dirty="0">
                <a:latin typeface="Microsoft Sans Serif"/>
                <a:cs typeface="Microsoft Sans Serif"/>
              </a:rPr>
              <a:t>Los</a:t>
            </a:r>
            <a:r>
              <a:rPr lang="es-CO" sz="2900" spc="-355" noProof="0" dirty="0">
                <a:latin typeface="Microsoft Sans Serif"/>
                <a:cs typeface="Microsoft Sans Serif"/>
              </a:rPr>
              <a:t> </a:t>
            </a:r>
            <a:r>
              <a:rPr lang="es-CO" sz="2900" spc="-185" noProof="0" dirty="0">
                <a:latin typeface="Microsoft Sans Serif"/>
                <a:cs typeface="Microsoft Sans Serif"/>
              </a:rPr>
              <a:t>cuantiles</a:t>
            </a:r>
            <a:r>
              <a:rPr lang="es-CO" sz="2900" spc="-170" noProof="0" dirty="0">
                <a:latin typeface="Microsoft Sans Serif"/>
                <a:cs typeface="Microsoft Sans Serif"/>
              </a:rPr>
              <a:t> </a:t>
            </a:r>
            <a:r>
              <a:rPr lang="es-CO" sz="2900" spc="-220" noProof="0" dirty="0">
                <a:latin typeface="Microsoft Sans Serif"/>
                <a:cs typeface="Microsoft Sans Serif"/>
              </a:rPr>
              <a:t>más</a:t>
            </a:r>
            <a:r>
              <a:rPr lang="es-CO" sz="2900" spc="-305" noProof="0" dirty="0">
                <a:latin typeface="Microsoft Sans Serif"/>
                <a:cs typeface="Microsoft Sans Serif"/>
              </a:rPr>
              <a:t> </a:t>
            </a:r>
            <a:r>
              <a:rPr lang="es-CO" sz="2900" spc="-220" noProof="0" dirty="0">
                <a:latin typeface="Microsoft Sans Serif"/>
                <a:cs typeface="Microsoft Sans Serif"/>
              </a:rPr>
              <a:t>usados</a:t>
            </a:r>
            <a:r>
              <a:rPr lang="es-CO" sz="2900" spc="-204" noProof="0" dirty="0">
                <a:latin typeface="Microsoft Sans Serif"/>
                <a:cs typeface="Microsoft Sans Serif"/>
              </a:rPr>
              <a:t> </a:t>
            </a:r>
            <a:r>
              <a:rPr lang="es-CO" sz="2900" spc="-225" noProof="0" dirty="0">
                <a:latin typeface="Microsoft Sans Serif"/>
                <a:cs typeface="Microsoft Sans Serif"/>
              </a:rPr>
              <a:t>son</a:t>
            </a:r>
            <a:r>
              <a:rPr lang="es-CO" sz="2900" spc="-295" noProof="0" dirty="0">
                <a:latin typeface="Microsoft Sans Serif"/>
                <a:cs typeface="Microsoft Sans Serif"/>
              </a:rPr>
              <a:t> </a:t>
            </a:r>
            <a:r>
              <a:rPr lang="es-CO" sz="2900" spc="-145" noProof="0" dirty="0">
                <a:latin typeface="Microsoft Sans Serif"/>
                <a:cs typeface="Microsoft Sans Serif"/>
              </a:rPr>
              <a:t>los</a:t>
            </a:r>
            <a:r>
              <a:rPr lang="es-CO" sz="2900" spc="-204" noProof="0" dirty="0">
                <a:latin typeface="Microsoft Sans Serif"/>
                <a:cs typeface="Microsoft Sans Serif"/>
              </a:rPr>
              <a:t> </a:t>
            </a:r>
            <a:r>
              <a:rPr lang="es-CO" sz="2900" spc="-90" noProof="0" dirty="0">
                <a:latin typeface="Microsoft Sans Serif"/>
                <a:cs typeface="Microsoft Sans Serif"/>
              </a:rPr>
              <a:t>siguientes: 	</a:t>
            </a:r>
            <a:r>
              <a:rPr lang="es-CO" sz="2600" spc="-235" noProof="0" dirty="0">
                <a:latin typeface="Microsoft Sans Serif"/>
                <a:cs typeface="Microsoft Sans Serif"/>
              </a:rPr>
              <a:t>CUARTILES: dividen</a:t>
            </a:r>
            <a:r>
              <a:rPr lang="es-CO" sz="2600" spc="-100" noProof="0" dirty="0">
                <a:latin typeface="Microsoft Sans Serif"/>
                <a:cs typeface="Microsoft Sans Serif"/>
              </a:rPr>
              <a:t> </a:t>
            </a:r>
            <a:r>
              <a:rPr lang="es-CO" sz="2600" noProof="0" dirty="0">
                <a:latin typeface="Microsoft Sans Serif"/>
                <a:cs typeface="Microsoft Sans Serif"/>
              </a:rPr>
              <a:t>la</a:t>
            </a:r>
            <a:r>
              <a:rPr lang="es-CO" sz="2600" spc="50" noProof="0" dirty="0">
                <a:latin typeface="Microsoft Sans Serif"/>
                <a:cs typeface="Microsoft Sans Serif"/>
              </a:rPr>
              <a:t> </a:t>
            </a:r>
            <a:r>
              <a:rPr lang="es-CO" sz="2600" spc="-140" noProof="0" dirty="0">
                <a:latin typeface="Microsoft Sans Serif"/>
                <a:cs typeface="Microsoft Sans Serif"/>
              </a:rPr>
              <a:t>distribución</a:t>
            </a:r>
            <a:r>
              <a:rPr lang="es-CO" sz="2600" spc="-135" noProof="0" dirty="0">
                <a:latin typeface="Microsoft Sans Serif"/>
                <a:cs typeface="Microsoft Sans Serif"/>
              </a:rPr>
              <a:t> en</a:t>
            </a:r>
            <a:r>
              <a:rPr lang="es-CO" sz="2600" spc="-165" noProof="0" dirty="0">
                <a:latin typeface="Microsoft Sans Serif"/>
                <a:cs typeface="Microsoft Sans Serif"/>
              </a:rPr>
              <a:t> </a:t>
            </a:r>
            <a:r>
              <a:rPr lang="es-CO" sz="2600" spc="-140" noProof="0" dirty="0">
                <a:latin typeface="Microsoft Sans Serif"/>
                <a:cs typeface="Microsoft Sans Serif"/>
              </a:rPr>
              <a:t>cuatro</a:t>
            </a:r>
            <a:r>
              <a:rPr lang="es-CO" sz="2600" spc="-70" dirty="0">
                <a:latin typeface="Microsoft Sans Serif"/>
                <a:cs typeface="Microsoft Sans Serif"/>
              </a:rPr>
              <a:t> </a:t>
            </a:r>
            <a:r>
              <a:rPr lang="es-CO" sz="2600" spc="-40" noProof="0" dirty="0">
                <a:latin typeface="Microsoft Sans Serif"/>
                <a:cs typeface="Microsoft Sans Serif"/>
              </a:rPr>
              <a:t>partes. 	</a:t>
            </a:r>
            <a:r>
              <a:rPr lang="es-CO" sz="2600" spc="-225" noProof="0" dirty="0">
                <a:latin typeface="Microsoft Sans Serif"/>
                <a:cs typeface="Microsoft Sans Serif"/>
              </a:rPr>
              <a:t>DECILES: dividen</a:t>
            </a:r>
            <a:r>
              <a:rPr lang="es-CO" sz="2600" spc="-95" noProof="0" dirty="0">
                <a:latin typeface="Microsoft Sans Serif"/>
                <a:cs typeface="Microsoft Sans Serif"/>
              </a:rPr>
              <a:t> </a:t>
            </a:r>
            <a:r>
              <a:rPr lang="es-CO" sz="2600" noProof="0" dirty="0">
                <a:latin typeface="Microsoft Sans Serif"/>
                <a:cs typeface="Microsoft Sans Serif"/>
              </a:rPr>
              <a:t>la</a:t>
            </a:r>
            <a:r>
              <a:rPr lang="es-CO" sz="2600" spc="40" noProof="0" dirty="0">
                <a:latin typeface="Microsoft Sans Serif"/>
                <a:cs typeface="Microsoft Sans Serif"/>
              </a:rPr>
              <a:t> </a:t>
            </a:r>
            <a:r>
              <a:rPr lang="es-CO" sz="2600" spc="-140" noProof="0" dirty="0">
                <a:latin typeface="Microsoft Sans Serif"/>
                <a:cs typeface="Microsoft Sans Serif"/>
              </a:rPr>
              <a:t>distribución </a:t>
            </a:r>
            <a:r>
              <a:rPr lang="es-CO" sz="2600" spc="-135" noProof="0" dirty="0">
                <a:latin typeface="Microsoft Sans Serif"/>
                <a:cs typeface="Microsoft Sans Serif"/>
              </a:rPr>
              <a:t>en</a:t>
            </a:r>
            <a:r>
              <a:rPr lang="es-CO" sz="2600" spc="-190" noProof="0" dirty="0">
                <a:latin typeface="Microsoft Sans Serif"/>
                <a:cs typeface="Microsoft Sans Serif"/>
              </a:rPr>
              <a:t> </a:t>
            </a:r>
            <a:r>
              <a:rPr lang="es-CO" sz="2600" spc="-60" noProof="0" dirty="0">
                <a:latin typeface="Microsoft Sans Serif"/>
                <a:cs typeface="Microsoft Sans Serif"/>
              </a:rPr>
              <a:t>diez</a:t>
            </a:r>
            <a:r>
              <a:rPr lang="es-CO" sz="2600" spc="-40" noProof="0" dirty="0">
                <a:latin typeface="Microsoft Sans Serif"/>
                <a:cs typeface="Microsoft Sans Serif"/>
              </a:rPr>
              <a:t> </a:t>
            </a:r>
            <a:r>
              <a:rPr lang="es-CO" sz="2600" spc="-10" noProof="0" dirty="0">
                <a:latin typeface="Microsoft Sans Serif"/>
                <a:cs typeface="Microsoft Sans Serif"/>
              </a:rPr>
              <a:t>partes.</a:t>
            </a:r>
            <a:endParaRPr lang="es-CO" sz="2600" noProof="0" dirty="0">
              <a:latin typeface="Microsoft Sans Serif"/>
              <a:cs typeface="Microsoft Sans Serif"/>
            </a:endParaRPr>
          </a:p>
          <a:p>
            <a:pPr marL="563880">
              <a:lnSpc>
                <a:spcPct val="100000"/>
              </a:lnSpc>
              <a:spcBef>
                <a:spcPts val="600"/>
              </a:spcBef>
            </a:pPr>
            <a:r>
              <a:rPr lang="es-CO" sz="2600" spc="-170" noProof="0" dirty="0">
                <a:latin typeface="Microsoft Sans Serif"/>
                <a:cs typeface="Microsoft Sans Serif"/>
              </a:rPr>
              <a:t>Centiles </a:t>
            </a:r>
            <a:r>
              <a:rPr lang="es-CO" sz="2600" noProof="0" dirty="0">
                <a:latin typeface="Microsoft Sans Serif"/>
                <a:cs typeface="Microsoft Sans Serif"/>
              </a:rPr>
              <a:t>o</a:t>
            </a:r>
            <a:r>
              <a:rPr lang="es-CO" sz="2600" spc="-100" noProof="0" dirty="0">
                <a:latin typeface="Microsoft Sans Serif"/>
                <a:cs typeface="Microsoft Sans Serif"/>
              </a:rPr>
              <a:t> </a:t>
            </a:r>
            <a:r>
              <a:rPr lang="es-CO" sz="2600" spc="-275" noProof="0" dirty="0">
                <a:latin typeface="Microsoft Sans Serif"/>
                <a:cs typeface="Microsoft Sans Serif"/>
              </a:rPr>
              <a:t>PERCENTILES: dividen</a:t>
            </a:r>
            <a:r>
              <a:rPr lang="es-CO" sz="2600" spc="-95" noProof="0" dirty="0">
                <a:latin typeface="Microsoft Sans Serif"/>
                <a:cs typeface="Microsoft Sans Serif"/>
              </a:rPr>
              <a:t> </a:t>
            </a:r>
            <a:r>
              <a:rPr lang="es-CO" sz="2600" noProof="0" dirty="0">
                <a:latin typeface="Microsoft Sans Serif"/>
                <a:cs typeface="Microsoft Sans Serif"/>
              </a:rPr>
              <a:t>la</a:t>
            </a:r>
            <a:r>
              <a:rPr lang="es-CO" sz="2600" spc="25" noProof="0" dirty="0">
                <a:latin typeface="Microsoft Sans Serif"/>
                <a:cs typeface="Microsoft Sans Serif"/>
              </a:rPr>
              <a:t> </a:t>
            </a:r>
            <a:r>
              <a:rPr lang="es-CO" sz="2600" spc="-135" noProof="0" dirty="0">
                <a:latin typeface="Microsoft Sans Serif"/>
                <a:cs typeface="Microsoft Sans Serif"/>
              </a:rPr>
              <a:t>distribución</a:t>
            </a:r>
            <a:r>
              <a:rPr lang="es-CO" sz="2600" spc="-165" noProof="0" dirty="0">
                <a:latin typeface="Microsoft Sans Serif"/>
                <a:cs typeface="Microsoft Sans Serif"/>
              </a:rPr>
              <a:t> </a:t>
            </a:r>
            <a:r>
              <a:rPr lang="es-CO" sz="2600" spc="-135" noProof="0" dirty="0">
                <a:latin typeface="Microsoft Sans Serif"/>
                <a:cs typeface="Microsoft Sans Serif"/>
              </a:rPr>
              <a:t>en</a:t>
            </a:r>
            <a:r>
              <a:rPr lang="es-CO" sz="2600" spc="-170" noProof="0" dirty="0">
                <a:latin typeface="Microsoft Sans Serif"/>
                <a:cs typeface="Microsoft Sans Serif"/>
              </a:rPr>
              <a:t> </a:t>
            </a:r>
            <a:r>
              <a:rPr lang="es-CO" sz="2600" spc="-155" noProof="0" dirty="0">
                <a:latin typeface="Microsoft Sans Serif"/>
                <a:cs typeface="Microsoft Sans Serif"/>
              </a:rPr>
              <a:t>cien</a:t>
            </a:r>
            <a:r>
              <a:rPr lang="es-CO" sz="2600" spc="-175" noProof="0" dirty="0">
                <a:latin typeface="Microsoft Sans Serif"/>
                <a:cs typeface="Microsoft Sans Serif"/>
              </a:rPr>
              <a:t> </a:t>
            </a:r>
            <a:r>
              <a:rPr lang="es-CO" sz="2600" spc="-10" noProof="0" dirty="0">
                <a:latin typeface="Microsoft Sans Serif"/>
                <a:cs typeface="Microsoft Sans Serif"/>
              </a:rPr>
              <a:t>partes.</a:t>
            </a:r>
            <a:endParaRPr lang="es-CO" sz="2600" noProof="0" dirty="0">
              <a:latin typeface="Microsoft Sans Serif"/>
              <a:cs typeface="Microsoft Sans Serif"/>
            </a:endParaRPr>
          </a:p>
          <a:p>
            <a:pPr marL="927100" marR="42545" lvl="1" indent="-228600">
              <a:lnSpc>
                <a:spcPct val="100000"/>
              </a:lnSpc>
              <a:spcBef>
                <a:spcPts val="495"/>
              </a:spcBef>
              <a:buClr>
                <a:srgbClr val="DD8046"/>
              </a:buClr>
              <a:buSzPct val="73913"/>
              <a:buFont typeface="Wingdings"/>
              <a:buChar char=""/>
              <a:tabLst>
                <a:tab pos="927100" algn="l"/>
              </a:tabLst>
            </a:pPr>
            <a:r>
              <a:rPr lang="es-CO" sz="2300" i="1" spc="-130" noProof="0" dirty="0">
                <a:latin typeface="Arial"/>
                <a:cs typeface="Arial"/>
              </a:rPr>
              <a:t>El percentil</a:t>
            </a:r>
            <a:r>
              <a:rPr lang="es-CO" sz="2300" i="1" spc="-204" noProof="0" dirty="0">
                <a:latin typeface="Arial"/>
                <a:cs typeface="Arial"/>
              </a:rPr>
              <a:t> </a:t>
            </a:r>
            <a:r>
              <a:rPr lang="es-CO" sz="2300" i="1" spc="-345" noProof="0" dirty="0">
                <a:latin typeface="Arial"/>
                <a:cs typeface="Arial"/>
              </a:rPr>
              <a:t>e</a:t>
            </a:r>
            <a:r>
              <a:rPr lang="es-CO" sz="2300" i="1" spc="-25" noProof="0" dirty="0">
                <a:latin typeface="Arial"/>
                <a:cs typeface="Arial"/>
              </a:rPr>
              <a:t>s </a:t>
            </a:r>
            <a:r>
              <a:rPr lang="es-CO" sz="2300" i="1" spc="-240" noProof="0" dirty="0">
                <a:latin typeface="Arial"/>
                <a:cs typeface="Arial"/>
              </a:rPr>
              <a:t>un</a:t>
            </a:r>
            <a:r>
              <a:rPr lang="es-CO" sz="2300" i="1" spc="155" noProof="0" dirty="0">
                <a:latin typeface="Arial"/>
                <a:cs typeface="Arial"/>
              </a:rPr>
              <a:t>a </a:t>
            </a:r>
            <a:r>
              <a:rPr lang="es-CO" sz="2300" i="1" spc="-204" noProof="0" dirty="0">
                <a:latin typeface="Arial"/>
                <a:cs typeface="Arial"/>
              </a:rPr>
              <a:t>m</a:t>
            </a:r>
            <a:r>
              <a:rPr lang="es-CO" sz="2300" i="1" spc="-190" noProof="0" dirty="0">
                <a:latin typeface="Arial"/>
                <a:cs typeface="Arial"/>
              </a:rPr>
              <a:t>ed</a:t>
            </a:r>
            <a:r>
              <a:rPr lang="es-CO" sz="2300" i="1" spc="-195" noProof="0" dirty="0">
                <a:latin typeface="Arial"/>
                <a:cs typeface="Arial"/>
              </a:rPr>
              <a:t>i</a:t>
            </a:r>
            <a:r>
              <a:rPr lang="es-CO" sz="2300" i="1" spc="-190" noProof="0" dirty="0">
                <a:latin typeface="Arial"/>
                <a:cs typeface="Arial"/>
              </a:rPr>
              <a:t>d</a:t>
            </a:r>
            <a:r>
              <a:rPr lang="es-CO" sz="2300" i="1" spc="-10" noProof="0" dirty="0">
                <a:latin typeface="Arial"/>
                <a:cs typeface="Arial"/>
              </a:rPr>
              <a:t>a</a:t>
            </a:r>
            <a:r>
              <a:rPr lang="es-CO" sz="2300" i="1" spc="-320" noProof="0" dirty="0">
                <a:latin typeface="Arial"/>
                <a:cs typeface="Arial"/>
              </a:rPr>
              <a:t> </a:t>
            </a:r>
            <a:r>
              <a:rPr lang="es-CO" sz="2300" i="1" spc="-110" noProof="0" dirty="0">
                <a:latin typeface="Arial"/>
                <a:cs typeface="Arial"/>
              </a:rPr>
              <a:t>de</a:t>
            </a:r>
            <a:r>
              <a:rPr lang="es-CO" sz="2300" i="1" spc="-355" noProof="0" dirty="0">
                <a:latin typeface="Arial"/>
                <a:cs typeface="Arial"/>
              </a:rPr>
              <a:t> </a:t>
            </a:r>
            <a:r>
              <a:rPr lang="es-CO" sz="2300" i="1" spc="-155" noProof="0" dirty="0">
                <a:latin typeface="Arial"/>
                <a:cs typeface="Arial"/>
              </a:rPr>
              <a:t>posición</a:t>
            </a:r>
            <a:r>
              <a:rPr lang="es-CO" sz="2300" i="1" spc="-305" noProof="0" dirty="0">
                <a:latin typeface="Arial"/>
                <a:cs typeface="Arial"/>
              </a:rPr>
              <a:t> </a:t>
            </a:r>
            <a:r>
              <a:rPr lang="es-CO" sz="2300" i="1" spc="-180" noProof="0" dirty="0">
                <a:latin typeface="Arial"/>
                <a:cs typeface="Arial"/>
              </a:rPr>
              <a:t>usada</a:t>
            </a:r>
            <a:r>
              <a:rPr lang="es-CO" sz="2300" i="1" spc="-370" noProof="0" dirty="0">
                <a:latin typeface="Arial"/>
                <a:cs typeface="Arial"/>
              </a:rPr>
              <a:t> </a:t>
            </a:r>
            <a:r>
              <a:rPr lang="es-CO" sz="2300" i="1" spc="-160" noProof="0" dirty="0">
                <a:latin typeface="Arial"/>
                <a:cs typeface="Arial"/>
              </a:rPr>
              <a:t>en estadística</a:t>
            </a:r>
            <a:r>
              <a:rPr lang="es-CO" sz="2300" i="1" spc="-305" noProof="0" dirty="0">
                <a:latin typeface="Arial"/>
                <a:cs typeface="Arial"/>
              </a:rPr>
              <a:t> </a:t>
            </a:r>
            <a:r>
              <a:rPr lang="es-CO" sz="2300" i="1" spc="-110" noProof="0" dirty="0">
                <a:latin typeface="Arial"/>
                <a:cs typeface="Arial"/>
              </a:rPr>
              <a:t>que indica,</a:t>
            </a:r>
            <a:r>
              <a:rPr lang="es-CO" sz="2300" i="1" spc="-195" noProof="0" dirty="0">
                <a:latin typeface="Arial"/>
                <a:cs typeface="Arial"/>
              </a:rPr>
              <a:t> </a:t>
            </a:r>
            <a:r>
              <a:rPr lang="es-CO" sz="2300" i="1" spc="-10" noProof="0" dirty="0">
                <a:latin typeface="Arial"/>
                <a:cs typeface="Arial"/>
              </a:rPr>
              <a:t>una vez </a:t>
            </a:r>
            <a:r>
              <a:rPr lang="es-CO" sz="2300" i="1" spc="-160" noProof="0" dirty="0">
                <a:latin typeface="Arial"/>
                <a:cs typeface="Arial"/>
              </a:rPr>
              <a:t>ordenados</a:t>
            </a:r>
            <a:r>
              <a:rPr lang="es-CO" sz="2300" i="1" spc="-215" noProof="0" dirty="0">
                <a:latin typeface="Arial"/>
                <a:cs typeface="Arial"/>
              </a:rPr>
              <a:t> </a:t>
            </a:r>
            <a:r>
              <a:rPr lang="es-CO" sz="2300" i="1" spc="-130" noProof="0" dirty="0">
                <a:latin typeface="Arial"/>
                <a:cs typeface="Arial"/>
              </a:rPr>
              <a:t>los</a:t>
            </a:r>
            <a:r>
              <a:rPr lang="es-CO" sz="2300" i="1" spc="-195" noProof="0" dirty="0">
                <a:latin typeface="Arial"/>
                <a:cs typeface="Arial"/>
              </a:rPr>
              <a:t> </a:t>
            </a:r>
            <a:r>
              <a:rPr lang="es-CO" sz="2300" i="1" spc="-135" noProof="0" dirty="0">
                <a:latin typeface="Arial"/>
                <a:cs typeface="Arial"/>
              </a:rPr>
              <a:t>datos</a:t>
            </a:r>
            <a:r>
              <a:rPr lang="es-CO" sz="2300" i="1" spc="-160" noProof="0" dirty="0">
                <a:latin typeface="Arial"/>
                <a:cs typeface="Arial"/>
              </a:rPr>
              <a:t> </a:t>
            </a:r>
            <a:r>
              <a:rPr lang="es-CO" sz="2300" i="1" spc="-110" noProof="0" dirty="0">
                <a:latin typeface="Arial"/>
                <a:cs typeface="Arial"/>
              </a:rPr>
              <a:t>de</a:t>
            </a:r>
            <a:r>
              <a:rPr lang="es-CO" sz="2300" i="1" spc="-190" noProof="0" dirty="0">
                <a:latin typeface="Arial"/>
                <a:cs typeface="Arial"/>
              </a:rPr>
              <a:t> </a:t>
            </a:r>
            <a:r>
              <a:rPr lang="es-CO" sz="2300" i="1" spc="-175" noProof="0" dirty="0">
                <a:latin typeface="Arial"/>
                <a:cs typeface="Arial"/>
              </a:rPr>
              <a:t>menor</a:t>
            </a:r>
            <a:r>
              <a:rPr lang="es-CO" sz="2300" i="1" spc="-229" noProof="0" dirty="0">
                <a:latin typeface="Arial"/>
                <a:cs typeface="Arial"/>
              </a:rPr>
              <a:t> </a:t>
            </a:r>
            <a:r>
              <a:rPr lang="es-CO" sz="2300" i="1" noProof="0" dirty="0">
                <a:latin typeface="Arial"/>
                <a:cs typeface="Arial"/>
              </a:rPr>
              <a:t>a</a:t>
            </a:r>
            <a:r>
              <a:rPr lang="es-CO" sz="2300" i="1" spc="-125" noProof="0" dirty="0">
                <a:latin typeface="Arial"/>
                <a:cs typeface="Arial"/>
              </a:rPr>
              <a:t> </a:t>
            </a:r>
            <a:r>
              <a:rPr lang="es-CO" sz="2300" i="1" spc="-204" noProof="0" dirty="0">
                <a:latin typeface="Arial"/>
                <a:cs typeface="Arial"/>
              </a:rPr>
              <a:t>mayor,</a:t>
            </a:r>
            <a:r>
              <a:rPr lang="es-CO" sz="2300" i="1" spc="-185" noProof="0" dirty="0">
                <a:latin typeface="Arial"/>
                <a:cs typeface="Arial"/>
              </a:rPr>
              <a:t> </a:t>
            </a:r>
            <a:r>
              <a:rPr lang="es-CO" sz="2300" i="1" spc="-80" noProof="0" dirty="0">
                <a:latin typeface="Arial"/>
                <a:cs typeface="Arial"/>
              </a:rPr>
              <a:t>el</a:t>
            </a:r>
            <a:r>
              <a:rPr lang="es-CO" sz="2300" i="1" spc="-135" noProof="0" dirty="0">
                <a:latin typeface="Arial"/>
                <a:cs typeface="Arial"/>
              </a:rPr>
              <a:t> </a:t>
            </a:r>
            <a:r>
              <a:rPr lang="es-CO" sz="2300" i="1" spc="-85" noProof="0" dirty="0">
                <a:latin typeface="Arial"/>
                <a:cs typeface="Arial"/>
              </a:rPr>
              <a:t>valor</a:t>
            </a:r>
            <a:r>
              <a:rPr lang="es-CO" sz="2300" i="1" spc="-70" noProof="0" dirty="0">
                <a:latin typeface="Arial"/>
                <a:cs typeface="Arial"/>
              </a:rPr>
              <a:t> </a:t>
            </a:r>
            <a:r>
              <a:rPr lang="es-CO" sz="2300" i="1" spc="-110" noProof="0" dirty="0">
                <a:latin typeface="Arial"/>
                <a:cs typeface="Arial"/>
              </a:rPr>
              <a:t>de</a:t>
            </a:r>
            <a:r>
              <a:rPr lang="es-CO" sz="2300" i="1" spc="-200" noProof="0" dirty="0">
                <a:latin typeface="Arial"/>
                <a:cs typeface="Arial"/>
              </a:rPr>
              <a:t> </a:t>
            </a:r>
            <a:r>
              <a:rPr lang="es-CO" sz="2300" i="1" noProof="0" dirty="0">
                <a:latin typeface="Arial"/>
                <a:cs typeface="Arial"/>
              </a:rPr>
              <a:t>la</a:t>
            </a:r>
            <a:r>
              <a:rPr lang="es-CO" sz="2300" i="1" spc="-65" noProof="0" dirty="0">
                <a:latin typeface="Arial"/>
                <a:cs typeface="Arial"/>
              </a:rPr>
              <a:t> </a:t>
            </a:r>
            <a:r>
              <a:rPr lang="es-CO" sz="2300" i="1" spc="-100" noProof="0" dirty="0">
                <a:latin typeface="Arial"/>
                <a:cs typeface="Arial"/>
              </a:rPr>
              <a:t>variable</a:t>
            </a:r>
            <a:r>
              <a:rPr lang="es-CO" sz="2300" i="1" spc="-125" noProof="0" dirty="0">
                <a:latin typeface="Arial"/>
                <a:cs typeface="Arial"/>
              </a:rPr>
              <a:t> </a:t>
            </a:r>
            <a:r>
              <a:rPr lang="es-CO" sz="2300" i="1" spc="-65" noProof="0" dirty="0">
                <a:latin typeface="Arial"/>
                <a:cs typeface="Arial"/>
              </a:rPr>
              <a:t>por</a:t>
            </a:r>
            <a:r>
              <a:rPr lang="es-CO" sz="2300" i="1" spc="-95" noProof="0" dirty="0">
                <a:latin typeface="Arial"/>
                <a:cs typeface="Arial"/>
              </a:rPr>
              <a:t> </a:t>
            </a:r>
            <a:r>
              <a:rPr lang="es-CO" sz="2300" i="1" spc="-120" noProof="0" dirty="0">
                <a:latin typeface="Arial"/>
                <a:cs typeface="Arial"/>
              </a:rPr>
              <a:t>debajo</a:t>
            </a:r>
            <a:r>
              <a:rPr lang="es-CO" sz="2300" i="1" spc="-170" noProof="0" dirty="0">
                <a:latin typeface="Arial"/>
                <a:cs typeface="Arial"/>
              </a:rPr>
              <a:t> </a:t>
            </a:r>
            <a:r>
              <a:rPr lang="es-CO" sz="2300" i="1" spc="-95" noProof="0" dirty="0">
                <a:latin typeface="Arial"/>
                <a:cs typeface="Arial"/>
              </a:rPr>
              <a:t>del</a:t>
            </a:r>
            <a:r>
              <a:rPr lang="es-CO" sz="2300" i="1" spc="-155" noProof="0" dirty="0">
                <a:latin typeface="Arial"/>
                <a:cs typeface="Arial"/>
              </a:rPr>
              <a:t> </a:t>
            </a:r>
            <a:r>
              <a:rPr lang="es-CO" sz="2300" i="1" spc="-135" noProof="0" dirty="0">
                <a:latin typeface="Arial"/>
                <a:cs typeface="Arial"/>
              </a:rPr>
              <a:t>cual</a:t>
            </a:r>
            <a:r>
              <a:rPr lang="es-CO" sz="2300" i="1" spc="-175" noProof="0" dirty="0">
                <a:latin typeface="Arial"/>
                <a:cs typeface="Arial"/>
              </a:rPr>
              <a:t> </a:t>
            </a:r>
            <a:r>
              <a:rPr lang="es-CO" sz="2300" i="1" spc="-25" noProof="0" dirty="0">
                <a:latin typeface="Arial"/>
                <a:cs typeface="Arial"/>
              </a:rPr>
              <a:t>se </a:t>
            </a:r>
            <a:r>
              <a:rPr lang="es-CO" sz="2300" i="1" spc="-190" noProof="0" dirty="0">
                <a:latin typeface="Arial"/>
                <a:cs typeface="Arial"/>
              </a:rPr>
              <a:t>encuentra</a:t>
            </a:r>
            <a:r>
              <a:rPr lang="es-CO" sz="2300" i="1" spc="-200" noProof="0" dirty="0">
                <a:latin typeface="Arial"/>
                <a:cs typeface="Arial"/>
              </a:rPr>
              <a:t> </a:t>
            </a:r>
            <a:r>
              <a:rPr lang="es-CO" sz="2300" i="1" spc="-145" noProof="0" dirty="0">
                <a:latin typeface="Arial"/>
                <a:cs typeface="Arial"/>
              </a:rPr>
              <a:t>un</a:t>
            </a:r>
            <a:r>
              <a:rPr lang="es-CO" sz="2300" i="1" spc="-250" noProof="0" dirty="0">
                <a:latin typeface="Arial"/>
                <a:cs typeface="Arial"/>
              </a:rPr>
              <a:t> </a:t>
            </a:r>
            <a:r>
              <a:rPr lang="es-CO" sz="2300" i="1" spc="-150" noProof="0" dirty="0">
                <a:latin typeface="Arial"/>
                <a:cs typeface="Arial"/>
              </a:rPr>
              <a:t>porcentaje</a:t>
            </a:r>
            <a:r>
              <a:rPr lang="es-CO" sz="2300" i="1" spc="-135" noProof="0" dirty="0">
                <a:latin typeface="Arial"/>
                <a:cs typeface="Arial"/>
              </a:rPr>
              <a:t> </a:t>
            </a:r>
            <a:r>
              <a:rPr lang="es-CO" sz="2300" i="1" spc="-110" noProof="0" dirty="0">
                <a:latin typeface="Arial"/>
                <a:cs typeface="Arial"/>
              </a:rPr>
              <a:t>dado</a:t>
            </a:r>
            <a:r>
              <a:rPr lang="es-CO" sz="2300" i="1" spc="-130" noProof="0" dirty="0">
                <a:latin typeface="Arial"/>
                <a:cs typeface="Arial"/>
              </a:rPr>
              <a:t> </a:t>
            </a:r>
            <a:r>
              <a:rPr lang="es-CO" sz="2300" i="1" spc="-110" noProof="0" dirty="0">
                <a:latin typeface="Arial"/>
                <a:cs typeface="Arial"/>
              </a:rPr>
              <a:t>de</a:t>
            </a:r>
            <a:r>
              <a:rPr lang="es-CO" sz="2300" i="1" spc="-170" noProof="0" dirty="0">
                <a:latin typeface="Arial"/>
                <a:cs typeface="Arial"/>
              </a:rPr>
              <a:t> </a:t>
            </a:r>
            <a:r>
              <a:rPr lang="es-CO" sz="2300" i="1" spc="-195" noProof="0" dirty="0">
                <a:latin typeface="Arial"/>
                <a:cs typeface="Arial"/>
              </a:rPr>
              <a:t>observaciones</a:t>
            </a:r>
            <a:r>
              <a:rPr lang="es-CO" sz="2300" i="1" spc="-220" noProof="0" dirty="0">
                <a:latin typeface="Arial"/>
                <a:cs typeface="Arial"/>
              </a:rPr>
              <a:t> </a:t>
            </a:r>
            <a:r>
              <a:rPr lang="es-CO" sz="2300" i="1" spc="-145" noProof="0" dirty="0">
                <a:latin typeface="Arial"/>
                <a:cs typeface="Arial"/>
              </a:rPr>
              <a:t>en</a:t>
            </a:r>
            <a:r>
              <a:rPr lang="es-CO" sz="2300" i="1" spc="-250" noProof="0" dirty="0">
                <a:latin typeface="Arial"/>
                <a:cs typeface="Arial"/>
              </a:rPr>
              <a:t> </a:t>
            </a:r>
            <a:r>
              <a:rPr lang="es-CO" sz="2300" i="1" spc="-145" noProof="0" dirty="0">
                <a:latin typeface="Arial"/>
                <a:cs typeface="Arial"/>
              </a:rPr>
              <a:t>un</a:t>
            </a:r>
            <a:r>
              <a:rPr lang="es-CO" sz="2300" i="1" spc="-270" noProof="0" dirty="0">
                <a:latin typeface="Arial"/>
                <a:cs typeface="Arial"/>
              </a:rPr>
              <a:t> </a:t>
            </a:r>
            <a:r>
              <a:rPr lang="es-CO" sz="2300" i="1" spc="-10" noProof="0" dirty="0">
                <a:latin typeface="Arial"/>
                <a:cs typeface="Arial"/>
              </a:rPr>
              <a:t>grupo.</a:t>
            </a:r>
            <a:endParaRPr lang="es-CO" sz="2300" noProof="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432047" y="28955"/>
            <a:ext cx="4523105" cy="399415"/>
          </a:xfrm>
          <a:prstGeom prst="rect">
            <a:avLst/>
          </a:prstGeom>
          <a:solidFill>
            <a:srgbClr val="ABB620"/>
          </a:solidFill>
        </p:spPr>
        <p:txBody>
          <a:bodyPr vert="horz" wrap="square" lIns="0" tIns="24130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90"/>
              </a:spcBef>
            </a:pPr>
            <a:r>
              <a:rPr lang="es-CO" sz="2000" spc="-22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MEDIDAS</a:t>
            </a:r>
            <a:r>
              <a:rPr lang="es-CO" sz="2000" spc="-19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DE</a:t>
            </a:r>
            <a:r>
              <a:rPr lang="es-CO" sz="2000" spc="-29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14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DISPERSION</a:t>
            </a:r>
            <a:endParaRPr lang="es-CO" sz="2000" noProof="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5299" y="330149"/>
            <a:ext cx="25133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pc="-475" noProof="0" dirty="0"/>
              <a:t>CU</a:t>
            </a:r>
            <a:r>
              <a:rPr lang="es-CO" spc="-425" noProof="0" dirty="0"/>
              <a:t>A</a:t>
            </a:r>
            <a:r>
              <a:rPr lang="es-CO" spc="-955" noProof="0" dirty="0"/>
              <a:t>R</a:t>
            </a:r>
            <a:r>
              <a:rPr lang="es-CO" spc="-815" noProof="0" dirty="0"/>
              <a:t>T</a:t>
            </a:r>
            <a:r>
              <a:rPr lang="es-CO" spc="-725" noProof="0" dirty="0"/>
              <a:t>I</a:t>
            </a:r>
            <a:r>
              <a:rPr lang="es-CO" spc="-715" noProof="0" dirty="0"/>
              <a:t>L</a:t>
            </a:r>
            <a:r>
              <a:rPr lang="es-CO" spc="-710" noProof="0" dirty="0"/>
              <a:t>E</a:t>
            </a:r>
            <a:r>
              <a:rPr lang="es-CO" spc="-15" noProof="0" dirty="0"/>
              <a:t>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9016" y="3709923"/>
            <a:ext cx="60325" cy="1714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9016" y="4181094"/>
            <a:ext cx="60325" cy="17145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70203" y="1603628"/>
            <a:ext cx="10926445" cy="4169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8140" marR="194310" indent="-320675" algn="just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58140" algn="l"/>
              </a:tabLst>
            </a:pPr>
            <a:r>
              <a:rPr lang="es-CO" sz="2900" spc="-470" noProof="0" dirty="0">
                <a:latin typeface="Microsoft Sans Serif"/>
                <a:cs typeface="Microsoft Sans Serif"/>
              </a:rPr>
              <a:t>Los</a:t>
            </a:r>
            <a:r>
              <a:rPr lang="es-CO" sz="2900" spc="275" noProof="0" dirty="0">
                <a:latin typeface="Microsoft Sans Serif"/>
                <a:cs typeface="Microsoft Sans Serif"/>
              </a:rPr>
              <a:t> </a:t>
            </a:r>
            <a:r>
              <a:rPr lang="es-CO" sz="2900" spc="-155" noProof="0" dirty="0">
                <a:latin typeface="Microsoft Sans Serif"/>
                <a:cs typeface="Microsoft Sans Serif"/>
              </a:rPr>
              <a:t>cuartiles</a:t>
            </a:r>
            <a:r>
              <a:rPr lang="es-CO" sz="2900" spc="-40" noProof="0" dirty="0">
                <a:latin typeface="Microsoft Sans Serif"/>
                <a:cs typeface="Microsoft Sans Serif"/>
              </a:rPr>
              <a:t> </a:t>
            </a:r>
            <a:r>
              <a:rPr lang="es-CO" sz="2900" spc="-270" noProof="0" dirty="0">
                <a:latin typeface="Microsoft Sans Serif"/>
                <a:cs typeface="Microsoft Sans Serif"/>
              </a:rPr>
              <a:t>suelen</a:t>
            </a:r>
            <a:r>
              <a:rPr lang="es-CO" sz="2900" spc="75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representarse</a:t>
            </a:r>
            <a:r>
              <a:rPr lang="es-CO" sz="2900" spc="-30" noProof="0" dirty="0">
                <a:latin typeface="Microsoft Sans Serif"/>
                <a:cs typeface="Microsoft Sans Serif"/>
              </a:rPr>
              <a:t> </a:t>
            </a:r>
            <a:r>
              <a:rPr lang="es-CO" sz="2900" spc="-320" noProof="0" dirty="0">
                <a:latin typeface="Microsoft Sans Serif"/>
                <a:cs typeface="Microsoft Sans Serif"/>
              </a:rPr>
              <a:t>como</a:t>
            </a:r>
            <a:r>
              <a:rPr lang="es-CO" sz="2900" spc="12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Q1,</a:t>
            </a:r>
            <a:r>
              <a:rPr lang="es-CO" sz="2900" spc="-19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Q2</a:t>
            </a:r>
            <a:r>
              <a:rPr lang="es-CO" sz="2900" spc="-19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y</a:t>
            </a:r>
            <a:r>
              <a:rPr lang="es-CO" sz="2900" spc="-19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Q3.</a:t>
            </a:r>
            <a:r>
              <a:rPr lang="es-CO" sz="2900" spc="100" noProof="0" dirty="0">
                <a:latin typeface="Microsoft Sans Serif"/>
                <a:cs typeface="Microsoft Sans Serif"/>
              </a:rPr>
              <a:t> </a:t>
            </a:r>
            <a:r>
              <a:rPr lang="es-CO" sz="2900" spc="-515" noProof="0" dirty="0">
                <a:latin typeface="Microsoft Sans Serif"/>
                <a:cs typeface="Microsoft Sans Serif"/>
              </a:rPr>
              <a:t>El</a:t>
            </a:r>
            <a:r>
              <a:rPr lang="es-CO" sz="2900" spc="320" noProof="0" dirty="0">
                <a:latin typeface="Microsoft Sans Serif"/>
                <a:cs typeface="Microsoft Sans Serif"/>
              </a:rPr>
              <a:t> </a:t>
            </a:r>
            <a:r>
              <a:rPr lang="es-CO" sz="2900" spc="-70" noProof="0" dirty="0">
                <a:latin typeface="Microsoft Sans Serif"/>
                <a:cs typeface="Microsoft Sans Serif"/>
              </a:rPr>
              <a:t>2do.</a:t>
            </a:r>
            <a:r>
              <a:rPr lang="es-CO" sz="2900" spc="95" noProof="0" dirty="0">
                <a:latin typeface="Microsoft Sans Serif"/>
                <a:cs typeface="Microsoft Sans Serif"/>
              </a:rPr>
              <a:t> </a:t>
            </a:r>
            <a:r>
              <a:rPr lang="es-CO" sz="2900" spc="-90" noProof="0" dirty="0">
                <a:latin typeface="Microsoft Sans Serif"/>
                <a:cs typeface="Microsoft Sans Serif"/>
              </a:rPr>
              <a:t>cuartil</a:t>
            </a:r>
            <a:r>
              <a:rPr lang="es-CO" sz="2900" spc="95" noProof="0" dirty="0">
                <a:latin typeface="Microsoft Sans Serif"/>
                <a:cs typeface="Microsoft Sans Serif"/>
              </a:rPr>
              <a:t> </a:t>
            </a:r>
            <a:r>
              <a:rPr lang="es-CO" sz="2900" spc="-50" noProof="0" dirty="0">
                <a:latin typeface="Microsoft Sans Serif"/>
                <a:cs typeface="Microsoft Sans Serif"/>
              </a:rPr>
              <a:t>o </a:t>
            </a:r>
            <a:r>
              <a:rPr lang="es-CO" sz="2900" noProof="0" dirty="0">
                <a:latin typeface="Microsoft Sans Serif"/>
                <a:cs typeface="Microsoft Sans Serif"/>
              </a:rPr>
              <a:t>Q2</a:t>
            </a:r>
            <a:r>
              <a:rPr lang="es-CO" sz="2900" spc="-45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coincide</a:t>
            </a:r>
            <a:r>
              <a:rPr lang="es-CO" sz="2900" spc="-130" noProof="0" dirty="0">
                <a:latin typeface="Microsoft Sans Serif"/>
                <a:cs typeface="Microsoft Sans Serif"/>
              </a:rPr>
              <a:t> </a:t>
            </a:r>
            <a:r>
              <a:rPr lang="es-CO" sz="2900" spc="-200" noProof="0" dirty="0">
                <a:latin typeface="Microsoft Sans Serif"/>
                <a:cs typeface="Microsoft Sans Serif"/>
              </a:rPr>
              <a:t>con</a:t>
            </a:r>
            <a:r>
              <a:rPr lang="es-CO" sz="2900" spc="-23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la </a:t>
            </a:r>
            <a:r>
              <a:rPr lang="es-CO" sz="2900" spc="-105" noProof="0" dirty="0">
                <a:latin typeface="Microsoft Sans Serif"/>
                <a:cs typeface="Microsoft Sans Serif"/>
              </a:rPr>
              <a:t>MEDIANA.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358140" marR="72390" indent="-320675" algn="just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58140" algn="l"/>
              </a:tabLst>
            </a:pPr>
            <a:r>
              <a:rPr lang="es-CO" sz="2900" spc="-280" noProof="0" dirty="0">
                <a:latin typeface="Microsoft Sans Serif"/>
                <a:cs typeface="Microsoft Sans Serif"/>
              </a:rPr>
              <a:t>Usaremos</a:t>
            </a:r>
            <a:r>
              <a:rPr lang="es-CO" sz="2900" spc="8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(N+1)/4</a:t>
            </a:r>
            <a:r>
              <a:rPr lang="es-CO" sz="2900" spc="-19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y</a:t>
            </a:r>
            <a:r>
              <a:rPr lang="es-CO" sz="2900" spc="5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3(N+1)/4</a:t>
            </a:r>
            <a:r>
              <a:rPr lang="es-CO" sz="2900" spc="17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para</a:t>
            </a:r>
            <a:r>
              <a:rPr lang="es-CO" sz="2900" spc="114" noProof="0" dirty="0">
                <a:latin typeface="Microsoft Sans Serif"/>
                <a:cs typeface="Microsoft Sans Serif"/>
              </a:rPr>
              <a:t> </a:t>
            </a:r>
            <a:r>
              <a:rPr lang="es-CO" sz="2900" spc="-55" noProof="0" dirty="0">
                <a:latin typeface="Microsoft Sans Serif"/>
                <a:cs typeface="Microsoft Sans Serif"/>
              </a:rPr>
              <a:t>hallar</a:t>
            </a:r>
            <a:r>
              <a:rPr lang="es-CO" sz="2900" spc="50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las</a:t>
            </a:r>
            <a:r>
              <a:rPr lang="es-CO" sz="2900" spc="-35" noProof="0" dirty="0">
                <a:latin typeface="Microsoft Sans Serif"/>
                <a:cs typeface="Microsoft Sans Serif"/>
              </a:rPr>
              <a:t> </a:t>
            </a:r>
            <a:r>
              <a:rPr lang="es-CO" sz="2900" spc="-229" noProof="0" dirty="0">
                <a:latin typeface="Microsoft Sans Serif"/>
                <a:cs typeface="Microsoft Sans Serif"/>
              </a:rPr>
              <a:t>posiciones</a:t>
            </a:r>
            <a:r>
              <a:rPr lang="es-CO" sz="2900" spc="3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2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Q1</a:t>
            </a:r>
            <a:r>
              <a:rPr lang="es-CO" sz="2900" spc="13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y</a:t>
            </a:r>
            <a:r>
              <a:rPr lang="es-CO" sz="2900" spc="120" noProof="0" dirty="0">
                <a:latin typeface="Microsoft Sans Serif"/>
                <a:cs typeface="Microsoft Sans Serif"/>
              </a:rPr>
              <a:t> </a:t>
            </a:r>
            <a:r>
              <a:rPr lang="es-CO" sz="2900" spc="-25" noProof="0" dirty="0">
                <a:latin typeface="Microsoft Sans Serif"/>
                <a:cs typeface="Microsoft Sans Serif"/>
              </a:rPr>
              <a:t>Q3 </a:t>
            </a:r>
            <a:r>
              <a:rPr lang="es-CO" sz="2900" spc="-180" noProof="0" dirty="0">
                <a:latin typeface="Microsoft Sans Serif"/>
                <a:cs typeface="Microsoft Sans Serif"/>
              </a:rPr>
              <a:t>respectivamente,</a:t>
            </a:r>
            <a:r>
              <a:rPr lang="es-CO" sz="2900" spc="-225" noProof="0" dirty="0">
                <a:latin typeface="Microsoft Sans Serif"/>
                <a:cs typeface="Microsoft Sans Serif"/>
              </a:rPr>
              <a:t> </a:t>
            </a:r>
            <a:r>
              <a:rPr lang="es-CO" sz="2900" spc="-180" noProof="0" dirty="0">
                <a:latin typeface="Microsoft Sans Serif"/>
                <a:cs typeface="Microsoft Sans Serif"/>
              </a:rPr>
              <a:t>siendo</a:t>
            </a:r>
            <a:r>
              <a:rPr lang="es-CO" sz="2900" spc="-17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N</a:t>
            </a:r>
            <a:r>
              <a:rPr lang="es-CO" sz="2900" spc="-10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la</a:t>
            </a:r>
            <a:r>
              <a:rPr lang="es-CO" sz="2900" spc="20" noProof="0" dirty="0">
                <a:latin typeface="Microsoft Sans Serif"/>
                <a:cs typeface="Microsoft Sans Serif"/>
              </a:rPr>
              <a:t> </a:t>
            </a:r>
            <a:r>
              <a:rPr lang="es-CO" sz="2900" spc="-95" noProof="0" dirty="0">
                <a:latin typeface="Microsoft Sans Serif"/>
                <a:cs typeface="Microsoft Sans Serif"/>
              </a:rPr>
              <a:t>cantidad</a:t>
            </a:r>
            <a:r>
              <a:rPr lang="es-CO" sz="2900" spc="-8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45" noProof="0" dirty="0">
                <a:latin typeface="Microsoft Sans Serif"/>
                <a:cs typeface="Microsoft Sans Serif"/>
              </a:rPr>
              <a:t> </a:t>
            </a:r>
            <a:r>
              <a:rPr lang="es-CO" sz="2900" spc="-140" noProof="0" dirty="0">
                <a:latin typeface="Microsoft Sans Serif"/>
                <a:cs typeface="Microsoft Sans Serif"/>
              </a:rPr>
              <a:t>valores</a:t>
            </a:r>
            <a:r>
              <a:rPr lang="es-CO" sz="2900" spc="-150" noProof="0" dirty="0">
                <a:latin typeface="Microsoft Sans Serif"/>
                <a:cs typeface="Microsoft Sans Serif"/>
              </a:rPr>
              <a:t> </a:t>
            </a:r>
            <a:r>
              <a:rPr lang="es-CO" sz="2900" spc="-60" noProof="0" dirty="0">
                <a:latin typeface="Microsoft Sans Serif"/>
                <a:cs typeface="Microsoft Sans Serif"/>
              </a:rPr>
              <a:t>disponibles.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589915" algn="just">
              <a:lnSpc>
                <a:spcPct val="100000"/>
              </a:lnSpc>
              <a:spcBef>
                <a:spcPts val="600"/>
              </a:spcBef>
            </a:pPr>
            <a:r>
              <a:rPr lang="es-CO" sz="2600" spc="-114" noProof="0" dirty="0">
                <a:latin typeface="Microsoft Sans Serif"/>
                <a:cs typeface="Microsoft Sans Serif"/>
              </a:rPr>
              <a:t>Si</a:t>
            </a:r>
            <a:r>
              <a:rPr lang="es-CO" sz="2600" spc="-210" noProof="0" dirty="0">
                <a:latin typeface="Microsoft Sans Serif"/>
                <a:cs typeface="Microsoft Sans Serif"/>
              </a:rPr>
              <a:t> </a:t>
            </a:r>
            <a:r>
              <a:rPr lang="es-CO" sz="2600" spc="-135" noProof="0" dirty="0">
                <a:latin typeface="Microsoft Sans Serif"/>
                <a:cs typeface="Microsoft Sans Serif"/>
              </a:rPr>
              <a:t>no</a:t>
            </a:r>
            <a:r>
              <a:rPr lang="es-CO" sz="2600" spc="-225" noProof="0" dirty="0">
                <a:latin typeface="Microsoft Sans Serif"/>
                <a:cs typeface="Microsoft Sans Serif"/>
              </a:rPr>
              <a:t> </a:t>
            </a:r>
            <a:r>
              <a:rPr lang="es-CO" sz="2600" spc="-80" noProof="0" dirty="0">
                <a:latin typeface="Microsoft Sans Serif"/>
                <a:cs typeface="Microsoft Sans Serif"/>
              </a:rPr>
              <a:t>hay</a:t>
            </a:r>
            <a:r>
              <a:rPr lang="es-CO" sz="2600" spc="-135" noProof="0" dirty="0">
                <a:latin typeface="Microsoft Sans Serif"/>
                <a:cs typeface="Microsoft Sans Serif"/>
              </a:rPr>
              <a:t> </a:t>
            </a:r>
            <a:r>
              <a:rPr lang="es-CO" sz="2600" spc="-10" noProof="0" dirty="0">
                <a:latin typeface="Microsoft Sans Serif"/>
                <a:cs typeface="Microsoft Sans Serif"/>
              </a:rPr>
              <a:t>parte</a:t>
            </a:r>
            <a:r>
              <a:rPr lang="es-CO" sz="2600" spc="-25" noProof="0" dirty="0">
                <a:latin typeface="Microsoft Sans Serif"/>
                <a:cs typeface="Microsoft Sans Serif"/>
              </a:rPr>
              <a:t> </a:t>
            </a:r>
            <a:r>
              <a:rPr lang="es-CO" sz="2600" spc="-130" noProof="0" dirty="0">
                <a:latin typeface="Microsoft Sans Serif"/>
                <a:cs typeface="Microsoft Sans Serif"/>
              </a:rPr>
              <a:t>decimal,</a:t>
            </a:r>
            <a:r>
              <a:rPr lang="es-CO" sz="2600" spc="-170" noProof="0" dirty="0">
                <a:latin typeface="Microsoft Sans Serif"/>
                <a:cs typeface="Microsoft Sans Serif"/>
              </a:rPr>
              <a:t> </a:t>
            </a:r>
            <a:r>
              <a:rPr lang="es-CO" sz="2600" spc="-150" noProof="0" dirty="0">
                <a:latin typeface="Microsoft Sans Serif"/>
                <a:cs typeface="Microsoft Sans Serif"/>
              </a:rPr>
              <a:t>se</a:t>
            </a:r>
            <a:r>
              <a:rPr lang="es-CO" sz="2600" spc="-280" noProof="0" dirty="0">
                <a:latin typeface="Microsoft Sans Serif"/>
                <a:cs typeface="Microsoft Sans Serif"/>
              </a:rPr>
              <a:t> </a:t>
            </a:r>
            <a:r>
              <a:rPr lang="es-CO" sz="2600" spc="-135" noProof="0" dirty="0">
                <a:latin typeface="Microsoft Sans Serif"/>
                <a:cs typeface="Microsoft Sans Serif"/>
              </a:rPr>
              <a:t>toma</a:t>
            </a:r>
            <a:r>
              <a:rPr lang="es-CO" sz="2600" spc="-120" noProof="0" dirty="0">
                <a:latin typeface="Microsoft Sans Serif"/>
                <a:cs typeface="Microsoft Sans Serif"/>
              </a:rPr>
              <a:t> </a:t>
            </a:r>
            <a:r>
              <a:rPr lang="es-CO" sz="2600" spc="-140" noProof="0" dirty="0">
                <a:latin typeface="Microsoft Sans Serif"/>
                <a:cs typeface="Microsoft Sans Serif"/>
              </a:rPr>
              <a:t>directamente</a:t>
            </a:r>
            <a:r>
              <a:rPr lang="es-CO" sz="2600" spc="-150" noProof="0" dirty="0">
                <a:latin typeface="Microsoft Sans Serif"/>
                <a:cs typeface="Microsoft Sans Serif"/>
              </a:rPr>
              <a:t> </a:t>
            </a:r>
            <a:r>
              <a:rPr lang="es-CO" sz="2600" spc="-10" noProof="0" dirty="0">
                <a:latin typeface="Microsoft Sans Serif"/>
                <a:cs typeface="Microsoft Sans Serif"/>
              </a:rPr>
              <a:t>el</a:t>
            </a:r>
            <a:r>
              <a:rPr lang="es-CO" sz="2600" spc="-95" noProof="0" dirty="0">
                <a:latin typeface="Microsoft Sans Serif"/>
                <a:cs typeface="Microsoft Sans Serif"/>
              </a:rPr>
              <a:t> </a:t>
            </a:r>
            <a:r>
              <a:rPr lang="es-CO" sz="2600" spc="-25" noProof="0" dirty="0">
                <a:latin typeface="Microsoft Sans Serif"/>
                <a:cs typeface="Microsoft Sans Serif"/>
              </a:rPr>
              <a:t>elemento.</a:t>
            </a:r>
            <a:endParaRPr lang="es-CO" sz="2600" noProof="0" dirty="0">
              <a:latin typeface="Microsoft Sans Serif"/>
              <a:cs typeface="Microsoft Sans Serif"/>
            </a:endParaRPr>
          </a:p>
          <a:p>
            <a:pPr marL="678180" marR="30480" indent="-81280" algn="just">
              <a:lnSpc>
                <a:spcPct val="100000"/>
              </a:lnSpc>
              <a:spcBef>
                <a:spcPts val="590"/>
              </a:spcBef>
            </a:pPr>
            <a:r>
              <a:rPr lang="es-CO" sz="2600" spc="-170" noProof="0" dirty="0">
                <a:latin typeface="Microsoft Sans Serif"/>
                <a:cs typeface="Microsoft Sans Serif"/>
              </a:rPr>
              <a:t>Si</a:t>
            </a:r>
            <a:r>
              <a:rPr lang="es-CO" sz="2600" spc="-5" noProof="0" dirty="0">
                <a:latin typeface="Microsoft Sans Serif"/>
                <a:cs typeface="Microsoft Sans Serif"/>
              </a:rPr>
              <a:t> </a:t>
            </a:r>
            <a:r>
              <a:rPr lang="es-CO" sz="2600" noProof="0" dirty="0">
                <a:latin typeface="Microsoft Sans Serif"/>
                <a:cs typeface="Microsoft Sans Serif"/>
              </a:rPr>
              <a:t>la</a:t>
            </a:r>
            <a:r>
              <a:rPr lang="es-CO" sz="2600" spc="-170" noProof="0" dirty="0">
                <a:latin typeface="Microsoft Sans Serif"/>
                <a:cs typeface="Microsoft Sans Serif"/>
              </a:rPr>
              <a:t> posición</a:t>
            </a:r>
            <a:r>
              <a:rPr lang="es-CO" sz="2600" spc="-5" noProof="0" dirty="0">
                <a:latin typeface="Microsoft Sans Serif"/>
                <a:cs typeface="Microsoft Sans Serif"/>
              </a:rPr>
              <a:t> </a:t>
            </a:r>
            <a:r>
              <a:rPr lang="es-CO" sz="2600" spc="-155" noProof="0" dirty="0">
                <a:latin typeface="Microsoft Sans Serif"/>
                <a:cs typeface="Microsoft Sans Serif"/>
              </a:rPr>
              <a:t>corresponde</a:t>
            </a:r>
            <a:r>
              <a:rPr lang="es-CO" sz="2600" spc="-15" noProof="0" dirty="0">
                <a:latin typeface="Microsoft Sans Serif"/>
                <a:cs typeface="Microsoft Sans Serif"/>
              </a:rPr>
              <a:t> </a:t>
            </a:r>
            <a:r>
              <a:rPr lang="es-CO" sz="2600" noProof="0" dirty="0">
                <a:latin typeface="Microsoft Sans Serif"/>
                <a:cs typeface="Microsoft Sans Serif"/>
              </a:rPr>
              <a:t>a</a:t>
            </a:r>
            <a:r>
              <a:rPr lang="es-CO" sz="2600" spc="-45" noProof="0" dirty="0">
                <a:latin typeface="Microsoft Sans Serif"/>
                <a:cs typeface="Microsoft Sans Serif"/>
              </a:rPr>
              <a:t> </a:t>
            </a:r>
            <a:r>
              <a:rPr lang="es-CO" sz="2600" spc="-345" noProof="0" dirty="0">
                <a:latin typeface="Microsoft Sans Serif"/>
                <a:cs typeface="Microsoft Sans Serif"/>
              </a:rPr>
              <a:t>un</a:t>
            </a:r>
            <a:r>
              <a:rPr lang="es-CO" sz="2600" spc="175" noProof="0" dirty="0">
                <a:latin typeface="Microsoft Sans Serif"/>
                <a:cs typeface="Microsoft Sans Serif"/>
              </a:rPr>
              <a:t> </a:t>
            </a:r>
            <a:r>
              <a:rPr lang="es-CO" sz="2600" spc="-229" noProof="0" dirty="0">
                <a:latin typeface="Microsoft Sans Serif"/>
                <a:cs typeface="Microsoft Sans Serif"/>
              </a:rPr>
              <a:t>número</a:t>
            </a:r>
            <a:r>
              <a:rPr lang="es-CO" sz="2600" spc="55" noProof="0" dirty="0">
                <a:latin typeface="Microsoft Sans Serif"/>
                <a:cs typeface="Microsoft Sans Serif"/>
              </a:rPr>
              <a:t> </a:t>
            </a:r>
            <a:r>
              <a:rPr lang="es-CO" sz="2600" spc="-245" noProof="0" dirty="0">
                <a:latin typeface="Microsoft Sans Serif"/>
                <a:cs typeface="Microsoft Sans Serif"/>
              </a:rPr>
              <a:t>con</a:t>
            </a:r>
            <a:r>
              <a:rPr lang="es-CO" sz="2600" spc="75" noProof="0" dirty="0">
                <a:latin typeface="Microsoft Sans Serif"/>
                <a:cs typeface="Microsoft Sans Serif"/>
              </a:rPr>
              <a:t> </a:t>
            </a:r>
            <a:r>
              <a:rPr lang="es-CO" sz="2600" noProof="0" dirty="0">
                <a:latin typeface="Microsoft Sans Serif"/>
                <a:cs typeface="Microsoft Sans Serif"/>
              </a:rPr>
              <a:t>parte</a:t>
            </a:r>
            <a:r>
              <a:rPr lang="es-CO" sz="2600" spc="160" noProof="0" dirty="0">
                <a:latin typeface="Microsoft Sans Serif"/>
                <a:cs typeface="Microsoft Sans Serif"/>
              </a:rPr>
              <a:t> </a:t>
            </a:r>
            <a:r>
              <a:rPr lang="es-CO" sz="2600" spc="-125" noProof="0" dirty="0">
                <a:latin typeface="Microsoft Sans Serif"/>
                <a:cs typeface="Microsoft Sans Serif"/>
              </a:rPr>
              <a:t>decimal</a:t>
            </a:r>
            <a:r>
              <a:rPr lang="es-CO" sz="2600" spc="30" noProof="0" dirty="0">
                <a:latin typeface="Microsoft Sans Serif"/>
                <a:cs typeface="Microsoft Sans Serif"/>
              </a:rPr>
              <a:t> </a:t>
            </a:r>
            <a:r>
              <a:rPr lang="es-CO" sz="2600" spc="-105" noProof="0" dirty="0">
                <a:latin typeface="Microsoft Sans Serif"/>
                <a:cs typeface="Microsoft Sans Serif"/>
              </a:rPr>
              <a:t>entre</a:t>
            </a:r>
            <a:r>
              <a:rPr lang="es-CO" sz="2600" spc="45" noProof="0" dirty="0">
                <a:latin typeface="Microsoft Sans Serif"/>
                <a:cs typeface="Microsoft Sans Serif"/>
              </a:rPr>
              <a:t> </a:t>
            </a:r>
            <a:r>
              <a:rPr lang="es-CO" sz="2600" noProof="0" dirty="0">
                <a:latin typeface="Microsoft Sans Serif"/>
                <a:cs typeface="Microsoft Sans Serif"/>
              </a:rPr>
              <a:t>el</a:t>
            </a:r>
            <a:r>
              <a:rPr lang="es-CO" sz="2600" spc="90" noProof="0" dirty="0">
                <a:latin typeface="Microsoft Sans Serif"/>
                <a:cs typeface="Microsoft Sans Serif"/>
              </a:rPr>
              <a:t> </a:t>
            </a:r>
            <a:r>
              <a:rPr lang="es-CO" sz="2600" spc="-175" noProof="0" dirty="0">
                <a:latin typeface="Microsoft Sans Serif"/>
                <a:cs typeface="Microsoft Sans Serif"/>
              </a:rPr>
              <a:t>elemento</a:t>
            </a:r>
            <a:r>
              <a:rPr lang="es-CO" sz="2600" spc="5" noProof="0" dirty="0">
                <a:latin typeface="Microsoft Sans Serif"/>
                <a:cs typeface="Microsoft Sans Serif"/>
              </a:rPr>
              <a:t> </a:t>
            </a:r>
            <a:r>
              <a:rPr lang="es-CO" sz="2600" i="1" spc="-50" noProof="0" dirty="0">
                <a:latin typeface="Arial"/>
                <a:cs typeface="Arial"/>
              </a:rPr>
              <a:t>i </a:t>
            </a:r>
            <a:r>
              <a:rPr lang="es-CO" sz="2600" noProof="0" dirty="0">
                <a:latin typeface="Microsoft Sans Serif"/>
                <a:cs typeface="Microsoft Sans Serif"/>
              </a:rPr>
              <a:t>y</a:t>
            </a:r>
            <a:r>
              <a:rPr lang="es-CO" sz="2600" spc="-175" noProof="0" dirty="0">
                <a:latin typeface="Microsoft Sans Serif"/>
                <a:cs typeface="Microsoft Sans Serif"/>
              </a:rPr>
              <a:t> </a:t>
            </a:r>
            <a:r>
              <a:rPr lang="es-CO" sz="2600" noProof="0" dirty="0">
                <a:latin typeface="Microsoft Sans Serif"/>
                <a:cs typeface="Microsoft Sans Serif"/>
              </a:rPr>
              <a:t>el</a:t>
            </a:r>
            <a:r>
              <a:rPr lang="es-CO" sz="2600" spc="-170" noProof="0" dirty="0">
                <a:latin typeface="Microsoft Sans Serif"/>
                <a:cs typeface="Microsoft Sans Serif"/>
              </a:rPr>
              <a:t> </a:t>
            </a:r>
            <a:r>
              <a:rPr lang="es-CO" sz="2600" i="1" noProof="0" dirty="0">
                <a:latin typeface="Arial"/>
                <a:cs typeface="Arial"/>
              </a:rPr>
              <a:t>i</a:t>
            </a:r>
            <a:r>
              <a:rPr lang="es-CO" sz="2600" noProof="0" dirty="0">
                <a:latin typeface="Microsoft Sans Serif"/>
                <a:cs typeface="Microsoft Sans Serif"/>
              </a:rPr>
              <a:t>+1,</a:t>
            </a:r>
            <a:r>
              <a:rPr lang="es-CO" sz="2600" spc="-175" noProof="0" dirty="0">
                <a:latin typeface="Microsoft Sans Serif"/>
                <a:cs typeface="Microsoft Sans Serif"/>
              </a:rPr>
              <a:t> </a:t>
            </a:r>
            <a:r>
              <a:rPr lang="es-CO" sz="2600" spc="-325" noProof="0" dirty="0">
                <a:latin typeface="Microsoft Sans Serif"/>
                <a:cs typeface="Microsoft Sans Serif"/>
              </a:rPr>
              <a:t>se</a:t>
            </a:r>
            <a:r>
              <a:rPr lang="es-CO" sz="2600" spc="155" noProof="0" dirty="0">
                <a:latin typeface="Microsoft Sans Serif"/>
                <a:cs typeface="Microsoft Sans Serif"/>
              </a:rPr>
              <a:t> </a:t>
            </a:r>
            <a:r>
              <a:rPr lang="es-CO" sz="2600" spc="-175" noProof="0" dirty="0">
                <a:latin typeface="Microsoft Sans Serif"/>
                <a:cs typeface="Microsoft Sans Serif"/>
              </a:rPr>
              <a:t>toma</a:t>
            </a:r>
            <a:r>
              <a:rPr lang="es-CO" sz="2600" spc="5" noProof="0" dirty="0">
                <a:latin typeface="Microsoft Sans Serif"/>
                <a:cs typeface="Microsoft Sans Serif"/>
              </a:rPr>
              <a:t> </a:t>
            </a:r>
            <a:r>
              <a:rPr lang="es-CO" sz="2600" noProof="0" dirty="0">
                <a:latin typeface="Microsoft Sans Serif"/>
                <a:cs typeface="Microsoft Sans Serif"/>
              </a:rPr>
              <a:t>el</a:t>
            </a:r>
            <a:r>
              <a:rPr lang="es-CO" sz="2600" spc="-175" noProof="0" dirty="0">
                <a:latin typeface="Microsoft Sans Serif"/>
                <a:cs typeface="Microsoft Sans Serif"/>
              </a:rPr>
              <a:t> </a:t>
            </a:r>
            <a:r>
              <a:rPr lang="es-CO" sz="2600" spc="-80" noProof="0" dirty="0">
                <a:latin typeface="Microsoft Sans Serif"/>
                <a:cs typeface="Microsoft Sans Serif"/>
              </a:rPr>
              <a:t>valor</a:t>
            </a:r>
            <a:r>
              <a:rPr lang="es-CO" sz="2600" spc="-90" noProof="0" dirty="0">
                <a:latin typeface="Microsoft Sans Serif"/>
                <a:cs typeface="Microsoft Sans Serif"/>
              </a:rPr>
              <a:t> </a:t>
            </a:r>
            <a:r>
              <a:rPr lang="es-CO" sz="2600" spc="-114" noProof="0" dirty="0">
                <a:latin typeface="Microsoft Sans Serif"/>
                <a:cs typeface="Microsoft Sans Serif"/>
              </a:rPr>
              <a:t>proporcional.</a:t>
            </a:r>
            <a:r>
              <a:rPr lang="es-CO" sz="2600" spc="-55" noProof="0" dirty="0">
                <a:latin typeface="Microsoft Sans Serif"/>
                <a:cs typeface="Microsoft Sans Serif"/>
              </a:rPr>
              <a:t> </a:t>
            </a:r>
            <a:r>
              <a:rPr lang="es-CO" sz="2600" spc="-100" noProof="0" dirty="0">
                <a:latin typeface="Microsoft Sans Serif"/>
                <a:cs typeface="Microsoft Sans Serif"/>
              </a:rPr>
              <a:t>Sea</a:t>
            </a:r>
            <a:r>
              <a:rPr lang="es-CO" sz="2600" spc="120" noProof="0" dirty="0">
                <a:latin typeface="Microsoft Sans Serif"/>
                <a:cs typeface="Microsoft Sans Serif"/>
              </a:rPr>
              <a:t> </a:t>
            </a:r>
            <a:r>
              <a:rPr lang="es-CO" sz="2600" spc="-440" noProof="0" dirty="0">
                <a:latin typeface="Microsoft Sans Serif"/>
                <a:cs typeface="Microsoft Sans Serif"/>
              </a:rPr>
              <a:t>un</a:t>
            </a:r>
            <a:r>
              <a:rPr lang="es-CO" sz="2600" spc="270" noProof="0" dirty="0">
                <a:latin typeface="Microsoft Sans Serif"/>
                <a:cs typeface="Microsoft Sans Serif"/>
              </a:rPr>
              <a:t> </a:t>
            </a:r>
            <a:r>
              <a:rPr lang="es-CO" sz="2600" spc="-229" noProof="0" dirty="0">
                <a:latin typeface="Microsoft Sans Serif"/>
                <a:cs typeface="Microsoft Sans Serif"/>
              </a:rPr>
              <a:t>número</a:t>
            </a:r>
            <a:r>
              <a:rPr lang="es-CO" sz="2600" spc="60" noProof="0" dirty="0">
                <a:latin typeface="Microsoft Sans Serif"/>
                <a:cs typeface="Microsoft Sans Serif"/>
              </a:rPr>
              <a:t> </a:t>
            </a:r>
            <a:r>
              <a:rPr lang="es-CO" sz="2600" spc="-30" noProof="0" dirty="0">
                <a:latin typeface="Microsoft Sans Serif"/>
                <a:cs typeface="Microsoft Sans Serif"/>
              </a:rPr>
              <a:t>de</a:t>
            </a:r>
            <a:r>
              <a:rPr lang="es-CO" sz="2600" spc="-25" noProof="0" dirty="0">
                <a:latin typeface="Microsoft Sans Serif"/>
                <a:cs typeface="Microsoft Sans Serif"/>
              </a:rPr>
              <a:t> </a:t>
            </a:r>
            <a:r>
              <a:rPr lang="es-CO" sz="2600" noProof="0" dirty="0">
                <a:latin typeface="Microsoft Sans Serif"/>
                <a:cs typeface="Microsoft Sans Serif"/>
              </a:rPr>
              <a:t>la</a:t>
            </a:r>
            <a:r>
              <a:rPr lang="es-CO" sz="2600" spc="45" noProof="0" dirty="0">
                <a:latin typeface="Microsoft Sans Serif"/>
                <a:cs typeface="Microsoft Sans Serif"/>
              </a:rPr>
              <a:t> </a:t>
            </a:r>
            <a:r>
              <a:rPr lang="es-CO" sz="2600" spc="-100" noProof="0" dirty="0">
                <a:latin typeface="Microsoft Sans Serif"/>
                <a:cs typeface="Microsoft Sans Serif"/>
              </a:rPr>
              <a:t>forma</a:t>
            </a:r>
            <a:r>
              <a:rPr lang="es-CO" sz="2600" spc="-40" noProof="0" dirty="0">
                <a:latin typeface="Microsoft Sans Serif"/>
                <a:cs typeface="Microsoft Sans Serif"/>
              </a:rPr>
              <a:t> </a:t>
            </a:r>
            <a:r>
              <a:rPr lang="es-CO" sz="2600" i="1" spc="-40" noProof="0" dirty="0" err="1">
                <a:latin typeface="Arial"/>
                <a:cs typeface="Arial"/>
              </a:rPr>
              <a:t>i,d</a:t>
            </a:r>
            <a:r>
              <a:rPr lang="es-CO" sz="2600" i="1" spc="-40" noProof="0" dirty="0">
                <a:latin typeface="Arial"/>
                <a:cs typeface="Arial"/>
              </a:rPr>
              <a:t> </a:t>
            </a:r>
            <a:r>
              <a:rPr lang="es-CO" sz="2600" spc="-20" noProof="0" dirty="0">
                <a:latin typeface="Microsoft Sans Serif"/>
                <a:cs typeface="Microsoft Sans Serif"/>
              </a:rPr>
              <a:t>donde </a:t>
            </a:r>
            <a:r>
              <a:rPr lang="es-CO" sz="2600" i="1" noProof="0" dirty="0">
                <a:latin typeface="Arial"/>
                <a:cs typeface="Arial"/>
              </a:rPr>
              <a:t>i</a:t>
            </a:r>
            <a:r>
              <a:rPr lang="es-CO" sz="2600" i="1" spc="-30" noProof="0" dirty="0">
                <a:latin typeface="Arial"/>
                <a:cs typeface="Arial"/>
              </a:rPr>
              <a:t> </a:t>
            </a:r>
            <a:r>
              <a:rPr lang="es-CO" sz="2600" spc="-150" noProof="0" dirty="0">
                <a:latin typeface="Microsoft Sans Serif"/>
                <a:cs typeface="Microsoft Sans Serif"/>
              </a:rPr>
              <a:t>es</a:t>
            </a:r>
            <a:r>
              <a:rPr lang="es-CO" sz="2600" spc="-290" noProof="0" dirty="0">
                <a:latin typeface="Microsoft Sans Serif"/>
                <a:cs typeface="Microsoft Sans Serif"/>
              </a:rPr>
              <a:t> </a:t>
            </a:r>
            <a:r>
              <a:rPr lang="es-CO" sz="2600" noProof="0" dirty="0">
                <a:latin typeface="Microsoft Sans Serif"/>
                <a:cs typeface="Microsoft Sans Serif"/>
              </a:rPr>
              <a:t>la</a:t>
            </a:r>
            <a:r>
              <a:rPr lang="es-CO" sz="2600" spc="-10" noProof="0" dirty="0">
                <a:latin typeface="Microsoft Sans Serif"/>
                <a:cs typeface="Microsoft Sans Serif"/>
              </a:rPr>
              <a:t> parte</a:t>
            </a:r>
            <a:r>
              <a:rPr lang="es-CO" sz="2600" spc="-5" noProof="0" dirty="0">
                <a:latin typeface="Microsoft Sans Serif"/>
                <a:cs typeface="Microsoft Sans Serif"/>
              </a:rPr>
              <a:t> </a:t>
            </a:r>
            <a:r>
              <a:rPr lang="es-CO" sz="2600" spc="-110" noProof="0" dirty="0">
                <a:latin typeface="Microsoft Sans Serif"/>
                <a:cs typeface="Microsoft Sans Serif"/>
              </a:rPr>
              <a:t>entera</a:t>
            </a:r>
            <a:r>
              <a:rPr lang="es-CO" sz="2600" spc="-120" noProof="0" dirty="0">
                <a:latin typeface="Microsoft Sans Serif"/>
                <a:cs typeface="Microsoft Sans Serif"/>
              </a:rPr>
              <a:t> </a:t>
            </a:r>
            <a:r>
              <a:rPr lang="es-CO" sz="2600" noProof="0" dirty="0">
                <a:latin typeface="Microsoft Sans Serif"/>
                <a:cs typeface="Microsoft Sans Serif"/>
              </a:rPr>
              <a:t>y</a:t>
            </a:r>
            <a:r>
              <a:rPr lang="es-CO" sz="2600" spc="5" noProof="0" dirty="0">
                <a:latin typeface="Microsoft Sans Serif"/>
                <a:cs typeface="Microsoft Sans Serif"/>
              </a:rPr>
              <a:t> </a:t>
            </a:r>
            <a:r>
              <a:rPr lang="es-CO" sz="2600" i="1" noProof="0" dirty="0">
                <a:latin typeface="Arial"/>
                <a:cs typeface="Arial"/>
              </a:rPr>
              <a:t>d</a:t>
            </a:r>
            <a:r>
              <a:rPr lang="es-CO" sz="2600" i="1" spc="-155" noProof="0" dirty="0">
                <a:latin typeface="Arial"/>
                <a:cs typeface="Arial"/>
              </a:rPr>
              <a:t> </a:t>
            </a:r>
            <a:r>
              <a:rPr lang="es-CO" sz="2600" noProof="0" dirty="0">
                <a:latin typeface="Microsoft Sans Serif"/>
                <a:cs typeface="Microsoft Sans Serif"/>
              </a:rPr>
              <a:t>la</a:t>
            </a:r>
            <a:r>
              <a:rPr lang="es-CO" sz="2600" spc="-5" noProof="0" dirty="0">
                <a:latin typeface="Microsoft Sans Serif"/>
                <a:cs typeface="Microsoft Sans Serif"/>
              </a:rPr>
              <a:t> </a:t>
            </a:r>
            <a:r>
              <a:rPr lang="es-CO" sz="2600" spc="-130" noProof="0" dirty="0">
                <a:latin typeface="Microsoft Sans Serif"/>
                <a:cs typeface="Microsoft Sans Serif"/>
              </a:rPr>
              <a:t>decimal.</a:t>
            </a:r>
            <a:r>
              <a:rPr lang="es-CO" sz="2600" spc="-155" noProof="0" dirty="0">
                <a:latin typeface="Microsoft Sans Serif"/>
                <a:cs typeface="Microsoft Sans Serif"/>
              </a:rPr>
              <a:t> El</a:t>
            </a:r>
            <a:r>
              <a:rPr lang="es-CO" sz="2600" spc="-305" noProof="0" dirty="0">
                <a:latin typeface="Microsoft Sans Serif"/>
                <a:cs typeface="Microsoft Sans Serif"/>
              </a:rPr>
              <a:t> </a:t>
            </a:r>
            <a:r>
              <a:rPr lang="es-CO" sz="2600" spc="-95" noProof="0" dirty="0">
                <a:latin typeface="Microsoft Sans Serif"/>
                <a:cs typeface="Microsoft Sans Serif"/>
              </a:rPr>
              <a:t>cuartil</a:t>
            </a:r>
            <a:r>
              <a:rPr lang="es-CO" sz="2600" spc="-100" noProof="0" dirty="0">
                <a:latin typeface="Microsoft Sans Serif"/>
                <a:cs typeface="Microsoft Sans Serif"/>
              </a:rPr>
              <a:t> </a:t>
            </a:r>
            <a:r>
              <a:rPr lang="es-CO" sz="2600" spc="-10" noProof="0" dirty="0">
                <a:latin typeface="Microsoft Sans Serif"/>
                <a:cs typeface="Microsoft Sans Serif"/>
              </a:rPr>
              <a:t>será:</a:t>
            </a:r>
            <a:endParaRPr lang="es-CO" sz="2600" noProof="0" dirty="0">
              <a:latin typeface="Microsoft Sans Serif"/>
              <a:cs typeface="Microsoft Sans Serif"/>
            </a:endParaRPr>
          </a:p>
          <a:p>
            <a:pPr marR="277495" algn="ctr">
              <a:lnSpc>
                <a:spcPct val="100000"/>
              </a:lnSpc>
              <a:spcBef>
                <a:spcPts val="1200"/>
              </a:spcBef>
              <a:tabLst>
                <a:tab pos="735965" algn="l"/>
                <a:tab pos="2878455" algn="l"/>
              </a:tabLst>
            </a:pPr>
            <a:r>
              <a:rPr lang="es-CO" sz="2600" noProof="0" dirty="0">
                <a:latin typeface="Cambria Math"/>
                <a:cs typeface="Cambria Math"/>
              </a:rPr>
              <a:t>𝑄</a:t>
            </a:r>
            <a:r>
              <a:rPr lang="es-CO" sz="2600" spc="200" noProof="0" dirty="0">
                <a:latin typeface="Cambria Math"/>
                <a:cs typeface="Cambria Math"/>
              </a:rPr>
              <a:t> </a:t>
            </a:r>
            <a:r>
              <a:rPr lang="es-CO" sz="2600" spc="-60" noProof="0" dirty="0">
                <a:latin typeface="Cambria Math"/>
                <a:cs typeface="Cambria Math"/>
              </a:rPr>
              <a:t>=</a:t>
            </a:r>
            <a:r>
              <a:rPr lang="es-CO" sz="2600" noProof="0" dirty="0">
                <a:latin typeface="Cambria Math"/>
                <a:cs typeface="Cambria Math"/>
              </a:rPr>
              <a:t>	𝑥</a:t>
            </a:r>
            <a:r>
              <a:rPr lang="es-CO" sz="2850" baseline="-13157" noProof="0" dirty="0">
                <a:latin typeface="Cambria Math"/>
                <a:cs typeface="Cambria Math"/>
              </a:rPr>
              <a:t>𝑖</a:t>
            </a:r>
            <a:r>
              <a:rPr lang="es-CO" sz="2850" spc="472" baseline="-13157" noProof="0" dirty="0">
                <a:latin typeface="Cambria Math"/>
                <a:cs typeface="Cambria Math"/>
              </a:rPr>
              <a:t> </a:t>
            </a:r>
            <a:r>
              <a:rPr lang="es-CO" sz="2600" noProof="0" dirty="0">
                <a:latin typeface="Cambria Math"/>
                <a:cs typeface="Cambria Math"/>
              </a:rPr>
              <a:t>+ 𝑑</a:t>
            </a:r>
            <a:r>
              <a:rPr lang="es-CO" sz="2600" spc="105" noProof="0" dirty="0">
                <a:latin typeface="Cambria Math"/>
                <a:cs typeface="Cambria Math"/>
              </a:rPr>
              <a:t> </a:t>
            </a:r>
            <a:r>
              <a:rPr lang="es-CO" sz="2600" noProof="0" dirty="0">
                <a:latin typeface="Cambria Math"/>
                <a:cs typeface="Cambria Math"/>
              </a:rPr>
              <a:t>(𝑥</a:t>
            </a:r>
            <a:r>
              <a:rPr lang="es-CO" sz="2850" baseline="-13157" noProof="0" dirty="0">
                <a:latin typeface="Cambria Math"/>
                <a:cs typeface="Cambria Math"/>
              </a:rPr>
              <a:t>𝑖+1</a:t>
            </a:r>
            <a:r>
              <a:rPr lang="es-CO" sz="2850" spc="405" baseline="-13157" noProof="0" dirty="0">
                <a:latin typeface="Cambria Math"/>
                <a:cs typeface="Cambria Math"/>
              </a:rPr>
              <a:t> </a:t>
            </a:r>
            <a:r>
              <a:rPr lang="es-CO" sz="2600" spc="-50" noProof="0" dirty="0">
                <a:latin typeface="Cambria Math"/>
                <a:cs typeface="Cambria Math"/>
              </a:rPr>
              <a:t>−</a:t>
            </a:r>
            <a:r>
              <a:rPr lang="es-CO" sz="2600" noProof="0" dirty="0">
                <a:latin typeface="Cambria Math"/>
                <a:cs typeface="Cambria Math"/>
              </a:rPr>
              <a:t>	</a:t>
            </a:r>
            <a:r>
              <a:rPr lang="es-CO" sz="2600" spc="-25" noProof="0" dirty="0">
                <a:latin typeface="Cambria Math"/>
                <a:cs typeface="Cambria Math"/>
              </a:rPr>
              <a:t>𝑥</a:t>
            </a:r>
            <a:r>
              <a:rPr lang="es-CO" sz="2850" spc="-37" baseline="-13157" noProof="0" dirty="0">
                <a:latin typeface="Cambria Math"/>
                <a:cs typeface="Cambria Math"/>
              </a:rPr>
              <a:t>𝑖</a:t>
            </a:r>
            <a:r>
              <a:rPr lang="es-CO" sz="2600" spc="-25" noProof="0" dirty="0">
                <a:latin typeface="Cambria Math"/>
                <a:cs typeface="Cambria Math"/>
              </a:rPr>
              <a:t>)</a:t>
            </a:r>
            <a:endParaRPr lang="es-CO" sz="2600" noProof="0" dirty="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32047" y="28955"/>
            <a:ext cx="4523105" cy="399415"/>
          </a:xfrm>
          <a:prstGeom prst="rect">
            <a:avLst/>
          </a:prstGeom>
          <a:solidFill>
            <a:srgbClr val="ABB620"/>
          </a:solidFill>
        </p:spPr>
        <p:txBody>
          <a:bodyPr vert="horz" wrap="square" lIns="0" tIns="24130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90"/>
              </a:spcBef>
            </a:pPr>
            <a:r>
              <a:rPr lang="es-CO" sz="2000" spc="-22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MEDIDAS</a:t>
            </a:r>
            <a:r>
              <a:rPr lang="es-CO" sz="2000" spc="-19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DE</a:t>
            </a:r>
            <a:r>
              <a:rPr lang="es-CO" sz="2000" spc="-29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14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DISPERSION</a:t>
            </a:r>
            <a:endParaRPr lang="es-CO" sz="2000" noProof="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5299" y="330149"/>
            <a:ext cx="25133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pc="-475" noProof="0" dirty="0"/>
              <a:t>CU</a:t>
            </a:r>
            <a:r>
              <a:rPr lang="es-CO" spc="-425" noProof="0" dirty="0"/>
              <a:t>A</a:t>
            </a:r>
            <a:r>
              <a:rPr lang="es-CO" spc="-955" noProof="0" dirty="0"/>
              <a:t>R</a:t>
            </a:r>
            <a:r>
              <a:rPr lang="es-CO" spc="-815" noProof="0" dirty="0"/>
              <a:t>T</a:t>
            </a:r>
            <a:r>
              <a:rPr lang="es-CO" spc="-725" noProof="0" dirty="0"/>
              <a:t>I</a:t>
            </a:r>
            <a:r>
              <a:rPr lang="es-CO" spc="-715" noProof="0" dirty="0"/>
              <a:t>L</a:t>
            </a:r>
            <a:r>
              <a:rPr lang="es-CO" spc="-710" noProof="0" dirty="0"/>
              <a:t>E</a:t>
            </a:r>
            <a:r>
              <a:rPr lang="es-CO" spc="-15" noProof="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5299" y="1603628"/>
            <a:ext cx="159385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185" noProof="0" dirty="0">
                <a:latin typeface="Microsoft Sans Serif"/>
                <a:cs typeface="Microsoft Sans Serif"/>
              </a:rPr>
              <a:t>Ejemplo: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5299" y="3157005"/>
            <a:ext cx="9897110" cy="152908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0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125" noProof="0" dirty="0">
                <a:latin typeface="Microsoft Sans Serif"/>
                <a:cs typeface="Microsoft Sans Serif"/>
              </a:rPr>
              <a:t>La</a:t>
            </a:r>
            <a:r>
              <a:rPr lang="es-CO" sz="2900" spc="-235" noProof="0" dirty="0">
                <a:latin typeface="Microsoft Sans Serif"/>
                <a:cs typeface="Microsoft Sans Serif"/>
              </a:rPr>
              <a:t> </a:t>
            </a:r>
            <a:r>
              <a:rPr lang="es-CO" sz="2900" spc="-165" noProof="0" dirty="0">
                <a:latin typeface="Microsoft Sans Serif"/>
                <a:cs typeface="Microsoft Sans Serif"/>
              </a:rPr>
              <a:t>ubicación</a:t>
            </a:r>
            <a:r>
              <a:rPr lang="es-CO" sz="2900" spc="-16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5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Q1</a:t>
            </a:r>
            <a:r>
              <a:rPr lang="es-CO" sz="2900" spc="-5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es</a:t>
            </a:r>
            <a:r>
              <a:rPr lang="es-CO" sz="2900" spc="-30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(N+1)/4,</a:t>
            </a:r>
            <a:r>
              <a:rPr lang="es-CO" sz="2900" spc="70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es</a:t>
            </a:r>
            <a:r>
              <a:rPr lang="es-CO" sz="2900" spc="-350" noProof="0" dirty="0">
                <a:latin typeface="Microsoft Sans Serif"/>
                <a:cs typeface="Microsoft Sans Serif"/>
              </a:rPr>
              <a:t> </a:t>
            </a:r>
            <a:r>
              <a:rPr lang="es-CO" sz="2900" spc="-140" noProof="0" dirty="0">
                <a:latin typeface="Microsoft Sans Serif"/>
                <a:cs typeface="Microsoft Sans Serif"/>
              </a:rPr>
              <a:t>decir,</a:t>
            </a:r>
            <a:r>
              <a:rPr lang="es-CO" sz="2900" spc="-135" noProof="0" dirty="0">
                <a:latin typeface="Microsoft Sans Serif"/>
                <a:cs typeface="Microsoft Sans Serif"/>
              </a:rPr>
              <a:t> </a:t>
            </a:r>
            <a:r>
              <a:rPr lang="es-CO" sz="2900" spc="55" noProof="0" dirty="0">
                <a:latin typeface="Microsoft Sans Serif"/>
                <a:cs typeface="Microsoft Sans Serif"/>
              </a:rPr>
              <a:t>(12+1)/4=13/4=3.25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332740" marR="992505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lang="es-CO" sz="2900" spc="-170" noProof="0" dirty="0">
                <a:latin typeface="Microsoft Sans Serif"/>
                <a:cs typeface="Microsoft Sans Serif"/>
              </a:rPr>
              <a:t>Como no</a:t>
            </a:r>
            <a:r>
              <a:rPr lang="es-CO" sz="2900" spc="-490" noProof="0" dirty="0">
                <a:latin typeface="Microsoft Sans Serif"/>
                <a:cs typeface="Microsoft Sans Serif"/>
              </a:rPr>
              <a:t> </a:t>
            </a:r>
            <a:r>
              <a:rPr lang="es-CO" sz="2900" spc="-185" noProof="0" dirty="0">
                <a:latin typeface="Microsoft Sans Serif"/>
                <a:cs typeface="Microsoft Sans Serif"/>
              </a:rPr>
              <a:t>es un número</a:t>
            </a:r>
            <a:r>
              <a:rPr lang="es-CO" sz="2900" spc="-520" noProof="0" dirty="0">
                <a:latin typeface="Microsoft Sans Serif"/>
                <a:cs typeface="Microsoft Sans Serif"/>
              </a:rPr>
              <a:t> </a:t>
            </a:r>
            <a:r>
              <a:rPr lang="es-CO" sz="2900" spc="-130" noProof="0" dirty="0">
                <a:latin typeface="Microsoft Sans Serif"/>
                <a:cs typeface="Microsoft Sans Serif"/>
              </a:rPr>
              <a:t>entero</a:t>
            </a:r>
            <a:r>
              <a:rPr lang="es-CO" sz="2900" spc="-265" noProof="0" dirty="0">
                <a:latin typeface="Microsoft Sans Serif"/>
                <a:cs typeface="Microsoft Sans Serif"/>
              </a:rPr>
              <a:t> </a:t>
            </a:r>
            <a:r>
              <a:rPr lang="es-CO" sz="2900" spc="-204" noProof="0" dirty="0">
                <a:latin typeface="Microsoft Sans Serif"/>
                <a:cs typeface="Microsoft Sans Serif"/>
              </a:rPr>
              <a:t>calculamos</a:t>
            </a:r>
            <a:r>
              <a:rPr lang="es-CO" sz="2900" spc="-409" noProof="0" dirty="0">
                <a:latin typeface="Microsoft Sans Serif"/>
                <a:cs typeface="Microsoft Sans Serif"/>
              </a:rPr>
              <a:t> </a:t>
            </a:r>
            <a:r>
              <a:rPr lang="es-CO" sz="2900" spc="-130" noProof="0" dirty="0">
                <a:latin typeface="Microsoft Sans Serif"/>
                <a:cs typeface="Microsoft Sans Serif"/>
              </a:rPr>
              <a:t>su valor</a:t>
            </a:r>
            <a:r>
              <a:rPr lang="es-CO" sz="2900" spc="-105" noProof="0" dirty="0">
                <a:latin typeface="Microsoft Sans Serif"/>
                <a:cs typeface="Microsoft Sans Serif"/>
              </a:rPr>
              <a:t> </a:t>
            </a:r>
            <a:r>
              <a:rPr lang="es-CO" sz="2900" spc="-50" noProof="0" dirty="0">
                <a:latin typeface="Microsoft Sans Serif"/>
                <a:cs typeface="Microsoft Sans Serif"/>
              </a:rPr>
              <a:t>de</a:t>
            </a:r>
            <a:r>
              <a:rPr lang="es-CO" sz="2900" spc="-135" noProof="0" dirty="0">
                <a:latin typeface="Microsoft Sans Serif"/>
                <a:cs typeface="Microsoft Sans Serif"/>
              </a:rPr>
              <a:t> </a:t>
            </a:r>
            <a:r>
              <a:rPr lang="es-CO" sz="2900" spc="-150" noProof="0" dirty="0">
                <a:latin typeface="Microsoft Sans Serif"/>
                <a:cs typeface="Microsoft Sans Serif"/>
              </a:rPr>
              <a:t>manera </a:t>
            </a:r>
            <a:r>
              <a:rPr lang="es-CO" sz="2900" spc="-110" noProof="0" dirty="0">
                <a:latin typeface="Microsoft Sans Serif"/>
                <a:cs typeface="Microsoft Sans Serif"/>
              </a:rPr>
              <a:t>proporcional</a:t>
            </a:r>
            <a:r>
              <a:rPr lang="es-CO" sz="2900" spc="-160" noProof="0" dirty="0">
                <a:latin typeface="Microsoft Sans Serif"/>
                <a:cs typeface="Microsoft Sans Serif"/>
              </a:rPr>
              <a:t> </a:t>
            </a:r>
            <a:r>
              <a:rPr lang="es-CO" sz="2900" spc="-110" noProof="0" dirty="0">
                <a:latin typeface="Microsoft Sans Serif"/>
                <a:cs typeface="Microsoft Sans Serif"/>
              </a:rPr>
              <a:t>entre</a:t>
            </a:r>
            <a:r>
              <a:rPr lang="es-CO" sz="2900" spc="-16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el</a:t>
            </a:r>
            <a:r>
              <a:rPr lang="es-CO" sz="2900" spc="-185" noProof="0" dirty="0">
                <a:latin typeface="Microsoft Sans Serif"/>
                <a:cs typeface="Microsoft Sans Serif"/>
              </a:rPr>
              <a:t> </a:t>
            </a:r>
            <a:r>
              <a:rPr lang="es-CO" sz="2900" spc="-20" noProof="0" dirty="0">
                <a:latin typeface="Microsoft Sans Serif"/>
                <a:cs typeface="Microsoft Sans Serif"/>
              </a:rPr>
              <a:t>3ro</a:t>
            </a:r>
            <a:r>
              <a:rPr lang="es-CO" sz="2900" spc="-12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y</a:t>
            </a:r>
            <a:r>
              <a:rPr lang="es-CO" sz="2900" spc="-3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el</a:t>
            </a:r>
            <a:r>
              <a:rPr lang="es-CO" sz="2900" spc="-10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4to</a:t>
            </a:r>
            <a:r>
              <a:rPr lang="es-CO" sz="2900" spc="-105" noProof="0" dirty="0">
                <a:latin typeface="Microsoft Sans Serif"/>
                <a:cs typeface="Microsoft Sans Serif"/>
              </a:rPr>
              <a:t> </a:t>
            </a:r>
            <a:r>
              <a:rPr lang="es-CO" sz="2900" spc="-10" noProof="0" dirty="0">
                <a:latin typeface="Microsoft Sans Serif"/>
                <a:cs typeface="Microsoft Sans Serif"/>
              </a:rPr>
              <a:t>valor.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089732"/>
              </p:ext>
            </p:extLst>
          </p:nvPr>
        </p:nvGraphicFramePr>
        <p:xfrm>
          <a:off x="1211910" y="2204859"/>
          <a:ext cx="10078713" cy="64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9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43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23622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30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36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47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52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52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56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60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63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70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70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110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572890" y="4668215"/>
            <a:ext cx="2769235" cy="1311910"/>
          </a:xfrm>
          <a:prstGeom prst="rect">
            <a:avLst/>
          </a:prstGeom>
        </p:spPr>
        <p:txBody>
          <a:bodyPr vert="horz" wrap="square" lIns="0" tIns="229235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1805"/>
              </a:spcBef>
              <a:tabLst>
                <a:tab pos="926465" algn="l"/>
                <a:tab pos="2520315" algn="l"/>
              </a:tabLst>
            </a:pPr>
            <a:r>
              <a:rPr lang="es-CO" sz="2800" noProof="0" dirty="0">
                <a:latin typeface="Cambria Math"/>
                <a:cs typeface="Cambria Math"/>
              </a:rPr>
              <a:t>𝑄</a:t>
            </a:r>
            <a:r>
              <a:rPr lang="es-CO" sz="3075" baseline="-13550" noProof="0" dirty="0">
                <a:latin typeface="Cambria Math"/>
                <a:cs typeface="Cambria Math"/>
              </a:rPr>
              <a:t>1</a:t>
            </a:r>
            <a:r>
              <a:rPr lang="es-CO" sz="3075" spc="450" baseline="-13550" noProof="0" dirty="0">
                <a:latin typeface="Cambria Math"/>
                <a:cs typeface="Cambria Math"/>
              </a:rPr>
              <a:t> </a:t>
            </a:r>
            <a:r>
              <a:rPr lang="es-CO" sz="2800" spc="-50" noProof="0" dirty="0">
                <a:latin typeface="Cambria Math"/>
                <a:cs typeface="Cambria Math"/>
              </a:rPr>
              <a:t>=</a:t>
            </a:r>
            <a:r>
              <a:rPr lang="es-CO" sz="2800" noProof="0" dirty="0">
                <a:latin typeface="Cambria Math"/>
                <a:cs typeface="Cambria Math"/>
              </a:rPr>
              <a:t>	𝑥</a:t>
            </a:r>
            <a:r>
              <a:rPr lang="es-CO" sz="3075" baseline="-13550" noProof="0" dirty="0">
                <a:latin typeface="Cambria Math"/>
                <a:cs typeface="Cambria Math"/>
              </a:rPr>
              <a:t>3</a:t>
            </a:r>
            <a:r>
              <a:rPr lang="es-CO" sz="3075" spc="419" baseline="-13550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+</a:t>
            </a:r>
            <a:r>
              <a:rPr lang="es-CO" sz="2800" spc="-20" noProof="0" dirty="0">
                <a:latin typeface="Cambria Math"/>
                <a:cs typeface="Cambria Math"/>
              </a:rPr>
              <a:t> 0.25</a:t>
            </a:r>
            <a:r>
              <a:rPr lang="es-CO" sz="2800" noProof="0" dirty="0">
                <a:latin typeface="Cambria Math"/>
                <a:cs typeface="Cambria Math"/>
              </a:rPr>
              <a:t>	</a:t>
            </a:r>
            <a:r>
              <a:rPr lang="es-CO" sz="2800" spc="-50" noProof="0" dirty="0">
                <a:latin typeface="Cambria Math"/>
                <a:cs typeface="Cambria Math"/>
              </a:rPr>
              <a:t>∗</a:t>
            </a:r>
            <a:endParaRPr lang="es-CO" sz="2800" noProof="0" dirty="0">
              <a:latin typeface="Cambria Math"/>
              <a:cs typeface="Cambria Math"/>
            </a:endParaRPr>
          </a:p>
          <a:p>
            <a:pPr marR="46355" algn="r">
              <a:lnSpc>
                <a:spcPct val="100000"/>
              </a:lnSpc>
              <a:spcBef>
                <a:spcPts val="1700"/>
              </a:spcBef>
              <a:tabLst>
                <a:tab pos="2000885" algn="l"/>
              </a:tabLst>
            </a:pPr>
            <a:r>
              <a:rPr lang="es-CO" sz="2800" noProof="0" dirty="0">
                <a:latin typeface="Cambria Math"/>
                <a:cs typeface="Cambria Math"/>
              </a:rPr>
              <a:t>=</a:t>
            </a:r>
            <a:r>
              <a:rPr lang="es-CO" sz="2800" spc="135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47</a:t>
            </a:r>
            <a:r>
              <a:rPr lang="es-CO" sz="2800" spc="-15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+</a:t>
            </a:r>
            <a:r>
              <a:rPr lang="es-CO" sz="2800" spc="-25" noProof="0" dirty="0">
                <a:latin typeface="Cambria Math"/>
                <a:cs typeface="Cambria Math"/>
              </a:rPr>
              <a:t> </a:t>
            </a:r>
            <a:r>
              <a:rPr lang="es-CO" sz="2800" spc="-20" noProof="0" dirty="0">
                <a:latin typeface="Cambria Math"/>
                <a:cs typeface="Cambria Math"/>
              </a:rPr>
              <a:t>0.25</a:t>
            </a:r>
            <a:r>
              <a:rPr lang="es-CO" sz="2800" noProof="0" dirty="0">
                <a:latin typeface="Cambria Math"/>
                <a:cs typeface="Cambria Math"/>
              </a:rPr>
              <a:t>	</a:t>
            </a:r>
            <a:r>
              <a:rPr lang="es-CO" sz="2800" spc="-50" noProof="0" dirty="0">
                <a:latin typeface="Cambria Math"/>
                <a:cs typeface="Cambria Math"/>
              </a:rPr>
              <a:t>∗</a:t>
            </a:r>
            <a:endParaRPr lang="es-CO" sz="2800" noProof="0" dirty="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729346" y="4995671"/>
            <a:ext cx="109855" cy="327660"/>
          </a:xfrm>
          <a:custGeom>
            <a:avLst/>
            <a:gdLst/>
            <a:ahLst/>
            <a:cxnLst/>
            <a:rect l="l" t="t" r="r" b="b"/>
            <a:pathLst>
              <a:path w="109854" h="327660">
                <a:moveTo>
                  <a:pt x="4699" y="0"/>
                </a:moveTo>
                <a:lnTo>
                  <a:pt x="0" y="13334"/>
                </a:lnTo>
                <a:lnTo>
                  <a:pt x="19050" y="21462"/>
                </a:lnTo>
                <a:lnTo>
                  <a:pt x="35432" y="32892"/>
                </a:lnTo>
                <a:lnTo>
                  <a:pt x="60198" y="65150"/>
                </a:lnTo>
                <a:lnTo>
                  <a:pt x="74802" y="108711"/>
                </a:lnTo>
                <a:lnTo>
                  <a:pt x="79628" y="162178"/>
                </a:lnTo>
                <a:lnTo>
                  <a:pt x="78358" y="191134"/>
                </a:lnTo>
                <a:lnTo>
                  <a:pt x="68706" y="240918"/>
                </a:lnTo>
                <a:lnTo>
                  <a:pt x="49022" y="279780"/>
                </a:lnTo>
                <a:lnTo>
                  <a:pt x="19303" y="306069"/>
                </a:lnTo>
                <a:lnTo>
                  <a:pt x="507" y="314324"/>
                </a:lnTo>
                <a:lnTo>
                  <a:pt x="4699" y="327659"/>
                </a:lnTo>
                <a:lnTo>
                  <a:pt x="49529" y="306704"/>
                </a:lnTo>
                <a:lnTo>
                  <a:pt x="82550" y="270382"/>
                </a:lnTo>
                <a:lnTo>
                  <a:pt x="102870" y="221741"/>
                </a:lnTo>
                <a:lnTo>
                  <a:pt x="109600" y="163956"/>
                </a:lnTo>
                <a:lnTo>
                  <a:pt x="107950" y="133857"/>
                </a:lnTo>
                <a:lnTo>
                  <a:pt x="94360" y="80644"/>
                </a:lnTo>
                <a:lnTo>
                  <a:pt x="67436" y="37210"/>
                </a:lnTo>
                <a:lnTo>
                  <a:pt x="28575" y="8508"/>
                </a:lnTo>
                <a:lnTo>
                  <a:pt x="46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8" name="object 8"/>
          <p:cNvSpPr/>
          <p:nvPr/>
        </p:nvSpPr>
        <p:spPr>
          <a:xfrm>
            <a:off x="6403847" y="4995671"/>
            <a:ext cx="109855" cy="327660"/>
          </a:xfrm>
          <a:custGeom>
            <a:avLst/>
            <a:gdLst/>
            <a:ahLst/>
            <a:cxnLst/>
            <a:rect l="l" t="t" r="r" b="b"/>
            <a:pathLst>
              <a:path w="109854" h="327660">
                <a:moveTo>
                  <a:pt x="104901" y="0"/>
                </a:moveTo>
                <a:lnTo>
                  <a:pt x="60071" y="20954"/>
                </a:lnTo>
                <a:lnTo>
                  <a:pt x="27177" y="57403"/>
                </a:lnTo>
                <a:lnTo>
                  <a:pt x="6730" y="106171"/>
                </a:lnTo>
                <a:lnTo>
                  <a:pt x="0" y="163956"/>
                </a:lnTo>
                <a:lnTo>
                  <a:pt x="1650" y="194055"/>
                </a:lnTo>
                <a:lnTo>
                  <a:pt x="15239" y="247268"/>
                </a:lnTo>
                <a:lnTo>
                  <a:pt x="42037" y="290448"/>
                </a:lnTo>
                <a:lnTo>
                  <a:pt x="80899" y="319150"/>
                </a:lnTo>
                <a:lnTo>
                  <a:pt x="104901" y="327659"/>
                </a:lnTo>
                <a:lnTo>
                  <a:pt x="109093" y="314324"/>
                </a:lnTo>
                <a:lnTo>
                  <a:pt x="90297" y="306069"/>
                </a:lnTo>
                <a:lnTo>
                  <a:pt x="74167" y="294639"/>
                </a:lnTo>
                <a:lnTo>
                  <a:pt x="49529" y="261873"/>
                </a:lnTo>
                <a:lnTo>
                  <a:pt x="34798" y="217296"/>
                </a:lnTo>
                <a:lnTo>
                  <a:pt x="29972" y="162178"/>
                </a:lnTo>
                <a:lnTo>
                  <a:pt x="31241" y="134238"/>
                </a:lnTo>
                <a:lnTo>
                  <a:pt x="40893" y="85725"/>
                </a:lnTo>
                <a:lnTo>
                  <a:pt x="60578" y="47497"/>
                </a:lnTo>
                <a:lnTo>
                  <a:pt x="90677" y="21462"/>
                </a:lnTo>
                <a:lnTo>
                  <a:pt x="109600" y="13334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9" name="object 9"/>
          <p:cNvSpPr/>
          <p:nvPr/>
        </p:nvSpPr>
        <p:spPr>
          <a:xfrm>
            <a:off x="7721727" y="5637276"/>
            <a:ext cx="109855" cy="329565"/>
          </a:xfrm>
          <a:custGeom>
            <a:avLst/>
            <a:gdLst/>
            <a:ahLst/>
            <a:cxnLst/>
            <a:rect l="l" t="t" r="r" b="b"/>
            <a:pathLst>
              <a:path w="109854" h="329564">
                <a:moveTo>
                  <a:pt x="4699" y="0"/>
                </a:moveTo>
                <a:lnTo>
                  <a:pt x="0" y="13360"/>
                </a:lnTo>
                <a:lnTo>
                  <a:pt x="19050" y="21628"/>
                </a:lnTo>
                <a:lnTo>
                  <a:pt x="35432" y="33083"/>
                </a:lnTo>
                <a:lnTo>
                  <a:pt x="60198" y="65506"/>
                </a:lnTo>
                <a:lnTo>
                  <a:pt x="74802" y="109245"/>
                </a:lnTo>
                <a:lnTo>
                  <a:pt x="79628" y="162940"/>
                </a:lnTo>
                <a:lnTo>
                  <a:pt x="78358" y="191973"/>
                </a:lnTo>
                <a:lnTo>
                  <a:pt x="68706" y="242023"/>
                </a:lnTo>
                <a:lnTo>
                  <a:pt x="49022" y="281127"/>
                </a:lnTo>
                <a:lnTo>
                  <a:pt x="19303" y="307492"/>
                </a:lnTo>
                <a:lnTo>
                  <a:pt x="507" y="315798"/>
                </a:lnTo>
                <a:lnTo>
                  <a:pt x="4699" y="329171"/>
                </a:lnTo>
                <a:lnTo>
                  <a:pt x="49529" y="308102"/>
                </a:lnTo>
                <a:lnTo>
                  <a:pt x="82550" y="271653"/>
                </a:lnTo>
                <a:lnTo>
                  <a:pt x="102870" y="222821"/>
                </a:lnTo>
                <a:lnTo>
                  <a:pt x="109600" y="164668"/>
                </a:lnTo>
                <a:lnTo>
                  <a:pt x="107950" y="134493"/>
                </a:lnTo>
                <a:lnTo>
                  <a:pt x="94361" y="81000"/>
                </a:lnTo>
                <a:lnTo>
                  <a:pt x="67437" y="37465"/>
                </a:lnTo>
                <a:lnTo>
                  <a:pt x="28575" y="8610"/>
                </a:lnTo>
                <a:lnTo>
                  <a:pt x="46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10" name="object 10"/>
          <p:cNvSpPr/>
          <p:nvPr/>
        </p:nvSpPr>
        <p:spPr>
          <a:xfrm>
            <a:off x="6388608" y="5637276"/>
            <a:ext cx="109855" cy="329565"/>
          </a:xfrm>
          <a:custGeom>
            <a:avLst/>
            <a:gdLst/>
            <a:ahLst/>
            <a:cxnLst/>
            <a:rect l="l" t="t" r="r" b="b"/>
            <a:pathLst>
              <a:path w="109854" h="329564">
                <a:moveTo>
                  <a:pt x="104901" y="0"/>
                </a:moveTo>
                <a:lnTo>
                  <a:pt x="60070" y="21107"/>
                </a:lnTo>
                <a:lnTo>
                  <a:pt x="27177" y="57683"/>
                </a:lnTo>
                <a:lnTo>
                  <a:pt x="6730" y="106603"/>
                </a:lnTo>
                <a:lnTo>
                  <a:pt x="0" y="164668"/>
                </a:lnTo>
                <a:lnTo>
                  <a:pt x="1650" y="194906"/>
                </a:lnTo>
                <a:lnTo>
                  <a:pt x="15239" y="248399"/>
                </a:lnTo>
                <a:lnTo>
                  <a:pt x="42037" y="291795"/>
                </a:lnTo>
                <a:lnTo>
                  <a:pt x="80899" y="320560"/>
                </a:lnTo>
                <a:lnTo>
                  <a:pt x="104901" y="329171"/>
                </a:lnTo>
                <a:lnTo>
                  <a:pt x="109092" y="315798"/>
                </a:lnTo>
                <a:lnTo>
                  <a:pt x="90296" y="307492"/>
                </a:lnTo>
                <a:lnTo>
                  <a:pt x="74167" y="295935"/>
                </a:lnTo>
                <a:lnTo>
                  <a:pt x="49529" y="263055"/>
                </a:lnTo>
                <a:lnTo>
                  <a:pt x="34797" y="218325"/>
                </a:lnTo>
                <a:lnTo>
                  <a:pt x="29971" y="162940"/>
                </a:lnTo>
                <a:lnTo>
                  <a:pt x="31241" y="134848"/>
                </a:lnTo>
                <a:lnTo>
                  <a:pt x="40893" y="86131"/>
                </a:lnTo>
                <a:lnTo>
                  <a:pt x="60578" y="47701"/>
                </a:lnTo>
                <a:lnTo>
                  <a:pt x="90677" y="21628"/>
                </a:lnTo>
                <a:lnTo>
                  <a:pt x="109600" y="13360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11" name="object 11"/>
          <p:cNvSpPr txBox="1"/>
          <p:nvPr/>
        </p:nvSpPr>
        <p:spPr>
          <a:xfrm>
            <a:off x="6468745" y="4587570"/>
            <a:ext cx="1272540" cy="1315720"/>
          </a:xfrm>
          <a:prstGeom prst="rect">
            <a:avLst/>
          </a:prstGeom>
        </p:spPr>
        <p:txBody>
          <a:bodyPr vert="horz" wrap="square" lIns="0" tIns="23114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1820"/>
              </a:spcBef>
              <a:tabLst>
                <a:tab pos="904875" algn="l"/>
              </a:tabLst>
            </a:pPr>
            <a:r>
              <a:rPr lang="es-CO" sz="2800" noProof="0" dirty="0">
                <a:latin typeface="Cambria Math"/>
                <a:cs typeface="Cambria Math"/>
              </a:rPr>
              <a:t>𝑥</a:t>
            </a:r>
            <a:r>
              <a:rPr lang="es-CO" sz="3075" baseline="-13550" noProof="0" dirty="0">
                <a:latin typeface="Cambria Math"/>
                <a:cs typeface="Cambria Math"/>
              </a:rPr>
              <a:t>4</a:t>
            </a:r>
            <a:r>
              <a:rPr lang="es-CO" sz="3075" spc="427" baseline="-13550" noProof="0" dirty="0">
                <a:latin typeface="Cambria Math"/>
                <a:cs typeface="Cambria Math"/>
              </a:rPr>
              <a:t> </a:t>
            </a:r>
            <a:r>
              <a:rPr lang="es-CO" sz="2800" spc="-50" noProof="0" dirty="0">
                <a:latin typeface="Cambria Math"/>
                <a:cs typeface="Cambria Math"/>
              </a:rPr>
              <a:t>−</a:t>
            </a:r>
            <a:r>
              <a:rPr lang="es-CO" sz="2800" noProof="0" dirty="0">
                <a:latin typeface="Cambria Math"/>
                <a:cs typeface="Cambria Math"/>
              </a:rPr>
              <a:t>	</a:t>
            </a:r>
            <a:r>
              <a:rPr lang="es-CO" sz="2800" spc="-25" noProof="0" dirty="0">
                <a:latin typeface="Cambria Math"/>
                <a:cs typeface="Cambria Math"/>
              </a:rPr>
              <a:t>𝑥</a:t>
            </a:r>
            <a:r>
              <a:rPr lang="es-CO" sz="3075" spc="-37" baseline="-13550" noProof="0" dirty="0">
                <a:latin typeface="Cambria Math"/>
                <a:cs typeface="Cambria Math"/>
              </a:rPr>
              <a:t>3</a:t>
            </a:r>
            <a:endParaRPr lang="es-CO" sz="3075" baseline="-13550" noProof="0" dirty="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720"/>
              </a:spcBef>
            </a:pPr>
            <a:r>
              <a:rPr lang="es-CO" sz="2800" noProof="0" dirty="0">
                <a:latin typeface="Cambria Math"/>
                <a:cs typeface="Cambria Math"/>
              </a:rPr>
              <a:t>50</a:t>
            </a:r>
            <a:r>
              <a:rPr lang="es-CO" sz="2800" spc="-75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−</a:t>
            </a:r>
            <a:r>
              <a:rPr lang="es-CO" sz="2800" spc="-75" noProof="0" dirty="0">
                <a:latin typeface="Cambria Math"/>
                <a:cs typeface="Cambria Math"/>
              </a:rPr>
              <a:t> </a:t>
            </a:r>
            <a:r>
              <a:rPr lang="es-CO" sz="2800" spc="-25" noProof="0" dirty="0">
                <a:latin typeface="Cambria Math"/>
                <a:cs typeface="Cambria Math"/>
              </a:rPr>
              <a:t>47</a:t>
            </a:r>
            <a:endParaRPr lang="es-CO" sz="2800" noProof="0" dirty="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51089" y="5527344"/>
            <a:ext cx="12376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CO" sz="2800" noProof="0" dirty="0">
                <a:latin typeface="Cambria Math"/>
                <a:cs typeface="Cambria Math"/>
              </a:rPr>
              <a:t>=</a:t>
            </a:r>
            <a:r>
              <a:rPr lang="es-CO" sz="2800" spc="65" noProof="0" dirty="0">
                <a:latin typeface="Cambria Math"/>
                <a:cs typeface="Cambria Math"/>
              </a:rPr>
              <a:t> </a:t>
            </a:r>
            <a:r>
              <a:rPr lang="es-CO" sz="2800" spc="-10" noProof="0" dirty="0">
                <a:latin typeface="Cambria Math"/>
                <a:cs typeface="Cambria Math"/>
              </a:rPr>
              <a:t>47.75</a:t>
            </a:r>
            <a:endParaRPr lang="es-CO" sz="2800" noProof="0" dirty="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32047" y="28955"/>
            <a:ext cx="4523105" cy="399415"/>
          </a:xfrm>
          <a:prstGeom prst="rect">
            <a:avLst/>
          </a:prstGeom>
          <a:solidFill>
            <a:srgbClr val="ABB620"/>
          </a:solidFill>
        </p:spPr>
        <p:txBody>
          <a:bodyPr vert="horz" wrap="square" lIns="0" tIns="24130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90"/>
              </a:spcBef>
            </a:pPr>
            <a:r>
              <a:rPr lang="es-CO" sz="2000" spc="-22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MEDIDAS</a:t>
            </a:r>
            <a:r>
              <a:rPr lang="es-CO" sz="2000" spc="-19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DE</a:t>
            </a:r>
            <a:r>
              <a:rPr lang="es-CO" sz="2000" spc="-29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14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DISPERSION</a:t>
            </a:r>
            <a:endParaRPr lang="es-CO" sz="2000" noProof="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5299" y="330149"/>
            <a:ext cx="25133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pc="-475" noProof="0" dirty="0"/>
              <a:t>CU</a:t>
            </a:r>
            <a:r>
              <a:rPr lang="es-CO" spc="-425" noProof="0" dirty="0"/>
              <a:t>A</a:t>
            </a:r>
            <a:r>
              <a:rPr lang="es-CO" spc="-955" noProof="0" dirty="0"/>
              <a:t>R</a:t>
            </a:r>
            <a:r>
              <a:rPr lang="es-CO" spc="-815" noProof="0" dirty="0"/>
              <a:t>T</a:t>
            </a:r>
            <a:r>
              <a:rPr lang="es-CO" spc="-725" noProof="0" dirty="0"/>
              <a:t>I</a:t>
            </a:r>
            <a:r>
              <a:rPr lang="es-CO" spc="-715" noProof="0" dirty="0"/>
              <a:t>L</a:t>
            </a:r>
            <a:r>
              <a:rPr lang="es-CO" spc="-710" noProof="0" dirty="0"/>
              <a:t>E</a:t>
            </a:r>
            <a:r>
              <a:rPr lang="es-CO" spc="-15" noProof="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5299" y="1603628"/>
            <a:ext cx="159385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185" noProof="0" dirty="0">
                <a:latin typeface="Microsoft Sans Serif"/>
                <a:cs typeface="Microsoft Sans Serif"/>
              </a:rPr>
              <a:t>Ejemplo: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5299" y="3157005"/>
            <a:ext cx="9687560" cy="1529080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0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125" noProof="0" dirty="0">
                <a:latin typeface="Microsoft Sans Serif"/>
                <a:cs typeface="Microsoft Sans Serif"/>
              </a:rPr>
              <a:t>La</a:t>
            </a:r>
            <a:r>
              <a:rPr lang="es-CO" sz="2900" spc="-240" noProof="0" dirty="0">
                <a:latin typeface="Microsoft Sans Serif"/>
                <a:cs typeface="Microsoft Sans Serif"/>
              </a:rPr>
              <a:t> </a:t>
            </a:r>
            <a:r>
              <a:rPr lang="es-CO" sz="2900" spc="-165" noProof="0" dirty="0">
                <a:latin typeface="Microsoft Sans Serif"/>
                <a:cs typeface="Microsoft Sans Serif"/>
              </a:rPr>
              <a:t>ubicación</a:t>
            </a:r>
            <a:r>
              <a:rPr lang="es-CO" sz="2900" spc="-15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9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Q3</a:t>
            </a:r>
            <a:r>
              <a:rPr lang="es-CO" sz="2900" spc="-20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es</a:t>
            </a:r>
            <a:r>
              <a:rPr lang="es-CO" sz="2900" spc="-295" noProof="0" dirty="0">
                <a:latin typeface="Microsoft Sans Serif"/>
                <a:cs typeface="Microsoft Sans Serif"/>
              </a:rPr>
              <a:t> </a:t>
            </a:r>
            <a:r>
              <a:rPr lang="es-CO" sz="2900" spc="45" noProof="0" dirty="0">
                <a:latin typeface="Microsoft Sans Serif"/>
                <a:cs typeface="Microsoft Sans Serif"/>
              </a:rPr>
              <a:t>3(N+1)/4=</a:t>
            </a:r>
            <a:r>
              <a:rPr lang="es-CO" sz="2900" spc="65" noProof="0" dirty="0">
                <a:latin typeface="Microsoft Sans Serif"/>
                <a:cs typeface="Microsoft Sans Serif"/>
              </a:rPr>
              <a:t> </a:t>
            </a:r>
            <a:r>
              <a:rPr lang="es-CO" sz="2900" spc="45" noProof="0" dirty="0">
                <a:latin typeface="Microsoft Sans Serif"/>
                <a:cs typeface="Microsoft Sans Serif"/>
              </a:rPr>
              <a:t>3*(12+1)/4=3*13/4=9.75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332740" marR="78232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lang="es-CO" sz="2900" spc="-170" noProof="0" dirty="0">
                <a:latin typeface="Microsoft Sans Serif"/>
                <a:cs typeface="Microsoft Sans Serif"/>
              </a:rPr>
              <a:t>Como no</a:t>
            </a:r>
            <a:r>
              <a:rPr lang="es-CO" sz="2900" spc="-490" noProof="0" dirty="0">
                <a:latin typeface="Microsoft Sans Serif"/>
                <a:cs typeface="Microsoft Sans Serif"/>
              </a:rPr>
              <a:t> </a:t>
            </a:r>
            <a:r>
              <a:rPr lang="es-CO" sz="2900" spc="-185" noProof="0" dirty="0">
                <a:latin typeface="Microsoft Sans Serif"/>
                <a:cs typeface="Microsoft Sans Serif"/>
              </a:rPr>
              <a:t>es un número</a:t>
            </a:r>
            <a:r>
              <a:rPr lang="es-CO" sz="2900" spc="-520" noProof="0" dirty="0">
                <a:latin typeface="Microsoft Sans Serif"/>
                <a:cs typeface="Microsoft Sans Serif"/>
              </a:rPr>
              <a:t> </a:t>
            </a:r>
            <a:r>
              <a:rPr lang="es-CO" sz="2900" spc="-130" noProof="0" dirty="0">
                <a:latin typeface="Microsoft Sans Serif"/>
                <a:cs typeface="Microsoft Sans Serif"/>
              </a:rPr>
              <a:t>entero</a:t>
            </a:r>
            <a:r>
              <a:rPr lang="es-CO" sz="2900" spc="-265" noProof="0" dirty="0">
                <a:latin typeface="Microsoft Sans Serif"/>
                <a:cs typeface="Microsoft Sans Serif"/>
              </a:rPr>
              <a:t> </a:t>
            </a:r>
            <a:r>
              <a:rPr lang="es-CO" sz="2900" spc="-204" noProof="0" dirty="0">
                <a:latin typeface="Microsoft Sans Serif"/>
                <a:cs typeface="Microsoft Sans Serif"/>
              </a:rPr>
              <a:t>calculamos</a:t>
            </a:r>
            <a:r>
              <a:rPr lang="es-CO" sz="2900" spc="-409" noProof="0" dirty="0">
                <a:latin typeface="Microsoft Sans Serif"/>
                <a:cs typeface="Microsoft Sans Serif"/>
              </a:rPr>
              <a:t> </a:t>
            </a:r>
            <a:r>
              <a:rPr lang="es-CO" sz="2900" spc="-130" noProof="0" dirty="0">
                <a:latin typeface="Microsoft Sans Serif"/>
                <a:cs typeface="Microsoft Sans Serif"/>
              </a:rPr>
              <a:t>su valor</a:t>
            </a:r>
            <a:r>
              <a:rPr lang="es-CO" sz="2900" spc="-105" noProof="0" dirty="0">
                <a:latin typeface="Microsoft Sans Serif"/>
                <a:cs typeface="Microsoft Sans Serif"/>
              </a:rPr>
              <a:t> </a:t>
            </a:r>
            <a:r>
              <a:rPr lang="es-CO" sz="2900" spc="-50" noProof="0" dirty="0">
                <a:latin typeface="Microsoft Sans Serif"/>
                <a:cs typeface="Microsoft Sans Serif"/>
              </a:rPr>
              <a:t>de</a:t>
            </a:r>
            <a:r>
              <a:rPr lang="es-CO" sz="2900" spc="-135" noProof="0" dirty="0">
                <a:latin typeface="Microsoft Sans Serif"/>
                <a:cs typeface="Microsoft Sans Serif"/>
              </a:rPr>
              <a:t> </a:t>
            </a:r>
            <a:r>
              <a:rPr lang="es-CO" sz="2900" spc="-150" noProof="0" dirty="0">
                <a:latin typeface="Microsoft Sans Serif"/>
                <a:cs typeface="Microsoft Sans Serif"/>
              </a:rPr>
              <a:t>manera </a:t>
            </a:r>
            <a:r>
              <a:rPr lang="es-CO" sz="2900" spc="-110" noProof="0" dirty="0">
                <a:latin typeface="Microsoft Sans Serif"/>
                <a:cs typeface="Microsoft Sans Serif"/>
              </a:rPr>
              <a:t>proporcional</a:t>
            </a:r>
            <a:r>
              <a:rPr lang="es-CO" sz="2900" spc="-160" noProof="0" dirty="0">
                <a:latin typeface="Microsoft Sans Serif"/>
                <a:cs typeface="Microsoft Sans Serif"/>
              </a:rPr>
              <a:t> </a:t>
            </a:r>
            <a:r>
              <a:rPr lang="es-CO" sz="2900" spc="-110" noProof="0" dirty="0">
                <a:latin typeface="Microsoft Sans Serif"/>
                <a:cs typeface="Microsoft Sans Serif"/>
              </a:rPr>
              <a:t>entre</a:t>
            </a:r>
            <a:r>
              <a:rPr lang="es-CO" sz="2900" spc="-16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el</a:t>
            </a:r>
            <a:r>
              <a:rPr lang="es-CO" sz="2900" spc="-125" noProof="0" dirty="0">
                <a:latin typeface="Microsoft Sans Serif"/>
                <a:cs typeface="Microsoft Sans Serif"/>
              </a:rPr>
              <a:t>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9no</a:t>
            </a:r>
            <a:r>
              <a:rPr lang="es-CO" sz="2900" spc="-14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y</a:t>
            </a:r>
            <a:r>
              <a:rPr lang="es-CO" sz="2900" spc="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el</a:t>
            </a:r>
            <a:r>
              <a:rPr lang="es-CO" sz="2900" spc="-90" noProof="0" dirty="0">
                <a:latin typeface="Microsoft Sans Serif"/>
                <a:cs typeface="Microsoft Sans Serif"/>
              </a:rPr>
              <a:t> </a:t>
            </a:r>
            <a:r>
              <a:rPr lang="es-CO" sz="2900" spc="-125" noProof="0" dirty="0">
                <a:latin typeface="Microsoft Sans Serif"/>
                <a:cs typeface="Microsoft Sans Serif"/>
              </a:rPr>
              <a:t>10mo</a:t>
            </a:r>
            <a:r>
              <a:rPr lang="es-CO" sz="2900" spc="-165" noProof="0" dirty="0">
                <a:latin typeface="Microsoft Sans Serif"/>
                <a:cs typeface="Microsoft Sans Serif"/>
              </a:rPr>
              <a:t> </a:t>
            </a:r>
            <a:r>
              <a:rPr lang="es-CO" sz="2900" spc="-10" noProof="0" dirty="0">
                <a:latin typeface="Microsoft Sans Serif"/>
                <a:cs typeface="Microsoft Sans Serif"/>
              </a:rPr>
              <a:t>valor.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297731"/>
              </p:ext>
            </p:extLst>
          </p:nvPr>
        </p:nvGraphicFramePr>
        <p:xfrm>
          <a:off x="1211910" y="2204859"/>
          <a:ext cx="10078713" cy="64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9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43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23622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30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36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47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52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52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56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60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63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70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70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110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572890" y="4668215"/>
            <a:ext cx="2769235" cy="1311910"/>
          </a:xfrm>
          <a:prstGeom prst="rect">
            <a:avLst/>
          </a:prstGeom>
        </p:spPr>
        <p:txBody>
          <a:bodyPr vert="horz" wrap="square" lIns="0" tIns="229235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1805"/>
              </a:spcBef>
              <a:tabLst>
                <a:tab pos="934085" algn="l"/>
                <a:tab pos="2520315" algn="l"/>
              </a:tabLst>
            </a:pPr>
            <a:r>
              <a:rPr lang="es-CO" sz="2800" noProof="0" dirty="0">
                <a:latin typeface="Cambria Math"/>
                <a:cs typeface="Cambria Math"/>
              </a:rPr>
              <a:t>𝑄</a:t>
            </a:r>
            <a:r>
              <a:rPr lang="es-CO" sz="3075" baseline="-13550" noProof="0" dirty="0">
                <a:latin typeface="Cambria Math"/>
                <a:cs typeface="Cambria Math"/>
              </a:rPr>
              <a:t>3</a:t>
            </a:r>
            <a:r>
              <a:rPr lang="es-CO" sz="3075" spc="540" baseline="-13550" noProof="0" dirty="0">
                <a:latin typeface="Cambria Math"/>
                <a:cs typeface="Cambria Math"/>
              </a:rPr>
              <a:t> </a:t>
            </a:r>
            <a:r>
              <a:rPr lang="es-CO" sz="2800" spc="-50" noProof="0" dirty="0">
                <a:latin typeface="Cambria Math"/>
                <a:cs typeface="Cambria Math"/>
              </a:rPr>
              <a:t>=</a:t>
            </a:r>
            <a:r>
              <a:rPr lang="es-CO" sz="2800" noProof="0" dirty="0">
                <a:latin typeface="Cambria Math"/>
                <a:cs typeface="Cambria Math"/>
              </a:rPr>
              <a:t>	𝑥</a:t>
            </a:r>
            <a:r>
              <a:rPr lang="es-CO" sz="3075" baseline="-13550" noProof="0" dirty="0">
                <a:latin typeface="Cambria Math"/>
                <a:cs typeface="Cambria Math"/>
              </a:rPr>
              <a:t>9</a:t>
            </a:r>
            <a:r>
              <a:rPr lang="es-CO" sz="3075" spc="352" baseline="-13550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+</a:t>
            </a:r>
            <a:r>
              <a:rPr lang="es-CO" sz="2800" spc="-30" noProof="0" dirty="0">
                <a:latin typeface="Cambria Math"/>
                <a:cs typeface="Cambria Math"/>
              </a:rPr>
              <a:t> </a:t>
            </a:r>
            <a:r>
              <a:rPr lang="es-CO" sz="2800" spc="-20" noProof="0" dirty="0">
                <a:latin typeface="Cambria Math"/>
                <a:cs typeface="Cambria Math"/>
              </a:rPr>
              <a:t>0.75</a:t>
            </a:r>
            <a:r>
              <a:rPr lang="es-CO" sz="2800" noProof="0" dirty="0">
                <a:latin typeface="Cambria Math"/>
                <a:cs typeface="Cambria Math"/>
              </a:rPr>
              <a:t>	</a:t>
            </a:r>
            <a:r>
              <a:rPr lang="es-CO" sz="2800" spc="-50" noProof="0" dirty="0">
                <a:latin typeface="Cambria Math"/>
                <a:cs typeface="Cambria Math"/>
              </a:rPr>
              <a:t>∗</a:t>
            </a:r>
            <a:endParaRPr lang="es-CO" sz="2800" noProof="0" dirty="0">
              <a:latin typeface="Cambria Math"/>
              <a:cs typeface="Cambria Math"/>
            </a:endParaRPr>
          </a:p>
          <a:p>
            <a:pPr marR="46355" algn="r">
              <a:lnSpc>
                <a:spcPct val="100000"/>
              </a:lnSpc>
              <a:spcBef>
                <a:spcPts val="1700"/>
              </a:spcBef>
              <a:tabLst>
                <a:tab pos="2000885" algn="l"/>
              </a:tabLst>
            </a:pPr>
            <a:r>
              <a:rPr lang="es-CO" sz="2800" noProof="0" dirty="0">
                <a:latin typeface="Cambria Math"/>
                <a:cs typeface="Cambria Math"/>
              </a:rPr>
              <a:t>=</a:t>
            </a:r>
            <a:r>
              <a:rPr lang="es-CO" sz="2800" spc="135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63</a:t>
            </a:r>
            <a:r>
              <a:rPr lang="es-CO" sz="2800" spc="-15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+</a:t>
            </a:r>
            <a:r>
              <a:rPr lang="es-CO" sz="2800" spc="-25" noProof="0" dirty="0">
                <a:latin typeface="Cambria Math"/>
                <a:cs typeface="Cambria Math"/>
              </a:rPr>
              <a:t> </a:t>
            </a:r>
            <a:r>
              <a:rPr lang="es-CO" sz="2800" spc="-20" noProof="0" dirty="0">
                <a:latin typeface="Cambria Math"/>
                <a:cs typeface="Cambria Math"/>
              </a:rPr>
              <a:t>0.75</a:t>
            </a:r>
            <a:r>
              <a:rPr lang="es-CO" sz="2800" noProof="0" dirty="0">
                <a:latin typeface="Cambria Math"/>
                <a:cs typeface="Cambria Math"/>
              </a:rPr>
              <a:t>	</a:t>
            </a:r>
            <a:r>
              <a:rPr lang="es-CO" sz="2800" spc="-50" noProof="0" dirty="0">
                <a:latin typeface="Cambria Math"/>
                <a:cs typeface="Cambria Math"/>
              </a:rPr>
              <a:t>∗</a:t>
            </a:r>
            <a:endParaRPr lang="es-CO" sz="2800" noProof="0" dirty="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866506" y="4995671"/>
            <a:ext cx="109855" cy="327660"/>
          </a:xfrm>
          <a:custGeom>
            <a:avLst/>
            <a:gdLst/>
            <a:ahLst/>
            <a:cxnLst/>
            <a:rect l="l" t="t" r="r" b="b"/>
            <a:pathLst>
              <a:path w="109854" h="327660">
                <a:moveTo>
                  <a:pt x="4699" y="0"/>
                </a:moveTo>
                <a:lnTo>
                  <a:pt x="0" y="13334"/>
                </a:lnTo>
                <a:lnTo>
                  <a:pt x="19050" y="21462"/>
                </a:lnTo>
                <a:lnTo>
                  <a:pt x="35433" y="32892"/>
                </a:lnTo>
                <a:lnTo>
                  <a:pt x="60198" y="65150"/>
                </a:lnTo>
                <a:lnTo>
                  <a:pt x="74802" y="108711"/>
                </a:lnTo>
                <a:lnTo>
                  <a:pt x="79628" y="162178"/>
                </a:lnTo>
                <a:lnTo>
                  <a:pt x="78359" y="191134"/>
                </a:lnTo>
                <a:lnTo>
                  <a:pt x="68707" y="240918"/>
                </a:lnTo>
                <a:lnTo>
                  <a:pt x="49022" y="279780"/>
                </a:lnTo>
                <a:lnTo>
                  <a:pt x="19303" y="306069"/>
                </a:lnTo>
                <a:lnTo>
                  <a:pt x="508" y="314324"/>
                </a:lnTo>
                <a:lnTo>
                  <a:pt x="4699" y="327659"/>
                </a:lnTo>
                <a:lnTo>
                  <a:pt x="49529" y="306704"/>
                </a:lnTo>
                <a:lnTo>
                  <a:pt x="82550" y="270382"/>
                </a:lnTo>
                <a:lnTo>
                  <a:pt x="102870" y="221741"/>
                </a:lnTo>
                <a:lnTo>
                  <a:pt x="109600" y="163956"/>
                </a:lnTo>
                <a:lnTo>
                  <a:pt x="107950" y="133857"/>
                </a:lnTo>
                <a:lnTo>
                  <a:pt x="94361" y="80644"/>
                </a:lnTo>
                <a:lnTo>
                  <a:pt x="67437" y="37210"/>
                </a:lnTo>
                <a:lnTo>
                  <a:pt x="28575" y="8508"/>
                </a:lnTo>
                <a:lnTo>
                  <a:pt x="46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8" name="object 8"/>
          <p:cNvSpPr/>
          <p:nvPr/>
        </p:nvSpPr>
        <p:spPr>
          <a:xfrm>
            <a:off x="6403847" y="4995671"/>
            <a:ext cx="109855" cy="327660"/>
          </a:xfrm>
          <a:custGeom>
            <a:avLst/>
            <a:gdLst/>
            <a:ahLst/>
            <a:cxnLst/>
            <a:rect l="l" t="t" r="r" b="b"/>
            <a:pathLst>
              <a:path w="109854" h="327660">
                <a:moveTo>
                  <a:pt x="104901" y="0"/>
                </a:moveTo>
                <a:lnTo>
                  <a:pt x="60071" y="20954"/>
                </a:lnTo>
                <a:lnTo>
                  <a:pt x="27177" y="57403"/>
                </a:lnTo>
                <a:lnTo>
                  <a:pt x="6730" y="106171"/>
                </a:lnTo>
                <a:lnTo>
                  <a:pt x="0" y="163956"/>
                </a:lnTo>
                <a:lnTo>
                  <a:pt x="1650" y="194055"/>
                </a:lnTo>
                <a:lnTo>
                  <a:pt x="15239" y="247268"/>
                </a:lnTo>
                <a:lnTo>
                  <a:pt x="42037" y="290448"/>
                </a:lnTo>
                <a:lnTo>
                  <a:pt x="80899" y="319150"/>
                </a:lnTo>
                <a:lnTo>
                  <a:pt x="104901" y="327659"/>
                </a:lnTo>
                <a:lnTo>
                  <a:pt x="109093" y="314324"/>
                </a:lnTo>
                <a:lnTo>
                  <a:pt x="90297" y="306069"/>
                </a:lnTo>
                <a:lnTo>
                  <a:pt x="74167" y="294639"/>
                </a:lnTo>
                <a:lnTo>
                  <a:pt x="49529" y="261873"/>
                </a:lnTo>
                <a:lnTo>
                  <a:pt x="34798" y="217296"/>
                </a:lnTo>
                <a:lnTo>
                  <a:pt x="29972" y="162178"/>
                </a:lnTo>
                <a:lnTo>
                  <a:pt x="31241" y="134238"/>
                </a:lnTo>
                <a:lnTo>
                  <a:pt x="40893" y="85725"/>
                </a:lnTo>
                <a:lnTo>
                  <a:pt x="60578" y="47497"/>
                </a:lnTo>
                <a:lnTo>
                  <a:pt x="90677" y="21462"/>
                </a:lnTo>
                <a:lnTo>
                  <a:pt x="109600" y="13334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9" name="object 9"/>
          <p:cNvSpPr/>
          <p:nvPr/>
        </p:nvSpPr>
        <p:spPr>
          <a:xfrm>
            <a:off x="7721727" y="5637276"/>
            <a:ext cx="109855" cy="329565"/>
          </a:xfrm>
          <a:custGeom>
            <a:avLst/>
            <a:gdLst/>
            <a:ahLst/>
            <a:cxnLst/>
            <a:rect l="l" t="t" r="r" b="b"/>
            <a:pathLst>
              <a:path w="109854" h="329564">
                <a:moveTo>
                  <a:pt x="4699" y="0"/>
                </a:moveTo>
                <a:lnTo>
                  <a:pt x="0" y="13360"/>
                </a:lnTo>
                <a:lnTo>
                  <a:pt x="19050" y="21628"/>
                </a:lnTo>
                <a:lnTo>
                  <a:pt x="35432" y="33083"/>
                </a:lnTo>
                <a:lnTo>
                  <a:pt x="60198" y="65506"/>
                </a:lnTo>
                <a:lnTo>
                  <a:pt x="74802" y="109245"/>
                </a:lnTo>
                <a:lnTo>
                  <a:pt x="79628" y="162940"/>
                </a:lnTo>
                <a:lnTo>
                  <a:pt x="78358" y="191973"/>
                </a:lnTo>
                <a:lnTo>
                  <a:pt x="68706" y="242023"/>
                </a:lnTo>
                <a:lnTo>
                  <a:pt x="49022" y="281127"/>
                </a:lnTo>
                <a:lnTo>
                  <a:pt x="19303" y="307492"/>
                </a:lnTo>
                <a:lnTo>
                  <a:pt x="507" y="315798"/>
                </a:lnTo>
                <a:lnTo>
                  <a:pt x="4699" y="329171"/>
                </a:lnTo>
                <a:lnTo>
                  <a:pt x="49529" y="308102"/>
                </a:lnTo>
                <a:lnTo>
                  <a:pt x="82550" y="271653"/>
                </a:lnTo>
                <a:lnTo>
                  <a:pt x="102870" y="222821"/>
                </a:lnTo>
                <a:lnTo>
                  <a:pt x="109600" y="164668"/>
                </a:lnTo>
                <a:lnTo>
                  <a:pt x="107950" y="134493"/>
                </a:lnTo>
                <a:lnTo>
                  <a:pt x="94361" y="81000"/>
                </a:lnTo>
                <a:lnTo>
                  <a:pt x="67437" y="37465"/>
                </a:lnTo>
                <a:lnTo>
                  <a:pt x="28575" y="8610"/>
                </a:lnTo>
                <a:lnTo>
                  <a:pt x="46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10" name="object 10"/>
          <p:cNvSpPr/>
          <p:nvPr/>
        </p:nvSpPr>
        <p:spPr>
          <a:xfrm>
            <a:off x="6388608" y="5637276"/>
            <a:ext cx="109855" cy="329565"/>
          </a:xfrm>
          <a:custGeom>
            <a:avLst/>
            <a:gdLst/>
            <a:ahLst/>
            <a:cxnLst/>
            <a:rect l="l" t="t" r="r" b="b"/>
            <a:pathLst>
              <a:path w="109854" h="329564">
                <a:moveTo>
                  <a:pt x="104901" y="0"/>
                </a:moveTo>
                <a:lnTo>
                  <a:pt x="60070" y="21107"/>
                </a:lnTo>
                <a:lnTo>
                  <a:pt x="27177" y="57683"/>
                </a:lnTo>
                <a:lnTo>
                  <a:pt x="6730" y="106603"/>
                </a:lnTo>
                <a:lnTo>
                  <a:pt x="0" y="164668"/>
                </a:lnTo>
                <a:lnTo>
                  <a:pt x="1650" y="194906"/>
                </a:lnTo>
                <a:lnTo>
                  <a:pt x="15239" y="248399"/>
                </a:lnTo>
                <a:lnTo>
                  <a:pt x="42037" y="291795"/>
                </a:lnTo>
                <a:lnTo>
                  <a:pt x="80899" y="320560"/>
                </a:lnTo>
                <a:lnTo>
                  <a:pt x="104901" y="329171"/>
                </a:lnTo>
                <a:lnTo>
                  <a:pt x="109092" y="315798"/>
                </a:lnTo>
                <a:lnTo>
                  <a:pt x="90296" y="307492"/>
                </a:lnTo>
                <a:lnTo>
                  <a:pt x="74167" y="295935"/>
                </a:lnTo>
                <a:lnTo>
                  <a:pt x="49529" y="263055"/>
                </a:lnTo>
                <a:lnTo>
                  <a:pt x="34797" y="218325"/>
                </a:lnTo>
                <a:lnTo>
                  <a:pt x="29971" y="162940"/>
                </a:lnTo>
                <a:lnTo>
                  <a:pt x="31241" y="134848"/>
                </a:lnTo>
                <a:lnTo>
                  <a:pt x="40893" y="86131"/>
                </a:lnTo>
                <a:lnTo>
                  <a:pt x="60578" y="47701"/>
                </a:lnTo>
                <a:lnTo>
                  <a:pt x="90677" y="21628"/>
                </a:lnTo>
                <a:lnTo>
                  <a:pt x="109600" y="13360"/>
                </a:lnTo>
                <a:lnTo>
                  <a:pt x="1049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11" name="object 11"/>
          <p:cNvSpPr txBox="1"/>
          <p:nvPr/>
        </p:nvSpPr>
        <p:spPr>
          <a:xfrm>
            <a:off x="6468745" y="4587570"/>
            <a:ext cx="1416050" cy="1315720"/>
          </a:xfrm>
          <a:prstGeom prst="rect">
            <a:avLst/>
          </a:prstGeom>
        </p:spPr>
        <p:txBody>
          <a:bodyPr vert="horz" wrap="square" lIns="0" tIns="231140" rIns="0" bIns="0" rtlCol="0">
            <a:spAutoFit/>
          </a:bodyPr>
          <a:lstStyle/>
          <a:p>
            <a:pPr marL="52705">
              <a:lnSpc>
                <a:spcPct val="100000"/>
              </a:lnSpc>
              <a:spcBef>
                <a:spcPts val="1820"/>
              </a:spcBef>
              <a:tabLst>
                <a:tab pos="1048385" algn="l"/>
              </a:tabLst>
            </a:pPr>
            <a:r>
              <a:rPr lang="es-CO" sz="2800" noProof="0" dirty="0">
                <a:latin typeface="Cambria Math"/>
                <a:cs typeface="Cambria Math"/>
              </a:rPr>
              <a:t>𝑥</a:t>
            </a:r>
            <a:r>
              <a:rPr lang="es-CO" sz="3075" baseline="-13550" noProof="0" dirty="0">
                <a:latin typeface="Cambria Math"/>
                <a:cs typeface="Cambria Math"/>
              </a:rPr>
              <a:t>10</a:t>
            </a:r>
            <a:r>
              <a:rPr lang="es-CO" sz="3075" spc="412" baseline="-13550" noProof="0" dirty="0">
                <a:latin typeface="Cambria Math"/>
                <a:cs typeface="Cambria Math"/>
              </a:rPr>
              <a:t> </a:t>
            </a:r>
            <a:r>
              <a:rPr lang="es-CO" sz="2800" spc="-50" noProof="0" dirty="0">
                <a:latin typeface="Cambria Math"/>
                <a:cs typeface="Cambria Math"/>
              </a:rPr>
              <a:t>−</a:t>
            </a:r>
            <a:r>
              <a:rPr lang="es-CO" sz="2800" noProof="0" dirty="0">
                <a:latin typeface="Cambria Math"/>
                <a:cs typeface="Cambria Math"/>
              </a:rPr>
              <a:t>	</a:t>
            </a:r>
            <a:r>
              <a:rPr lang="es-CO" sz="2800" spc="-25" noProof="0" dirty="0">
                <a:latin typeface="Cambria Math"/>
                <a:cs typeface="Cambria Math"/>
              </a:rPr>
              <a:t>𝑥</a:t>
            </a:r>
            <a:r>
              <a:rPr lang="es-CO" sz="3075" spc="-37" baseline="-13550" noProof="0" dirty="0">
                <a:latin typeface="Cambria Math"/>
                <a:cs typeface="Cambria Math"/>
              </a:rPr>
              <a:t>9</a:t>
            </a:r>
            <a:endParaRPr lang="es-CO" sz="3075" baseline="-13550" noProof="0" dirty="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1720"/>
              </a:spcBef>
            </a:pPr>
            <a:r>
              <a:rPr lang="es-CO" sz="2800" noProof="0" dirty="0">
                <a:latin typeface="Cambria Math"/>
                <a:cs typeface="Cambria Math"/>
              </a:rPr>
              <a:t>70</a:t>
            </a:r>
            <a:r>
              <a:rPr lang="es-CO" sz="2800" spc="-50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−</a:t>
            </a:r>
            <a:r>
              <a:rPr lang="es-CO" sz="2800" spc="-65" noProof="0" dirty="0">
                <a:latin typeface="Cambria Math"/>
                <a:cs typeface="Cambria Math"/>
              </a:rPr>
              <a:t> </a:t>
            </a:r>
            <a:r>
              <a:rPr lang="es-CO" sz="2800" spc="-25" noProof="0" dirty="0">
                <a:latin typeface="Cambria Math"/>
                <a:cs typeface="Cambria Math"/>
              </a:rPr>
              <a:t>63</a:t>
            </a:r>
            <a:endParaRPr lang="es-CO" sz="2800" noProof="0" dirty="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51089" y="5527344"/>
            <a:ext cx="12376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CO" sz="2800" noProof="0" dirty="0">
                <a:latin typeface="Cambria Math"/>
                <a:cs typeface="Cambria Math"/>
              </a:rPr>
              <a:t>=</a:t>
            </a:r>
            <a:r>
              <a:rPr lang="es-CO" sz="2800" spc="65" noProof="0" dirty="0">
                <a:latin typeface="Cambria Math"/>
                <a:cs typeface="Cambria Math"/>
              </a:rPr>
              <a:t> </a:t>
            </a:r>
            <a:r>
              <a:rPr lang="es-CO" sz="2800" spc="-10" noProof="0" dirty="0">
                <a:latin typeface="Cambria Math"/>
                <a:cs typeface="Cambria Math"/>
              </a:rPr>
              <a:t>68.25</a:t>
            </a:r>
            <a:endParaRPr lang="es-CO" sz="2800" noProof="0" dirty="0">
              <a:latin typeface="Cambria Math"/>
              <a:cs typeface="Cambria Math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32047" y="28955"/>
            <a:ext cx="4523105" cy="399415"/>
          </a:xfrm>
          <a:prstGeom prst="rect">
            <a:avLst/>
          </a:prstGeom>
          <a:solidFill>
            <a:srgbClr val="ABB620"/>
          </a:solidFill>
        </p:spPr>
        <p:txBody>
          <a:bodyPr vert="horz" wrap="square" lIns="0" tIns="24130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90"/>
              </a:spcBef>
            </a:pPr>
            <a:r>
              <a:rPr lang="es-CO" sz="2000" spc="-22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MEDIDAS</a:t>
            </a:r>
            <a:r>
              <a:rPr lang="es-CO" sz="2000" spc="-19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DE</a:t>
            </a:r>
            <a:r>
              <a:rPr lang="es-CO" sz="2000" spc="-29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14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DISPERSION</a:t>
            </a:r>
            <a:endParaRPr lang="es-CO" sz="2000" noProof="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5299" y="330149"/>
            <a:ext cx="25133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pc="-475" noProof="0" dirty="0"/>
              <a:t>CU</a:t>
            </a:r>
            <a:r>
              <a:rPr lang="es-CO" spc="-425" noProof="0" dirty="0"/>
              <a:t>A</a:t>
            </a:r>
            <a:r>
              <a:rPr lang="es-CO" spc="-955" noProof="0" dirty="0"/>
              <a:t>R</a:t>
            </a:r>
            <a:r>
              <a:rPr lang="es-CO" spc="-815" noProof="0" dirty="0"/>
              <a:t>T</a:t>
            </a:r>
            <a:r>
              <a:rPr lang="es-CO" spc="-725" noProof="0" dirty="0"/>
              <a:t>I</a:t>
            </a:r>
            <a:r>
              <a:rPr lang="es-CO" spc="-715" noProof="0" dirty="0"/>
              <a:t>L</a:t>
            </a:r>
            <a:r>
              <a:rPr lang="es-CO" spc="-710" noProof="0" dirty="0"/>
              <a:t>E</a:t>
            </a:r>
            <a:r>
              <a:rPr lang="es-CO" spc="-15" noProof="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5299" y="1603628"/>
            <a:ext cx="158242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195" noProof="0" dirty="0">
                <a:latin typeface="Microsoft Sans Serif"/>
                <a:cs typeface="Microsoft Sans Serif"/>
              </a:rPr>
              <a:t>Ejemplo: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411304"/>
              </p:ext>
            </p:extLst>
          </p:nvPr>
        </p:nvGraphicFramePr>
        <p:xfrm>
          <a:off x="1211910" y="2204859"/>
          <a:ext cx="10078713" cy="64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9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43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23622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30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36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47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52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52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56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60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63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70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70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110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8580" marB="0">
                    <a:solidFill>
                      <a:srgbClr val="F8E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814818" y="3425138"/>
            <a:ext cx="17767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lang="es-CO" sz="2800" noProof="0" dirty="0">
                <a:latin typeface="Cambria Math"/>
                <a:cs typeface="Cambria Math"/>
              </a:rPr>
              <a:t>𝑄</a:t>
            </a:r>
            <a:r>
              <a:rPr lang="es-CO" sz="3075" baseline="-13550" noProof="0" dirty="0">
                <a:latin typeface="Cambria Math"/>
                <a:cs typeface="Cambria Math"/>
              </a:rPr>
              <a:t>3</a:t>
            </a:r>
            <a:r>
              <a:rPr lang="es-CO" sz="3075" spc="525" baseline="-13550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=</a:t>
            </a:r>
            <a:r>
              <a:rPr lang="es-CO" sz="2800" spc="114" noProof="0" dirty="0">
                <a:latin typeface="Cambria Math"/>
                <a:cs typeface="Cambria Math"/>
              </a:rPr>
              <a:t> </a:t>
            </a:r>
            <a:r>
              <a:rPr lang="es-CO" sz="2800" spc="-20" noProof="0" dirty="0">
                <a:latin typeface="Cambria Math"/>
                <a:cs typeface="Cambria Math"/>
              </a:rPr>
              <a:t>68.25</a:t>
            </a:r>
            <a:endParaRPr lang="es-CO" sz="2800" noProof="0" dirty="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15889" y="3425138"/>
            <a:ext cx="13125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lang="es-CO" sz="2800" noProof="0" dirty="0">
                <a:latin typeface="Cambria Math"/>
                <a:cs typeface="Cambria Math"/>
              </a:rPr>
              <a:t>𝑄</a:t>
            </a:r>
            <a:r>
              <a:rPr lang="es-CO" sz="3075" baseline="-13550" noProof="0" dirty="0">
                <a:latin typeface="Cambria Math"/>
                <a:cs typeface="Cambria Math"/>
              </a:rPr>
              <a:t>2</a:t>
            </a:r>
            <a:r>
              <a:rPr lang="es-CO" sz="3075" spc="502" baseline="-13550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=</a:t>
            </a:r>
            <a:r>
              <a:rPr lang="es-CO" sz="2800" spc="105" noProof="0" dirty="0">
                <a:latin typeface="Cambria Math"/>
                <a:cs typeface="Cambria Math"/>
              </a:rPr>
              <a:t> </a:t>
            </a:r>
            <a:r>
              <a:rPr lang="es-CO" sz="2800" spc="-25" noProof="0" dirty="0">
                <a:latin typeface="Cambria Math"/>
                <a:cs typeface="Cambria Math"/>
              </a:rPr>
              <a:t>54</a:t>
            </a:r>
            <a:endParaRPr lang="es-CO" sz="2800" noProof="0" dirty="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45054" y="3425138"/>
            <a:ext cx="17672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lang="es-CO" sz="2800" noProof="0" dirty="0">
                <a:latin typeface="Cambria Math"/>
                <a:cs typeface="Cambria Math"/>
              </a:rPr>
              <a:t>𝑄</a:t>
            </a:r>
            <a:r>
              <a:rPr lang="es-CO" sz="3075" baseline="-13550" noProof="0" dirty="0">
                <a:latin typeface="Cambria Math"/>
                <a:cs typeface="Cambria Math"/>
              </a:rPr>
              <a:t>1</a:t>
            </a:r>
            <a:r>
              <a:rPr lang="es-CO" sz="3075" spc="465" baseline="-13550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=</a:t>
            </a:r>
            <a:r>
              <a:rPr lang="es-CO" sz="2800" spc="80" noProof="0" dirty="0">
                <a:latin typeface="Cambria Math"/>
                <a:cs typeface="Cambria Math"/>
              </a:rPr>
              <a:t> </a:t>
            </a:r>
            <a:r>
              <a:rPr lang="es-CO" sz="2800" spc="-20" noProof="0" dirty="0">
                <a:latin typeface="Cambria Math"/>
                <a:cs typeface="Cambria Math"/>
              </a:rPr>
              <a:t>47.75</a:t>
            </a:r>
            <a:endParaRPr lang="es-CO" sz="2800" noProof="0" dirty="0">
              <a:latin typeface="Cambria Math"/>
              <a:cs typeface="Cambria Math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638931" y="2989707"/>
            <a:ext cx="308610" cy="307340"/>
            <a:chOff x="3638931" y="2989707"/>
            <a:chExt cx="308610" cy="307340"/>
          </a:xfrm>
        </p:grpSpPr>
        <p:sp>
          <p:nvSpPr>
            <p:cNvPr id="9" name="object 9"/>
            <p:cNvSpPr/>
            <p:nvPr/>
          </p:nvSpPr>
          <p:spPr>
            <a:xfrm>
              <a:off x="3648456" y="2999231"/>
              <a:ext cx="289560" cy="288290"/>
            </a:xfrm>
            <a:custGeom>
              <a:avLst/>
              <a:gdLst/>
              <a:ahLst/>
              <a:cxnLst/>
              <a:rect l="l" t="t" r="r" b="b"/>
              <a:pathLst>
                <a:path w="289560" h="288289">
                  <a:moveTo>
                    <a:pt x="144653" y="0"/>
                  </a:moveTo>
                  <a:lnTo>
                    <a:pt x="0" y="143890"/>
                  </a:lnTo>
                  <a:lnTo>
                    <a:pt x="72263" y="143890"/>
                  </a:lnTo>
                  <a:lnTo>
                    <a:pt x="72263" y="287781"/>
                  </a:lnTo>
                  <a:lnTo>
                    <a:pt x="216916" y="287781"/>
                  </a:lnTo>
                  <a:lnTo>
                    <a:pt x="216916" y="143890"/>
                  </a:lnTo>
                  <a:lnTo>
                    <a:pt x="289306" y="143890"/>
                  </a:lnTo>
                  <a:lnTo>
                    <a:pt x="144653" y="0"/>
                  </a:lnTo>
                  <a:close/>
                </a:path>
              </a:pathLst>
            </a:custGeom>
            <a:solidFill>
              <a:srgbClr val="92B6D2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10" name="object 10"/>
            <p:cNvSpPr/>
            <p:nvPr/>
          </p:nvSpPr>
          <p:spPr>
            <a:xfrm>
              <a:off x="3648456" y="2999231"/>
              <a:ext cx="289560" cy="288290"/>
            </a:xfrm>
            <a:custGeom>
              <a:avLst/>
              <a:gdLst/>
              <a:ahLst/>
              <a:cxnLst/>
              <a:rect l="l" t="t" r="r" b="b"/>
              <a:pathLst>
                <a:path w="289560" h="288289">
                  <a:moveTo>
                    <a:pt x="0" y="143890"/>
                  </a:moveTo>
                  <a:lnTo>
                    <a:pt x="144653" y="0"/>
                  </a:lnTo>
                  <a:lnTo>
                    <a:pt x="289306" y="143890"/>
                  </a:lnTo>
                  <a:lnTo>
                    <a:pt x="216916" y="143890"/>
                  </a:lnTo>
                  <a:lnTo>
                    <a:pt x="216916" y="287781"/>
                  </a:lnTo>
                  <a:lnTo>
                    <a:pt x="72263" y="287781"/>
                  </a:lnTo>
                  <a:lnTo>
                    <a:pt x="72263" y="143890"/>
                  </a:lnTo>
                  <a:lnTo>
                    <a:pt x="0" y="143890"/>
                  </a:lnTo>
                  <a:close/>
                </a:path>
              </a:pathLst>
            </a:custGeom>
            <a:ln w="19048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098667" y="2989707"/>
            <a:ext cx="308610" cy="307340"/>
            <a:chOff x="6098667" y="2989707"/>
            <a:chExt cx="308610" cy="307340"/>
          </a:xfrm>
        </p:grpSpPr>
        <p:sp>
          <p:nvSpPr>
            <p:cNvPr id="12" name="object 12"/>
            <p:cNvSpPr/>
            <p:nvPr/>
          </p:nvSpPr>
          <p:spPr>
            <a:xfrm>
              <a:off x="6108192" y="2999231"/>
              <a:ext cx="289560" cy="288290"/>
            </a:xfrm>
            <a:custGeom>
              <a:avLst/>
              <a:gdLst/>
              <a:ahLst/>
              <a:cxnLst/>
              <a:rect l="l" t="t" r="r" b="b"/>
              <a:pathLst>
                <a:path w="289560" h="288289">
                  <a:moveTo>
                    <a:pt x="144653" y="0"/>
                  </a:moveTo>
                  <a:lnTo>
                    <a:pt x="0" y="143890"/>
                  </a:lnTo>
                  <a:lnTo>
                    <a:pt x="72262" y="143890"/>
                  </a:lnTo>
                  <a:lnTo>
                    <a:pt x="72262" y="287781"/>
                  </a:lnTo>
                  <a:lnTo>
                    <a:pt x="216916" y="287781"/>
                  </a:lnTo>
                  <a:lnTo>
                    <a:pt x="216916" y="143890"/>
                  </a:lnTo>
                  <a:lnTo>
                    <a:pt x="289306" y="143890"/>
                  </a:lnTo>
                  <a:lnTo>
                    <a:pt x="144653" y="0"/>
                  </a:lnTo>
                  <a:close/>
                </a:path>
              </a:pathLst>
            </a:custGeom>
            <a:solidFill>
              <a:srgbClr val="92B6D2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13" name="object 13"/>
            <p:cNvSpPr/>
            <p:nvPr/>
          </p:nvSpPr>
          <p:spPr>
            <a:xfrm>
              <a:off x="6108192" y="2999231"/>
              <a:ext cx="289560" cy="288290"/>
            </a:xfrm>
            <a:custGeom>
              <a:avLst/>
              <a:gdLst/>
              <a:ahLst/>
              <a:cxnLst/>
              <a:rect l="l" t="t" r="r" b="b"/>
              <a:pathLst>
                <a:path w="289560" h="288289">
                  <a:moveTo>
                    <a:pt x="0" y="143890"/>
                  </a:moveTo>
                  <a:lnTo>
                    <a:pt x="144653" y="0"/>
                  </a:lnTo>
                  <a:lnTo>
                    <a:pt x="289306" y="143890"/>
                  </a:lnTo>
                  <a:lnTo>
                    <a:pt x="216916" y="143890"/>
                  </a:lnTo>
                  <a:lnTo>
                    <a:pt x="216916" y="287781"/>
                  </a:lnTo>
                  <a:lnTo>
                    <a:pt x="72262" y="287781"/>
                  </a:lnTo>
                  <a:lnTo>
                    <a:pt x="72262" y="143890"/>
                  </a:lnTo>
                  <a:lnTo>
                    <a:pt x="0" y="143890"/>
                  </a:lnTo>
                  <a:close/>
                </a:path>
              </a:pathLst>
            </a:custGeom>
            <a:ln w="19048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679560" y="2990469"/>
            <a:ext cx="308610" cy="307340"/>
            <a:chOff x="8679560" y="2990469"/>
            <a:chExt cx="308610" cy="307340"/>
          </a:xfrm>
        </p:grpSpPr>
        <p:sp>
          <p:nvSpPr>
            <p:cNvPr id="15" name="object 15"/>
            <p:cNvSpPr/>
            <p:nvPr/>
          </p:nvSpPr>
          <p:spPr>
            <a:xfrm>
              <a:off x="8688323" y="2999232"/>
              <a:ext cx="289560" cy="288290"/>
            </a:xfrm>
            <a:custGeom>
              <a:avLst/>
              <a:gdLst/>
              <a:ahLst/>
              <a:cxnLst/>
              <a:rect l="l" t="t" r="r" b="b"/>
              <a:pathLst>
                <a:path w="289559" h="288289">
                  <a:moveTo>
                    <a:pt x="144652" y="0"/>
                  </a:moveTo>
                  <a:lnTo>
                    <a:pt x="0" y="143890"/>
                  </a:lnTo>
                  <a:lnTo>
                    <a:pt x="72262" y="143890"/>
                  </a:lnTo>
                  <a:lnTo>
                    <a:pt x="72262" y="287781"/>
                  </a:lnTo>
                  <a:lnTo>
                    <a:pt x="216916" y="287781"/>
                  </a:lnTo>
                  <a:lnTo>
                    <a:pt x="216916" y="143890"/>
                  </a:lnTo>
                  <a:lnTo>
                    <a:pt x="289305" y="143890"/>
                  </a:lnTo>
                  <a:lnTo>
                    <a:pt x="144652" y="0"/>
                  </a:lnTo>
                  <a:close/>
                </a:path>
              </a:pathLst>
            </a:custGeom>
            <a:solidFill>
              <a:srgbClr val="92B6D2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16" name="object 16"/>
            <p:cNvSpPr/>
            <p:nvPr/>
          </p:nvSpPr>
          <p:spPr>
            <a:xfrm>
              <a:off x="8689085" y="2999994"/>
              <a:ext cx="289560" cy="288290"/>
            </a:xfrm>
            <a:custGeom>
              <a:avLst/>
              <a:gdLst/>
              <a:ahLst/>
              <a:cxnLst/>
              <a:rect l="l" t="t" r="r" b="b"/>
              <a:pathLst>
                <a:path w="289559" h="288289">
                  <a:moveTo>
                    <a:pt x="0" y="143890"/>
                  </a:moveTo>
                  <a:lnTo>
                    <a:pt x="144653" y="0"/>
                  </a:lnTo>
                  <a:lnTo>
                    <a:pt x="289306" y="143890"/>
                  </a:lnTo>
                  <a:lnTo>
                    <a:pt x="216916" y="143890"/>
                  </a:lnTo>
                  <a:lnTo>
                    <a:pt x="216916" y="287781"/>
                  </a:lnTo>
                  <a:lnTo>
                    <a:pt x="72263" y="287781"/>
                  </a:lnTo>
                  <a:lnTo>
                    <a:pt x="72263" y="143890"/>
                  </a:lnTo>
                  <a:lnTo>
                    <a:pt x="0" y="143890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432047" y="28955"/>
            <a:ext cx="4523105" cy="399415"/>
          </a:xfrm>
          <a:prstGeom prst="rect">
            <a:avLst/>
          </a:prstGeom>
          <a:solidFill>
            <a:srgbClr val="ABB620"/>
          </a:solidFill>
        </p:spPr>
        <p:txBody>
          <a:bodyPr vert="horz" wrap="square" lIns="0" tIns="24130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90"/>
              </a:spcBef>
            </a:pPr>
            <a:r>
              <a:rPr lang="es-CO" sz="2000" spc="-22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MEDIDAS</a:t>
            </a:r>
            <a:r>
              <a:rPr lang="es-CO" sz="2000" spc="-19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DE</a:t>
            </a:r>
            <a:r>
              <a:rPr lang="es-CO" sz="2000" spc="-29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14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DISPERSION</a:t>
            </a:r>
            <a:endParaRPr lang="es-CO" sz="2000" noProof="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5299" y="330149"/>
            <a:ext cx="52558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pc="-655" noProof="0" dirty="0"/>
              <a:t>R</a:t>
            </a:r>
            <a:r>
              <a:rPr lang="es-CO" spc="-600" noProof="0" dirty="0"/>
              <a:t>A</a:t>
            </a:r>
            <a:r>
              <a:rPr lang="es-CO" spc="-100" noProof="0" dirty="0"/>
              <a:t>N</a:t>
            </a:r>
            <a:r>
              <a:rPr lang="es-CO" spc="-105" noProof="0" dirty="0"/>
              <a:t>G</a:t>
            </a:r>
            <a:r>
              <a:rPr lang="es-CO" noProof="0" dirty="0"/>
              <a:t>O</a:t>
            </a:r>
            <a:r>
              <a:rPr lang="es-CO" spc="-85" noProof="0" dirty="0"/>
              <a:t> </a:t>
            </a:r>
            <a:r>
              <a:rPr lang="es-CO" spc="-645" noProof="0" dirty="0"/>
              <a:t>I</a:t>
            </a:r>
            <a:r>
              <a:rPr lang="es-CO" spc="-640" noProof="0" dirty="0"/>
              <a:t>NT</a:t>
            </a:r>
            <a:r>
              <a:rPr lang="es-CO" spc="-635" noProof="0" dirty="0"/>
              <a:t>E</a:t>
            </a:r>
            <a:r>
              <a:rPr lang="es-CO" spc="-785" noProof="0" dirty="0"/>
              <a:t>R</a:t>
            </a:r>
            <a:r>
              <a:rPr lang="es-CO" spc="-470" noProof="0" dirty="0"/>
              <a:t>CU</a:t>
            </a:r>
            <a:r>
              <a:rPr lang="es-CO" spc="-415" noProof="0" dirty="0"/>
              <a:t>A</a:t>
            </a:r>
            <a:r>
              <a:rPr lang="es-CO" spc="-710" noProof="0" dirty="0"/>
              <a:t>RT</a:t>
            </a:r>
            <a:r>
              <a:rPr lang="es-CO" spc="-720" noProof="0" dirty="0"/>
              <a:t>I</a:t>
            </a:r>
            <a:r>
              <a:rPr lang="es-CO" spc="-10" noProof="0" dirty="0"/>
              <a:t>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0203" y="1603628"/>
            <a:ext cx="10586085" cy="25139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8140" marR="38100" indent="-320675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58140" algn="l"/>
                <a:tab pos="5523230" algn="l"/>
              </a:tabLst>
            </a:pPr>
            <a:r>
              <a:rPr lang="es-CO" sz="2900" spc="-125" noProof="0" dirty="0">
                <a:latin typeface="Microsoft Sans Serif"/>
                <a:cs typeface="Microsoft Sans Serif"/>
              </a:rPr>
              <a:t>La</a:t>
            </a:r>
            <a:r>
              <a:rPr lang="es-CO" sz="2900" spc="-235" noProof="0" dirty="0">
                <a:latin typeface="Microsoft Sans Serif"/>
                <a:cs typeface="Microsoft Sans Serif"/>
              </a:rPr>
              <a:t> </a:t>
            </a:r>
            <a:r>
              <a:rPr lang="es-CO" sz="2900" spc="-135" noProof="0" dirty="0">
                <a:latin typeface="Microsoft Sans Serif"/>
                <a:cs typeface="Microsoft Sans Serif"/>
              </a:rPr>
              <a:t>distancia</a:t>
            </a:r>
            <a:r>
              <a:rPr lang="es-CO" sz="2900" spc="-145" noProof="0" dirty="0">
                <a:latin typeface="Microsoft Sans Serif"/>
                <a:cs typeface="Microsoft Sans Serif"/>
              </a:rPr>
              <a:t> </a:t>
            </a:r>
            <a:r>
              <a:rPr lang="es-CO" sz="2900" spc="-114" noProof="0" dirty="0">
                <a:latin typeface="Microsoft Sans Serif"/>
                <a:cs typeface="Microsoft Sans Serif"/>
              </a:rPr>
              <a:t>entre</a:t>
            </a:r>
            <a:r>
              <a:rPr lang="es-CO" sz="2900" spc="-14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Q1</a:t>
            </a:r>
            <a:r>
              <a:rPr lang="es-CO" sz="2900" spc="-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y</a:t>
            </a:r>
            <a:r>
              <a:rPr lang="es-CO" sz="2900" spc="4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Q3</a:t>
            </a:r>
            <a:r>
              <a:rPr lang="es-CO" sz="2900" spc="10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es</a:t>
            </a:r>
            <a:r>
              <a:rPr lang="es-CO" sz="2900" spc="-300" noProof="0" dirty="0">
                <a:latin typeface="Microsoft Sans Serif"/>
                <a:cs typeface="Microsoft Sans Serif"/>
              </a:rPr>
              <a:t> </a:t>
            </a:r>
            <a:r>
              <a:rPr lang="es-CO" sz="2900" spc="-150" noProof="0" dirty="0">
                <a:latin typeface="Microsoft Sans Serif"/>
                <a:cs typeface="Microsoft Sans Serif"/>
              </a:rPr>
              <a:t>una</a:t>
            </a:r>
            <a:r>
              <a:rPr lang="es-CO" sz="2900" spc="-210" noProof="0" dirty="0">
                <a:latin typeface="Microsoft Sans Serif"/>
                <a:cs typeface="Microsoft Sans Serif"/>
              </a:rPr>
              <a:t> </a:t>
            </a:r>
            <a:r>
              <a:rPr lang="es-CO" sz="2900" spc="-105" noProof="0" dirty="0">
                <a:latin typeface="Microsoft Sans Serif"/>
                <a:cs typeface="Microsoft Sans Serif"/>
              </a:rPr>
              <a:t>medida </a:t>
            </a:r>
            <a:r>
              <a:rPr lang="es-CO" sz="2900" spc="-150" noProof="0" dirty="0">
                <a:latin typeface="Microsoft Sans Serif"/>
                <a:cs typeface="Microsoft Sans Serif"/>
              </a:rPr>
              <a:t>sencilla</a:t>
            </a:r>
            <a:r>
              <a:rPr lang="es-CO" sz="2900" spc="-12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60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dispersión</a:t>
            </a:r>
            <a:r>
              <a:rPr lang="es-CO" sz="2900" spc="-204" noProof="0" dirty="0">
                <a:latin typeface="Microsoft Sans Serif"/>
                <a:cs typeface="Microsoft Sans Serif"/>
              </a:rPr>
              <a:t> </a:t>
            </a:r>
            <a:r>
              <a:rPr lang="es-CO" sz="2900" spc="-100" noProof="0" dirty="0">
                <a:latin typeface="Microsoft Sans Serif"/>
                <a:cs typeface="Microsoft Sans Serif"/>
              </a:rPr>
              <a:t>que </a:t>
            </a:r>
            <a:r>
              <a:rPr lang="es-CO" sz="2900" noProof="0" dirty="0">
                <a:latin typeface="Microsoft Sans Serif"/>
                <a:cs typeface="Microsoft Sans Serif"/>
              </a:rPr>
              <a:t>da</a:t>
            </a:r>
            <a:r>
              <a:rPr lang="es-CO" sz="2900" spc="-10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el</a:t>
            </a:r>
            <a:r>
              <a:rPr lang="es-CO" sz="2900" spc="-95" noProof="0" dirty="0">
                <a:latin typeface="Microsoft Sans Serif"/>
                <a:cs typeface="Microsoft Sans Serif"/>
              </a:rPr>
              <a:t> </a:t>
            </a:r>
            <a:r>
              <a:rPr lang="es-CO" sz="2900" spc="-80" noProof="0" dirty="0">
                <a:latin typeface="Microsoft Sans Serif"/>
                <a:cs typeface="Microsoft Sans Serif"/>
              </a:rPr>
              <a:t>rango</a:t>
            </a:r>
            <a:r>
              <a:rPr lang="es-CO" sz="2900" spc="-180" noProof="0" dirty="0">
                <a:latin typeface="Microsoft Sans Serif"/>
                <a:cs typeface="Microsoft Sans Serif"/>
              </a:rPr>
              <a:t> </a:t>
            </a:r>
            <a:r>
              <a:rPr lang="es-CO" sz="2900" spc="-125" noProof="0" dirty="0">
                <a:latin typeface="Microsoft Sans Serif"/>
                <a:cs typeface="Microsoft Sans Serif"/>
              </a:rPr>
              <a:t>cubierto</a:t>
            </a:r>
            <a:r>
              <a:rPr lang="es-CO" sz="2900" spc="-10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por</a:t>
            </a:r>
            <a:r>
              <a:rPr lang="es-CO" sz="2900" spc="-10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la</a:t>
            </a:r>
            <a:r>
              <a:rPr lang="es-CO" sz="2900" spc="-25" noProof="0" dirty="0">
                <a:latin typeface="Microsoft Sans Serif"/>
                <a:cs typeface="Microsoft Sans Serif"/>
              </a:rPr>
              <a:t> </a:t>
            </a:r>
            <a:r>
              <a:rPr lang="es-CO" sz="2900" spc="-10" noProof="0" dirty="0">
                <a:latin typeface="Microsoft Sans Serif"/>
                <a:cs typeface="Microsoft Sans Serif"/>
              </a:rPr>
              <a:t>mitad</a:t>
            </a:r>
            <a:r>
              <a:rPr lang="es-CO" sz="2900" noProof="0" dirty="0">
                <a:latin typeface="Microsoft Sans Serif"/>
                <a:cs typeface="Microsoft Sans Serif"/>
              </a:rPr>
              <a:t>	de</a:t>
            </a:r>
            <a:r>
              <a:rPr lang="es-CO" sz="2900" spc="-165" noProof="0" dirty="0">
                <a:latin typeface="Microsoft Sans Serif"/>
                <a:cs typeface="Microsoft Sans Serif"/>
              </a:rPr>
              <a:t> </a:t>
            </a:r>
            <a:r>
              <a:rPr lang="es-CO" sz="2900" spc="-145" noProof="0" dirty="0">
                <a:latin typeface="Microsoft Sans Serif"/>
                <a:cs typeface="Microsoft Sans Serif"/>
              </a:rPr>
              <a:t>los</a:t>
            </a:r>
            <a:r>
              <a:rPr lang="es-CO" sz="2900" spc="-235" noProof="0" dirty="0">
                <a:latin typeface="Microsoft Sans Serif"/>
                <a:cs typeface="Microsoft Sans Serif"/>
              </a:rPr>
              <a:t> </a:t>
            </a:r>
            <a:r>
              <a:rPr lang="es-CO" sz="2900" spc="-10" noProof="0" dirty="0">
                <a:latin typeface="Microsoft Sans Serif"/>
                <a:cs typeface="Microsoft Sans Serif"/>
              </a:rPr>
              <a:t>datos.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35814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58140" algn="l"/>
              </a:tabLst>
            </a:pPr>
            <a:r>
              <a:rPr lang="es-CO" sz="2900" spc="-240" noProof="0" dirty="0">
                <a:latin typeface="Microsoft Sans Serif"/>
                <a:cs typeface="Microsoft Sans Serif"/>
              </a:rPr>
              <a:t>Esta </a:t>
            </a:r>
            <a:r>
              <a:rPr lang="es-CO" sz="2900" spc="-140" noProof="0" dirty="0">
                <a:latin typeface="Microsoft Sans Serif"/>
                <a:cs typeface="Microsoft Sans Serif"/>
              </a:rPr>
              <a:t>distancia</a:t>
            </a:r>
            <a:r>
              <a:rPr lang="es-CO" sz="2900" spc="-75" noProof="0" dirty="0">
                <a:latin typeface="Microsoft Sans Serif"/>
                <a:cs typeface="Microsoft Sans Serif"/>
              </a:rPr>
              <a:t> </a:t>
            </a:r>
            <a:r>
              <a:rPr lang="es-CO" sz="2900" spc="-170" noProof="0" dirty="0">
                <a:latin typeface="Microsoft Sans Serif"/>
                <a:cs typeface="Microsoft Sans Serif"/>
              </a:rPr>
              <a:t>se</a:t>
            </a:r>
            <a:r>
              <a:rPr lang="es-CO" sz="2900" spc="-265" noProof="0" dirty="0">
                <a:latin typeface="Microsoft Sans Serif"/>
                <a:cs typeface="Microsoft Sans Serif"/>
              </a:rPr>
              <a:t> </a:t>
            </a:r>
            <a:r>
              <a:rPr lang="es-CO" sz="2900" spc="-180" noProof="0" dirty="0">
                <a:latin typeface="Microsoft Sans Serif"/>
                <a:cs typeface="Microsoft Sans Serif"/>
              </a:rPr>
              <a:t>denomina</a:t>
            </a:r>
            <a:r>
              <a:rPr lang="es-CO" sz="2900" spc="-190" noProof="0" dirty="0">
                <a:latin typeface="Microsoft Sans Serif"/>
                <a:cs typeface="Microsoft Sans Serif"/>
              </a:rPr>
              <a:t> </a:t>
            </a:r>
            <a:r>
              <a:rPr lang="es-CO" sz="2900" b="1" spc="-180" noProof="0" dirty="0">
                <a:latin typeface="Arial"/>
                <a:cs typeface="Arial"/>
              </a:rPr>
              <a:t>rango</a:t>
            </a:r>
            <a:r>
              <a:rPr lang="es-CO" sz="2900" b="1" spc="-210" noProof="0" dirty="0">
                <a:latin typeface="Arial"/>
                <a:cs typeface="Arial"/>
              </a:rPr>
              <a:t> </a:t>
            </a:r>
            <a:r>
              <a:rPr lang="es-CO" sz="2900" b="1" spc="-175" noProof="0" dirty="0" err="1">
                <a:latin typeface="Arial"/>
                <a:cs typeface="Arial"/>
              </a:rPr>
              <a:t>intercuartil</a:t>
            </a:r>
            <a:r>
              <a:rPr lang="es-CO" sz="2900" b="1" spc="-225" noProof="0" dirty="0">
                <a:latin typeface="Arial"/>
                <a:cs typeface="Arial"/>
              </a:rPr>
              <a:t> </a:t>
            </a:r>
            <a:r>
              <a:rPr lang="es-CO" sz="2900" b="1" spc="-114" noProof="0" dirty="0">
                <a:latin typeface="Arial"/>
                <a:cs typeface="Arial"/>
              </a:rPr>
              <a:t>(IQR)</a:t>
            </a:r>
            <a:r>
              <a:rPr lang="es-CO" sz="2900" b="1" spc="-145" noProof="0" dirty="0">
                <a:latin typeface="Arial"/>
                <a:cs typeface="Arial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y</a:t>
            </a:r>
            <a:r>
              <a:rPr lang="es-CO" sz="2900" spc="75" noProof="0" dirty="0">
                <a:latin typeface="Microsoft Sans Serif"/>
                <a:cs typeface="Microsoft Sans Serif"/>
              </a:rPr>
              <a:t> </a:t>
            </a:r>
            <a:r>
              <a:rPr lang="es-CO" sz="2900" spc="-170" noProof="0" dirty="0">
                <a:latin typeface="Microsoft Sans Serif"/>
                <a:cs typeface="Microsoft Sans Serif"/>
              </a:rPr>
              <a:t>se</a:t>
            </a:r>
            <a:r>
              <a:rPr lang="es-CO" sz="2900" spc="-285" noProof="0" dirty="0">
                <a:latin typeface="Microsoft Sans Serif"/>
                <a:cs typeface="Microsoft Sans Serif"/>
              </a:rPr>
              <a:t> </a:t>
            </a:r>
            <a:r>
              <a:rPr lang="es-CO" sz="2900" spc="-80" noProof="0" dirty="0">
                <a:latin typeface="Microsoft Sans Serif"/>
                <a:cs typeface="Microsoft Sans Serif"/>
              </a:rPr>
              <a:t>define</a:t>
            </a:r>
            <a:r>
              <a:rPr lang="es-CO" sz="2900" spc="-45" noProof="0" dirty="0">
                <a:latin typeface="Microsoft Sans Serif"/>
                <a:cs typeface="Microsoft Sans Serif"/>
              </a:rPr>
              <a:t> </a:t>
            </a:r>
            <a:r>
              <a:rPr lang="es-CO" sz="2900" spc="-20" noProof="0" dirty="0">
                <a:latin typeface="Microsoft Sans Serif"/>
                <a:cs typeface="Microsoft Sans Serif"/>
              </a:rPr>
              <a:t>como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2804795">
              <a:lnSpc>
                <a:spcPct val="100000"/>
              </a:lnSpc>
              <a:spcBef>
                <a:spcPts val="1300"/>
              </a:spcBef>
            </a:pPr>
            <a:r>
              <a:rPr lang="es-CO" sz="2800" noProof="0" dirty="0">
                <a:latin typeface="Cambria Math"/>
                <a:cs typeface="Cambria Math"/>
              </a:rPr>
              <a:t>RIC</a:t>
            </a:r>
            <a:r>
              <a:rPr lang="es-CO" sz="2800" spc="110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=</a:t>
            </a:r>
            <a:r>
              <a:rPr lang="es-CO" sz="2800" spc="114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𝑄</a:t>
            </a:r>
            <a:r>
              <a:rPr lang="es-CO" sz="3075" baseline="-13550" noProof="0" dirty="0">
                <a:latin typeface="Cambria Math"/>
                <a:cs typeface="Cambria Math"/>
              </a:rPr>
              <a:t>3</a:t>
            </a:r>
            <a:r>
              <a:rPr lang="es-CO" sz="3075" spc="300" baseline="-13550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−</a:t>
            </a:r>
            <a:r>
              <a:rPr lang="es-CO" sz="2800" spc="-35" noProof="0" dirty="0">
                <a:latin typeface="Cambria Math"/>
                <a:cs typeface="Cambria Math"/>
              </a:rPr>
              <a:t> </a:t>
            </a:r>
            <a:r>
              <a:rPr lang="es-CO" sz="2800" spc="-25" noProof="0" dirty="0">
                <a:latin typeface="Cambria Math"/>
                <a:cs typeface="Cambria Math"/>
              </a:rPr>
              <a:t>𝑄</a:t>
            </a:r>
            <a:r>
              <a:rPr lang="es-CO" sz="3075" spc="-37" baseline="-13550" noProof="0" dirty="0">
                <a:latin typeface="Cambria Math"/>
                <a:cs typeface="Cambria Math"/>
              </a:rPr>
              <a:t>1</a:t>
            </a:r>
            <a:endParaRPr lang="es-CO" sz="3075" baseline="-13550" noProof="0" dirty="0">
              <a:latin typeface="Cambria Math"/>
              <a:cs typeface="Cambria Math"/>
            </a:endParaRPr>
          </a:p>
          <a:p>
            <a:pPr marL="358140" indent="-320040">
              <a:lnSpc>
                <a:spcPct val="100000"/>
              </a:lnSpc>
              <a:spcBef>
                <a:spcPts val="31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58140" algn="l"/>
              </a:tabLst>
            </a:pPr>
            <a:r>
              <a:rPr lang="es-CO" sz="2900" spc="-75" noProof="0" dirty="0">
                <a:latin typeface="Microsoft Sans Serif"/>
                <a:cs typeface="Microsoft Sans Serif"/>
              </a:rPr>
              <a:t>Ejemplo: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131024"/>
              </p:ext>
            </p:extLst>
          </p:nvPr>
        </p:nvGraphicFramePr>
        <p:xfrm>
          <a:off x="1211910" y="4221111"/>
          <a:ext cx="10078713" cy="64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9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01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43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23622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30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85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36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85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47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85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85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52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85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52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85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56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85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60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85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63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85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70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85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70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85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110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69850" marB="0">
                    <a:solidFill>
                      <a:srgbClr val="F8E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814818" y="5173726"/>
            <a:ext cx="17754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lang="es-CO" sz="2800" noProof="0" dirty="0">
                <a:latin typeface="Cambria Math"/>
                <a:cs typeface="Cambria Math"/>
              </a:rPr>
              <a:t>𝑄</a:t>
            </a:r>
            <a:r>
              <a:rPr lang="es-CO" sz="3075" baseline="-13550" noProof="0" dirty="0">
                <a:latin typeface="Cambria Math"/>
                <a:cs typeface="Cambria Math"/>
              </a:rPr>
              <a:t>3</a:t>
            </a:r>
            <a:r>
              <a:rPr lang="es-CO" sz="3075" spc="525" baseline="-13550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=</a:t>
            </a:r>
            <a:r>
              <a:rPr lang="es-CO" sz="2800" spc="105" noProof="0" dirty="0">
                <a:latin typeface="Cambria Math"/>
                <a:cs typeface="Cambria Math"/>
              </a:rPr>
              <a:t> </a:t>
            </a:r>
            <a:r>
              <a:rPr lang="es-CO" sz="2800" spc="-20" noProof="0" dirty="0">
                <a:latin typeface="Cambria Math"/>
                <a:cs typeface="Cambria Math"/>
              </a:rPr>
              <a:t>68.25</a:t>
            </a:r>
            <a:endParaRPr lang="es-CO" sz="2800" noProof="0" dirty="0">
              <a:latin typeface="Cambria Math"/>
              <a:cs typeface="Cambria Math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638931" y="4859655"/>
            <a:ext cx="308610" cy="308610"/>
            <a:chOff x="3638931" y="4859655"/>
            <a:chExt cx="308610" cy="308610"/>
          </a:xfrm>
        </p:grpSpPr>
        <p:sp>
          <p:nvSpPr>
            <p:cNvPr id="7" name="object 7"/>
            <p:cNvSpPr/>
            <p:nvPr/>
          </p:nvSpPr>
          <p:spPr>
            <a:xfrm>
              <a:off x="3648456" y="4869180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60" h="289560">
                  <a:moveTo>
                    <a:pt x="144653" y="0"/>
                  </a:moveTo>
                  <a:lnTo>
                    <a:pt x="0" y="144653"/>
                  </a:lnTo>
                  <a:lnTo>
                    <a:pt x="72263" y="144653"/>
                  </a:lnTo>
                  <a:lnTo>
                    <a:pt x="72263" y="289306"/>
                  </a:lnTo>
                  <a:lnTo>
                    <a:pt x="216916" y="289306"/>
                  </a:lnTo>
                  <a:lnTo>
                    <a:pt x="216916" y="144653"/>
                  </a:lnTo>
                  <a:lnTo>
                    <a:pt x="289306" y="144653"/>
                  </a:lnTo>
                  <a:lnTo>
                    <a:pt x="144653" y="0"/>
                  </a:lnTo>
                  <a:close/>
                </a:path>
              </a:pathLst>
            </a:custGeom>
            <a:solidFill>
              <a:srgbClr val="92B6D2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3648456" y="4869180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60" h="289560">
                  <a:moveTo>
                    <a:pt x="0" y="144653"/>
                  </a:moveTo>
                  <a:lnTo>
                    <a:pt x="144653" y="0"/>
                  </a:lnTo>
                  <a:lnTo>
                    <a:pt x="289306" y="144653"/>
                  </a:lnTo>
                  <a:lnTo>
                    <a:pt x="216916" y="144653"/>
                  </a:lnTo>
                  <a:lnTo>
                    <a:pt x="216916" y="289306"/>
                  </a:lnTo>
                  <a:lnTo>
                    <a:pt x="72263" y="289306"/>
                  </a:lnTo>
                  <a:lnTo>
                    <a:pt x="72263" y="144653"/>
                  </a:lnTo>
                  <a:lnTo>
                    <a:pt x="0" y="144653"/>
                  </a:lnTo>
                  <a:close/>
                </a:path>
              </a:pathLst>
            </a:custGeom>
            <a:ln w="19048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6098667" y="4859655"/>
            <a:ext cx="308610" cy="308610"/>
            <a:chOff x="6098667" y="4859655"/>
            <a:chExt cx="308610" cy="308610"/>
          </a:xfrm>
        </p:grpSpPr>
        <p:sp>
          <p:nvSpPr>
            <p:cNvPr id="10" name="object 10"/>
            <p:cNvSpPr/>
            <p:nvPr/>
          </p:nvSpPr>
          <p:spPr>
            <a:xfrm>
              <a:off x="6108192" y="4869180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60" h="289560">
                  <a:moveTo>
                    <a:pt x="144653" y="0"/>
                  </a:moveTo>
                  <a:lnTo>
                    <a:pt x="0" y="144653"/>
                  </a:lnTo>
                  <a:lnTo>
                    <a:pt x="72262" y="144653"/>
                  </a:lnTo>
                  <a:lnTo>
                    <a:pt x="72262" y="289306"/>
                  </a:lnTo>
                  <a:lnTo>
                    <a:pt x="216916" y="289306"/>
                  </a:lnTo>
                  <a:lnTo>
                    <a:pt x="216916" y="144653"/>
                  </a:lnTo>
                  <a:lnTo>
                    <a:pt x="289306" y="144653"/>
                  </a:lnTo>
                  <a:lnTo>
                    <a:pt x="144653" y="0"/>
                  </a:lnTo>
                  <a:close/>
                </a:path>
              </a:pathLst>
            </a:custGeom>
            <a:solidFill>
              <a:srgbClr val="92B6D2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6108192" y="4869180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60" h="289560">
                  <a:moveTo>
                    <a:pt x="0" y="144653"/>
                  </a:moveTo>
                  <a:lnTo>
                    <a:pt x="144653" y="0"/>
                  </a:lnTo>
                  <a:lnTo>
                    <a:pt x="289306" y="144653"/>
                  </a:lnTo>
                  <a:lnTo>
                    <a:pt x="216916" y="144653"/>
                  </a:lnTo>
                  <a:lnTo>
                    <a:pt x="216916" y="289306"/>
                  </a:lnTo>
                  <a:lnTo>
                    <a:pt x="72262" y="289306"/>
                  </a:lnTo>
                  <a:lnTo>
                    <a:pt x="72262" y="144653"/>
                  </a:lnTo>
                  <a:lnTo>
                    <a:pt x="0" y="144653"/>
                  </a:lnTo>
                  <a:close/>
                </a:path>
              </a:pathLst>
            </a:custGeom>
            <a:ln w="19048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8679560" y="4860416"/>
            <a:ext cx="308610" cy="308610"/>
            <a:chOff x="8679560" y="4860416"/>
            <a:chExt cx="308610" cy="308610"/>
          </a:xfrm>
        </p:grpSpPr>
        <p:sp>
          <p:nvSpPr>
            <p:cNvPr id="13" name="object 13"/>
            <p:cNvSpPr/>
            <p:nvPr/>
          </p:nvSpPr>
          <p:spPr>
            <a:xfrm>
              <a:off x="8688323" y="4869179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60">
                  <a:moveTo>
                    <a:pt x="144652" y="0"/>
                  </a:moveTo>
                  <a:lnTo>
                    <a:pt x="0" y="144653"/>
                  </a:lnTo>
                  <a:lnTo>
                    <a:pt x="72262" y="144653"/>
                  </a:lnTo>
                  <a:lnTo>
                    <a:pt x="72262" y="289306"/>
                  </a:lnTo>
                  <a:lnTo>
                    <a:pt x="216916" y="289306"/>
                  </a:lnTo>
                  <a:lnTo>
                    <a:pt x="216916" y="144653"/>
                  </a:lnTo>
                  <a:lnTo>
                    <a:pt x="289305" y="144653"/>
                  </a:lnTo>
                  <a:lnTo>
                    <a:pt x="144652" y="0"/>
                  </a:lnTo>
                  <a:close/>
                </a:path>
              </a:pathLst>
            </a:custGeom>
            <a:solidFill>
              <a:srgbClr val="92B6D2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14" name="object 14"/>
            <p:cNvSpPr/>
            <p:nvPr/>
          </p:nvSpPr>
          <p:spPr>
            <a:xfrm>
              <a:off x="8689085" y="4869941"/>
              <a:ext cx="289560" cy="289560"/>
            </a:xfrm>
            <a:custGeom>
              <a:avLst/>
              <a:gdLst/>
              <a:ahLst/>
              <a:cxnLst/>
              <a:rect l="l" t="t" r="r" b="b"/>
              <a:pathLst>
                <a:path w="289559" h="289560">
                  <a:moveTo>
                    <a:pt x="0" y="144652"/>
                  </a:moveTo>
                  <a:lnTo>
                    <a:pt x="144653" y="0"/>
                  </a:lnTo>
                  <a:lnTo>
                    <a:pt x="289306" y="144652"/>
                  </a:lnTo>
                  <a:lnTo>
                    <a:pt x="216916" y="144652"/>
                  </a:lnTo>
                  <a:lnTo>
                    <a:pt x="216916" y="289305"/>
                  </a:lnTo>
                  <a:lnTo>
                    <a:pt x="72263" y="289305"/>
                  </a:lnTo>
                  <a:lnTo>
                    <a:pt x="72263" y="144652"/>
                  </a:lnTo>
                  <a:lnTo>
                    <a:pt x="0" y="144652"/>
                  </a:lnTo>
                  <a:close/>
                </a:path>
              </a:pathLst>
            </a:custGeom>
            <a:ln w="19049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414652" y="5173471"/>
            <a:ext cx="6292850" cy="1132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5175" algn="ctr">
              <a:lnSpc>
                <a:spcPct val="100000"/>
              </a:lnSpc>
              <a:spcBef>
                <a:spcPts val="95"/>
              </a:spcBef>
              <a:tabLst>
                <a:tab pos="3635375" algn="l"/>
              </a:tabLst>
            </a:pPr>
            <a:r>
              <a:rPr lang="es-CO" sz="2800" noProof="0" dirty="0">
                <a:latin typeface="Cambria Math"/>
                <a:cs typeface="Cambria Math"/>
              </a:rPr>
              <a:t>𝑄</a:t>
            </a:r>
            <a:r>
              <a:rPr lang="es-CO" sz="3075" baseline="-13550" noProof="0" dirty="0">
                <a:latin typeface="Cambria Math"/>
                <a:cs typeface="Cambria Math"/>
              </a:rPr>
              <a:t>1</a:t>
            </a:r>
            <a:r>
              <a:rPr lang="es-CO" sz="3075" spc="494" baseline="-13550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=</a:t>
            </a:r>
            <a:r>
              <a:rPr lang="es-CO" sz="2800" spc="125" noProof="0" dirty="0">
                <a:latin typeface="Cambria Math"/>
                <a:cs typeface="Cambria Math"/>
              </a:rPr>
              <a:t> </a:t>
            </a:r>
            <a:r>
              <a:rPr lang="es-CO" sz="2800" spc="-10" noProof="0" dirty="0">
                <a:latin typeface="Cambria Math"/>
                <a:cs typeface="Cambria Math"/>
              </a:rPr>
              <a:t>47.75</a:t>
            </a:r>
            <a:r>
              <a:rPr lang="es-CO" sz="2800" noProof="0" dirty="0">
                <a:latin typeface="Cambria Math"/>
                <a:cs typeface="Cambria Math"/>
              </a:rPr>
              <a:t>	𝑄</a:t>
            </a:r>
            <a:r>
              <a:rPr lang="es-CO" sz="3075" baseline="-13550" noProof="0" dirty="0">
                <a:latin typeface="Cambria Math"/>
                <a:cs typeface="Cambria Math"/>
              </a:rPr>
              <a:t>2</a:t>
            </a:r>
            <a:r>
              <a:rPr lang="es-CO" sz="3075" spc="540" baseline="-13550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=</a:t>
            </a:r>
            <a:r>
              <a:rPr lang="es-CO" sz="2800" spc="90" noProof="0" dirty="0">
                <a:latin typeface="Cambria Math"/>
                <a:cs typeface="Cambria Math"/>
              </a:rPr>
              <a:t> </a:t>
            </a:r>
            <a:r>
              <a:rPr lang="es-CO" sz="2800" spc="-25" noProof="0" dirty="0">
                <a:latin typeface="Cambria Math"/>
                <a:cs typeface="Cambria Math"/>
              </a:rPr>
              <a:t>54</a:t>
            </a:r>
            <a:endParaRPr lang="es-CO" sz="2800" noProof="0" dirty="0">
              <a:latin typeface="Cambria Math"/>
              <a:cs typeface="Cambria Math"/>
            </a:endParaRPr>
          </a:p>
          <a:p>
            <a:pPr marL="50800">
              <a:lnSpc>
                <a:spcPct val="100000"/>
              </a:lnSpc>
              <a:spcBef>
                <a:spcPts val="2005"/>
              </a:spcBef>
              <a:tabLst>
                <a:tab pos="3734435" algn="l"/>
              </a:tabLst>
            </a:pPr>
            <a:r>
              <a:rPr lang="es-CO" sz="2800" noProof="0" dirty="0">
                <a:latin typeface="Cambria Math"/>
                <a:cs typeface="Cambria Math"/>
              </a:rPr>
              <a:t>RIC</a:t>
            </a:r>
            <a:r>
              <a:rPr lang="es-CO" sz="2800" spc="120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=</a:t>
            </a:r>
            <a:r>
              <a:rPr lang="es-CO" sz="2800" spc="125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𝑄</a:t>
            </a:r>
            <a:r>
              <a:rPr lang="es-CO" sz="3075" baseline="-13550" noProof="0" dirty="0">
                <a:latin typeface="Cambria Math"/>
                <a:cs typeface="Cambria Math"/>
              </a:rPr>
              <a:t>3</a:t>
            </a:r>
            <a:r>
              <a:rPr lang="es-CO" sz="3075" spc="359" baseline="-13550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−</a:t>
            </a:r>
            <a:r>
              <a:rPr lang="es-CO" sz="2800" spc="-40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𝑄</a:t>
            </a:r>
            <a:r>
              <a:rPr lang="es-CO" sz="3075" baseline="-13550" noProof="0" dirty="0">
                <a:latin typeface="Cambria Math"/>
                <a:cs typeface="Cambria Math"/>
              </a:rPr>
              <a:t>1</a:t>
            </a:r>
            <a:r>
              <a:rPr lang="es-CO" sz="3075" spc="532" baseline="-13550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=</a:t>
            </a:r>
            <a:r>
              <a:rPr lang="es-CO" sz="2800" spc="125" noProof="0" dirty="0">
                <a:latin typeface="Cambria Math"/>
                <a:cs typeface="Cambria Math"/>
              </a:rPr>
              <a:t> </a:t>
            </a:r>
            <a:r>
              <a:rPr lang="es-CO" sz="2800" spc="-10" noProof="0" dirty="0">
                <a:latin typeface="Cambria Math"/>
                <a:cs typeface="Cambria Math"/>
              </a:rPr>
              <a:t>68.25</a:t>
            </a:r>
            <a:r>
              <a:rPr lang="es-CO" sz="2800" noProof="0" dirty="0">
                <a:latin typeface="Cambria Math"/>
                <a:cs typeface="Cambria Math"/>
              </a:rPr>
              <a:t>	−</a:t>
            </a:r>
            <a:r>
              <a:rPr lang="es-CO" sz="2800" spc="-65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47.75</a:t>
            </a:r>
            <a:r>
              <a:rPr lang="es-CO" sz="2800" spc="100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=</a:t>
            </a:r>
            <a:r>
              <a:rPr lang="es-CO" sz="2800" spc="110" noProof="0" dirty="0">
                <a:latin typeface="Cambria Math"/>
                <a:cs typeface="Cambria Math"/>
              </a:rPr>
              <a:t> </a:t>
            </a:r>
            <a:r>
              <a:rPr lang="es-CO" sz="2800" spc="-10" noProof="0" dirty="0">
                <a:latin typeface="Cambria Math"/>
                <a:cs typeface="Cambria Math"/>
              </a:rPr>
              <a:t>20.50</a:t>
            </a:r>
            <a:endParaRPr lang="es-CO" sz="2800" noProof="0" dirty="0">
              <a:latin typeface="Cambria Math"/>
              <a:cs typeface="Cambria Math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32047" y="28955"/>
            <a:ext cx="4523105" cy="399415"/>
          </a:xfrm>
          <a:prstGeom prst="rect">
            <a:avLst/>
          </a:prstGeom>
          <a:solidFill>
            <a:srgbClr val="ABB620"/>
          </a:solidFill>
        </p:spPr>
        <p:txBody>
          <a:bodyPr vert="horz" wrap="square" lIns="0" tIns="24130" rIns="0" bIns="0" rtlCol="0">
            <a:spAutoFit/>
          </a:bodyPr>
          <a:lstStyle/>
          <a:p>
            <a:pPr marL="19685" algn="ctr">
              <a:lnSpc>
                <a:spcPct val="100000"/>
              </a:lnSpc>
              <a:spcBef>
                <a:spcPts val="190"/>
              </a:spcBef>
            </a:pPr>
            <a:r>
              <a:rPr lang="es-CO" sz="2000" spc="-22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MEDIDAS</a:t>
            </a:r>
            <a:r>
              <a:rPr lang="es-CO" sz="2000" spc="-195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DE</a:t>
            </a:r>
            <a:r>
              <a:rPr lang="es-CO" sz="2000" spc="-29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lang="es-CO" sz="2000" spc="-140" noProof="0" dirty="0">
                <a:solidFill>
                  <a:srgbClr val="FFFFFF"/>
                </a:solidFill>
                <a:latin typeface="Microsoft Sans Serif"/>
                <a:cs typeface="Microsoft Sans Serif"/>
              </a:rPr>
              <a:t>DISPERSION</a:t>
            </a:r>
            <a:endParaRPr lang="es-CO" sz="2000" noProof="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lang="es-CO" spc="-170" noProof="0" dirty="0"/>
              <a:t>Diagrama</a:t>
            </a:r>
            <a:r>
              <a:rPr lang="es-CO" spc="-155" noProof="0" dirty="0"/>
              <a:t> </a:t>
            </a:r>
            <a:r>
              <a:rPr lang="es-CO" noProof="0" dirty="0"/>
              <a:t>de</a:t>
            </a:r>
            <a:r>
              <a:rPr lang="es-CO" spc="-195" noProof="0" dirty="0"/>
              <a:t> </a:t>
            </a:r>
            <a:r>
              <a:rPr lang="es-CO" spc="-100" noProof="0" dirty="0"/>
              <a:t>caja</a:t>
            </a:r>
            <a:r>
              <a:rPr lang="es-CO" spc="-170" noProof="0" dirty="0"/>
              <a:t> </a:t>
            </a:r>
            <a:r>
              <a:rPr lang="es-CO" spc="-270" noProof="0" dirty="0"/>
              <a:t>simple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4895" y="1837944"/>
            <a:ext cx="8764524" cy="147523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358389" y="3359353"/>
            <a:ext cx="1010919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2400" b="1" spc="-105" noProof="0" dirty="0">
                <a:latin typeface="Arial"/>
                <a:cs typeface="Arial"/>
              </a:rPr>
              <a:t>Mínimo</a:t>
            </a:r>
            <a:endParaRPr lang="es-CO" sz="2400" noProof="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30359" y="3437077"/>
            <a:ext cx="8750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1800" b="1" spc="-10" noProof="0" dirty="0">
                <a:latin typeface="Arial"/>
                <a:cs typeface="Arial"/>
              </a:rPr>
              <a:t>Máximo</a:t>
            </a:r>
            <a:endParaRPr lang="es-CO" sz="1800" noProof="0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59122" y="1676780"/>
            <a:ext cx="8915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1500" algn="l"/>
              </a:tabLst>
            </a:pPr>
            <a:r>
              <a:rPr lang="es-CO" sz="1800" b="1" spc="-25" noProof="0" dirty="0">
                <a:latin typeface="Arial"/>
                <a:cs typeface="Arial"/>
              </a:rPr>
              <a:t>Q1</a:t>
            </a:r>
            <a:r>
              <a:rPr lang="es-CO" sz="1800" b="1" noProof="0" dirty="0">
                <a:latin typeface="Arial"/>
                <a:cs typeface="Arial"/>
              </a:rPr>
              <a:t>	</a:t>
            </a:r>
            <a:r>
              <a:rPr lang="es-CO" sz="1800" b="1" spc="-25" noProof="0" dirty="0">
                <a:latin typeface="Arial"/>
                <a:cs typeface="Arial"/>
              </a:rPr>
              <a:t>Q2</a:t>
            </a:r>
            <a:endParaRPr lang="es-CO" sz="1800" noProof="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10198" y="1676780"/>
            <a:ext cx="331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1800" b="1" spc="-25" noProof="0" dirty="0">
                <a:latin typeface="Arial"/>
                <a:cs typeface="Arial"/>
              </a:rPr>
              <a:t>Q3</a:t>
            </a:r>
            <a:endParaRPr lang="es-CO" sz="1800" noProof="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9073" y="4369384"/>
            <a:ext cx="9885680" cy="911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lang="es-CO" sz="2900" spc="-180" noProof="0" dirty="0">
                <a:latin typeface="Microsoft Sans Serif"/>
                <a:cs typeface="Microsoft Sans Serif"/>
              </a:rPr>
              <a:t>El</a:t>
            </a:r>
            <a:r>
              <a:rPr lang="es-CO" sz="2900" spc="-315" noProof="0" dirty="0">
                <a:latin typeface="Microsoft Sans Serif"/>
                <a:cs typeface="Microsoft Sans Serif"/>
              </a:rPr>
              <a:t> </a:t>
            </a:r>
            <a:r>
              <a:rPr lang="es-CO" sz="2900" spc="-75" noProof="0" dirty="0">
                <a:latin typeface="Microsoft Sans Serif"/>
                <a:cs typeface="Microsoft Sans Serif"/>
              </a:rPr>
              <a:t>diagrama</a:t>
            </a:r>
            <a:r>
              <a:rPr lang="es-CO" sz="2900" spc="-12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110" noProof="0" dirty="0">
                <a:latin typeface="Microsoft Sans Serif"/>
                <a:cs typeface="Microsoft Sans Serif"/>
              </a:rPr>
              <a:t> </a:t>
            </a:r>
            <a:r>
              <a:rPr lang="es-CO" sz="2900" spc="-70" noProof="0" dirty="0">
                <a:latin typeface="Microsoft Sans Serif"/>
                <a:cs typeface="Microsoft Sans Serif"/>
              </a:rPr>
              <a:t>caja</a:t>
            </a:r>
            <a:r>
              <a:rPr lang="es-CO" sz="2900" spc="-105" noProof="0" dirty="0">
                <a:latin typeface="Microsoft Sans Serif"/>
                <a:cs typeface="Microsoft Sans Serif"/>
              </a:rPr>
              <a:t> </a:t>
            </a:r>
            <a:r>
              <a:rPr lang="es-CO" sz="2900" spc="-180" noProof="0" dirty="0">
                <a:latin typeface="Microsoft Sans Serif"/>
                <a:cs typeface="Microsoft Sans Serif"/>
              </a:rPr>
              <a:t>simple </a:t>
            </a:r>
            <a:r>
              <a:rPr lang="es-CO" sz="2900" spc="-105" noProof="0" dirty="0">
                <a:latin typeface="Microsoft Sans Serif"/>
                <a:cs typeface="Microsoft Sans Serif"/>
              </a:rPr>
              <a:t>permite</a:t>
            </a:r>
            <a:r>
              <a:rPr lang="es-CO" sz="2900" spc="-135" noProof="0" dirty="0">
                <a:latin typeface="Microsoft Sans Serif"/>
                <a:cs typeface="Microsoft Sans Serif"/>
              </a:rPr>
              <a:t> </a:t>
            </a:r>
            <a:r>
              <a:rPr lang="es-CO" sz="2900" spc="-60" noProof="0" dirty="0">
                <a:latin typeface="Microsoft Sans Serif"/>
                <a:cs typeface="Microsoft Sans Serif"/>
              </a:rPr>
              <a:t>analizar</a:t>
            </a:r>
            <a:r>
              <a:rPr lang="es-CO" sz="2900" spc="-8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la</a:t>
            </a:r>
            <a:r>
              <a:rPr lang="es-CO" sz="2900" spc="-10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dispersión</a:t>
            </a:r>
            <a:r>
              <a:rPr lang="es-CO" sz="2900" spc="-18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105" noProof="0" dirty="0">
                <a:latin typeface="Microsoft Sans Serif"/>
                <a:cs typeface="Microsoft Sans Serif"/>
              </a:rPr>
              <a:t> </a:t>
            </a:r>
            <a:r>
              <a:rPr lang="es-CO" sz="2900" spc="-80" noProof="0" dirty="0">
                <a:latin typeface="Microsoft Sans Serif"/>
                <a:cs typeface="Microsoft Sans Serif"/>
              </a:rPr>
              <a:t>los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valores</a:t>
            </a:r>
            <a:r>
              <a:rPr lang="es-CO" sz="2900" spc="-33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60" noProof="0" dirty="0">
                <a:latin typeface="Microsoft Sans Serif"/>
                <a:cs typeface="Microsoft Sans Serif"/>
              </a:rPr>
              <a:t> </a:t>
            </a:r>
            <a:r>
              <a:rPr lang="es-CO" sz="2900" spc="-180" noProof="0" dirty="0">
                <a:latin typeface="Microsoft Sans Serif"/>
                <a:cs typeface="Microsoft Sans Serif"/>
              </a:rPr>
              <a:t>un</a:t>
            </a:r>
            <a:r>
              <a:rPr lang="es-CO" sz="2900" spc="-305" noProof="0" dirty="0">
                <a:latin typeface="Microsoft Sans Serif"/>
                <a:cs typeface="Microsoft Sans Serif"/>
              </a:rPr>
              <a:t> </a:t>
            </a:r>
            <a:r>
              <a:rPr lang="es-CO" sz="2900" spc="-60" noProof="0" dirty="0">
                <a:latin typeface="Microsoft Sans Serif"/>
                <a:cs typeface="Microsoft Sans Serif"/>
              </a:rPr>
              <a:t>atributo</a:t>
            </a:r>
            <a:r>
              <a:rPr lang="es-CO" sz="2900" spc="-195" noProof="0" dirty="0">
                <a:latin typeface="Microsoft Sans Serif"/>
                <a:cs typeface="Microsoft Sans Serif"/>
              </a:rPr>
              <a:t> </a:t>
            </a:r>
            <a:r>
              <a:rPr lang="es-CO" sz="2900" spc="-105" noProof="0" dirty="0">
                <a:latin typeface="Microsoft Sans Serif"/>
                <a:cs typeface="Microsoft Sans Serif"/>
              </a:rPr>
              <a:t>numérico.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lang="es-CO" spc="-180" noProof="0" dirty="0"/>
              <a:t>Cuartiles</a:t>
            </a:r>
            <a:r>
              <a:rPr lang="es-CO" spc="-470" noProof="0" dirty="0"/>
              <a:t> </a:t>
            </a:r>
            <a:r>
              <a:rPr lang="es-CO" noProof="0" dirty="0"/>
              <a:t>y</a:t>
            </a:r>
            <a:r>
              <a:rPr lang="es-CO" spc="-60" noProof="0" dirty="0"/>
              <a:t> </a:t>
            </a:r>
            <a:r>
              <a:rPr lang="es-CO" spc="-590" noProof="0" dirty="0"/>
              <a:t>RI</a:t>
            </a:r>
            <a:r>
              <a:rPr lang="es-CO" noProof="0" dirty="0"/>
              <a:t>C</a:t>
            </a:r>
            <a:r>
              <a:rPr lang="es-CO" spc="-535" noProof="0" dirty="0"/>
              <a:t> </a:t>
            </a:r>
            <a:r>
              <a:rPr lang="es-CO" noProof="0" dirty="0"/>
              <a:t>del</a:t>
            </a:r>
            <a:r>
              <a:rPr lang="es-CO" spc="-140" noProof="0" dirty="0"/>
              <a:t> </a:t>
            </a:r>
            <a:r>
              <a:rPr lang="es-CO" spc="-95" noProof="0" dirty="0"/>
              <a:t>atributo</a:t>
            </a:r>
            <a:r>
              <a:rPr lang="es-CO" spc="-190" noProof="0" dirty="0"/>
              <a:t> </a:t>
            </a:r>
            <a:r>
              <a:rPr lang="es-CO" spc="-515" noProof="0" dirty="0"/>
              <a:t>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5299" y="1603628"/>
            <a:ext cx="9297035" cy="910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lang="es-CO" sz="2900" spc="-165" noProof="0" dirty="0">
                <a:latin typeface="Microsoft Sans Serif"/>
                <a:cs typeface="Microsoft Sans Serif"/>
              </a:rPr>
              <a:t>Una</a:t>
            </a:r>
            <a:r>
              <a:rPr lang="es-CO" sz="2900" spc="-190" noProof="0" dirty="0">
                <a:latin typeface="Microsoft Sans Serif"/>
                <a:cs typeface="Microsoft Sans Serif"/>
              </a:rPr>
              <a:t> </a:t>
            </a:r>
            <a:r>
              <a:rPr lang="es-CO" sz="2900" spc="-130" noProof="0" dirty="0">
                <a:latin typeface="Microsoft Sans Serif"/>
                <a:cs typeface="Microsoft Sans Serif"/>
              </a:rPr>
              <a:t>vez</a:t>
            </a:r>
            <a:r>
              <a:rPr lang="es-CO" sz="2900" spc="-150" noProof="0" dirty="0">
                <a:latin typeface="Microsoft Sans Serif"/>
                <a:cs typeface="Microsoft Sans Serif"/>
              </a:rPr>
              <a:t>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identificados</a:t>
            </a:r>
            <a:r>
              <a:rPr lang="es-CO" sz="2900" spc="-65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los</a:t>
            </a:r>
            <a:r>
              <a:rPr lang="es-CO" sz="2900" spc="-170" noProof="0" dirty="0">
                <a:latin typeface="Microsoft Sans Serif"/>
                <a:cs typeface="Microsoft Sans Serif"/>
              </a:rPr>
              <a:t> </a:t>
            </a:r>
            <a:r>
              <a:rPr lang="es-CO" sz="2900" spc="-150" noProof="0" dirty="0">
                <a:latin typeface="Microsoft Sans Serif"/>
                <a:cs typeface="Microsoft Sans Serif"/>
              </a:rPr>
              <a:t>cuartiles,</a:t>
            </a:r>
            <a:r>
              <a:rPr lang="es-CO" sz="2900" spc="-165" noProof="0" dirty="0">
                <a:latin typeface="Microsoft Sans Serif"/>
                <a:cs typeface="Microsoft Sans Serif"/>
              </a:rPr>
              <a:t>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puede</a:t>
            </a:r>
            <a:r>
              <a:rPr lang="es-CO" sz="2900" spc="-130" noProof="0" dirty="0">
                <a:latin typeface="Microsoft Sans Serif"/>
                <a:cs typeface="Microsoft Sans Serif"/>
              </a:rPr>
              <a:t> </a:t>
            </a:r>
            <a:r>
              <a:rPr lang="es-CO" sz="2900" spc="-170" noProof="0" dirty="0">
                <a:latin typeface="Microsoft Sans Serif"/>
                <a:cs typeface="Microsoft Sans Serif"/>
              </a:rPr>
              <a:t>calcularse</a:t>
            </a:r>
            <a:r>
              <a:rPr lang="es-CO" sz="2900" spc="-14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el</a:t>
            </a:r>
            <a:r>
              <a:rPr lang="es-CO" sz="2900" spc="-30" noProof="0" dirty="0">
                <a:latin typeface="Microsoft Sans Serif"/>
                <a:cs typeface="Microsoft Sans Serif"/>
              </a:rPr>
              <a:t> </a:t>
            </a:r>
            <a:r>
              <a:rPr lang="es-CO" sz="2900" spc="-40" noProof="0" dirty="0">
                <a:latin typeface="Microsoft Sans Serif"/>
                <a:cs typeface="Microsoft Sans Serif"/>
              </a:rPr>
              <a:t>rango </a:t>
            </a:r>
            <a:r>
              <a:rPr lang="es-CO" sz="2900" spc="-110" noProof="0" dirty="0" err="1">
                <a:latin typeface="Microsoft Sans Serif"/>
                <a:cs typeface="Microsoft Sans Serif"/>
              </a:rPr>
              <a:t>intercuartil</a:t>
            </a:r>
            <a:r>
              <a:rPr lang="es-CO" sz="2900" spc="-10" noProof="0" dirty="0">
                <a:latin typeface="Microsoft Sans Serif"/>
                <a:cs typeface="Microsoft Sans Serif"/>
              </a:rPr>
              <a:t> </a:t>
            </a:r>
            <a:r>
              <a:rPr lang="es-CO" sz="2900" spc="-45" noProof="0" dirty="0">
                <a:latin typeface="Microsoft Sans Serif"/>
                <a:cs typeface="Microsoft Sans Serif"/>
              </a:rPr>
              <a:t>(RIC)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808009"/>
              </p:ext>
            </p:extLst>
          </p:nvPr>
        </p:nvGraphicFramePr>
        <p:xfrm>
          <a:off x="1211910" y="3776040"/>
          <a:ext cx="10081251" cy="8312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7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1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2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94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01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09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321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7345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9722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90677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474345">
                <a:tc>
                  <a:txBody>
                    <a:bodyPr/>
                    <a:lstStyle/>
                    <a:p>
                      <a:pPr marR="31750" algn="ctr">
                        <a:lnSpc>
                          <a:spcPts val="2745"/>
                        </a:lnSpc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21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5"/>
                        </a:lnSpc>
                      </a:pPr>
                      <a:r>
                        <a:rPr lang="es-CO" sz="2400" b="1" spc="-50" noProof="0" dirty="0">
                          <a:latin typeface="Courier New"/>
                          <a:cs typeface="Courier New"/>
                        </a:rPr>
                        <a:t>…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5"/>
                        </a:lnSpc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32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5"/>
                        </a:lnSpc>
                      </a:pPr>
                      <a:r>
                        <a:rPr lang="es-CO" sz="2400" b="1" spc="-50" noProof="0" dirty="0">
                          <a:latin typeface="Courier New"/>
                          <a:cs typeface="Courier New"/>
                        </a:rPr>
                        <a:t>…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46355" algn="ctr">
                        <a:lnSpc>
                          <a:spcPts val="2745"/>
                        </a:lnSpc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38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5"/>
                        </a:lnSpc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38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5"/>
                        </a:lnSpc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38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ts val="2745"/>
                        </a:lnSpc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38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26034" algn="ctr">
                        <a:lnSpc>
                          <a:spcPts val="2745"/>
                        </a:lnSpc>
                      </a:pPr>
                      <a:r>
                        <a:rPr lang="es-CO" sz="2400" b="1" spc="-50" noProof="0" dirty="0">
                          <a:latin typeface="Courier New"/>
                          <a:cs typeface="Courier New"/>
                        </a:rPr>
                        <a:t>…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745"/>
                        </a:lnSpc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45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45"/>
                        </a:lnSpc>
                      </a:pPr>
                      <a:r>
                        <a:rPr lang="es-CO" sz="2400" b="1" spc="-50" noProof="0" dirty="0">
                          <a:latin typeface="Courier New"/>
                          <a:cs typeface="Courier New"/>
                        </a:rPr>
                        <a:t>…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8E6DA"/>
                    </a:solidFill>
                  </a:tcPr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2745"/>
                        </a:lnSpc>
                      </a:pPr>
                      <a:r>
                        <a:rPr lang="es-CO" sz="2400" b="1" spc="-25" noProof="0" dirty="0">
                          <a:latin typeface="Courier New"/>
                          <a:cs typeface="Courier New"/>
                        </a:rPr>
                        <a:t>81</a:t>
                      </a:r>
                      <a:endParaRPr lang="es-CO" sz="24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F8E6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marR="3175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lang="es-CO" sz="2000" spc="-50" noProof="0" dirty="0">
                          <a:latin typeface="Courier New"/>
                          <a:cs typeface="Courier New"/>
                        </a:rPr>
                        <a:t>1</a:t>
                      </a:r>
                      <a:endParaRPr lang="es-CO" sz="20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lang="es-CO" sz="2000" spc="-50" noProof="0" dirty="0">
                          <a:latin typeface="Courier New"/>
                          <a:cs typeface="Courier New"/>
                        </a:rPr>
                        <a:t>…</a:t>
                      </a:r>
                      <a:endParaRPr lang="es-CO" sz="20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lang="es-CO" sz="2000" spc="-25" noProof="0" dirty="0">
                          <a:latin typeface="Courier New"/>
                          <a:cs typeface="Courier New"/>
                        </a:rPr>
                        <a:t>32</a:t>
                      </a:r>
                      <a:endParaRPr lang="es-CO" sz="20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lang="es-CO" sz="2000" spc="-50" noProof="0" dirty="0">
                          <a:latin typeface="Courier New"/>
                          <a:cs typeface="Courier New"/>
                        </a:rPr>
                        <a:t>…</a:t>
                      </a:r>
                      <a:endParaRPr lang="es-CO" sz="20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L="46355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lang="es-CO" sz="2000" spc="-25" noProof="0" dirty="0">
                          <a:latin typeface="Courier New"/>
                          <a:cs typeface="Courier New"/>
                        </a:rPr>
                        <a:t>88</a:t>
                      </a:r>
                      <a:endParaRPr lang="es-CO" sz="20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lang="es-CO" sz="2000" spc="-25" noProof="0" dirty="0">
                          <a:latin typeface="Courier New"/>
                          <a:cs typeface="Courier New"/>
                        </a:rPr>
                        <a:t>89</a:t>
                      </a:r>
                      <a:endParaRPr lang="es-CO" sz="20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lang="es-CO" sz="2000" spc="-25" noProof="0" dirty="0">
                          <a:latin typeface="Courier New"/>
                          <a:cs typeface="Courier New"/>
                        </a:rPr>
                        <a:t>90</a:t>
                      </a:r>
                      <a:endParaRPr lang="es-CO" sz="20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L="26733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lang="es-CO" sz="2000" spc="-25" noProof="0" dirty="0">
                          <a:latin typeface="Courier New"/>
                          <a:cs typeface="Courier New"/>
                        </a:rPr>
                        <a:t>91</a:t>
                      </a:r>
                      <a:endParaRPr lang="es-CO" sz="20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L="26034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lang="es-CO" sz="2000" spc="-50" noProof="0" dirty="0">
                          <a:latin typeface="Courier New"/>
                          <a:cs typeface="Courier New"/>
                        </a:rPr>
                        <a:t>…</a:t>
                      </a:r>
                      <a:endParaRPr lang="es-CO" sz="20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lang="es-CO" sz="2000" spc="-25" noProof="0" dirty="0">
                          <a:latin typeface="Courier New"/>
                          <a:cs typeface="Courier New"/>
                        </a:rPr>
                        <a:t>134</a:t>
                      </a:r>
                      <a:endParaRPr lang="es-CO" sz="20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lang="es-CO" sz="2000" spc="-50" noProof="0" dirty="0">
                          <a:latin typeface="Courier New"/>
                          <a:cs typeface="Courier New"/>
                        </a:rPr>
                        <a:t>…</a:t>
                      </a:r>
                      <a:endParaRPr lang="es-CO" sz="20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 marL="259079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lang="es-CO" sz="2000" spc="-25" noProof="0" dirty="0">
                          <a:latin typeface="Courier New"/>
                          <a:cs typeface="Courier New"/>
                        </a:rPr>
                        <a:t>178</a:t>
                      </a:r>
                      <a:endParaRPr lang="es-CO" sz="2000" noProof="0" dirty="0">
                        <a:latin typeface="Courier New"/>
                        <a:cs typeface="Courier New"/>
                      </a:endParaRPr>
                    </a:p>
                  </a:txBody>
                  <a:tcPr marL="0" marR="0" marT="2667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8544179" y="2743961"/>
            <a:ext cx="13125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lang="es-CO" sz="2800" noProof="0" dirty="0">
                <a:latin typeface="Cambria Math"/>
                <a:cs typeface="Cambria Math"/>
              </a:rPr>
              <a:t>𝑄</a:t>
            </a:r>
            <a:r>
              <a:rPr lang="es-CO" sz="3075" baseline="-13550" noProof="0" dirty="0">
                <a:latin typeface="Cambria Math"/>
                <a:cs typeface="Cambria Math"/>
              </a:rPr>
              <a:t>3</a:t>
            </a:r>
            <a:r>
              <a:rPr lang="es-CO" sz="3075" spc="502" baseline="-13550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=</a:t>
            </a:r>
            <a:r>
              <a:rPr lang="es-CO" sz="2800" spc="90" noProof="0" dirty="0">
                <a:latin typeface="Cambria Math"/>
                <a:cs typeface="Cambria Math"/>
              </a:rPr>
              <a:t> </a:t>
            </a:r>
            <a:r>
              <a:rPr lang="es-CO" sz="2800" spc="-25" noProof="0" dirty="0">
                <a:latin typeface="Cambria Math"/>
                <a:cs typeface="Cambria Math"/>
              </a:rPr>
              <a:t>45</a:t>
            </a:r>
            <a:endParaRPr lang="es-CO" sz="2800" noProof="0" dirty="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15945" y="2716783"/>
            <a:ext cx="42824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2993390" algn="l"/>
              </a:tabLst>
            </a:pPr>
            <a:r>
              <a:rPr lang="es-CO" sz="2800" noProof="0" dirty="0">
                <a:latin typeface="Cambria Math"/>
                <a:cs typeface="Cambria Math"/>
              </a:rPr>
              <a:t>𝑄</a:t>
            </a:r>
            <a:r>
              <a:rPr lang="es-CO" sz="3075" baseline="-13550" noProof="0" dirty="0">
                <a:latin typeface="Cambria Math"/>
                <a:cs typeface="Cambria Math"/>
              </a:rPr>
              <a:t>1</a:t>
            </a:r>
            <a:r>
              <a:rPr lang="es-CO" sz="3075" spc="494" baseline="-13550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=</a:t>
            </a:r>
            <a:r>
              <a:rPr lang="es-CO" sz="2800" spc="125" noProof="0" dirty="0">
                <a:latin typeface="Cambria Math"/>
                <a:cs typeface="Cambria Math"/>
              </a:rPr>
              <a:t> </a:t>
            </a:r>
            <a:r>
              <a:rPr lang="es-CO" sz="2800" spc="-25" noProof="0" dirty="0">
                <a:latin typeface="Cambria Math"/>
                <a:cs typeface="Cambria Math"/>
              </a:rPr>
              <a:t>32</a:t>
            </a:r>
            <a:r>
              <a:rPr lang="es-CO" sz="2800" noProof="0" dirty="0">
                <a:latin typeface="Cambria Math"/>
                <a:cs typeface="Cambria Math"/>
              </a:rPr>
              <a:t>	𝑄</a:t>
            </a:r>
            <a:r>
              <a:rPr lang="es-CO" sz="3075" baseline="-13550" noProof="0" dirty="0">
                <a:latin typeface="Cambria Math"/>
                <a:cs typeface="Cambria Math"/>
              </a:rPr>
              <a:t>2</a:t>
            </a:r>
            <a:r>
              <a:rPr lang="es-CO" sz="3075" spc="525" baseline="-13550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=</a:t>
            </a:r>
            <a:r>
              <a:rPr lang="es-CO" sz="2800" spc="90" noProof="0" dirty="0">
                <a:latin typeface="Cambria Math"/>
                <a:cs typeface="Cambria Math"/>
              </a:rPr>
              <a:t> </a:t>
            </a:r>
            <a:r>
              <a:rPr lang="es-CO" sz="2800" spc="-25" noProof="0" dirty="0">
                <a:latin typeface="Cambria Math"/>
                <a:cs typeface="Cambria Math"/>
              </a:rPr>
              <a:t>38</a:t>
            </a:r>
            <a:endParaRPr lang="es-CO" sz="2800" noProof="0" dirty="0">
              <a:latin typeface="Cambria Math"/>
              <a:cs typeface="Cambria Math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63620" y="3350133"/>
            <a:ext cx="451484" cy="366395"/>
            <a:chOff x="3063620" y="3350133"/>
            <a:chExt cx="451484" cy="366395"/>
          </a:xfrm>
        </p:grpSpPr>
        <p:sp>
          <p:nvSpPr>
            <p:cNvPr id="8" name="object 8"/>
            <p:cNvSpPr/>
            <p:nvPr/>
          </p:nvSpPr>
          <p:spPr>
            <a:xfrm>
              <a:off x="3072383" y="3358896"/>
              <a:ext cx="432434" cy="347345"/>
            </a:xfrm>
            <a:custGeom>
              <a:avLst/>
              <a:gdLst/>
              <a:ahLst/>
              <a:cxnLst/>
              <a:rect l="l" t="t" r="r" b="b"/>
              <a:pathLst>
                <a:path w="432435" h="347345">
                  <a:moveTo>
                    <a:pt x="324231" y="0"/>
                  </a:moveTo>
                  <a:lnTo>
                    <a:pt x="108077" y="0"/>
                  </a:lnTo>
                  <a:lnTo>
                    <a:pt x="108077" y="173481"/>
                  </a:lnTo>
                  <a:lnTo>
                    <a:pt x="0" y="173481"/>
                  </a:lnTo>
                  <a:lnTo>
                    <a:pt x="216154" y="346963"/>
                  </a:lnTo>
                  <a:lnTo>
                    <a:pt x="432307" y="173481"/>
                  </a:lnTo>
                  <a:lnTo>
                    <a:pt x="324231" y="173481"/>
                  </a:lnTo>
                  <a:lnTo>
                    <a:pt x="324231" y="0"/>
                  </a:lnTo>
                  <a:close/>
                </a:path>
              </a:pathLst>
            </a:custGeom>
            <a:solidFill>
              <a:srgbClr val="92B6D2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3073145" y="3359658"/>
              <a:ext cx="432434" cy="347345"/>
            </a:xfrm>
            <a:custGeom>
              <a:avLst/>
              <a:gdLst/>
              <a:ahLst/>
              <a:cxnLst/>
              <a:rect l="l" t="t" r="r" b="b"/>
              <a:pathLst>
                <a:path w="432435" h="347345">
                  <a:moveTo>
                    <a:pt x="0" y="173481"/>
                  </a:moveTo>
                  <a:lnTo>
                    <a:pt x="108077" y="173481"/>
                  </a:lnTo>
                  <a:lnTo>
                    <a:pt x="108077" y="0"/>
                  </a:lnTo>
                  <a:lnTo>
                    <a:pt x="324231" y="0"/>
                  </a:lnTo>
                  <a:lnTo>
                    <a:pt x="324231" y="173481"/>
                  </a:lnTo>
                  <a:lnTo>
                    <a:pt x="432307" y="173481"/>
                  </a:lnTo>
                  <a:lnTo>
                    <a:pt x="216154" y="346963"/>
                  </a:lnTo>
                  <a:lnTo>
                    <a:pt x="0" y="173481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029325" y="3318128"/>
            <a:ext cx="450215" cy="367665"/>
            <a:chOff x="6029325" y="3318128"/>
            <a:chExt cx="450215" cy="367665"/>
          </a:xfrm>
        </p:grpSpPr>
        <p:sp>
          <p:nvSpPr>
            <p:cNvPr id="11" name="object 11"/>
            <p:cNvSpPr/>
            <p:nvPr/>
          </p:nvSpPr>
          <p:spPr>
            <a:xfrm>
              <a:off x="6038087" y="3326891"/>
              <a:ext cx="431165" cy="348615"/>
            </a:xfrm>
            <a:custGeom>
              <a:avLst/>
              <a:gdLst/>
              <a:ahLst/>
              <a:cxnLst/>
              <a:rect l="l" t="t" r="r" b="b"/>
              <a:pathLst>
                <a:path w="431164" h="348614">
                  <a:moveTo>
                    <a:pt x="323088" y="0"/>
                  </a:moveTo>
                  <a:lnTo>
                    <a:pt x="107696" y="0"/>
                  </a:lnTo>
                  <a:lnTo>
                    <a:pt x="107696" y="174244"/>
                  </a:lnTo>
                  <a:lnTo>
                    <a:pt x="0" y="174244"/>
                  </a:lnTo>
                  <a:lnTo>
                    <a:pt x="215391" y="348488"/>
                  </a:lnTo>
                  <a:lnTo>
                    <a:pt x="430784" y="174244"/>
                  </a:lnTo>
                  <a:lnTo>
                    <a:pt x="323088" y="174244"/>
                  </a:lnTo>
                  <a:lnTo>
                    <a:pt x="323088" y="0"/>
                  </a:lnTo>
                  <a:close/>
                </a:path>
              </a:pathLst>
            </a:custGeom>
            <a:solidFill>
              <a:srgbClr val="92B6D2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12" name="object 12"/>
            <p:cNvSpPr/>
            <p:nvPr/>
          </p:nvSpPr>
          <p:spPr>
            <a:xfrm>
              <a:off x="6038850" y="3327653"/>
              <a:ext cx="431165" cy="348615"/>
            </a:xfrm>
            <a:custGeom>
              <a:avLst/>
              <a:gdLst/>
              <a:ahLst/>
              <a:cxnLst/>
              <a:rect l="l" t="t" r="r" b="b"/>
              <a:pathLst>
                <a:path w="431164" h="348614">
                  <a:moveTo>
                    <a:pt x="0" y="174244"/>
                  </a:moveTo>
                  <a:lnTo>
                    <a:pt x="107696" y="174244"/>
                  </a:lnTo>
                  <a:lnTo>
                    <a:pt x="107696" y="0"/>
                  </a:lnTo>
                  <a:lnTo>
                    <a:pt x="323088" y="0"/>
                  </a:lnTo>
                  <a:lnTo>
                    <a:pt x="323088" y="174244"/>
                  </a:lnTo>
                  <a:lnTo>
                    <a:pt x="430784" y="174244"/>
                  </a:lnTo>
                  <a:lnTo>
                    <a:pt x="215391" y="348488"/>
                  </a:lnTo>
                  <a:lnTo>
                    <a:pt x="0" y="174244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8993505" y="3318128"/>
            <a:ext cx="452120" cy="367665"/>
            <a:chOff x="8993505" y="3318128"/>
            <a:chExt cx="452120" cy="367665"/>
          </a:xfrm>
        </p:grpSpPr>
        <p:sp>
          <p:nvSpPr>
            <p:cNvPr id="14" name="object 14"/>
            <p:cNvSpPr/>
            <p:nvPr/>
          </p:nvSpPr>
          <p:spPr>
            <a:xfrm>
              <a:off x="9002268" y="3326891"/>
              <a:ext cx="433070" cy="348615"/>
            </a:xfrm>
            <a:custGeom>
              <a:avLst/>
              <a:gdLst/>
              <a:ahLst/>
              <a:cxnLst/>
              <a:rect l="l" t="t" r="r" b="b"/>
              <a:pathLst>
                <a:path w="433070" h="348614">
                  <a:moveTo>
                    <a:pt x="324357" y="0"/>
                  </a:moveTo>
                  <a:lnTo>
                    <a:pt x="108076" y="0"/>
                  </a:lnTo>
                  <a:lnTo>
                    <a:pt x="108076" y="174244"/>
                  </a:lnTo>
                  <a:lnTo>
                    <a:pt x="0" y="174244"/>
                  </a:lnTo>
                  <a:lnTo>
                    <a:pt x="216280" y="348488"/>
                  </a:lnTo>
                  <a:lnTo>
                    <a:pt x="432561" y="174244"/>
                  </a:lnTo>
                  <a:lnTo>
                    <a:pt x="324357" y="174244"/>
                  </a:lnTo>
                  <a:lnTo>
                    <a:pt x="324357" y="0"/>
                  </a:lnTo>
                  <a:close/>
                </a:path>
              </a:pathLst>
            </a:custGeom>
            <a:solidFill>
              <a:srgbClr val="92B6D2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15" name="object 15"/>
            <p:cNvSpPr/>
            <p:nvPr/>
          </p:nvSpPr>
          <p:spPr>
            <a:xfrm>
              <a:off x="9003030" y="3327653"/>
              <a:ext cx="433070" cy="348615"/>
            </a:xfrm>
            <a:custGeom>
              <a:avLst/>
              <a:gdLst/>
              <a:ahLst/>
              <a:cxnLst/>
              <a:rect l="l" t="t" r="r" b="b"/>
              <a:pathLst>
                <a:path w="433070" h="348614">
                  <a:moveTo>
                    <a:pt x="0" y="174244"/>
                  </a:moveTo>
                  <a:lnTo>
                    <a:pt x="108076" y="174244"/>
                  </a:lnTo>
                  <a:lnTo>
                    <a:pt x="108076" y="0"/>
                  </a:lnTo>
                  <a:lnTo>
                    <a:pt x="324358" y="0"/>
                  </a:lnTo>
                  <a:lnTo>
                    <a:pt x="324358" y="174244"/>
                  </a:lnTo>
                  <a:lnTo>
                    <a:pt x="432562" y="174244"/>
                  </a:lnTo>
                  <a:lnTo>
                    <a:pt x="216280" y="348488"/>
                  </a:lnTo>
                  <a:lnTo>
                    <a:pt x="0" y="174244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319527" y="5279542"/>
            <a:ext cx="48698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253740" algn="l"/>
              </a:tabLst>
            </a:pPr>
            <a:r>
              <a:rPr lang="es-CO" sz="2800" noProof="0" dirty="0">
                <a:latin typeface="Cambria Math"/>
                <a:cs typeface="Cambria Math"/>
              </a:rPr>
              <a:t>RIC</a:t>
            </a:r>
            <a:r>
              <a:rPr lang="es-CO" sz="2800" spc="130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=</a:t>
            </a:r>
            <a:r>
              <a:rPr lang="es-CO" sz="2800" spc="125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𝑄</a:t>
            </a:r>
            <a:r>
              <a:rPr lang="es-CO" sz="3075" baseline="-13550" noProof="0" dirty="0">
                <a:latin typeface="Cambria Math"/>
                <a:cs typeface="Cambria Math"/>
              </a:rPr>
              <a:t>3</a:t>
            </a:r>
            <a:r>
              <a:rPr lang="es-CO" sz="3075" spc="345" baseline="-13550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−</a:t>
            </a:r>
            <a:r>
              <a:rPr lang="es-CO" sz="2800" spc="-30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𝑄</a:t>
            </a:r>
            <a:r>
              <a:rPr lang="es-CO" sz="3075" baseline="-13550" noProof="0" dirty="0">
                <a:latin typeface="Cambria Math"/>
                <a:cs typeface="Cambria Math"/>
              </a:rPr>
              <a:t>1</a:t>
            </a:r>
            <a:r>
              <a:rPr lang="es-CO" sz="3075" spc="532" baseline="-13550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=</a:t>
            </a:r>
            <a:r>
              <a:rPr lang="es-CO" sz="2800" spc="125" noProof="0" dirty="0">
                <a:latin typeface="Cambria Math"/>
                <a:cs typeface="Cambria Math"/>
              </a:rPr>
              <a:t> </a:t>
            </a:r>
            <a:r>
              <a:rPr lang="es-CO" sz="2800" spc="-25" noProof="0" dirty="0">
                <a:latin typeface="Cambria Math"/>
                <a:cs typeface="Cambria Math"/>
              </a:rPr>
              <a:t>45</a:t>
            </a:r>
            <a:r>
              <a:rPr lang="es-CO" sz="2800" noProof="0" dirty="0">
                <a:latin typeface="Cambria Math"/>
                <a:cs typeface="Cambria Math"/>
              </a:rPr>
              <a:t>	−</a:t>
            </a:r>
            <a:r>
              <a:rPr lang="es-CO" sz="2800" spc="-45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32</a:t>
            </a:r>
            <a:r>
              <a:rPr lang="es-CO" sz="2800" spc="114" noProof="0" dirty="0">
                <a:latin typeface="Cambria Math"/>
                <a:cs typeface="Cambria Math"/>
              </a:rPr>
              <a:t> </a:t>
            </a:r>
            <a:r>
              <a:rPr lang="es-CO" sz="2800" noProof="0" dirty="0">
                <a:latin typeface="Cambria Math"/>
                <a:cs typeface="Cambria Math"/>
              </a:rPr>
              <a:t>=</a:t>
            </a:r>
            <a:r>
              <a:rPr lang="es-CO" sz="2800" spc="110" noProof="0" dirty="0">
                <a:latin typeface="Cambria Math"/>
                <a:cs typeface="Cambria Math"/>
              </a:rPr>
              <a:t> </a:t>
            </a:r>
            <a:r>
              <a:rPr lang="es-CO" sz="2800" spc="-25" noProof="0" dirty="0">
                <a:latin typeface="Cambria Math"/>
                <a:cs typeface="Cambria Math"/>
              </a:rPr>
              <a:t>13</a:t>
            </a:r>
            <a:endParaRPr lang="es-CO" sz="2800" noProof="0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1948" rIns="0" bIns="0" rtlCol="0">
            <a:spAutoFit/>
          </a:bodyPr>
          <a:lstStyle/>
          <a:p>
            <a:pPr marL="629285">
              <a:lnSpc>
                <a:spcPct val="100000"/>
              </a:lnSpc>
              <a:spcBef>
                <a:spcPts val="105"/>
              </a:spcBef>
            </a:pPr>
            <a:r>
              <a:rPr lang="es-CO" spc="-180" noProof="0" dirty="0"/>
              <a:t>Diagrama</a:t>
            </a:r>
            <a:r>
              <a:rPr lang="es-CO" spc="-175" noProof="0" dirty="0"/>
              <a:t> </a:t>
            </a:r>
            <a:r>
              <a:rPr lang="es-CO" spc="-30" noProof="0" dirty="0"/>
              <a:t>de</a:t>
            </a:r>
            <a:r>
              <a:rPr lang="es-CO" spc="-204" noProof="0" dirty="0"/>
              <a:t> </a:t>
            </a:r>
            <a:r>
              <a:rPr lang="es-CO" spc="-110" noProof="0" dirty="0"/>
              <a:t>caja</a:t>
            </a:r>
            <a:r>
              <a:rPr lang="es-CO" spc="-175" noProof="0" dirty="0"/>
              <a:t> </a:t>
            </a:r>
            <a:r>
              <a:rPr lang="es-CO" spc="-270" noProof="0" dirty="0"/>
              <a:t>simple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5921" y="1603628"/>
            <a:ext cx="230632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95" noProof="0" dirty="0">
                <a:latin typeface="Microsoft Sans Serif"/>
                <a:cs typeface="Microsoft Sans Serif"/>
              </a:rPr>
              <a:t>Atributo</a:t>
            </a:r>
            <a:r>
              <a:rPr lang="es-CO" sz="2900" spc="-150" noProof="0" dirty="0">
                <a:latin typeface="Microsoft Sans Serif"/>
                <a:cs typeface="Microsoft Sans Serif"/>
              </a:rPr>
              <a:t> </a:t>
            </a:r>
            <a:r>
              <a:rPr lang="es-CO" sz="2900" spc="-175" noProof="0" dirty="0">
                <a:latin typeface="Microsoft Sans Serif"/>
                <a:cs typeface="Microsoft Sans Serif"/>
              </a:rPr>
              <a:t>AGE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16823" y="5478779"/>
            <a:ext cx="2932177" cy="772005"/>
          </a:xfrm>
          <a:prstGeom prst="rect">
            <a:avLst/>
          </a:prstGeom>
          <a:solidFill>
            <a:srgbClr val="CCFF99"/>
          </a:solidFill>
        </p:spPr>
        <p:txBody>
          <a:bodyPr vert="horz" wrap="square" lIns="0" tIns="33019" rIns="0" bIns="0" rtlCol="0">
            <a:spAutoFit/>
          </a:bodyPr>
          <a:lstStyle/>
          <a:p>
            <a:pPr marL="687070" marR="167640" indent="-508000">
              <a:lnSpc>
                <a:spcPct val="100000"/>
              </a:lnSpc>
              <a:spcBef>
                <a:spcPts val="259"/>
              </a:spcBef>
            </a:pPr>
            <a:r>
              <a:rPr lang="es-CO" sz="2400" noProof="0" dirty="0">
                <a:latin typeface="Arial MT"/>
                <a:cs typeface="Arial MT"/>
              </a:rPr>
              <a:t>¿Hay</a:t>
            </a:r>
            <a:r>
              <a:rPr lang="es-CO" sz="2400" spc="-95" noProof="0" dirty="0">
                <a:latin typeface="Arial MT"/>
                <a:cs typeface="Arial MT"/>
              </a:rPr>
              <a:t> </a:t>
            </a:r>
            <a:r>
              <a:rPr lang="es-CO" sz="2400" noProof="0" dirty="0">
                <a:latin typeface="Arial MT"/>
                <a:cs typeface="Arial MT"/>
              </a:rPr>
              <a:t>valores</a:t>
            </a:r>
            <a:r>
              <a:rPr lang="es-CO" sz="2400" spc="-95" noProof="0" dirty="0">
                <a:latin typeface="Arial MT"/>
                <a:cs typeface="Arial MT"/>
              </a:rPr>
              <a:t> </a:t>
            </a:r>
            <a:r>
              <a:rPr lang="es-CO" sz="2400" spc="-10" noProof="0" dirty="0">
                <a:latin typeface="Arial MT"/>
                <a:cs typeface="Arial MT"/>
              </a:rPr>
              <a:t>fuera </a:t>
            </a:r>
            <a:r>
              <a:rPr lang="es-CO" sz="2400" noProof="0" dirty="0">
                <a:latin typeface="Arial MT"/>
                <a:cs typeface="Arial MT"/>
              </a:rPr>
              <a:t>de</a:t>
            </a:r>
            <a:r>
              <a:rPr lang="es-CO" sz="2400" spc="-70" noProof="0" dirty="0">
                <a:latin typeface="Arial MT"/>
                <a:cs typeface="Arial MT"/>
              </a:rPr>
              <a:t> </a:t>
            </a:r>
            <a:r>
              <a:rPr lang="es-CO" sz="2400" spc="-10" noProof="0" dirty="0">
                <a:latin typeface="Arial MT"/>
                <a:cs typeface="Arial MT"/>
              </a:rPr>
              <a:t>rango?</a:t>
            </a:r>
            <a:endParaRPr lang="es-CO" sz="2400" noProof="0" dirty="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44968"/>
              </p:ext>
            </p:extLst>
          </p:nvPr>
        </p:nvGraphicFramePr>
        <p:xfrm>
          <a:off x="1222375" y="5070475"/>
          <a:ext cx="5149215" cy="1365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4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5295"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RIC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Q3</a:t>
                      </a:r>
                      <a:r>
                        <a:rPr lang="es-CO" sz="2000" spc="-10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lang="es-CO" sz="2000" spc="5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Q1=</a:t>
                      </a:r>
                      <a:r>
                        <a:rPr lang="es-CO" sz="2000" spc="30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45</a:t>
                      </a:r>
                      <a:r>
                        <a:rPr lang="es-CO" sz="2000" spc="-5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noProof="0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lang="es-CO" sz="2000" spc="-130" noProof="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32</a:t>
                      </a:r>
                      <a:r>
                        <a:rPr lang="es-CO" sz="2000" spc="-10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lang="es-CO" sz="2000" spc="190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13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es-CO" sz="2000" spc="-10" noProof="0" dirty="0" err="1">
                          <a:latin typeface="Microsoft Sans Serif"/>
                          <a:cs typeface="Microsoft Sans Serif"/>
                        </a:rPr>
                        <a:t>Lim.Inf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Q1</a:t>
                      </a:r>
                      <a:r>
                        <a:rPr lang="es-CO" sz="2000" spc="-15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- 1.5*RIC</a:t>
                      </a:r>
                      <a:r>
                        <a:rPr lang="es-CO" sz="2000" spc="-30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lang="es-CO" sz="2000" spc="15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spc="-10" noProof="0" dirty="0">
                          <a:latin typeface="Microsoft Sans Serif"/>
                          <a:cs typeface="Microsoft Sans Serif"/>
                        </a:rPr>
                        <a:t>32-</a:t>
                      </a: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1.5*13</a:t>
                      </a:r>
                      <a:r>
                        <a:rPr lang="es-CO" sz="2000" spc="-70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spc="-20" noProof="0" dirty="0">
                          <a:latin typeface="Microsoft Sans Serif"/>
                          <a:cs typeface="Microsoft Sans Serif"/>
                        </a:rPr>
                        <a:t>=12.5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lang="es-CO" sz="2000" spc="-10" noProof="0" dirty="0" err="1">
                          <a:latin typeface="Calibri"/>
                          <a:cs typeface="Calibri"/>
                        </a:rPr>
                        <a:t>Lim.Sup</a:t>
                      </a:r>
                      <a:endParaRPr lang="es-CO" sz="2000" noProof="0" dirty="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Q3</a:t>
                      </a:r>
                      <a:r>
                        <a:rPr lang="es-CO" sz="2000" spc="-30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lang="es-CO" sz="2000" spc="-10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1.5*RIC</a:t>
                      </a:r>
                      <a:r>
                        <a:rPr lang="es-CO" sz="2000" spc="-55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=45+1.5*13</a:t>
                      </a:r>
                      <a:r>
                        <a:rPr lang="es-CO" sz="2000" spc="-65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lang="es-CO" sz="2000" spc="5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spc="-20" noProof="0" dirty="0">
                          <a:latin typeface="Microsoft Sans Serif"/>
                          <a:cs typeface="Microsoft Sans Serif"/>
                        </a:rPr>
                        <a:t>64.5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320265"/>
              </p:ext>
            </p:extLst>
          </p:nvPr>
        </p:nvGraphicFramePr>
        <p:xfrm>
          <a:off x="1222375" y="2408173"/>
          <a:ext cx="2663190" cy="23037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9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lang="es-CO" sz="2000" spc="-10" noProof="0" dirty="0">
                          <a:latin typeface="Microsoft Sans Serif"/>
                          <a:cs typeface="Microsoft Sans Serif"/>
                        </a:rPr>
                        <a:t>Mínimo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21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0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Q1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32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Q2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38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Q3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45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009"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lang="es-CO" sz="2000" spc="-10" noProof="0" dirty="0">
                          <a:latin typeface="Microsoft Sans Serif"/>
                          <a:cs typeface="Microsoft Sans Serif"/>
                        </a:rPr>
                        <a:t>Máximo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81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7323" y="1915667"/>
            <a:ext cx="6954011" cy="2944367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1948" rIns="0" bIns="0" rtlCol="0">
            <a:spAutoFit/>
          </a:bodyPr>
          <a:lstStyle/>
          <a:p>
            <a:pPr marL="629285">
              <a:lnSpc>
                <a:spcPct val="100000"/>
              </a:lnSpc>
              <a:spcBef>
                <a:spcPts val="105"/>
              </a:spcBef>
            </a:pPr>
            <a:r>
              <a:rPr lang="es-CO" spc="-180" noProof="0" dirty="0"/>
              <a:t>Diagrama</a:t>
            </a:r>
            <a:r>
              <a:rPr lang="es-CO" spc="-175" noProof="0" dirty="0"/>
              <a:t> </a:t>
            </a:r>
            <a:r>
              <a:rPr lang="es-CO" spc="-30" noProof="0" dirty="0"/>
              <a:t>de</a:t>
            </a:r>
            <a:r>
              <a:rPr lang="es-CO" spc="-204" noProof="0" dirty="0"/>
              <a:t> </a:t>
            </a:r>
            <a:r>
              <a:rPr lang="es-CO" spc="-110" noProof="0" dirty="0"/>
              <a:t>caja</a:t>
            </a:r>
            <a:r>
              <a:rPr lang="es-CO" spc="-175" noProof="0" dirty="0"/>
              <a:t> </a:t>
            </a:r>
            <a:r>
              <a:rPr lang="es-CO" spc="-270" noProof="0" dirty="0"/>
              <a:t>simple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5921" y="1603628"/>
            <a:ext cx="230632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95" noProof="0" dirty="0">
                <a:latin typeface="Microsoft Sans Serif"/>
                <a:cs typeface="Microsoft Sans Serif"/>
              </a:rPr>
              <a:t>Atributo</a:t>
            </a:r>
            <a:r>
              <a:rPr lang="es-CO" sz="2900" spc="-150" noProof="0" dirty="0">
                <a:latin typeface="Microsoft Sans Serif"/>
                <a:cs typeface="Microsoft Sans Serif"/>
              </a:rPr>
              <a:t> </a:t>
            </a:r>
            <a:r>
              <a:rPr lang="es-CO" sz="2900" spc="-175" noProof="0" dirty="0">
                <a:latin typeface="Microsoft Sans Serif"/>
                <a:cs typeface="Microsoft Sans Serif"/>
              </a:rPr>
              <a:t>AGE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03664" y="5084064"/>
            <a:ext cx="1129665" cy="708660"/>
          </a:xfrm>
          <a:prstGeom prst="rect">
            <a:avLst/>
          </a:prstGeom>
          <a:solidFill>
            <a:srgbClr val="CCFF99"/>
          </a:solidFill>
        </p:spPr>
        <p:txBody>
          <a:bodyPr vert="horz" wrap="square" lIns="0" tIns="33655" rIns="0" bIns="0" rtlCol="0">
            <a:spAutoFit/>
          </a:bodyPr>
          <a:lstStyle/>
          <a:p>
            <a:pPr marL="226695" marR="104139" indent="-113030">
              <a:lnSpc>
                <a:spcPct val="100000"/>
              </a:lnSpc>
              <a:spcBef>
                <a:spcPts val="265"/>
              </a:spcBef>
            </a:pPr>
            <a:r>
              <a:rPr lang="es-CO" sz="2000" spc="-10" noProof="0" dirty="0">
                <a:latin typeface="Arial MT"/>
                <a:cs typeface="Arial MT"/>
              </a:rPr>
              <a:t>Atípicos Leves</a:t>
            </a:r>
            <a:endParaRPr lang="es-CO" sz="2000" noProof="0" dirty="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390128"/>
              </p:ext>
            </p:extLst>
          </p:nvPr>
        </p:nvGraphicFramePr>
        <p:xfrm>
          <a:off x="1222375" y="2408173"/>
          <a:ext cx="2663190" cy="23037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9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lang="es-CO" sz="2000" spc="-10" noProof="0" dirty="0">
                          <a:latin typeface="Microsoft Sans Serif"/>
                          <a:cs typeface="Microsoft Sans Serif"/>
                        </a:rPr>
                        <a:t>Mínimo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21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0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Q1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32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Q2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38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Q3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45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009"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lang="es-CO" sz="2000" spc="-10" noProof="0" dirty="0">
                          <a:latin typeface="Microsoft Sans Serif"/>
                          <a:cs typeface="Microsoft Sans Serif"/>
                        </a:rPr>
                        <a:t>Máximo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81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object 6"/>
          <p:cNvGrpSpPr/>
          <p:nvPr/>
        </p:nvGrpSpPr>
        <p:grpSpPr>
          <a:xfrm>
            <a:off x="4497323" y="1581911"/>
            <a:ext cx="7694295" cy="4354195"/>
            <a:chOff x="4497323" y="1581911"/>
            <a:chExt cx="7694295" cy="435419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7323" y="1915667"/>
              <a:ext cx="6954011" cy="294436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849361" y="1989581"/>
              <a:ext cx="3192780" cy="2305685"/>
            </a:xfrm>
            <a:custGeom>
              <a:avLst/>
              <a:gdLst/>
              <a:ahLst/>
              <a:cxnLst/>
              <a:rect l="l" t="t" r="r" b="b"/>
              <a:pathLst>
                <a:path w="3192779" h="2305685">
                  <a:moveTo>
                    <a:pt x="0" y="2305685"/>
                  </a:moveTo>
                  <a:lnTo>
                    <a:pt x="1056551" y="2305685"/>
                  </a:lnTo>
                  <a:lnTo>
                    <a:pt x="1056551" y="0"/>
                  </a:lnTo>
                  <a:lnTo>
                    <a:pt x="0" y="0"/>
                  </a:lnTo>
                  <a:lnTo>
                    <a:pt x="0" y="2305685"/>
                  </a:lnTo>
                  <a:close/>
                </a:path>
                <a:path w="3192779" h="2305685">
                  <a:moveTo>
                    <a:pt x="1068705" y="2305685"/>
                  </a:moveTo>
                  <a:lnTo>
                    <a:pt x="2125256" y="2305685"/>
                  </a:lnTo>
                  <a:lnTo>
                    <a:pt x="2125256" y="0"/>
                  </a:lnTo>
                  <a:lnTo>
                    <a:pt x="1068705" y="0"/>
                  </a:lnTo>
                  <a:lnTo>
                    <a:pt x="1068705" y="2305685"/>
                  </a:lnTo>
                  <a:close/>
                </a:path>
                <a:path w="3192779" h="2305685">
                  <a:moveTo>
                    <a:pt x="2136013" y="2305685"/>
                  </a:moveTo>
                  <a:lnTo>
                    <a:pt x="3192564" y="2305685"/>
                  </a:lnTo>
                  <a:lnTo>
                    <a:pt x="3192564" y="0"/>
                  </a:lnTo>
                  <a:lnTo>
                    <a:pt x="2136013" y="0"/>
                  </a:lnTo>
                  <a:lnTo>
                    <a:pt x="2136013" y="2305685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9446514" y="1600961"/>
              <a:ext cx="59055" cy="4316095"/>
            </a:xfrm>
            <a:custGeom>
              <a:avLst/>
              <a:gdLst/>
              <a:ahLst/>
              <a:cxnLst/>
              <a:rect l="l" t="t" r="r" b="b"/>
              <a:pathLst>
                <a:path w="59054" h="4316095">
                  <a:moveTo>
                    <a:pt x="0" y="0"/>
                  </a:moveTo>
                  <a:lnTo>
                    <a:pt x="59054" y="4315968"/>
                  </a:lnTo>
                </a:path>
              </a:pathLst>
            </a:custGeom>
            <a:ln w="38100">
              <a:solidFill>
                <a:srgbClr val="C00000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10" name="object 10"/>
            <p:cNvSpPr/>
            <p:nvPr/>
          </p:nvSpPr>
          <p:spPr>
            <a:xfrm>
              <a:off x="11052047" y="5113020"/>
              <a:ext cx="1139825" cy="646430"/>
            </a:xfrm>
            <a:custGeom>
              <a:avLst/>
              <a:gdLst/>
              <a:ahLst/>
              <a:cxnLst/>
              <a:rect l="l" t="t" r="r" b="b"/>
              <a:pathLst>
                <a:path w="1139825" h="646429">
                  <a:moveTo>
                    <a:pt x="1139444" y="0"/>
                  </a:moveTo>
                  <a:lnTo>
                    <a:pt x="0" y="0"/>
                  </a:lnTo>
                  <a:lnTo>
                    <a:pt x="0" y="645921"/>
                  </a:lnTo>
                  <a:lnTo>
                    <a:pt x="1139444" y="645921"/>
                  </a:lnTo>
                  <a:lnTo>
                    <a:pt x="1139444" y="0"/>
                  </a:lnTo>
                  <a:close/>
                </a:path>
              </a:pathLst>
            </a:custGeom>
            <a:solidFill>
              <a:srgbClr val="FBE785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143233" y="5136260"/>
            <a:ext cx="104863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2230">
              <a:lnSpc>
                <a:spcPct val="100000"/>
              </a:lnSpc>
              <a:spcBef>
                <a:spcPts val="100"/>
              </a:spcBef>
            </a:pPr>
            <a:r>
              <a:rPr lang="es-CO" sz="1800" spc="-10" noProof="0" dirty="0">
                <a:latin typeface="Arial MT"/>
                <a:cs typeface="Arial MT"/>
              </a:rPr>
              <a:t>Atípicos </a:t>
            </a:r>
            <a:r>
              <a:rPr lang="es-CO" spc="-20" dirty="0">
                <a:latin typeface="Arial MT"/>
                <a:cs typeface="Arial MT"/>
              </a:rPr>
              <a:t>E</a:t>
            </a:r>
            <a:r>
              <a:rPr lang="es-CO" sz="1800" spc="-20" noProof="0" dirty="0" err="1">
                <a:latin typeface="Arial MT"/>
                <a:cs typeface="Arial MT"/>
              </a:rPr>
              <a:t>xtremos</a:t>
            </a:r>
            <a:endParaRPr lang="es-CO" sz="1800" noProof="0" dirty="0">
              <a:latin typeface="Arial MT"/>
              <a:cs typeface="Arial M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007090" y="1629917"/>
            <a:ext cx="59055" cy="4316095"/>
          </a:xfrm>
          <a:custGeom>
            <a:avLst/>
            <a:gdLst/>
            <a:ahLst/>
            <a:cxnLst/>
            <a:rect l="l" t="t" r="r" b="b"/>
            <a:pathLst>
              <a:path w="59054" h="4316095">
                <a:moveTo>
                  <a:pt x="0" y="0"/>
                </a:moveTo>
                <a:lnTo>
                  <a:pt x="59054" y="4315968"/>
                </a:lnTo>
              </a:path>
            </a:pathLst>
          </a:custGeom>
          <a:ln w="38100">
            <a:solidFill>
              <a:srgbClr val="C00000"/>
            </a:solidFill>
            <a:prstDash val="lgDash"/>
          </a:ln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graphicFrame>
        <p:nvGraphicFramePr>
          <p:cNvPr id="13" name="object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641226"/>
              </p:ext>
            </p:extLst>
          </p:nvPr>
        </p:nvGraphicFramePr>
        <p:xfrm>
          <a:off x="1222375" y="5070475"/>
          <a:ext cx="5149215" cy="1365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4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5295">
                <a:tc>
                  <a:txBody>
                    <a:bodyPr/>
                    <a:lstStyle/>
                    <a:p>
                      <a:pPr marL="31750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RIC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Q3</a:t>
                      </a:r>
                      <a:r>
                        <a:rPr lang="es-CO" sz="2000" spc="-10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-</a:t>
                      </a:r>
                      <a:r>
                        <a:rPr lang="es-CO" sz="2000" spc="5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Q1=</a:t>
                      </a:r>
                      <a:r>
                        <a:rPr lang="es-CO" sz="2000" spc="30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45</a:t>
                      </a:r>
                      <a:r>
                        <a:rPr lang="es-CO" sz="2000" spc="-5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noProof="0" dirty="0">
                          <a:latin typeface="Arial MT"/>
                          <a:cs typeface="Arial MT"/>
                        </a:rPr>
                        <a:t>–</a:t>
                      </a:r>
                      <a:r>
                        <a:rPr lang="es-CO" sz="2000" spc="-130" noProof="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32</a:t>
                      </a:r>
                      <a:r>
                        <a:rPr lang="es-CO" sz="2000" spc="-10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lang="es-CO" sz="2000" spc="190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13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es-CO" sz="2000" spc="-10" noProof="0" dirty="0" err="1">
                          <a:latin typeface="Microsoft Sans Serif"/>
                          <a:cs typeface="Microsoft Sans Serif"/>
                        </a:rPr>
                        <a:t>Lim.Inf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Q1</a:t>
                      </a:r>
                      <a:r>
                        <a:rPr lang="es-CO" sz="2000" spc="-15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- 1.5*RIC</a:t>
                      </a:r>
                      <a:r>
                        <a:rPr lang="es-CO" sz="2000" spc="-30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lang="es-CO" sz="2000" spc="15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spc="-10" noProof="0" dirty="0">
                          <a:latin typeface="Microsoft Sans Serif"/>
                          <a:cs typeface="Microsoft Sans Serif"/>
                        </a:rPr>
                        <a:t>32-</a:t>
                      </a: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1.5*13</a:t>
                      </a:r>
                      <a:r>
                        <a:rPr lang="es-CO" sz="2000" spc="-70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spc="-20" noProof="0" dirty="0">
                          <a:latin typeface="Microsoft Sans Serif"/>
                          <a:cs typeface="Microsoft Sans Serif"/>
                        </a:rPr>
                        <a:t>=12.5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lang="es-CO" sz="2000" spc="-10" noProof="0" dirty="0" err="1">
                          <a:latin typeface="Calibri"/>
                          <a:cs typeface="Calibri"/>
                        </a:rPr>
                        <a:t>Lim.Sup</a:t>
                      </a:r>
                      <a:endParaRPr lang="es-CO" sz="2000" noProof="0" dirty="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63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Q3</a:t>
                      </a:r>
                      <a:r>
                        <a:rPr lang="es-CO" sz="2000" spc="-30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lang="es-CO" sz="2000" spc="-10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1.5*RIC</a:t>
                      </a:r>
                      <a:r>
                        <a:rPr lang="es-CO" sz="2000" spc="-55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=45+1.5*13</a:t>
                      </a:r>
                      <a:r>
                        <a:rPr lang="es-CO" sz="2000" spc="-65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lang="es-CO" sz="2000" spc="5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spc="-20" noProof="0" dirty="0">
                          <a:latin typeface="Microsoft Sans Serif"/>
                          <a:cs typeface="Microsoft Sans Serif"/>
                        </a:rPr>
                        <a:t>64.5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5299" y="330149"/>
            <a:ext cx="68954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pc="-150" noProof="0" dirty="0"/>
              <a:t>Valor</a:t>
            </a:r>
            <a:r>
              <a:rPr lang="es-CO" spc="-145" noProof="0" dirty="0"/>
              <a:t> </a:t>
            </a:r>
            <a:r>
              <a:rPr lang="es-CO" spc="-110" noProof="0" dirty="0"/>
              <a:t>atípico</a:t>
            </a:r>
            <a:r>
              <a:rPr lang="es-CO" spc="-185" noProof="0" dirty="0"/>
              <a:t> </a:t>
            </a:r>
            <a:r>
              <a:rPr lang="es-CO" noProof="0" dirty="0"/>
              <a:t>o</a:t>
            </a:r>
            <a:r>
              <a:rPr lang="es-CO" spc="-295" noProof="0" dirty="0"/>
              <a:t> </a:t>
            </a:r>
            <a:r>
              <a:rPr lang="es-CO" spc="-80" noProof="0" dirty="0"/>
              <a:t>fuera</a:t>
            </a:r>
            <a:r>
              <a:rPr lang="es-CO" spc="-165" noProof="0" dirty="0"/>
              <a:t> </a:t>
            </a:r>
            <a:r>
              <a:rPr lang="es-CO" noProof="0" dirty="0"/>
              <a:t>de</a:t>
            </a:r>
            <a:r>
              <a:rPr lang="es-CO" spc="-150" noProof="0" dirty="0"/>
              <a:t> </a:t>
            </a:r>
            <a:r>
              <a:rPr lang="es-CO" spc="-125" noProof="0" dirty="0"/>
              <a:t>rango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5299" y="1603628"/>
            <a:ext cx="10483850" cy="38309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1106805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lang="es-CO" sz="2900" spc="-254" noProof="0" dirty="0">
                <a:latin typeface="Microsoft Sans Serif"/>
                <a:cs typeface="Microsoft Sans Serif"/>
              </a:rPr>
              <a:t>Los</a:t>
            </a:r>
            <a:r>
              <a:rPr lang="es-CO" sz="2900" spc="-375" noProof="0" dirty="0">
                <a:latin typeface="Microsoft Sans Serif"/>
                <a:cs typeface="Microsoft Sans Serif"/>
              </a:rPr>
              <a:t> </a:t>
            </a:r>
            <a:r>
              <a:rPr lang="es-CO" sz="2900" spc="-145" noProof="0" dirty="0">
                <a:latin typeface="Microsoft Sans Serif"/>
                <a:cs typeface="Microsoft Sans Serif"/>
              </a:rPr>
              <a:t>valores</a:t>
            </a:r>
            <a:r>
              <a:rPr lang="es-CO" sz="2900" spc="-13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8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la</a:t>
            </a:r>
            <a:r>
              <a:rPr lang="es-CO" sz="2900" spc="-15" noProof="0" dirty="0">
                <a:latin typeface="Microsoft Sans Serif"/>
                <a:cs typeface="Microsoft Sans Serif"/>
              </a:rPr>
              <a:t> </a:t>
            </a:r>
            <a:r>
              <a:rPr lang="es-CO" sz="2900" spc="-215" noProof="0" dirty="0">
                <a:latin typeface="Microsoft Sans Serif"/>
                <a:cs typeface="Microsoft Sans Serif"/>
              </a:rPr>
              <a:t>muestra</a:t>
            </a:r>
            <a:r>
              <a:rPr lang="es-CO" sz="2900" spc="-50" noProof="0" dirty="0">
                <a:latin typeface="Microsoft Sans Serif"/>
                <a:cs typeface="Microsoft Sans Serif"/>
              </a:rPr>
              <a:t> </a:t>
            </a:r>
            <a:r>
              <a:rPr lang="es-CO" sz="2900" spc="-110" noProof="0" dirty="0">
                <a:latin typeface="Microsoft Sans Serif"/>
                <a:cs typeface="Microsoft Sans Serif"/>
              </a:rPr>
              <a:t>que</a:t>
            </a:r>
            <a:r>
              <a:rPr lang="es-CO" sz="2900" spc="-160" noProof="0" dirty="0">
                <a:latin typeface="Microsoft Sans Serif"/>
                <a:cs typeface="Microsoft Sans Serif"/>
              </a:rPr>
              <a:t> </a:t>
            </a:r>
            <a:r>
              <a:rPr lang="es-CO" sz="2900" spc="-135" noProof="0" dirty="0">
                <a:latin typeface="Microsoft Sans Serif"/>
                <a:cs typeface="Microsoft Sans Serif"/>
              </a:rPr>
              <a:t>pertenezcan</a:t>
            </a:r>
            <a:r>
              <a:rPr lang="es-CO" sz="2900" spc="-24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a</a:t>
            </a:r>
            <a:r>
              <a:rPr lang="es-CO" sz="2900" spc="25" noProof="0" dirty="0">
                <a:latin typeface="Microsoft Sans Serif"/>
                <a:cs typeface="Microsoft Sans Serif"/>
              </a:rPr>
              <a:t> </a:t>
            </a:r>
            <a:r>
              <a:rPr lang="es-CO" sz="2900" spc="-140" noProof="0" dirty="0">
                <a:latin typeface="Microsoft Sans Serif"/>
                <a:cs typeface="Microsoft Sans Serif"/>
              </a:rPr>
              <a:t>alguno</a:t>
            </a:r>
            <a:r>
              <a:rPr lang="es-CO" sz="2900" spc="-13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60" noProof="0" dirty="0">
                <a:latin typeface="Microsoft Sans Serif"/>
                <a:cs typeface="Microsoft Sans Serif"/>
              </a:rPr>
              <a:t> </a:t>
            </a:r>
            <a:r>
              <a:rPr lang="es-CO" sz="2900" spc="-155" noProof="0" dirty="0">
                <a:latin typeface="Microsoft Sans Serif"/>
                <a:cs typeface="Microsoft Sans Serif"/>
              </a:rPr>
              <a:t>estos </a:t>
            </a:r>
            <a:r>
              <a:rPr lang="es-CO" sz="2900" spc="-40" noProof="0" dirty="0">
                <a:latin typeface="Microsoft Sans Serif"/>
                <a:cs typeface="Microsoft Sans Serif"/>
              </a:rPr>
              <a:t>intervalos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996950">
              <a:lnSpc>
                <a:spcPct val="100000"/>
              </a:lnSpc>
              <a:spcBef>
                <a:spcPts val="1190"/>
              </a:spcBef>
              <a:tabLst>
                <a:tab pos="5461000" algn="l"/>
                <a:tab pos="5950585" algn="l"/>
              </a:tabLst>
            </a:pPr>
            <a:r>
              <a:rPr lang="es-CO" sz="2900" b="1" spc="-70" noProof="0" dirty="0">
                <a:latin typeface="Arial"/>
                <a:cs typeface="Arial"/>
              </a:rPr>
              <a:t>[Q1–</a:t>
            </a:r>
            <a:r>
              <a:rPr lang="es-CO" sz="2900" b="1" spc="-210" noProof="0" dirty="0">
                <a:latin typeface="Arial"/>
                <a:cs typeface="Arial"/>
              </a:rPr>
              <a:t> </a:t>
            </a:r>
            <a:r>
              <a:rPr lang="es-CO" sz="2900" b="1" spc="-130" noProof="0" dirty="0">
                <a:latin typeface="Arial"/>
                <a:cs typeface="Arial"/>
              </a:rPr>
              <a:t>3*RIC</a:t>
            </a:r>
            <a:r>
              <a:rPr lang="es-CO" sz="2900" b="1" spc="-335" noProof="0" dirty="0">
                <a:latin typeface="Arial"/>
                <a:cs typeface="Arial"/>
              </a:rPr>
              <a:t> </a:t>
            </a:r>
            <a:r>
              <a:rPr lang="es-CO" sz="2900" b="1" noProof="0" dirty="0">
                <a:latin typeface="Arial"/>
                <a:cs typeface="Arial"/>
              </a:rPr>
              <a:t>;</a:t>
            </a:r>
            <a:r>
              <a:rPr lang="es-CO" sz="2900" b="1" spc="-250" noProof="0" dirty="0">
                <a:latin typeface="Arial"/>
                <a:cs typeface="Arial"/>
              </a:rPr>
              <a:t> </a:t>
            </a:r>
            <a:r>
              <a:rPr lang="es-CO" sz="2900" b="1" spc="-50" noProof="0" dirty="0">
                <a:latin typeface="Arial"/>
                <a:cs typeface="Arial"/>
              </a:rPr>
              <a:t>Q1</a:t>
            </a:r>
            <a:r>
              <a:rPr lang="es-CO" sz="2900" b="1" spc="-105" noProof="0" dirty="0">
                <a:latin typeface="Arial"/>
                <a:cs typeface="Arial"/>
              </a:rPr>
              <a:t> </a:t>
            </a:r>
            <a:r>
              <a:rPr lang="es-CO" sz="2900" b="1" noProof="0" dirty="0">
                <a:latin typeface="Arial"/>
                <a:cs typeface="Arial"/>
              </a:rPr>
              <a:t>–</a:t>
            </a:r>
            <a:r>
              <a:rPr lang="es-CO" sz="2900" b="1" spc="-190" noProof="0" dirty="0">
                <a:latin typeface="Arial"/>
                <a:cs typeface="Arial"/>
              </a:rPr>
              <a:t> </a:t>
            </a:r>
            <a:r>
              <a:rPr lang="es-CO" sz="2900" b="1" spc="-125" noProof="0" dirty="0">
                <a:latin typeface="Arial"/>
                <a:cs typeface="Arial"/>
              </a:rPr>
              <a:t>1.5*RIC</a:t>
            </a:r>
            <a:r>
              <a:rPr lang="es-CO" sz="2900" b="1" spc="-245" noProof="0" dirty="0">
                <a:latin typeface="Arial"/>
                <a:cs typeface="Arial"/>
              </a:rPr>
              <a:t> </a:t>
            </a:r>
            <a:r>
              <a:rPr lang="es-CO" sz="2900" b="1" spc="-50" noProof="0" dirty="0">
                <a:latin typeface="Arial"/>
                <a:cs typeface="Arial"/>
              </a:rPr>
              <a:t>)</a:t>
            </a:r>
            <a:r>
              <a:rPr lang="es-CO" sz="2900" b="1" noProof="0" dirty="0">
                <a:latin typeface="Arial"/>
                <a:cs typeface="Arial"/>
              </a:rPr>
              <a:t>	</a:t>
            </a:r>
            <a:r>
              <a:rPr lang="es-CO" sz="2900" b="1" spc="-50" noProof="0" dirty="0">
                <a:latin typeface="Arial"/>
                <a:cs typeface="Arial"/>
              </a:rPr>
              <a:t>o</a:t>
            </a:r>
            <a:r>
              <a:rPr lang="es-CO" sz="2900" b="1" noProof="0" dirty="0">
                <a:latin typeface="Arial"/>
                <a:cs typeface="Arial"/>
              </a:rPr>
              <a:t>	</a:t>
            </a:r>
            <a:r>
              <a:rPr lang="es-CO" sz="2900" b="1" spc="-50" noProof="0" dirty="0">
                <a:latin typeface="Arial"/>
                <a:cs typeface="Arial"/>
              </a:rPr>
              <a:t>(Q3</a:t>
            </a:r>
            <a:r>
              <a:rPr lang="es-CO" sz="2900" b="1" spc="-130" noProof="0" dirty="0">
                <a:latin typeface="Arial"/>
                <a:cs typeface="Arial"/>
              </a:rPr>
              <a:t> </a:t>
            </a:r>
            <a:r>
              <a:rPr lang="es-CO" sz="2900" b="1" noProof="0" dirty="0">
                <a:latin typeface="Arial"/>
                <a:cs typeface="Arial"/>
              </a:rPr>
              <a:t>+</a:t>
            </a:r>
            <a:r>
              <a:rPr lang="es-CO" sz="2900" b="1" spc="195" noProof="0" dirty="0">
                <a:latin typeface="Arial"/>
                <a:cs typeface="Arial"/>
              </a:rPr>
              <a:t> </a:t>
            </a:r>
            <a:r>
              <a:rPr lang="es-CO" sz="2900" b="1" spc="-125" noProof="0" dirty="0">
                <a:latin typeface="Arial"/>
                <a:cs typeface="Arial"/>
              </a:rPr>
              <a:t>1.5*RIC</a:t>
            </a:r>
            <a:r>
              <a:rPr lang="es-CO" sz="2900" b="1" spc="-265" noProof="0" dirty="0">
                <a:latin typeface="Arial"/>
                <a:cs typeface="Arial"/>
              </a:rPr>
              <a:t> </a:t>
            </a:r>
            <a:r>
              <a:rPr lang="es-CO" sz="2900" b="1" noProof="0" dirty="0">
                <a:latin typeface="Arial"/>
                <a:cs typeface="Arial"/>
              </a:rPr>
              <a:t>;</a:t>
            </a:r>
            <a:r>
              <a:rPr lang="es-CO" sz="2900" b="1" spc="-275" noProof="0" dirty="0">
                <a:latin typeface="Arial"/>
                <a:cs typeface="Arial"/>
              </a:rPr>
              <a:t> </a:t>
            </a:r>
            <a:r>
              <a:rPr lang="es-CO" sz="2900" b="1" spc="-35" noProof="0" dirty="0">
                <a:latin typeface="Arial"/>
                <a:cs typeface="Arial"/>
              </a:rPr>
              <a:t>Q3</a:t>
            </a:r>
            <a:r>
              <a:rPr lang="es-CO" sz="2900" b="1" spc="-114" noProof="0" dirty="0">
                <a:latin typeface="Arial"/>
                <a:cs typeface="Arial"/>
              </a:rPr>
              <a:t> </a:t>
            </a:r>
            <a:r>
              <a:rPr lang="es-CO" sz="2900" b="1" noProof="0" dirty="0">
                <a:latin typeface="Arial"/>
                <a:cs typeface="Arial"/>
              </a:rPr>
              <a:t>+</a:t>
            </a:r>
            <a:r>
              <a:rPr lang="es-CO" sz="2900" b="1" spc="185" noProof="0" dirty="0">
                <a:latin typeface="Arial"/>
                <a:cs typeface="Arial"/>
              </a:rPr>
              <a:t> </a:t>
            </a:r>
            <a:r>
              <a:rPr lang="es-CO" sz="2900" b="1" spc="-150" noProof="0" dirty="0">
                <a:latin typeface="Arial"/>
                <a:cs typeface="Arial"/>
              </a:rPr>
              <a:t>3*RIC</a:t>
            </a:r>
            <a:r>
              <a:rPr lang="es-CO" sz="2900" b="1" spc="-215" noProof="0" dirty="0">
                <a:latin typeface="Arial"/>
                <a:cs typeface="Arial"/>
              </a:rPr>
              <a:t> </a:t>
            </a:r>
            <a:r>
              <a:rPr lang="es-CO" sz="2900" b="1" spc="-50" noProof="0" dirty="0">
                <a:latin typeface="Arial"/>
                <a:cs typeface="Arial"/>
              </a:rPr>
              <a:t>]</a:t>
            </a:r>
            <a:endParaRPr lang="es-CO" sz="2900" noProof="0" dirty="0">
              <a:latin typeface="Arial"/>
              <a:cs typeface="Arial"/>
            </a:endParaRPr>
          </a:p>
          <a:p>
            <a:pPr marL="317500">
              <a:lnSpc>
                <a:spcPct val="100000"/>
              </a:lnSpc>
              <a:spcBef>
                <a:spcPts val="1905"/>
              </a:spcBef>
            </a:pPr>
            <a:r>
              <a:rPr lang="es-CO" sz="2900" spc="-165" noProof="0" dirty="0">
                <a:latin typeface="Microsoft Sans Serif"/>
                <a:cs typeface="Microsoft Sans Serif"/>
              </a:rPr>
              <a:t>serán</a:t>
            </a:r>
            <a:r>
              <a:rPr lang="es-CO" sz="2900" spc="-190" noProof="0" dirty="0">
                <a:latin typeface="Microsoft Sans Serif"/>
                <a:cs typeface="Microsoft Sans Serif"/>
              </a:rPr>
              <a:t> </a:t>
            </a:r>
            <a:r>
              <a:rPr lang="es-CO" sz="2900" spc="-180" noProof="0" dirty="0">
                <a:latin typeface="Microsoft Sans Serif"/>
                <a:cs typeface="Microsoft Sans Serif"/>
              </a:rPr>
              <a:t>considerados</a:t>
            </a:r>
            <a:r>
              <a:rPr lang="es-CO" sz="2900" spc="-185" noProof="0" dirty="0">
                <a:latin typeface="Microsoft Sans Serif"/>
                <a:cs typeface="Microsoft Sans Serif"/>
              </a:rPr>
              <a:t> </a:t>
            </a:r>
            <a:r>
              <a:rPr lang="es-CO" sz="2900" b="1" spc="-165" noProof="0" dirty="0">
                <a:solidFill>
                  <a:srgbClr val="C00000"/>
                </a:solidFill>
                <a:latin typeface="Arial"/>
                <a:cs typeface="Arial"/>
              </a:rPr>
              <a:t>valores</a:t>
            </a:r>
            <a:r>
              <a:rPr lang="es-CO" sz="2900" b="1" spc="-245" noProof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s-CO" sz="2900" b="1" spc="-135" noProof="0" dirty="0">
                <a:solidFill>
                  <a:srgbClr val="C00000"/>
                </a:solidFill>
                <a:latin typeface="Arial"/>
                <a:cs typeface="Arial"/>
              </a:rPr>
              <a:t>fuera</a:t>
            </a:r>
            <a:r>
              <a:rPr lang="es-CO" sz="2900" b="1" spc="-215" noProof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s-CO" sz="2900" b="1" spc="-114" noProof="0" dirty="0">
                <a:solidFill>
                  <a:srgbClr val="C00000"/>
                </a:solidFill>
                <a:latin typeface="Arial"/>
                <a:cs typeface="Arial"/>
              </a:rPr>
              <a:t>de</a:t>
            </a:r>
            <a:r>
              <a:rPr lang="es-CO" sz="2900" b="1" spc="-225" noProof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s-CO" sz="2900" b="1" spc="-165" noProof="0" dirty="0">
                <a:solidFill>
                  <a:srgbClr val="C00000"/>
                </a:solidFill>
                <a:latin typeface="Arial"/>
                <a:cs typeface="Arial"/>
              </a:rPr>
              <a:t>rango</a:t>
            </a:r>
            <a:r>
              <a:rPr lang="es-CO" sz="2900" b="1" spc="-225" noProof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s-CO" sz="2900" b="1" spc="-10" noProof="0" dirty="0">
                <a:solidFill>
                  <a:srgbClr val="C00000"/>
                </a:solidFill>
                <a:latin typeface="Arial"/>
                <a:cs typeface="Arial"/>
              </a:rPr>
              <a:t>leves</a:t>
            </a:r>
            <a:r>
              <a:rPr lang="es-CO" sz="2900" b="1" spc="-10" noProof="0" dirty="0">
                <a:latin typeface="Arial"/>
                <a:cs typeface="Arial"/>
              </a:rPr>
              <a:t>.</a:t>
            </a:r>
            <a:endParaRPr lang="es-CO" sz="2900" noProof="0" dirty="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spcBef>
                <a:spcPts val="1814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254" noProof="0" dirty="0">
                <a:latin typeface="Microsoft Sans Serif"/>
                <a:cs typeface="Microsoft Sans Serif"/>
              </a:rPr>
              <a:t>Los</a:t>
            </a:r>
            <a:r>
              <a:rPr lang="es-CO" sz="2900" spc="-370" noProof="0" dirty="0">
                <a:latin typeface="Microsoft Sans Serif"/>
                <a:cs typeface="Microsoft Sans Serif"/>
              </a:rPr>
              <a:t>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valores</a:t>
            </a:r>
            <a:r>
              <a:rPr lang="es-CO" sz="2900" spc="-32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4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la</a:t>
            </a:r>
            <a:r>
              <a:rPr lang="es-CO" sz="2900" spc="10" noProof="0" dirty="0">
                <a:latin typeface="Microsoft Sans Serif"/>
                <a:cs typeface="Microsoft Sans Serif"/>
              </a:rPr>
              <a:t> </a:t>
            </a:r>
            <a:r>
              <a:rPr lang="es-CO" sz="2900" spc="-220" noProof="0" dirty="0">
                <a:latin typeface="Microsoft Sans Serif"/>
                <a:cs typeface="Microsoft Sans Serif"/>
              </a:rPr>
              <a:t>muestra</a:t>
            </a:r>
            <a:r>
              <a:rPr lang="es-CO" sz="2900" spc="-50" noProof="0" dirty="0">
                <a:latin typeface="Microsoft Sans Serif"/>
                <a:cs typeface="Microsoft Sans Serif"/>
              </a:rPr>
              <a:t> </a:t>
            </a:r>
            <a:r>
              <a:rPr lang="es-CO" sz="2900" spc="-114" noProof="0" dirty="0">
                <a:latin typeface="Microsoft Sans Serif"/>
                <a:cs typeface="Microsoft Sans Serif"/>
              </a:rPr>
              <a:t>inferiores</a:t>
            </a:r>
            <a:r>
              <a:rPr lang="es-CO" sz="2900" spc="-225" noProof="0" dirty="0">
                <a:latin typeface="Microsoft Sans Serif"/>
                <a:cs typeface="Microsoft Sans Serif"/>
              </a:rPr>
              <a:t> </a:t>
            </a:r>
            <a:r>
              <a:rPr lang="es-CO" sz="2900" spc="-50" noProof="0" dirty="0">
                <a:latin typeface="Microsoft Sans Serif"/>
                <a:cs typeface="Microsoft Sans Serif"/>
              </a:rPr>
              <a:t>a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332740" marR="5080" indent="-24765">
              <a:lnSpc>
                <a:spcPct val="100000"/>
              </a:lnSpc>
              <a:spcBef>
                <a:spcPts val="685"/>
              </a:spcBef>
              <a:tabLst>
                <a:tab pos="2230120" algn="l"/>
                <a:tab pos="6396990" algn="l"/>
              </a:tabLst>
            </a:pPr>
            <a:r>
              <a:rPr lang="es-CO" sz="2900" b="1" spc="-50" noProof="0" dirty="0">
                <a:latin typeface="Arial"/>
                <a:cs typeface="Arial"/>
              </a:rPr>
              <a:t>Q1</a:t>
            </a:r>
            <a:r>
              <a:rPr lang="es-CO" sz="2900" b="1" spc="-145" noProof="0" dirty="0">
                <a:latin typeface="Arial"/>
                <a:cs typeface="Arial"/>
              </a:rPr>
              <a:t> </a:t>
            </a:r>
            <a:r>
              <a:rPr lang="es-CO" sz="2900" b="1" noProof="0" dirty="0">
                <a:latin typeface="Arial"/>
                <a:cs typeface="Arial"/>
              </a:rPr>
              <a:t>–</a:t>
            </a:r>
            <a:r>
              <a:rPr lang="es-CO" sz="2900" b="1" spc="-215" noProof="0" dirty="0">
                <a:latin typeface="Arial"/>
                <a:cs typeface="Arial"/>
              </a:rPr>
              <a:t> </a:t>
            </a:r>
            <a:r>
              <a:rPr lang="es-CO" sz="2900" b="1" spc="-20" noProof="0" dirty="0">
                <a:latin typeface="Arial"/>
                <a:cs typeface="Arial"/>
              </a:rPr>
              <a:t>3*RIC</a:t>
            </a:r>
            <a:r>
              <a:rPr lang="es-CO" sz="2900" b="1" noProof="0" dirty="0">
                <a:latin typeface="Arial"/>
                <a:cs typeface="Arial"/>
              </a:rPr>
              <a:t>	</a:t>
            </a:r>
            <a:r>
              <a:rPr lang="es-CO" sz="2900" noProof="0" dirty="0">
                <a:latin typeface="Microsoft Sans Serif"/>
                <a:cs typeface="Microsoft Sans Serif"/>
              </a:rPr>
              <a:t>o</a:t>
            </a:r>
            <a:r>
              <a:rPr lang="es-CO" sz="2900" spc="-125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superiores</a:t>
            </a:r>
            <a:r>
              <a:rPr lang="es-CO" sz="2900" spc="-38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a</a:t>
            </a:r>
            <a:r>
              <a:rPr lang="es-CO" sz="2900" spc="40" noProof="0" dirty="0">
                <a:latin typeface="Microsoft Sans Serif"/>
                <a:cs typeface="Microsoft Sans Serif"/>
              </a:rPr>
              <a:t> </a:t>
            </a:r>
            <a:r>
              <a:rPr lang="es-CO" sz="2900" b="1" spc="-50" noProof="0" dirty="0">
                <a:latin typeface="Arial"/>
                <a:cs typeface="Arial"/>
              </a:rPr>
              <a:t>Q3</a:t>
            </a:r>
            <a:r>
              <a:rPr lang="es-CO" sz="2900" b="1" spc="-125" noProof="0" dirty="0">
                <a:latin typeface="Arial"/>
                <a:cs typeface="Arial"/>
              </a:rPr>
              <a:t> </a:t>
            </a:r>
            <a:r>
              <a:rPr lang="es-CO" sz="2900" b="1" noProof="0" dirty="0">
                <a:latin typeface="Arial"/>
                <a:cs typeface="Arial"/>
              </a:rPr>
              <a:t>+</a:t>
            </a:r>
            <a:r>
              <a:rPr lang="es-CO" sz="2900" b="1" spc="210" noProof="0" dirty="0">
                <a:latin typeface="Arial"/>
                <a:cs typeface="Arial"/>
              </a:rPr>
              <a:t> </a:t>
            </a:r>
            <a:r>
              <a:rPr lang="es-CO" sz="2900" b="1" spc="-10" noProof="0" dirty="0">
                <a:latin typeface="Arial"/>
                <a:cs typeface="Arial"/>
              </a:rPr>
              <a:t>3*RIC</a:t>
            </a:r>
            <a:r>
              <a:rPr lang="es-CO" sz="2900" b="1" noProof="0" dirty="0">
                <a:latin typeface="Arial"/>
                <a:cs typeface="Arial"/>
              </a:rPr>
              <a:t>	</a:t>
            </a:r>
            <a:r>
              <a:rPr lang="es-CO" sz="2900" spc="-170" noProof="0" dirty="0">
                <a:latin typeface="Microsoft Sans Serif"/>
                <a:cs typeface="Microsoft Sans Serif"/>
              </a:rPr>
              <a:t>serán</a:t>
            </a:r>
            <a:r>
              <a:rPr lang="es-CO" sz="2900" spc="-155" noProof="0" dirty="0">
                <a:latin typeface="Microsoft Sans Serif"/>
                <a:cs typeface="Microsoft Sans Serif"/>
              </a:rPr>
              <a:t> </a:t>
            </a:r>
            <a:r>
              <a:rPr lang="es-CO" sz="2900" spc="-180" noProof="0" dirty="0">
                <a:latin typeface="Microsoft Sans Serif"/>
                <a:cs typeface="Microsoft Sans Serif"/>
              </a:rPr>
              <a:t>considerados</a:t>
            </a:r>
            <a:r>
              <a:rPr lang="es-CO" sz="2900" spc="-190" noProof="0" dirty="0">
                <a:latin typeface="Microsoft Sans Serif"/>
                <a:cs typeface="Microsoft Sans Serif"/>
              </a:rPr>
              <a:t> </a:t>
            </a:r>
            <a:r>
              <a:rPr lang="es-CO" sz="2900" b="1" spc="-125" noProof="0" dirty="0">
                <a:solidFill>
                  <a:srgbClr val="C00000"/>
                </a:solidFill>
                <a:latin typeface="Arial"/>
                <a:cs typeface="Arial"/>
              </a:rPr>
              <a:t>valores </a:t>
            </a:r>
            <a:r>
              <a:rPr lang="es-CO" sz="2900" b="1" spc="-150" noProof="0" dirty="0">
                <a:solidFill>
                  <a:srgbClr val="C00000"/>
                </a:solidFill>
                <a:latin typeface="Arial"/>
                <a:cs typeface="Arial"/>
              </a:rPr>
              <a:t>fuera</a:t>
            </a:r>
            <a:r>
              <a:rPr lang="es-CO" sz="2900" b="1" spc="-130" noProof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s-CO" sz="2900" b="1" spc="-120" noProof="0" dirty="0">
                <a:solidFill>
                  <a:srgbClr val="C00000"/>
                </a:solidFill>
                <a:latin typeface="Arial"/>
                <a:cs typeface="Arial"/>
              </a:rPr>
              <a:t>de</a:t>
            </a:r>
            <a:r>
              <a:rPr lang="es-CO" sz="2900" b="1" spc="-254" noProof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s-CO" sz="2900" b="1" spc="-165" noProof="0" dirty="0">
                <a:solidFill>
                  <a:srgbClr val="C00000"/>
                </a:solidFill>
                <a:latin typeface="Arial"/>
                <a:cs typeface="Arial"/>
              </a:rPr>
              <a:t>rango</a:t>
            </a:r>
            <a:r>
              <a:rPr lang="es-CO" sz="2900" b="1" spc="-254" noProof="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s-CO" sz="2900" b="1" spc="-100" noProof="0" dirty="0">
                <a:solidFill>
                  <a:srgbClr val="C00000"/>
                </a:solidFill>
                <a:latin typeface="Arial"/>
                <a:cs typeface="Arial"/>
              </a:rPr>
              <a:t>extremos</a:t>
            </a:r>
            <a:r>
              <a:rPr lang="es-CO" sz="2900" spc="-100" noProof="0" dirty="0">
                <a:latin typeface="Microsoft Sans Serif"/>
                <a:cs typeface="Microsoft Sans Serif"/>
              </a:rPr>
              <a:t>.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5921" y="1603628"/>
            <a:ext cx="230632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95" noProof="0" dirty="0">
                <a:latin typeface="Microsoft Sans Serif"/>
                <a:cs typeface="Microsoft Sans Serif"/>
              </a:rPr>
              <a:t>Atributo</a:t>
            </a:r>
            <a:r>
              <a:rPr lang="es-CO" sz="2900" spc="-150" noProof="0" dirty="0">
                <a:latin typeface="Microsoft Sans Serif"/>
                <a:cs typeface="Microsoft Sans Serif"/>
              </a:rPr>
              <a:t> </a:t>
            </a:r>
            <a:r>
              <a:rPr lang="es-CO" sz="2900" spc="-175" noProof="0" dirty="0">
                <a:latin typeface="Microsoft Sans Serif"/>
                <a:cs typeface="Microsoft Sans Serif"/>
              </a:rPr>
              <a:t>AGE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476091"/>
              </p:ext>
            </p:extLst>
          </p:nvPr>
        </p:nvGraphicFramePr>
        <p:xfrm>
          <a:off x="1222375" y="5070475"/>
          <a:ext cx="4116070" cy="1365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2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5295">
                <a:tc>
                  <a:txBody>
                    <a:bodyPr/>
                    <a:lstStyle/>
                    <a:p>
                      <a:pPr marL="3365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RIC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13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286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es-CO" sz="2000" spc="-10" noProof="0" dirty="0" err="1">
                          <a:latin typeface="Microsoft Sans Serif"/>
                          <a:cs typeface="Microsoft Sans Serif"/>
                        </a:rPr>
                        <a:t>Lim.Inf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es-CO" sz="2000" spc="-20" noProof="0" dirty="0">
                          <a:latin typeface="Microsoft Sans Serif"/>
                          <a:cs typeface="Microsoft Sans Serif"/>
                        </a:rPr>
                        <a:t>32-</a:t>
                      </a:r>
                      <a:r>
                        <a:rPr lang="es-CO" sz="2000" spc="-10" noProof="0" dirty="0">
                          <a:latin typeface="Microsoft Sans Serif"/>
                          <a:cs typeface="Microsoft Sans Serif"/>
                        </a:rPr>
                        <a:t>1.5*13</a:t>
                      </a:r>
                      <a:r>
                        <a:rPr lang="es-CO" sz="2000" spc="-80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spc="-20" noProof="0" dirty="0">
                          <a:latin typeface="Microsoft Sans Serif"/>
                          <a:cs typeface="Microsoft Sans Serif"/>
                        </a:rPr>
                        <a:t>=12.5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2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lang="es-CO" sz="2000" spc="-10" noProof="0" dirty="0" err="1">
                          <a:latin typeface="Calibri"/>
                          <a:cs typeface="Calibri"/>
                        </a:rPr>
                        <a:t>Lim.Sup</a:t>
                      </a:r>
                      <a:endParaRPr lang="es-CO" sz="2000" noProof="0" dirty="0">
                        <a:latin typeface="Calibri"/>
                        <a:cs typeface="Calibri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45+1.5*13</a:t>
                      </a:r>
                      <a:r>
                        <a:rPr lang="es-CO" sz="2000" spc="-20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noProof="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lang="es-CO" sz="2000" spc="190" noProof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es-CO" sz="2000" spc="-20" noProof="0" dirty="0">
                          <a:latin typeface="Microsoft Sans Serif"/>
                          <a:cs typeface="Microsoft Sans Serif"/>
                        </a:rPr>
                        <a:t>64.5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350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954025"/>
              </p:ext>
            </p:extLst>
          </p:nvPr>
        </p:nvGraphicFramePr>
        <p:xfrm>
          <a:off x="1222375" y="2408173"/>
          <a:ext cx="2663190" cy="23037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9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3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1009"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lang="es-CO" sz="2000" spc="-10" noProof="0" dirty="0">
                          <a:latin typeface="Microsoft Sans Serif"/>
                          <a:cs typeface="Microsoft Sans Serif"/>
                        </a:rPr>
                        <a:t>Mínimo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21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0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Q1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32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Q2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38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Q3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45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009"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lang="es-CO" sz="2000" spc="-10" noProof="0" dirty="0">
                          <a:latin typeface="Microsoft Sans Serif"/>
                          <a:cs typeface="Microsoft Sans Serif"/>
                        </a:rPr>
                        <a:t>Máximo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81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1948" rIns="0" bIns="0" rtlCol="0">
            <a:spAutoFit/>
          </a:bodyPr>
          <a:lstStyle/>
          <a:p>
            <a:pPr marL="629285">
              <a:lnSpc>
                <a:spcPct val="100000"/>
              </a:lnSpc>
              <a:spcBef>
                <a:spcPts val="105"/>
              </a:spcBef>
            </a:pPr>
            <a:r>
              <a:rPr lang="es-CO" spc="-180" noProof="0" dirty="0"/>
              <a:t>Diagrama</a:t>
            </a:r>
            <a:r>
              <a:rPr lang="es-CO" spc="-160" noProof="0" dirty="0"/>
              <a:t> </a:t>
            </a:r>
            <a:r>
              <a:rPr lang="es-CO" spc="-10" noProof="0" dirty="0"/>
              <a:t>de</a:t>
            </a:r>
            <a:r>
              <a:rPr lang="es-CO" spc="-285" noProof="0" dirty="0"/>
              <a:t> </a:t>
            </a:r>
            <a:r>
              <a:rPr lang="es-CO" spc="-120" noProof="0" dirty="0"/>
              <a:t>caja</a:t>
            </a:r>
            <a:r>
              <a:rPr lang="es-CO" spc="-175" noProof="0" dirty="0"/>
              <a:t> </a:t>
            </a:r>
            <a:r>
              <a:rPr lang="es-CO" noProof="0" dirty="0"/>
              <a:t>de</a:t>
            </a:r>
            <a:r>
              <a:rPr lang="es-CO" spc="-195" noProof="0" dirty="0"/>
              <a:t> </a:t>
            </a:r>
            <a:r>
              <a:rPr lang="es-CO" spc="-400" noProof="0" dirty="0"/>
              <a:t>Tukey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227576" y="2195703"/>
            <a:ext cx="7495540" cy="2254885"/>
            <a:chOff x="4227576" y="2195703"/>
            <a:chExt cx="7495540" cy="225488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27576" y="2299715"/>
              <a:ext cx="7495032" cy="215036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482328" y="2205227"/>
              <a:ext cx="288290" cy="289560"/>
            </a:xfrm>
            <a:custGeom>
              <a:avLst/>
              <a:gdLst/>
              <a:ahLst/>
              <a:cxnLst/>
              <a:rect l="l" t="t" r="r" b="b"/>
              <a:pathLst>
                <a:path w="288290" h="289560">
                  <a:moveTo>
                    <a:pt x="215773" y="0"/>
                  </a:moveTo>
                  <a:lnTo>
                    <a:pt x="71881" y="0"/>
                  </a:lnTo>
                  <a:lnTo>
                    <a:pt x="71881" y="144652"/>
                  </a:lnTo>
                  <a:lnTo>
                    <a:pt x="0" y="144652"/>
                  </a:lnTo>
                  <a:lnTo>
                    <a:pt x="143891" y="289306"/>
                  </a:lnTo>
                  <a:lnTo>
                    <a:pt x="287781" y="144652"/>
                  </a:lnTo>
                  <a:lnTo>
                    <a:pt x="215773" y="144652"/>
                  </a:lnTo>
                  <a:lnTo>
                    <a:pt x="21577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9482328" y="2205227"/>
              <a:ext cx="288290" cy="289560"/>
            </a:xfrm>
            <a:custGeom>
              <a:avLst/>
              <a:gdLst/>
              <a:ahLst/>
              <a:cxnLst/>
              <a:rect l="l" t="t" r="r" b="b"/>
              <a:pathLst>
                <a:path w="288290" h="289560">
                  <a:moveTo>
                    <a:pt x="0" y="144652"/>
                  </a:moveTo>
                  <a:lnTo>
                    <a:pt x="71881" y="144652"/>
                  </a:lnTo>
                  <a:lnTo>
                    <a:pt x="71881" y="0"/>
                  </a:lnTo>
                  <a:lnTo>
                    <a:pt x="215773" y="0"/>
                  </a:lnTo>
                  <a:lnTo>
                    <a:pt x="215773" y="144652"/>
                  </a:lnTo>
                  <a:lnTo>
                    <a:pt x="287781" y="144652"/>
                  </a:lnTo>
                  <a:lnTo>
                    <a:pt x="143891" y="289306"/>
                  </a:lnTo>
                  <a:lnTo>
                    <a:pt x="0" y="144652"/>
                  </a:lnTo>
                  <a:close/>
                </a:path>
              </a:pathLst>
            </a:custGeom>
            <a:ln w="19048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10" name="object 10"/>
            <p:cNvSpPr/>
            <p:nvPr/>
          </p:nvSpPr>
          <p:spPr>
            <a:xfrm>
              <a:off x="4986528" y="2205227"/>
              <a:ext cx="288290" cy="289560"/>
            </a:xfrm>
            <a:custGeom>
              <a:avLst/>
              <a:gdLst/>
              <a:ahLst/>
              <a:cxnLst/>
              <a:rect l="l" t="t" r="r" b="b"/>
              <a:pathLst>
                <a:path w="288289" h="289560">
                  <a:moveTo>
                    <a:pt x="215773" y="0"/>
                  </a:moveTo>
                  <a:lnTo>
                    <a:pt x="71882" y="0"/>
                  </a:lnTo>
                  <a:lnTo>
                    <a:pt x="71882" y="144652"/>
                  </a:lnTo>
                  <a:lnTo>
                    <a:pt x="0" y="144652"/>
                  </a:lnTo>
                  <a:lnTo>
                    <a:pt x="143891" y="289306"/>
                  </a:lnTo>
                  <a:lnTo>
                    <a:pt x="287782" y="144652"/>
                  </a:lnTo>
                  <a:lnTo>
                    <a:pt x="215773" y="144652"/>
                  </a:lnTo>
                  <a:lnTo>
                    <a:pt x="21577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4987290" y="2205989"/>
              <a:ext cx="288290" cy="289560"/>
            </a:xfrm>
            <a:custGeom>
              <a:avLst/>
              <a:gdLst/>
              <a:ahLst/>
              <a:cxnLst/>
              <a:rect l="l" t="t" r="r" b="b"/>
              <a:pathLst>
                <a:path w="288289" h="289560">
                  <a:moveTo>
                    <a:pt x="0" y="144652"/>
                  </a:moveTo>
                  <a:lnTo>
                    <a:pt x="71882" y="144652"/>
                  </a:lnTo>
                  <a:lnTo>
                    <a:pt x="71882" y="0"/>
                  </a:lnTo>
                  <a:lnTo>
                    <a:pt x="215773" y="0"/>
                  </a:lnTo>
                  <a:lnTo>
                    <a:pt x="215773" y="144652"/>
                  </a:lnTo>
                  <a:lnTo>
                    <a:pt x="287782" y="144652"/>
                  </a:lnTo>
                  <a:lnTo>
                    <a:pt x="143890" y="289306"/>
                  </a:lnTo>
                  <a:lnTo>
                    <a:pt x="0" y="144652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692010" y="5109209"/>
            <a:ext cx="4883150" cy="10013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s-CO" sz="1800" noProof="0" dirty="0">
                <a:latin typeface="Arial MT"/>
                <a:cs typeface="Arial MT"/>
              </a:rPr>
              <a:t>Los</a:t>
            </a:r>
            <a:r>
              <a:rPr lang="es-CO" sz="1800" spc="-45" noProof="0" dirty="0">
                <a:latin typeface="Arial MT"/>
                <a:cs typeface="Arial MT"/>
              </a:rPr>
              <a:t> </a:t>
            </a:r>
            <a:r>
              <a:rPr lang="es-CO" sz="1800" noProof="0" dirty="0">
                <a:latin typeface="Arial MT"/>
                <a:cs typeface="Arial MT"/>
              </a:rPr>
              <a:t>bigotes</a:t>
            </a:r>
            <a:r>
              <a:rPr lang="es-CO" sz="1800" spc="-30" noProof="0" dirty="0">
                <a:latin typeface="Arial MT"/>
                <a:cs typeface="Arial MT"/>
              </a:rPr>
              <a:t> </a:t>
            </a:r>
            <a:r>
              <a:rPr lang="es-CO" sz="1800" noProof="0" dirty="0">
                <a:latin typeface="Arial MT"/>
                <a:cs typeface="Arial MT"/>
              </a:rPr>
              <a:t>indican</a:t>
            </a:r>
            <a:r>
              <a:rPr lang="es-CO" sz="1800" spc="-25" noProof="0" dirty="0">
                <a:latin typeface="Arial MT"/>
                <a:cs typeface="Arial MT"/>
              </a:rPr>
              <a:t> </a:t>
            </a:r>
            <a:r>
              <a:rPr lang="es-CO" sz="1800" noProof="0" dirty="0">
                <a:latin typeface="Arial MT"/>
                <a:cs typeface="Arial MT"/>
              </a:rPr>
              <a:t>el</a:t>
            </a:r>
            <a:r>
              <a:rPr lang="es-CO" sz="1800" spc="-40" noProof="0" dirty="0">
                <a:latin typeface="Arial MT"/>
                <a:cs typeface="Arial MT"/>
              </a:rPr>
              <a:t> </a:t>
            </a:r>
            <a:r>
              <a:rPr lang="es-CO" sz="1800" noProof="0" dirty="0">
                <a:latin typeface="Arial MT"/>
                <a:cs typeface="Arial MT"/>
              </a:rPr>
              <a:t>rango</a:t>
            </a:r>
            <a:r>
              <a:rPr lang="es-CO" sz="1800" spc="-40" noProof="0" dirty="0">
                <a:latin typeface="Arial MT"/>
                <a:cs typeface="Arial MT"/>
              </a:rPr>
              <a:t> </a:t>
            </a:r>
            <a:r>
              <a:rPr lang="es-CO" sz="1800" noProof="0" dirty="0">
                <a:latin typeface="Arial MT"/>
                <a:cs typeface="Arial MT"/>
              </a:rPr>
              <a:t>de</a:t>
            </a:r>
            <a:r>
              <a:rPr lang="es-CO" sz="1800" spc="-25" noProof="0" dirty="0">
                <a:latin typeface="Arial MT"/>
                <a:cs typeface="Arial MT"/>
              </a:rPr>
              <a:t> </a:t>
            </a:r>
            <a:r>
              <a:rPr lang="es-CO" sz="1800" noProof="0" dirty="0">
                <a:latin typeface="Arial MT"/>
                <a:cs typeface="Arial MT"/>
              </a:rPr>
              <a:t>los</a:t>
            </a:r>
            <a:r>
              <a:rPr lang="es-CO" sz="1800" spc="-30" noProof="0" dirty="0">
                <a:latin typeface="Arial MT"/>
                <a:cs typeface="Arial MT"/>
              </a:rPr>
              <a:t> </a:t>
            </a:r>
            <a:r>
              <a:rPr lang="es-CO" sz="1800" noProof="0" dirty="0">
                <a:latin typeface="Arial MT"/>
                <a:cs typeface="Arial MT"/>
              </a:rPr>
              <a:t>valores</a:t>
            </a:r>
            <a:r>
              <a:rPr lang="es-CO" sz="1800" spc="-25" noProof="0" dirty="0">
                <a:latin typeface="Arial MT"/>
                <a:cs typeface="Arial MT"/>
              </a:rPr>
              <a:t> </a:t>
            </a:r>
            <a:r>
              <a:rPr lang="es-CO" sz="1800" noProof="0" dirty="0">
                <a:latin typeface="Arial MT"/>
                <a:cs typeface="Arial MT"/>
              </a:rPr>
              <a:t>de</a:t>
            </a:r>
            <a:r>
              <a:rPr lang="es-CO" sz="1800" spc="-35" noProof="0" dirty="0">
                <a:latin typeface="Arial MT"/>
                <a:cs typeface="Arial MT"/>
              </a:rPr>
              <a:t> </a:t>
            </a:r>
            <a:r>
              <a:rPr lang="es-CO" sz="1800" spc="-25" noProof="0" dirty="0">
                <a:latin typeface="Arial MT"/>
                <a:cs typeface="Arial MT"/>
              </a:rPr>
              <a:t>la</a:t>
            </a:r>
            <a:endParaRPr lang="es-CO" sz="1800" noProof="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lang="es-CO" sz="1800" noProof="0" dirty="0">
                <a:latin typeface="Arial MT"/>
                <a:cs typeface="Arial MT"/>
              </a:rPr>
              <a:t>muestra</a:t>
            </a:r>
            <a:r>
              <a:rPr lang="es-CO" sz="1800" spc="-80" noProof="0" dirty="0">
                <a:latin typeface="Arial MT"/>
                <a:cs typeface="Arial MT"/>
              </a:rPr>
              <a:t> </a:t>
            </a:r>
            <a:r>
              <a:rPr lang="es-CO" sz="1800" noProof="0" dirty="0">
                <a:latin typeface="Arial MT"/>
                <a:cs typeface="Arial MT"/>
              </a:rPr>
              <a:t>comprendidos</a:t>
            </a:r>
            <a:r>
              <a:rPr lang="es-CO" sz="1800" spc="-40" noProof="0" dirty="0">
                <a:latin typeface="Arial MT"/>
                <a:cs typeface="Arial MT"/>
              </a:rPr>
              <a:t> </a:t>
            </a:r>
            <a:r>
              <a:rPr lang="es-CO" sz="1800" noProof="0" dirty="0">
                <a:latin typeface="Arial MT"/>
                <a:cs typeface="Arial MT"/>
              </a:rPr>
              <a:t>en</a:t>
            </a:r>
            <a:r>
              <a:rPr lang="es-CO" sz="1800" spc="-55" noProof="0" dirty="0">
                <a:latin typeface="Arial MT"/>
                <a:cs typeface="Arial MT"/>
              </a:rPr>
              <a:t> </a:t>
            </a:r>
            <a:r>
              <a:rPr lang="es-CO" sz="1800" noProof="0" dirty="0">
                <a:latin typeface="Arial MT"/>
                <a:cs typeface="Arial MT"/>
              </a:rPr>
              <a:t>el</a:t>
            </a:r>
            <a:r>
              <a:rPr lang="es-CO" sz="1800" spc="-50" noProof="0" dirty="0">
                <a:latin typeface="Arial MT"/>
                <a:cs typeface="Arial MT"/>
              </a:rPr>
              <a:t> </a:t>
            </a:r>
            <a:r>
              <a:rPr lang="es-CO" sz="1800" spc="-10" noProof="0" dirty="0">
                <a:latin typeface="Arial MT"/>
                <a:cs typeface="Arial MT"/>
              </a:rPr>
              <a:t>intervalo</a:t>
            </a:r>
            <a:endParaRPr lang="es-CO" sz="1800" noProof="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1200"/>
              </a:spcBef>
            </a:pPr>
            <a:r>
              <a:rPr lang="es-CO" sz="1800" b="1" noProof="0" dirty="0">
                <a:latin typeface="Arial"/>
                <a:cs typeface="Arial"/>
              </a:rPr>
              <a:t>[Q1</a:t>
            </a:r>
            <a:r>
              <a:rPr lang="es-CO" sz="1800" b="1" spc="-30" noProof="0" dirty="0">
                <a:latin typeface="Arial"/>
                <a:cs typeface="Arial"/>
              </a:rPr>
              <a:t> </a:t>
            </a:r>
            <a:r>
              <a:rPr lang="es-CO" sz="1800" b="1" noProof="0" dirty="0">
                <a:latin typeface="Arial"/>
                <a:cs typeface="Arial"/>
              </a:rPr>
              <a:t>–</a:t>
            </a:r>
            <a:r>
              <a:rPr lang="es-CO" sz="1800" b="1" spc="-20" noProof="0" dirty="0">
                <a:latin typeface="Arial"/>
                <a:cs typeface="Arial"/>
              </a:rPr>
              <a:t> </a:t>
            </a:r>
            <a:r>
              <a:rPr lang="es-CO" sz="1800" b="1" noProof="0" dirty="0">
                <a:latin typeface="Arial"/>
                <a:cs typeface="Arial"/>
              </a:rPr>
              <a:t>1.5</a:t>
            </a:r>
            <a:r>
              <a:rPr lang="es-CO" sz="1800" b="1" spc="-10" noProof="0" dirty="0">
                <a:latin typeface="Arial"/>
                <a:cs typeface="Arial"/>
              </a:rPr>
              <a:t> </a:t>
            </a:r>
            <a:r>
              <a:rPr lang="es-CO" sz="1800" b="1" noProof="0" dirty="0">
                <a:latin typeface="Arial"/>
                <a:cs typeface="Arial"/>
              </a:rPr>
              <a:t>*</a:t>
            </a:r>
            <a:r>
              <a:rPr lang="es-CO" sz="1800" b="1" spc="-25" noProof="0" dirty="0">
                <a:latin typeface="Arial"/>
                <a:cs typeface="Arial"/>
              </a:rPr>
              <a:t> </a:t>
            </a:r>
            <a:r>
              <a:rPr lang="es-CO" sz="1800" b="1" noProof="0" dirty="0">
                <a:latin typeface="Arial"/>
                <a:cs typeface="Arial"/>
              </a:rPr>
              <a:t>RIC</a:t>
            </a:r>
            <a:r>
              <a:rPr lang="es-CO" sz="1800" b="1" spc="-5" noProof="0" dirty="0">
                <a:latin typeface="Arial"/>
                <a:cs typeface="Arial"/>
              </a:rPr>
              <a:t> </a:t>
            </a:r>
            <a:r>
              <a:rPr lang="es-CO" sz="1800" b="1" noProof="0" dirty="0">
                <a:latin typeface="Arial"/>
                <a:cs typeface="Arial"/>
              </a:rPr>
              <a:t>;</a:t>
            </a:r>
            <a:r>
              <a:rPr lang="es-CO" sz="1800" b="1" spc="-25" noProof="0" dirty="0">
                <a:latin typeface="Arial"/>
                <a:cs typeface="Arial"/>
              </a:rPr>
              <a:t> </a:t>
            </a:r>
            <a:r>
              <a:rPr lang="es-CO" sz="1800" b="1" noProof="0" dirty="0">
                <a:latin typeface="Arial"/>
                <a:cs typeface="Arial"/>
              </a:rPr>
              <a:t>Q3</a:t>
            </a:r>
            <a:r>
              <a:rPr lang="es-CO" sz="1800" b="1" spc="-20" noProof="0" dirty="0">
                <a:latin typeface="Arial"/>
                <a:cs typeface="Arial"/>
              </a:rPr>
              <a:t> </a:t>
            </a:r>
            <a:r>
              <a:rPr lang="es-CO" sz="1800" b="1" noProof="0" dirty="0">
                <a:latin typeface="Arial"/>
                <a:cs typeface="Arial"/>
              </a:rPr>
              <a:t>+</a:t>
            </a:r>
            <a:r>
              <a:rPr lang="es-CO" sz="1800" b="1" spc="-15" noProof="0" dirty="0">
                <a:latin typeface="Arial"/>
                <a:cs typeface="Arial"/>
              </a:rPr>
              <a:t> </a:t>
            </a:r>
            <a:r>
              <a:rPr lang="es-CO" sz="1800" b="1" noProof="0" dirty="0">
                <a:latin typeface="Arial"/>
                <a:cs typeface="Arial"/>
              </a:rPr>
              <a:t>1.5</a:t>
            </a:r>
            <a:r>
              <a:rPr lang="es-CO" sz="1800" b="1" spc="-20" noProof="0" dirty="0">
                <a:latin typeface="Arial"/>
                <a:cs typeface="Arial"/>
              </a:rPr>
              <a:t> </a:t>
            </a:r>
            <a:r>
              <a:rPr lang="es-CO" sz="1800" b="1" noProof="0" dirty="0">
                <a:latin typeface="Arial"/>
                <a:cs typeface="Arial"/>
              </a:rPr>
              <a:t>*</a:t>
            </a:r>
            <a:r>
              <a:rPr lang="es-CO" sz="1800" b="1" spc="-20" noProof="0" dirty="0">
                <a:latin typeface="Arial"/>
                <a:cs typeface="Arial"/>
              </a:rPr>
              <a:t> </a:t>
            </a:r>
            <a:r>
              <a:rPr lang="es-CO" sz="1800" b="1" noProof="0" dirty="0">
                <a:latin typeface="Arial"/>
                <a:cs typeface="Arial"/>
              </a:rPr>
              <a:t>RIC]</a:t>
            </a:r>
            <a:r>
              <a:rPr lang="es-CO" sz="1800" b="1" spc="-10" noProof="0" dirty="0">
                <a:latin typeface="Arial"/>
                <a:cs typeface="Arial"/>
              </a:rPr>
              <a:t> </a:t>
            </a:r>
            <a:r>
              <a:rPr lang="es-CO" sz="1800" b="1" noProof="0" dirty="0">
                <a:latin typeface="Arial"/>
                <a:cs typeface="Arial"/>
              </a:rPr>
              <a:t>=</a:t>
            </a:r>
            <a:r>
              <a:rPr lang="es-CO" sz="1800" b="1" spc="-25" noProof="0" dirty="0">
                <a:latin typeface="Arial"/>
                <a:cs typeface="Arial"/>
              </a:rPr>
              <a:t> </a:t>
            </a:r>
            <a:r>
              <a:rPr lang="es-CO" sz="1800" b="1" noProof="0" dirty="0">
                <a:latin typeface="Arial"/>
                <a:cs typeface="Arial"/>
              </a:rPr>
              <a:t>[12.5</a:t>
            </a:r>
            <a:r>
              <a:rPr lang="es-CO" sz="1800" b="1" spc="-15" noProof="0" dirty="0">
                <a:latin typeface="Arial"/>
                <a:cs typeface="Arial"/>
              </a:rPr>
              <a:t> </a:t>
            </a:r>
            <a:r>
              <a:rPr lang="es-CO" sz="1800" b="1" noProof="0" dirty="0">
                <a:latin typeface="Arial"/>
                <a:cs typeface="Arial"/>
              </a:rPr>
              <a:t>;</a:t>
            </a:r>
            <a:r>
              <a:rPr lang="es-CO" sz="1800" b="1" spc="-15" noProof="0" dirty="0">
                <a:latin typeface="Arial"/>
                <a:cs typeface="Arial"/>
              </a:rPr>
              <a:t> </a:t>
            </a:r>
            <a:r>
              <a:rPr lang="es-CO" sz="1800" b="1" spc="-10" noProof="0" dirty="0">
                <a:latin typeface="Arial"/>
                <a:cs typeface="Arial"/>
              </a:rPr>
              <a:t>64.5]</a:t>
            </a:r>
            <a:endParaRPr lang="es-CO" sz="1800" noProof="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87544" y="1710309"/>
            <a:ext cx="275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1800" b="1" spc="-25" noProof="0" dirty="0">
                <a:latin typeface="Arial"/>
                <a:cs typeface="Arial"/>
              </a:rPr>
              <a:t>21</a:t>
            </a:r>
            <a:endParaRPr lang="es-CO" sz="1800" noProof="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484232" y="1751203"/>
            <a:ext cx="2755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1800" b="1" spc="-25" noProof="0" dirty="0">
                <a:latin typeface="Arial"/>
                <a:cs typeface="Arial"/>
              </a:rPr>
              <a:t>62</a:t>
            </a:r>
            <a:endParaRPr lang="es-CO" sz="1800" noProof="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1948" rIns="0" bIns="0" rtlCol="0">
            <a:spAutoFit/>
          </a:bodyPr>
          <a:lstStyle/>
          <a:p>
            <a:pPr marL="629285">
              <a:lnSpc>
                <a:spcPct val="100000"/>
              </a:lnSpc>
              <a:spcBef>
                <a:spcPts val="105"/>
              </a:spcBef>
            </a:pPr>
            <a:r>
              <a:rPr lang="es-CO" spc="-180" noProof="0" dirty="0"/>
              <a:t>Diagrama</a:t>
            </a:r>
            <a:r>
              <a:rPr lang="es-CO" spc="-150" noProof="0" dirty="0"/>
              <a:t> </a:t>
            </a:r>
            <a:r>
              <a:rPr lang="es-CO" spc="-30" noProof="0" dirty="0"/>
              <a:t>de</a:t>
            </a:r>
            <a:r>
              <a:rPr lang="es-CO" spc="-240" noProof="0" dirty="0"/>
              <a:t> </a:t>
            </a:r>
            <a:r>
              <a:rPr lang="es-CO" spc="-114" noProof="0" dirty="0"/>
              <a:t>caja</a:t>
            </a:r>
            <a:r>
              <a:rPr lang="es-CO" spc="-180" noProof="0" dirty="0"/>
              <a:t> </a:t>
            </a:r>
            <a:r>
              <a:rPr lang="es-CO" spc="-30" noProof="0" dirty="0"/>
              <a:t>de</a:t>
            </a:r>
            <a:r>
              <a:rPr lang="es-CO" spc="-180" noProof="0" dirty="0"/>
              <a:t> </a:t>
            </a:r>
            <a:r>
              <a:rPr lang="es-CO" spc="-400" noProof="0" dirty="0"/>
              <a:t>Tukey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5921" y="1603628"/>
            <a:ext cx="230632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95" noProof="0" dirty="0">
                <a:latin typeface="Microsoft Sans Serif"/>
                <a:cs typeface="Microsoft Sans Serif"/>
              </a:rPr>
              <a:t>Atributo</a:t>
            </a:r>
            <a:r>
              <a:rPr lang="es-CO" sz="2900" spc="-150" noProof="0" dirty="0">
                <a:latin typeface="Microsoft Sans Serif"/>
                <a:cs typeface="Microsoft Sans Serif"/>
              </a:rPr>
              <a:t> </a:t>
            </a:r>
            <a:r>
              <a:rPr lang="es-CO" sz="2900" spc="-175" noProof="0" dirty="0">
                <a:latin typeface="Microsoft Sans Serif"/>
                <a:cs typeface="Microsoft Sans Serif"/>
              </a:rPr>
              <a:t>AGE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764969"/>
              </p:ext>
            </p:extLst>
          </p:nvPr>
        </p:nvGraphicFramePr>
        <p:xfrm>
          <a:off x="951991" y="2192147"/>
          <a:ext cx="2918460" cy="44475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65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5310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lang="es-CO" sz="2000" spc="-10" noProof="0" dirty="0">
                          <a:latin typeface="Microsoft Sans Serif"/>
                          <a:cs typeface="Microsoft Sans Serif"/>
                        </a:rPr>
                        <a:t>Mínimo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19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21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192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0255">
                <a:tc>
                  <a:txBody>
                    <a:bodyPr/>
                    <a:lstStyle/>
                    <a:p>
                      <a:pPr marR="172085" algn="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lang="es-CO" sz="2000" spc="-10" noProof="0" dirty="0" err="1">
                          <a:latin typeface="Microsoft Sans Serif"/>
                          <a:cs typeface="Microsoft Sans Serif"/>
                        </a:rPr>
                        <a:t>Lim.Bigote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  <a:p>
                      <a:pPr marR="170815" algn="r">
                        <a:lnSpc>
                          <a:spcPts val="2335"/>
                        </a:lnSpc>
                      </a:pPr>
                      <a:r>
                        <a:rPr lang="es-CO" sz="2000" spc="-20" noProof="0" dirty="0" err="1">
                          <a:latin typeface="Microsoft Sans Serif"/>
                          <a:cs typeface="Microsoft Sans Serif"/>
                        </a:rPr>
                        <a:t>Inf</a:t>
                      </a:r>
                      <a:r>
                        <a:rPr lang="es-CO" sz="2000" spc="-20" noProof="0" dirty="0">
                          <a:latin typeface="Microsoft Sans Serif"/>
                          <a:cs typeface="Microsoft Sans Serif"/>
                        </a:rPr>
                        <a:t>.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562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21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562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Q1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77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32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779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Q2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38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3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Q3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45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225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4220">
                <a:tc>
                  <a:txBody>
                    <a:bodyPr/>
                    <a:lstStyle/>
                    <a:p>
                      <a:pPr marL="427990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lang="es-CO" sz="2000" spc="-10" noProof="0" dirty="0" err="1">
                          <a:latin typeface="Microsoft Sans Serif"/>
                          <a:cs typeface="Microsoft Sans Serif"/>
                        </a:rPr>
                        <a:t>Lim.Bigote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  <a:p>
                      <a:pPr marL="1174750">
                        <a:lnSpc>
                          <a:spcPts val="2335"/>
                        </a:lnSpc>
                      </a:pPr>
                      <a:r>
                        <a:rPr lang="es-CO" sz="2000" spc="-25" noProof="0" dirty="0" err="1">
                          <a:latin typeface="Microsoft Sans Serif"/>
                          <a:cs typeface="Microsoft Sans Serif"/>
                        </a:rPr>
                        <a:t>Sup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30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25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62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30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1355"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lang="es-CO" sz="2000" spc="-10" noProof="0" dirty="0">
                          <a:latin typeface="Microsoft Sans Serif"/>
                          <a:cs typeface="Microsoft Sans Serif"/>
                        </a:rPr>
                        <a:t>Máximo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65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lang="es-CO" sz="2000" spc="-25" noProof="0" dirty="0">
                          <a:latin typeface="Microsoft Sans Serif"/>
                          <a:cs typeface="Microsoft Sans Serif"/>
                        </a:rPr>
                        <a:t>81</a:t>
                      </a:r>
                      <a:endParaRPr lang="es-CO" sz="2000" noProof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65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27576" y="2299716"/>
            <a:ext cx="7495032" cy="215036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616440" y="1694688"/>
            <a:ext cx="2353310" cy="707390"/>
          </a:xfrm>
          <a:prstGeom prst="rect">
            <a:avLst/>
          </a:prstGeom>
          <a:solidFill>
            <a:srgbClr val="CCFF99"/>
          </a:solidFill>
        </p:spPr>
        <p:txBody>
          <a:bodyPr vert="horz" wrap="square" lIns="0" tIns="31750" rIns="0" bIns="0" rtlCol="0">
            <a:spAutoFit/>
          </a:bodyPr>
          <a:lstStyle/>
          <a:p>
            <a:pPr marR="20955" algn="ctr">
              <a:lnSpc>
                <a:spcPct val="100000"/>
              </a:lnSpc>
              <a:spcBef>
                <a:spcPts val="250"/>
              </a:spcBef>
            </a:pPr>
            <a:r>
              <a:rPr lang="es-CO" sz="2000" spc="-50" noProof="0" dirty="0">
                <a:latin typeface="Arial MT"/>
                <a:cs typeface="Arial MT"/>
              </a:rPr>
              <a:t>Valores</a:t>
            </a:r>
            <a:r>
              <a:rPr lang="es-CO" sz="2000" spc="-90" noProof="0" dirty="0">
                <a:latin typeface="Arial MT"/>
                <a:cs typeface="Arial MT"/>
              </a:rPr>
              <a:t> </a:t>
            </a:r>
            <a:r>
              <a:rPr lang="es-CO" sz="2000" spc="-10" noProof="0" dirty="0">
                <a:latin typeface="Arial MT"/>
                <a:cs typeface="Arial MT"/>
              </a:rPr>
              <a:t>atípicos</a:t>
            </a:r>
            <a:endParaRPr lang="es-CO" sz="2000" noProof="0" dirty="0">
              <a:latin typeface="Arial MT"/>
              <a:cs typeface="Arial MT"/>
            </a:endParaRPr>
          </a:p>
          <a:p>
            <a:pPr marL="2540" algn="ctr">
              <a:lnSpc>
                <a:spcPct val="100000"/>
              </a:lnSpc>
              <a:spcBef>
                <a:spcPts val="5"/>
              </a:spcBef>
            </a:pPr>
            <a:r>
              <a:rPr lang="es-CO" sz="2000" spc="-10" noProof="0" dirty="0">
                <a:latin typeface="Arial MT"/>
                <a:cs typeface="Arial MT"/>
              </a:rPr>
              <a:t>Leves</a:t>
            </a:r>
            <a:endParaRPr lang="es-CO" sz="2000" noProof="0" dirty="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490454" y="2710433"/>
            <a:ext cx="1580515" cy="720725"/>
          </a:xfrm>
          <a:custGeom>
            <a:avLst/>
            <a:gdLst/>
            <a:ahLst/>
            <a:cxnLst/>
            <a:rect l="l" t="t" r="r" b="b"/>
            <a:pathLst>
              <a:path w="1580515" h="720725">
                <a:moveTo>
                  <a:pt x="0" y="360299"/>
                </a:moveTo>
                <a:lnTo>
                  <a:pt x="10287" y="301878"/>
                </a:lnTo>
                <a:lnTo>
                  <a:pt x="40259" y="246506"/>
                </a:lnTo>
                <a:lnTo>
                  <a:pt x="88138" y="194817"/>
                </a:lnTo>
                <a:lnTo>
                  <a:pt x="118364" y="170561"/>
                </a:lnTo>
                <a:lnTo>
                  <a:pt x="152400" y="147574"/>
                </a:lnTo>
                <a:lnTo>
                  <a:pt x="190246" y="125856"/>
                </a:lnTo>
                <a:lnTo>
                  <a:pt x="231394" y="105537"/>
                </a:lnTo>
                <a:lnTo>
                  <a:pt x="275971" y="86740"/>
                </a:lnTo>
                <a:lnTo>
                  <a:pt x="323469" y="69468"/>
                </a:lnTo>
                <a:lnTo>
                  <a:pt x="373888" y="53975"/>
                </a:lnTo>
                <a:lnTo>
                  <a:pt x="426974" y="40258"/>
                </a:lnTo>
                <a:lnTo>
                  <a:pt x="482600" y="28320"/>
                </a:lnTo>
                <a:lnTo>
                  <a:pt x="540385" y="18414"/>
                </a:lnTo>
                <a:lnTo>
                  <a:pt x="600201" y="10413"/>
                </a:lnTo>
                <a:lnTo>
                  <a:pt x="661924" y="4699"/>
                </a:lnTo>
                <a:lnTo>
                  <a:pt x="725297" y="1142"/>
                </a:lnTo>
                <a:lnTo>
                  <a:pt x="790067" y="0"/>
                </a:lnTo>
                <a:lnTo>
                  <a:pt x="854964" y="1142"/>
                </a:lnTo>
                <a:lnTo>
                  <a:pt x="918337" y="4699"/>
                </a:lnTo>
                <a:lnTo>
                  <a:pt x="979931" y="10413"/>
                </a:lnTo>
                <a:lnTo>
                  <a:pt x="1039876" y="18414"/>
                </a:lnTo>
                <a:lnTo>
                  <a:pt x="1097661" y="28320"/>
                </a:lnTo>
                <a:lnTo>
                  <a:pt x="1153160" y="40258"/>
                </a:lnTo>
                <a:lnTo>
                  <a:pt x="1206373" y="53975"/>
                </a:lnTo>
                <a:lnTo>
                  <a:pt x="1256792" y="69468"/>
                </a:lnTo>
                <a:lnTo>
                  <a:pt x="1304290" y="86740"/>
                </a:lnTo>
                <a:lnTo>
                  <a:pt x="1348867" y="105537"/>
                </a:lnTo>
                <a:lnTo>
                  <a:pt x="1390015" y="125856"/>
                </a:lnTo>
                <a:lnTo>
                  <a:pt x="1427861" y="147574"/>
                </a:lnTo>
                <a:lnTo>
                  <a:pt x="1461897" y="170561"/>
                </a:lnTo>
                <a:lnTo>
                  <a:pt x="1492123" y="194817"/>
                </a:lnTo>
                <a:lnTo>
                  <a:pt x="1540002" y="246506"/>
                </a:lnTo>
                <a:lnTo>
                  <a:pt x="1569974" y="301878"/>
                </a:lnTo>
                <a:lnTo>
                  <a:pt x="1580261" y="360299"/>
                </a:lnTo>
                <a:lnTo>
                  <a:pt x="1577594" y="389889"/>
                </a:lnTo>
                <a:lnTo>
                  <a:pt x="1557274" y="446913"/>
                </a:lnTo>
                <a:lnTo>
                  <a:pt x="1518157" y="500633"/>
                </a:lnTo>
                <a:lnTo>
                  <a:pt x="1461897" y="550163"/>
                </a:lnTo>
                <a:lnTo>
                  <a:pt x="1427861" y="573151"/>
                </a:lnTo>
                <a:lnTo>
                  <a:pt x="1390015" y="594867"/>
                </a:lnTo>
                <a:lnTo>
                  <a:pt x="1348867" y="615188"/>
                </a:lnTo>
                <a:lnTo>
                  <a:pt x="1304290" y="633983"/>
                </a:lnTo>
                <a:lnTo>
                  <a:pt x="1256792" y="651255"/>
                </a:lnTo>
                <a:lnTo>
                  <a:pt x="1206373" y="666750"/>
                </a:lnTo>
                <a:lnTo>
                  <a:pt x="1153160" y="680465"/>
                </a:lnTo>
                <a:lnTo>
                  <a:pt x="1097661" y="692403"/>
                </a:lnTo>
                <a:lnTo>
                  <a:pt x="1039876" y="702310"/>
                </a:lnTo>
                <a:lnTo>
                  <a:pt x="979931" y="710311"/>
                </a:lnTo>
                <a:lnTo>
                  <a:pt x="918337" y="716026"/>
                </a:lnTo>
                <a:lnTo>
                  <a:pt x="854964" y="719581"/>
                </a:lnTo>
                <a:lnTo>
                  <a:pt x="790067" y="720725"/>
                </a:lnTo>
                <a:lnTo>
                  <a:pt x="725297" y="719581"/>
                </a:lnTo>
                <a:lnTo>
                  <a:pt x="661924" y="716026"/>
                </a:lnTo>
                <a:lnTo>
                  <a:pt x="600201" y="710311"/>
                </a:lnTo>
                <a:lnTo>
                  <a:pt x="540385" y="702310"/>
                </a:lnTo>
                <a:lnTo>
                  <a:pt x="482600" y="692403"/>
                </a:lnTo>
                <a:lnTo>
                  <a:pt x="426974" y="680465"/>
                </a:lnTo>
                <a:lnTo>
                  <a:pt x="373888" y="666750"/>
                </a:lnTo>
                <a:lnTo>
                  <a:pt x="323469" y="651255"/>
                </a:lnTo>
                <a:lnTo>
                  <a:pt x="275971" y="633983"/>
                </a:lnTo>
                <a:lnTo>
                  <a:pt x="231394" y="615188"/>
                </a:lnTo>
                <a:lnTo>
                  <a:pt x="190246" y="594867"/>
                </a:lnTo>
                <a:lnTo>
                  <a:pt x="152400" y="573151"/>
                </a:lnTo>
                <a:lnTo>
                  <a:pt x="118364" y="550163"/>
                </a:lnTo>
                <a:lnTo>
                  <a:pt x="88138" y="525906"/>
                </a:lnTo>
                <a:lnTo>
                  <a:pt x="40259" y="474217"/>
                </a:lnTo>
                <a:lnTo>
                  <a:pt x="10287" y="418845"/>
                </a:lnTo>
                <a:lnTo>
                  <a:pt x="0" y="360299"/>
                </a:lnTo>
                <a:close/>
              </a:path>
            </a:pathLst>
          </a:custGeom>
          <a:ln w="1905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8" name="object 8"/>
          <p:cNvSpPr txBox="1"/>
          <p:nvPr/>
        </p:nvSpPr>
        <p:spPr>
          <a:xfrm>
            <a:off x="4735195" y="4854016"/>
            <a:ext cx="6885940" cy="164211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lang="es-CO" sz="2000" spc="-125" noProof="0" dirty="0">
                <a:latin typeface="Microsoft Sans Serif"/>
                <a:cs typeface="Microsoft Sans Serif"/>
              </a:rPr>
              <a:t>Los valores</a:t>
            </a:r>
            <a:r>
              <a:rPr lang="es-CO" sz="2000" spc="-120" noProof="0" dirty="0">
                <a:latin typeface="Microsoft Sans Serif"/>
                <a:cs typeface="Microsoft Sans Serif"/>
              </a:rPr>
              <a:t> </a:t>
            </a:r>
            <a:r>
              <a:rPr lang="es-CO" sz="2000" noProof="0" dirty="0">
                <a:latin typeface="Microsoft Sans Serif"/>
                <a:cs typeface="Microsoft Sans Serif"/>
              </a:rPr>
              <a:t>de</a:t>
            </a:r>
            <a:r>
              <a:rPr lang="es-CO" sz="2000" spc="-50" noProof="0" dirty="0">
                <a:latin typeface="Microsoft Sans Serif"/>
                <a:cs typeface="Microsoft Sans Serif"/>
              </a:rPr>
              <a:t> </a:t>
            </a:r>
            <a:r>
              <a:rPr lang="es-CO" sz="2000" spc="-155" noProof="0" dirty="0">
                <a:latin typeface="Microsoft Sans Serif"/>
                <a:cs typeface="Microsoft Sans Serif"/>
              </a:rPr>
              <a:t>AGE</a:t>
            </a:r>
            <a:r>
              <a:rPr lang="es-CO" sz="2000" spc="-204" noProof="0" dirty="0">
                <a:latin typeface="Microsoft Sans Serif"/>
                <a:cs typeface="Microsoft Sans Serif"/>
              </a:rPr>
              <a:t> </a:t>
            </a:r>
            <a:r>
              <a:rPr lang="es-CO" sz="2000" spc="-85" noProof="0" dirty="0">
                <a:latin typeface="Microsoft Sans Serif"/>
                <a:cs typeface="Microsoft Sans Serif"/>
              </a:rPr>
              <a:t>que</a:t>
            </a:r>
            <a:r>
              <a:rPr lang="es-CO" sz="2000" spc="-110" noProof="0" dirty="0">
                <a:latin typeface="Microsoft Sans Serif"/>
                <a:cs typeface="Microsoft Sans Serif"/>
              </a:rPr>
              <a:t> </a:t>
            </a:r>
            <a:r>
              <a:rPr lang="es-CO" sz="2000" spc="-105" noProof="0" dirty="0">
                <a:latin typeface="Microsoft Sans Serif"/>
                <a:cs typeface="Microsoft Sans Serif"/>
              </a:rPr>
              <a:t>pertenezcan</a:t>
            </a:r>
            <a:r>
              <a:rPr lang="es-CO" sz="2000" spc="-120" noProof="0" dirty="0">
                <a:latin typeface="Microsoft Sans Serif"/>
                <a:cs typeface="Microsoft Sans Serif"/>
              </a:rPr>
              <a:t> </a:t>
            </a:r>
            <a:r>
              <a:rPr lang="es-CO" sz="2000" noProof="0" dirty="0">
                <a:latin typeface="Microsoft Sans Serif"/>
                <a:cs typeface="Microsoft Sans Serif"/>
              </a:rPr>
              <a:t>a</a:t>
            </a:r>
            <a:r>
              <a:rPr lang="es-CO" sz="2000" spc="10" noProof="0" dirty="0">
                <a:latin typeface="Microsoft Sans Serif"/>
                <a:cs typeface="Microsoft Sans Serif"/>
              </a:rPr>
              <a:t> </a:t>
            </a:r>
            <a:r>
              <a:rPr lang="es-CO" sz="2000" b="1" spc="-70" noProof="0" dirty="0">
                <a:latin typeface="Arial"/>
                <a:cs typeface="Arial"/>
              </a:rPr>
              <a:t>[-</a:t>
            </a:r>
            <a:r>
              <a:rPr lang="es-CO" sz="2000" b="1" spc="-45" noProof="0" dirty="0">
                <a:latin typeface="Arial"/>
                <a:cs typeface="Arial"/>
              </a:rPr>
              <a:t>7;</a:t>
            </a:r>
            <a:r>
              <a:rPr lang="es-CO" sz="2000" b="1" spc="-120" noProof="0" dirty="0">
                <a:latin typeface="Arial"/>
                <a:cs typeface="Arial"/>
              </a:rPr>
              <a:t> </a:t>
            </a:r>
            <a:r>
              <a:rPr lang="es-CO" sz="2000" b="1" spc="-40" noProof="0" dirty="0">
                <a:latin typeface="Arial"/>
                <a:cs typeface="Arial"/>
              </a:rPr>
              <a:t>12.5)</a:t>
            </a:r>
            <a:r>
              <a:rPr lang="es-CO" sz="2000" b="1" spc="-75" noProof="0" dirty="0">
                <a:latin typeface="Arial"/>
                <a:cs typeface="Arial"/>
              </a:rPr>
              <a:t> </a:t>
            </a:r>
            <a:r>
              <a:rPr lang="es-CO" sz="2000" noProof="0" dirty="0">
                <a:latin typeface="Microsoft Sans Serif"/>
                <a:cs typeface="Microsoft Sans Serif"/>
              </a:rPr>
              <a:t>o</a:t>
            </a:r>
            <a:r>
              <a:rPr lang="es-CO" sz="2000" spc="-105" noProof="0" dirty="0">
                <a:latin typeface="Microsoft Sans Serif"/>
                <a:cs typeface="Microsoft Sans Serif"/>
              </a:rPr>
              <a:t> </a:t>
            </a:r>
            <a:r>
              <a:rPr lang="es-CO" sz="2000" b="1" spc="-55" noProof="0" dirty="0">
                <a:latin typeface="Arial"/>
                <a:cs typeface="Arial"/>
              </a:rPr>
              <a:t>(64.5;</a:t>
            </a:r>
            <a:r>
              <a:rPr lang="es-CO" sz="2000" b="1" spc="-95" noProof="0" dirty="0">
                <a:latin typeface="Arial"/>
                <a:cs typeface="Arial"/>
              </a:rPr>
              <a:t> </a:t>
            </a:r>
            <a:r>
              <a:rPr lang="es-CO" sz="2000" b="1" spc="-40" noProof="0" dirty="0">
                <a:latin typeface="Arial"/>
                <a:cs typeface="Arial"/>
              </a:rPr>
              <a:t>84]</a:t>
            </a:r>
            <a:r>
              <a:rPr lang="es-CO" sz="2000" b="1" spc="-85" noProof="0" dirty="0">
                <a:latin typeface="Arial"/>
                <a:cs typeface="Arial"/>
              </a:rPr>
              <a:t> </a:t>
            </a:r>
            <a:r>
              <a:rPr lang="es-CO" sz="2000" spc="-25" noProof="0" dirty="0">
                <a:latin typeface="Microsoft Sans Serif"/>
                <a:cs typeface="Microsoft Sans Serif"/>
              </a:rPr>
              <a:t>se</a:t>
            </a:r>
            <a:endParaRPr lang="es-CO" sz="2000" noProof="0" dirty="0">
              <a:latin typeface="Microsoft Sans Serif"/>
              <a:cs typeface="Microsoft Sans Serif"/>
            </a:endParaRPr>
          </a:p>
          <a:p>
            <a:pPr marL="332740">
              <a:lnSpc>
                <a:spcPct val="100000"/>
              </a:lnSpc>
              <a:spcBef>
                <a:spcPts val="5"/>
              </a:spcBef>
            </a:pPr>
            <a:r>
              <a:rPr lang="es-CO" sz="2000" spc="-110" noProof="0" dirty="0">
                <a:latin typeface="Microsoft Sans Serif"/>
                <a:cs typeface="Microsoft Sans Serif"/>
              </a:rPr>
              <a:t>considerarán</a:t>
            </a:r>
            <a:r>
              <a:rPr lang="es-CO" sz="2000" spc="-100" noProof="0" dirty="0">
                <a:latin typeface="Microsoft Sans Serif"/>
                <a:cs typeface="Microsoft Sans Serif"/>
              </a:rPr>
              <a:t> </a:t>
            </a:r>
            <a:r>
              <a:rPr lang="es-CO" sz="2000" b="1" spc="-130" noProof="0" dirty="0">
                <a:solidFill>
                  <a:srgbClr val="006EC0"/>
                </a:solidFill>
                <a:latin typeface="Arial"/>
                <a:cs typeface="Arial"/>
              </a:rPr>
              <a:t>atípicos</a:t>
            </a:r>
            <a:r>
              <a:rPr lang="es-CO" sz="2000" b="1" spc="-175" noProof="0" dirty="0">
                <a:solidFill>
                  <a:srgbClr val="006EC0"/>
                </a:solidFill>
                <a:latin typeface="Arial"/>
                <a:cs typeface="Arial"/>
              </a:rPr>
              <a:t> </a:t>
            </a:r>
            <a:r>
              <a:rPr lang="es-CO" sz="2000" b="1" spc="-10" noProof="0" dirty="0">
                <a:solidFill>
                  <a:srgbClr val="006EC0"/>
                </a:solidFill>
                <a:latin typeface="Arial"/>
                <a:cs typeface="Arial"/>
              </a:rPr>
              <a:t>leves</a:t>
            </a:r>
            <a:r>
              <a:rPr lang="es-CO" sz="2000" spc="-10" noProof="0" dirty="0">
                <a:latin typeface="Microsoft Sans Serif"/>
                <a:cs typeface="Microsoft Sans Serif"/>
              </a:rPr>
              <a:t>.</a:t>
            </a:r>
            <a:endParaRPr lang="es-CO" sz="2000" noProof="0" dirty="0">
              <a:latin typeface="Microsoft Sans Serif"/>
              <a:cs typeface="Microsoft Sans Serif"/>
            </a:endParaRPr>
          </a:p>
          <a:p>
            <a:pPr marL="332740" marR="74295" indent="-320675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60000"/>
              <a:buFont typeface="Wingdings"/>
              <a:buChar char=""/>
              <a:tabLst>
                <a:tab pos="332740" algn="l"/>
              </a:tabLst>
            </a:pPr>
            <a:r>
              <a:rPr lang="es-CO" sz="2000" spc="-125" noProof="0" dirty="0">
                <a:latin typeface="Microsoft Sans Serif"/>
                <a:cs typeface="Microsoft Sans Serif"/>
              </a:rPr>
              <a:t>Los valores</a:t>
            </a:r>
            <a:r>
              <a:rPr lang="es-CO" sz="2000" spc="-120" noProof="0" dirty="0">
                <a:latin typeface="Microsoft Sans Serif"/>
                <a:cs typeface="Microsoft Sans Serif"/>
              </a:rPr>
              <a:t> </a:t>
            </a:r>
            <a:r>
              <a:rPr lang="es-CO" sz="2000" spc="-10" noProof="0" dirty="0">
                <a:latin typeface="Microsoft Sans Serif"/>
                <a:cs typeface="Microsoft Sans Serif"/>
              </a:rPr>
              <a:t>del</a:t>
            </a:r>
            <a:r>
              <a:rPr lang="es-CO" sz="2000" spc="-25" noProof="0" dirty="0">
                <a:latin typeface="Microsoft Sans Serif"/>
                <a:cs typeface="Microsoft Sans Serif"/>
              </a:rPr>
              <a:t> </a:t>
            </a:r>
            <a:r>
              <a:rPr lang="es-CO" sz="2000" spc="-45" noProof="0" dirty="0">
                <a:latin typeface="Microsoft Sans Serif"/>
                <a:cs typeface="Microsoft Sans Serif"/>
              </a:rPr>
              <a:t>atributo</a:t>
            </a:r>
            <a:r>
              <a:rPr lang="es-CO" sz="2000" spc="-85" noProof="0" dirty="0">
                <a:latin typeface="Microsoft Sans Serif"/>
                <a:cs typeface="Microsoft Sans Serif"/>
              </a:rPr>
              <a:t> </a:t>
            </a:r>
            <a:r>
              <a:rPr lang="es-CO" sz="2000" spc="-165" noProof="0" dirty="0">
                <a:latin typeface="Microsoft Sans Serif"/>
                <a:cs typeface="Microsoft Sans Serif"/>
              </a:rPr>
              <a:t>AGE</a:t>
            </a:r>
            <a:r>
              <a:rPr lang="es-CO" sz="2000" spc="-200" noProof="0" dirty="0">
                <a:latin typeface="Microsoft Sans Serif"/>
                <a:cs typeface="Microsoft Sans Serif"/>
              </a:rPr>
              <a:t> </a:t>
            </a:r>
            <a:r>
              <a:rPr lang="es-CO" sz="2000" spc="-85" noProof="0" dirty="0">
                <a:latin typeface="Microsoft Sans Serif"/>
                <a:cs typeface="Microsoft Sans Serif"/>
              </a:rPr>
              <a:t>inferiores</a:t>
            </a:r>
            <a:r>
              <a:rPr lang="es-CO" sz="2000" spc="-135" noProof="0" dirty="0">
                <a:latin typeface="Microsoft Sans Serif"/>
                <a:cs typeface="Microsoft Sans Serif"/>
              </a:rPr>
              <a:t> </a:t>
            </a:r>
            <a:r>
              <a:rPr lang="es-CO" sz="2000" noProof="0" dirty="0">
                <a:latin typeface="Microsoft Sans Serif"/>
                <a:cs typeface="Microsoft Sans Serif"/>
              </a:rPr>
              <a:t>a</a:t>
            </a:r>
            <a:r>
              <a:rPr lang="es-CO" sz="2000" spc="40" noProof="0" dirty="0">
                <a:latin typeface="Microsoft Sans Serif"/>
                <a:cs typeface="Microsoft Sans Serif"/>
              </a:rPr>
              <a:t> </a:t>
            </a:r>
            <a:r>
              <a:rPr lang="es-CO" sz="2000" noProof="0" dirty="0">
                <a:latin typeface="Microsoft Sans Serif"/>
                <a:cs typeface="Microsoft Sans Serif"/>
              </a:rPr>
              <a:t>-7 o</a:t>
            </a:r>
            <a:r>
              <a:rPr lang="es-CO" sz="2000" spc="-85" noProof="0" dirty="0">
                <a:latin typeface="Microsoft Sans Serif"/>
                <a:cs typeface="Microsoft Sans Serif"/>
              </a:rPr>
              <a:t> </a:t>
            </a:r>
            <a:r>
              <a:rPr lang="es-CO" sz="2000" spc="-130" noProof="0" dirty="0">
                <a:latin typeface="Microsoft Sans Serif"/>
                <a:cs typeface="Microsoft Sans Serif"/>
              </a:rPr>
              <a:t>superiores</a:t>
            </a:r>
            <a:r>
              <a:rPr lang="es-CO" sz="2000" spc="-165" noProof="0" dirty="0">
                <a:latin typeface="Microsoft Sans Serif"/>
                <a:cs typeface="Microsoft Sans Serif"/>
              </a:rPr>
              <a:t> </a:t>
            </a:r>
            <a:r>
              <a:rPr lang="es-CO" sz="2000" noProof="0" dirty="0">
                <a:latin typeface="Microsoft Sans Serif"/>
                <a:cs typeface="Microsoft Sans Serif"/>
              </a:rPr>
              <a:t>a</a:t>
            </a:r>
            <a:r>
              <a:rPr lang="es-CO" sz="2000" spc="35" noProof="0" dirty="0">
                <a:latin typeface="Microsoft Sans Serif"/>
                <a:cs typeface="Microsoft Sans Serif"/>
              </a:rPr>
              <a:t> </a:t>
            </a:r>
            <a:r>
              <a:rPr lang="es-CO" sz="2000" noProof="0" dirty="0">
                <a:latin typeface="Microsoft Sans Serif"/>
                <a:cs typeface="Microsoft Sans Serif"/>
              </a:rPr>
              <a:t>84</a:t>
            </a:r>
            <a:r>
              <a:rPr lang="es-CO" sz="2000" spc="5" noProof="0" dirty="0">
                <a:latin typeface="Microsoft Sans Serif"/>
                <a:cs typeface="Microsoft Sans Serif"/>
              </a:rPr>
              <a:t> </a:t>
            </a:r>
            <a:r>
              <a:rPr lang="es-CO" sz="2000" spc="-120" noProof="0" dirty="0">
                <a:latin typeface="Microsoft Sans Serif"/>
                <a:cs typeface="Microsoft Sans Serif"/>
              </a:rPr>
              <a:t>se </a:t>
            </a:r>
            <a:r>
              <a:rPr lang="es-CO" sz="2000" spc="-110" noProof="0" dirty="0">
                <a:latin typeface="Microsoft Sans Serif"/>
                <a:cs typeface="Microsoft Sans Serif"/>
              </a:rPr>
              <a:t>considerarán</a:t>
            </a:r>
            <a:r>
              <a:rPr lang="es-CO" sz="2000" spc="-120" noProof="0" dirty="0">
                <a:latin typeface="Microsoft Sans Serif"/>
                <a:cs typeface="Microsoft Sans Serif"/>
              </a:rPr>
              <a:t> </a:t>
            </a:r>
            <a:r>
              <a:rPr lang="es-CO" sz="2000" b="1" spc="-130" noProof="0" dirty="0">
                <a:solidFill>
                  <a:srgbClr val="006EC0"/>
                </a:solidFill>
                <a:latin typeface="Arial"/>
                <a:cs typeface="Arial"/>
              </a:rPr>
              <a:t>atípicos</a:t>
            </a:r>
            <a:r>
              <a:rPr lang="es-CO" sz="2000" b="1" spc="-165" noProof="0" dirty="0">
                <a:solidFill>
                  <a:srgbClr val="006EC0"/>
                </a:solidFill>
                <a:latin typeface="Arial"/>
                <a:cs typeface="Arial"/>
              </a:rPr>
              <a:t> </a:t>
            </a:r>
            <a:r>
              <a:rPr lang="es-CO" sz="2000" b="1" spc="-145" noProof="0" dirty="0">
                <a:solidFill>
                  <a:srgbClr val="006EC0"/>
                </a:solidFill>
                <a:latin typeface="Arial"/>
                <a:cs typeface="Arial"/>
              </a:rPr>
              <a:t>extremos</a:t>
            </a:r>
            <a:r>
              <a:rPr lang="es-CO" sz="2000" b="1" spc="-185" noProof="0" dirty="0">
                <a:solidFill>
                  <a:srgbClr val="006EC0"/>
                </a:solidFill>
                <a:latin typeface="Arial"/>
                <a:cs typeface="Arial"/>
              </a:rPr>
              <a:t> </a:t>
            </a:r>
            <a:r>
              <a:rPr lang="es-CO" sz="2000" spc="-50" noProof="0" dirty="0">
                <a:latin typeface="Microsoft Sans Serif"/>
                <a:cs typeface="Microsoft Sans Serif"/>
              </a:rPr>
              <a:t>.</a:t>
            </a:r>
            <a:endParaRPr lang="es-CO" sz="2000" noProof="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80160"/>
            <a:ext cx="711835" cy="228600"/>
          </a:xfrm>
          <a:custGeom>
            <a:avLst/>
            <a:gdLst/>
            <a:ahLst/>
            <a:cxnLst/>
            <a:rect l="l" t="t" r="r" b="b"/>
            <a:pathLst>
              <a:path w="711835" h="228600">
                <a:moveTo>
                  <a:pt x="711581" y="0"/>
                </a:moveTo>
                <a:lnTo>
                  <a:pt x="0" y="0"/>
                </a:lnTo>
                <a:lnTo>
                  <a:pt x="0" y="228600"/>
                </a:lnTo>
                <a:lnTo>
                  <a:pt x="711581" y="228600"/>
                </a:lnTo>
                <a:lnTo>
                  <a:pt x="711581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3" name="object 3"/>
          <p:cNvSpPr/>
          <p:nvPr/>
        </p:nvSpPr>
        <p:spPr>
          <a:xfrm>
            <a:off x="787908" y="1280160"/>
            <a:ext cx="11403965" cy="228600"/>
          </a:xfrm>
          <a:custGeom>
            <a:avLst/>
            <a:gdLst/>
            <a:ahLst/>
            <a:cxnLst/>
            <a:rect l="l" t="t" r="r" b="b"/>
            <a:pathLst>
              <a:path w="11403965" h="228600">
                <a:moveTo>
                  <a:pt x="11403584" y="0"/>
                </a:moveTo>
                <a:lnTo>
                  <a:pt x="0" y="0"/>
                </a:lnTo>
                <a:lnTo>
                  <a:pt x="0" y="228600"/>
                </a:lnTo>
                <a:lnTo>
                  <a:pt x="11403584" y="228600"/>
                </a:lnTo>
                <a:lnTo>
                  <a:pt x="11403584" y="0"/>
                </a:lnTo>
                <a:close/>
              </a:path>
            </a:pathLst>
          </a:custGeom>
          <a:solidFill>
            <a:srgbClr val="92B6D2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9285">
              <a:lnSpc>
                <a:spcPct val="100000"/>
              </a:lnSpc>
              <a:spcBef>
                <a:spcPts val="95"/>
              </a:spcBef>
            </a:pPr>
            <a:r>
              <a:rPr lang="es-CO" sz="4000" spc="-225" noProof="0" dirty="0"/>
              <a:t>Histograma</a:t>
            </a:r>
            <a:r>
              <a:rPr lang="es-CO" sz="4000" spc="-160" noProof="0" dirty="0"/>
              <a:t> </a:t>
            </a:r>
            <a:r>
              <a:rPr lang="es-CO" sz="4000" noProof="0" dirty="0"/>
              <a:t>y</a:t>
            </a:r>
            <a:r>
              <a:rPr lang="es-CO" sz="4000" spc="-95" noProof="0" dirty="0"/>
              <a:t> </a:t>
            </a:r>
            <a:r>
              <a:rPr lang="es-CO" sz="4000" spc="-105" noProof="0" dirty="0"/>
              <a:t>diagrama</a:t>
            </a:r>
            <a:r>
              <a:rPr lang="es-CO" sz="4000" spc="-65" noProof="0" dirty="0"/>
              <a:t> </a:t>
            </a:r>
            <a:r>
              <a:rPr lang="es-CO" sz="4000" noProof="0" dirty="0"/>
              <a:t>de</a:t>
            </a:r>
            <a:r>
              <a:rPr lang="es-CO" sz="4000" spc="-150" noProof="0" dirty="0"/>
              <a:t> </a:t>
            </a:r>
            <a:r>
              <a:rPr lang="es-CO" sz="4000" spc="-105" noProof="0" dirty="0"/>
              <a:t>caja</a:t>
            </a:r>
            <a:r>
              <a:rPr lang="es-CO" sz="4000" spc="-150" noProof="0" dirty="0"/>
              <a:t> </a:t>
            </a:r>
            <a:r>
              <a:rPr lang="es-CO" sz="4000" spc="-265" noProof="0" dirty="0"/>
              <a:t>simple</a:t>
            </a:r>
            <a:endParaRPr lang="es-CO" sz="4000" noProof="0" dirty="0"/>
          </a:p>
          <a:p>
            <a:pPr marL="629285">
              <a:lnSpc>
                <a:spcPct val="100000"/>
              </a:lnSpc>
              <a:spcBef>
                <a:spcPts val="125"/>
              </a:spcBef>
            </a:pPr>
            <a:r>
              <a:rPr lang="es-CO" sz="2800" spc="-95" noProof="0" dirty="0"/>
              <a:t>(Atributo</a:t>
            </a:r>
            <a:r>
              <a:rPr lang="es-CO" sz="2800" spc="-100" noProof="0" dirty="0"/>
              <a:t> </a:t>
            </a:r>
            <a:r>
              <a:rPr lang="es-CO" sz="2800" spc="-220" noProof="0" dirty="0"/>
              <a:t>AGE</a:t>
            </a:r>
            <a:r>
              <a:rPr lang="es-CO" sz="2800" spc="-204" noProof="0" dirty="0"/>
              <a:t>)</a:t>
            </a:r>
            <a:endParaRPr lang="es-CO" sz="2800" noProof="0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51719" y="2328672"/>
            <a:ext cx="1656587" cy="1583435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851660" y="2247900"/>
            <a:ext cx="7777480" cy="3441700"/>
            <a:chOff x="1851660" y="2247900"/>
            <a:chExt cx="7777480" cy="34417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9796" y="2247900"/>
              <a:ext cx="6536435" cy="311962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51660" y="4581144"/>
              <a:ext cx="7776972" cy="11079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80160"/>
            <a:ext cx="711835" cy="228600"/>
          </a:xfrm>
          <a:custGeom>
            <a:avLst/>
            <a:gdLst/>
            <a:ahLst/>
            <a:cxnLst/>
            <a:rect l="l" t="t" r="r" b="b"/>
            <a:pathLst>
              <a:path w="711835" h="228600">
                <a:moveTo>
                  <a:pt x="711581" y="0"/>
                </a:moveTo>
                <a:lnTo>
                  <a:pt x="0" y="0"/>
                </a:lnTo>
                <a:lnTo>
                  <a:pt x="0" y="228600"/>
                </a:lnTo>
                <a:lnTo>
                  <a:pt x="711581" y="228600"/>
                </a:lnTo>
                <a:lnTo>
                  <a:pt x="711581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3" name="object 3"/>
          <p:cNvSpPr/>
          <p:nvPr/>
        </p:nvSpPr>
        <p:spPr>
          <a:xfrm>
            <a:off x="787908" y="1280160"/>
            <a:ext cx="11403965" cy="228600"/>
          </a:xfrm>
          <a:custGeom>
            <a:avLst/>
            <a:gdLst/>
            <a:ahLst/>
            <a:cxnLst/>
            <a:rect l="l" t="t" r="r" b="b"/>
            <a:pathLst>
              <a:path w="11403965" h="228600">
                <a:moveTo>
                  <a:pt x="11403584" y="0"/>
                </a:moveTo>
                <a:lnTo>
                  <a:pt x="0" y="0"/>
                </a:lnTo>
                <a:lnTo>
                  <a:pt x="0" y="228600"/>
                </a:lnTo>
                <a:lnTo>
                  <a:pt x="11403584" y="228600"/>
                </a:lnTo>
                <a:lnTo>
                  <a:pt x="11403584" y="0"/>
                </a:lnTo>
                <a:close/>
              </a:path>
            </a:pathLst>
          </a:custGeom>
          <a:solidFill>
            <a:srgbClr val="92B6D2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grpSp>
        <p:nvGrpSpPr>
          <p:cNvPr id="4" name="object 4"/>
          <p:cNvGrpSpPr/>
          <p:nvPr/>
        </p:nvGrpSpPr>
        <p:grpSpPr>
          <a:xfrm>
            <a:off x="1851660" y="2247900"/>
            <a:ext cx="7920355" cy="3406140"/>
            <a:chOff x="1851660" y="2247900"/>
            <a:chExt cx="7920355" cy="340614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9796" y="2247900"/>
              <a:ext cx="6536435" cy="311962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51660" y="4652772"/>
              <a:ext cx="7920228" cy="1001267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9285">
              <a:lnSpc>
                <a:spcPct val="100000"/>
              </a:lnSpc>
              <a:spcBef>
                <a:spcPts val="95"/>
              </a:spcBef>
            </a:pPr>
            <a:r>
              <a:rPr lang="es-CO" sz="4000" spc="-225" noProof="0" dirty="0"/>
              <a:t>Histograma</a:t>
            </a:r>
            <a:r>
              <a:rPr lang="es-CO" sz="4000" spc="-160" noProof="0" dirty="0"/>
              <a:t> </a:t>
            </a:r>
            <a:r>
              <a:rPr lang="es-CO" sz="4000" noProof="0" dirty="0"/>
              <a:t>y</a:t>
            </a:r>
            <a:r>
              <a:rPr lang="es-CO" sz="4000" spc="-114" noProof="0" dirty="0"/>
              <a:t> </a:t>
            </a:r>
            <a:r>
              <a:rPr lang="es-CO" sz="4000" spc="-105" noProof="0" dirty="0"/>
              <a:t>diagrama</a:t>
            </a:r>
            <a:r>
              <a:rPr lang="es-CO" sz="4000" spc="-75" noProof="0" dirty="0"/>
              <a:t> </a:t>
            </a:r>
            <a:r>
              <a:rPr lang="es-CO" sz="4000" spc="-20" noProof="0" dirty="0"/>
              <a:t>de</a:t>
            </a:r>
            <a:r>
              <a:rPr lang="es-CO" sz="4000" spc="-170" noProof="0" dirty="0"/>
              <a:t> </a:t>
            </a:r>
            <a:r>
              <a:rPr lang="es-CO" sz="4000" spc="-100" noProof="0" dirty="0"/>
              <a:t>caja</a:t>
            </a:r>
            <a:r>
              <a:rPr lang="es-CO" sz="4000" spc="-145" noProof="0" dirty="0"/>
              <a:t> </a:t>
            </a:r>
            <a:r>
              <a:rPr lang="es-CO" sz="4000" spc="-20" noProof="0" dirty="0"/>
              <a:t>de</a:t>
            </a:r>
            <a:r>
              <a:rPr lang="es-CO" sz="4000" spc="-175" noProof="0" dirty="0"/>
              <a:t> </a:t>
            </a:r>
            <a:r>
              <a:rPr lang="es-CO" sz="4000" spc="-360" noProof="0" dirty="0"/>
              <a:t>Tukey</a:t>
            </a:r>
            <a:endParaRPr lang="es-CO" sz="4000" noProof="0" dirty="0"/>
          </a:p>
          <a:p>
            <a:pPr marL="629285">
              <a:lnSpc>
                <a:spcPct val="100000"/>
              </a:lnSpc>
              <a:spcBef>
                <a:spcPts val="125"/>
              </a:spcBef>
            </a:pPr>
            <a:r>
              <a:rPr lang="es-CO" sz="2800" spc="-95" noProof="0" dirty="0"/>
              <a:t>(Atributo</a:t>
            </a:r>
            <a:r>
              <a:rPr lang="es-CO" sz="2800" spc="-130" noProof="0" dirty="0"/>
              <a:t> </a:t>
            </a:r>
            <a:r>
              <a:rPr lang="es-CO" sz="2800" spc="-220" noProof="0" dirty="0"/>
              <a:t>AGE</a:t>
            </a:r>
            <a:r>
              <a:rPr lang="es-CO" sz="2800" spc="-360" noProof="0" dirty="0"/>
              <a:t>)</a:t>
            </a:r>
            <a:endParaRPr lang="es-CO" sz="2800" noProof="0" dirty="0"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51719" y="2328672"/>
            <a:ext cx="1656587" cy="1583435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0203" y="1527429"/>
            <a:ext cx="1044321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8140" marR="47625" indent="-32067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928"/>
              <a:buFont typeface="Wingdings"/>
              <a:buChar char=""/>
              <a:tabLst>
                <a:tab pos="358140" algn="l"/>
              </a:tabLst>
            </a:pPr>
            <a:r>
              <a:rPr lang="es-CO" sz="2800" spc="-240" noProof="0" dirty="0">
                <a:latin typeface="Microsoft Sans Serif"/>
                <a:cs typeface="Microsoft Sans Serif"/>
              </a:rPr>
              <a:t>Consiste</a:t>
            </a:r>
            <a:r>
              <a:rPr lang="es-CO" sz="2800" spc="-190" noProof="0" dirty="0">
                <a:latin typeface="Microsoft Sans Serif"/>
                <a:cs typeface="Microsoft Sans Serif"/>
              </a:rPr>
              <a:t> </a:t>
            </a:r>
            <a:r>
              <a:rPr lang="es-CO" sz="2800" spc="-145" noProof="0" dirty="0">
                <a:latin typeface="Microsoft Sans Serif"/>
                <a:cs typeface="Microsoft Sans Serif"/>
              </a:rPr>
              <a:t>en</a:t>
            </a:r>
            <a:r>
              <a:rPr lang="es-CO" sz="2800" spc="-190" noProof="0" dirty="0">
                <a:latin typeface="Microsoft Sans Serif"/>
                <a:cs typeface="Microsoft Sans Serif"/>
              </a:rPr>
              <a:t> </a:t>
            </a:r>
            <a:r>
              <a:rPr lang="es-CO" sz="2800" spc="-55" noProof="0" dirty="0">
                <a:latin typeface="Microsoft Sans Serif"/>
                <a:cs typeface="Microsoft Sans Serif"/>
              </a:rPr>
              <a:t>dibujar</a:t>
            </a:r>
            <a:r>
              <a:rPr lang="es-CO" sz="2800" spc="-135" noProof="0" dirty="0">
                <a:latin typeface="Microsoft Sans Serif"/>
                <a:cs typeface="Microsoft Sans Serif"/>
              </a:rPr>
              <a:t> </a:t>
            </a:r>
            <a:r>
              <a:rPr lang="es-CO" sz="2800" spc="-114" noProof="0" dirty="0">
                <a:latin typeface="Microsoft Sans Serif"/>
                <a:cs typeface="Microsoft Sans Serif"/>
              </a:rPr>
              <a:t>pares</a:t>
            </a:r>
            <a:r>
              <a:rPr lang="es-CO" sz="2800" spc="-70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de</a:t>
            </a:r>
            <a:r>
              <a:rPr lang="es-CO" sz="2800" spc="-150" noProof="0" dirty="0">
                <a:latin typeface="Microsoft Sans Serif"/>
                <a:cs typeface="Microsoft Sans Serif"/>
              </a:rPr>
              <a:t> </a:t>
            </a:r>
            <a:r>
              <a:rPr lang="es-CO" sz="2800" spc="-155" noProof="0" dirty="0">
                <a:latin typeface="Microsoft Sans Serif"/>
                <a:cs typeface="Microsoft Sans Serif"/>
              </a:rPr>
              <a:t>valores</a:t>
            </a:r>
            <a:r>
              <a:rPr lang="es-CO" sz="2800" spc="-100" noProof="0" dirty="0">
                <a:latin typeface="Microsoft Sans Serif"/>
                <a:cs typeface="Microsoft Sans Serif"/>
              </a:rPr>
              <a:t> </a:t>
            </a:r>
            <a:r>
              <a:rPr lang="es-CO" sz="2800" spc="-50" noProof="0" dirty="0">
                <a:latin typeface="Microsoft Sans Serif"/>
                <a:cs typeface="Microsoft Sans Serif"/>
              </a:rPr>
              <a:t>(x</a:t>
            </a:r>
            <a:r>
              <a:rPr lang="es-CO" sz="2775" spc="-75" baseline="-18018" noProof="0" dirty="0">
                <a:latin typeface="Microsoft Sans Serif"/>
                <a:cs typeface="Microsoft Sans Serif"/>
              </a:rPr>
              <a:t>i</a:t>
            </a:r>
            <a:r>
              <a:rPr lang="es-CO" sz="2800" spc="-50" noProof="0" dirty="0">
                <a:latin typeface="Microsoft Sans Serif"/>
                <a:cs typeface="Microsoft Sans Serif"/>
              </a:rPr>
              <a:t>,</a:t>
            </a:r>
            <a:r>
              <a:rPr lang="es-CO" sz="2800" spc="-65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 err="1">
                <a:latin typeface="Microsoft Sans Serif"/>
                <a:cs typeface="Microsoft Sans Serif"/>
              </a:rPr>
              <a:t>y</a:t>
            </a:r>
            <a:r>
              <a:rPr lang="es-CO" sz="2775" baseline="-18018" noProof="0" dirty="0" err="1">
                <a:latin typeface="Microsoft Sans Serif"/>
                <a:cs typeface="Microsoft Sans Serif"/>
              </a:rPr>
              <a:t>j</a:t>
            </a:r>
            <a:r>
              <a:rPr lang="es-CO" sz="2800" noProof="0" dirty="0">
                <a:latin typeface="Microsoft Sans Serif"/>
                <a:cs typeface="Microsoft Sans Serif"/>
              </a:rPr>
              <a:t>)</a:t>
            </a:r>
            <a:r>
              <a:rPr lang="es-CO" sz="2800" spc="-25" noProof="0" dirty="0">
                <a:latin typeface="Microsoft Sans Serif"/>
                <a:cs typeface="Microsoft Sans Serif"/>
              </a:rPr>
              <a:t> </a:t>
            </a:r>
            <a:r>
              <a:rPr lang="es-CO" sz="2800" spc="-185" noProof="0" dirty="0">
                <a:latin typeface="Microsoft Sans Serif"/>
                <a:cs typeface="Microsoft Sans Serif"/>
              </a:rPr>
              <a:t>medidos</a:t>
            </a:r>
            <a:r>
              <a:rPr lang="es-CO" sz="2800" spc="-110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de</a:t>
            </a:r>
            <a:r>
              <a:rPr lang="es-CO" sz="2800" spc="-60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una variable </a:t>
            </a:r>
            <a:r>
              <a:rPr lang="es-CO" sz="2800" noProof="0" dirty="0" err="1">
                <a:latin typeface="Microsoft Sans Serif"/>
                <a:cs typeface="Microsoft Sans Serif"/>
              </a:rPr>
              <a:t>aletaoria</a:t>
            </a:r>
            <a:r>
              <a:rPr lang="es-CO" sz="2800" spc="-145" noProof="0" dirty="0">
                <a:latin typeface="Microsoft Sans Serif"/>
                <a:cs typeface="Microsoft Sans Serif"/>
              </a:rPr>
              <a:t> </a:t>
            </a:r>
            <a:r>
              <a:rPr lang="es-CO" sz="2800" spc="-204" noProof="0" dirty="0">
                <a:latin typeface="Microsoft Sans Serif"/>
                <a:cs typeface="Microsoft Sans Serif"/>
              </a:rPr>
              <a:t>(X,Y)</a:t>
            </a:r>
            <a:r>
              <a:rPr lang="es-CO" sz="2800" spc="-135" noProof="0" dirty="0">
                <a:latin typeface="Microsoft Sans Serif"/>
                <a:cs typeface="Microsoft Sans Serif"/>
              </a:rPr>
              <a:t> </a:t>
            </a:r>
            <a:r>
              <a:rPr lang="es-CO" sz="2800" spc="-285" noProof="0" dirty="0">
                <a:latin typeface="Microsoft Sans Serif"/>
                <a:cs typeface="Microsoft Sans Serif"/>
              </a:rPr>
              <a:t>en </a:t>
            </a:r>
            <a:r>
              <a:rPr lang="es-CO" sz="2800" spc="-190" noProof="0" dirty="0">
                <a:latin typeface="Microsoft Sans Serif"/>
                <a:cs typeface="Microsoft Sans Serif"/>
              </a:rPr>
              <a:t>un</a:t>
            </a:r>
            <a:r>
              <a:rPr lang="es-CO" sz="2800" spc="-295" noProof="0" dirty="0">
                <a:latin typeface="Microsoft Sans Serif"/>
                <a:cs typeface="Microsoft Sans Serif"/>
              </a:rPr>
              <a:t> </a:t>
            </a:r>
            <a:r>
              <a:rPr lang="es-CO" sz="2800" spc="-215" noProof="0" dirty="0">
                <a:latin typeface="Microsoft Sans Serif"/>
                <a:cs typeface="Microsoft Sans Serif"/>
              </a:rPr>
              <a:t>sistema</a:t>
            </a:r>
            <a:r>
              <a:rPr lang="es-CO" sz="2800" spc="-220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de</a:t>
            </a:r>
            <a:r>
              <a:rPr lang="es-CO" sz="2800" spc="-114" noProof="0" dirty="0">
                <a:latin typeface="Microsoft Sans Serif"/>
                <a:cs typeface="Microsoft Sans Serif"/>
              </a:rPr>
              <a:t> </a:t>
            </a:r>
            <a:r>
              <a:rPr lang="es-CO" sz="2800" spc="-65" noProof="0" dirty="0">
                <a:latin typeface="Microsoft Sans Serif"/>
                <a:cs typeface="Microsoft Sans Serif"/>
              </a:rPr>
              <a:t>coordenadas</a:t>
            </a:r>
            <a:endParaRPr lang="es-CO" sz="2800" noProof="0" dirty="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lang="es-CO" spc="-220" noProof="0" dirty="0"/>
              <a:t>Diagramas</a:t>
            </a:r>
            <a:r>
              <a:rPr lang="es-CO" spc="-240" noProof="0" dirty="0"/>
              <a:t> </a:t>
            </a:r>
            <a:r>
              <a:rPr lang="es-CO" noProof="0" dirty="0"/>
              <a:t>de</a:t>
            </a:r>
            <a:r>
              <a:rPr lang="es-CO" spc="-240" noProof="0" dirty="0"/>
              <a:t> </a:t>
            </a:r>
            <a:r>
              <a:rPr lang="es-CO" spc="-295" noProof="0" dirty="0"/>
              <a:t>Dispersión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1344" y="2769107"/>
            <a:ext cx="7725156" cy="3020568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0203" y="1527429"/>
            <a:ext cx="1044321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8140" marR="47625" indent="-32067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928"/>
              <a:buFont typeface="Wingdings"/>
              <a:buChar char=""/>
              <a:tabLst>
                <a:tab pos="358140" algn="l"/>
              </a:tabLst>
            </a:pPr>
            <a:r>
              <a:rPr lang="es-CO" sz="2800" spc="-240" noProof="0" dirty="0">
                <a:latin typeface="Microsoft Sans Serif"/>
                <a:cs typeface="Microsoft Sans Serif"/>
              </a:rPr>
              <a:t>Consiste</a:t>
            </a:r>
            <a:r>
              <a:rPr lang="es-CO" sz="2800" spc="-190" noProof="0" dirty="0">
                <a:latin typeface="Microsoft Sans Serif"/>
                <a:cs typeface="Microsoft Sans Serif"/>
              </a:rPr>
              <a:t> </a:t>
            </a:r>
            <a:r>
              <a:rPr lang="es-CO" sz="2800" spc="-145" noProof="0" dirty="0">
                <a:latin typeface="Microsoft Sans Serif"/>
                <a:cs typeface="Microsoft Sans Serif"/>
              </a:rPr>
              <a:t>en</a:t>
            </a:r>
            <a:r>
              <a:rPr lang="es-CO" sz="2800" spc="-190" noProof="0" dirty="0">
                <a:latin typeface="Microsoft Sans Serif"/>
                <a:cs typeface="Microsoft Sans Serif"/>
              </a:rPr>
              <a:t> </a:t>
            </a:r>
            <a:r>
              <a:rPr lang="es-CO" sz="2800" spc="-55" noProof="0" dirty="0">
                <a:latin typeface="Microsoft Sans Serif"/>
                <a:cs typeface="Microsoft Sans Serif"/>
              </a:rPr>
              <a:t>dibujar</a:t>
            </a:r>
            <a:r>
              <a:rPr lang="es-CO" sz="2800" spc="-135" noProof="0" dirty="0">
                <a:latin typeface="Microsoft Sans Serif"/>
                <a:cs typeface="Microsoft Sans Serif"/>
              </a:rPr>
              <a:t> </a:t>
            </a:r>
            <a:r>
              <a:rPr lang="es-CO" sz="2800" spc="-114" noProof="0" dirty="0">
                <a:latin typeface="Microsoft Sans Serif"/>
                <a:cs typeface="Microsoft Sans Serif"/>
              </a:rPr>
              <a:t>pares</a:t>
            </a:r>
            <a:r>
              <a:rPr lang="es-CO" sz="2800" spc="-70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de</a:t>
            </a:r>
            <a:r>
              <a:rPr lang="es-CO" sz="2800" spc="-150" noProof="0" dirty="0">
                <a:latin typeface="Microsoft Sans Serif"/>
                <a:cs typeface="Microsoft Sans Serif"/>
              </a:rPr>
              <a:t> </a:t>
            </a:r>
            <a:r>
              <a:rPr lang="es-CO" sz="2800" spc="-155" noProof="0" dirty="0">
                <a:latin typeface="Microsoft Sans Serif"/>
                <a:cs typeface="Microsoft Sans Serif"/>
              </a:rPr>
              <a:t>valores</a:t>
            </a:r>
            <a:r>
              <a:rPr lang="es-CO" sz="2800" spc="-100" noProof="0" dirty="0">
                <a:latin typeface="Microsoft Sans Serif"/>
                <a:cs typeface="Microsoft Sans Serif"/>
              </a:rPr>
              <a:t> </a:t>
            </a:r>
            <a:r>
              <a:rPr lang="es-CO" sz="2800" spc="-50" noProof="0" dirty="0">
                <a:latin typeface="Microsoft Sans Serif"/>
                <a:cs typeface="Microsoft Sans Serif"/>
              </a:rPr>
              <a:t>(x</a:t>
            </a:r>
            <a:r>
              <a:rPr lang="es-CO" sz="2775" spc="-75" baseline="-18018" noProof="0" dirty="0">
                <a:latin typeface="Microsoft Sans Serif"/>
                <a:cs typeface="Microsoft Sans Serif"/>
              </a:rPr>
              <a:t>i</a:t>
            </a:r>
            <a:r>
              <a:rPr lang="es-CO" sz="2800" spc="-50" noProof="0" dirty="0">
                <a:latin typeface="Microsoft Sans Serif"/>
                <a:cs typeface="Microsoft Sans Serif"/>
              </a:rPr>
              <a:t>,</a:t>
            </a:r>
            <a:r>
              <a:rPr lang="es-CO" sz="2800" spc="-65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 err="1">
                <a:latin typeface="Microsoft Sans Serif"/>
                <a:cs typeface="Microsoft Sans Serif"/>
              </a:rPr>
              <a:t>y</a:t>
            </a:r>
            <a:r>
              <a:rPr lang="es-CO" sz="2775" baseline="-18018" noProof="0" dirty="0" err="1">
                <a:latin typeface="Microsoft Sans Serif"/>
                <a:cs typeface="Microsoft Sans Serif"/>
              </a:rPr>
              <a:t>j</a:t>
            </a:r>
            <a:r>
              <a:rPr lang="es-CO" sz="2800" noProof="0" dirty="0">
                <a:latin typeface="Microsoft Sans Serif"/>
                <a:cs typeface="Microsoft Sans Serif"/>
              </a:rPr>
              <a:t>)</a:t>
            </a:r>
            <a:r>
              <a:rPr lang="es-CO" sz="2800" spc="-25" noProof="0" dirty="0">
                <a:latin typeface="Microsoft Sans Serif"/>
                <a:cs typeface="Microsoft Sans Serif"/>
              </a:rPr>
              <a:t> </a:t>
            </a:r>
            <a:r>
              <a:rPr lang="es-CO" sz="2800" spc="-185" noProof="0" dirty="0">
                <a:latin typeface="Microsoft Sans Serif"/>
                <a:cs typeface="Microsoft Sans Serif"/>
              </a:rPr>
              <a:t>medidos</a:t>
            </a:r>
            <a:r>
              <a:rPr lang="es-CO" sz="2800" spc="-110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de</a:t>
            </a:r>
            <a:r>
              <a:rPr lang="es-CO" sz="2800" spc="-60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una variable </a:t>
            </a:r>
            <a:r>
              <a:rPr lang="es-CO" sz="2800" noProof="0" dirty="0" err="1">
                <a:latin typeface="Microsoft Sans Serif"/>
                <a:cs typeface="Microsoft Sans Serif"/>
              </a:rPr>
              <a:t>aletaoria</a:t>
            </a:r>
            <a:r>
              <a:rPr lang="es-CO" sz="2800" spc="-145" noProof="0" dirty="0">
                <a:latin typeface="Microsoft Sans Serif"/>
                <a:cs typeface="Microsoft Sans Serif"/>
              </a:rPr>
              <a:t> </a:t>
            </a:r>
            <a:r>
              <a:rPr lang="es-CO" sz="2800" spc="-204" noProof="0" dirty="0">
                <a:latin typeface="Microsoft Sans Serif"/>
                <a:cs typeface="Microsoft Sans Serif"/>
              </a:rPr>
              <a:t>(X,Y)</a:t>
            </a:r>
            <a:r>
              <a:rPr lang="es-CO" sz="2800" spc="-135" noProof="0" dirty="0">
                <a:latin typeface="Microsoft Sans Serif"/>
                <a:cs typeface="Microsoft Sans Serif"/>
              </a:rPr>
              <a:t> </a:t>
            </a:r>
            <a:r>
              <a:rPr lang="es-CO" sz="2800" spc="-285" noProof="0" dirty="0">
                <a:latin typeface="Microsoft Sans Serif"/>
                <a:cs typeface="Microsoft Sans Serif"/>
              </a:rPr>
              <a:t>en </a:t>
            </a:r>
            <a:r>
              <a:rPr lang="es-CO" sz="2800" spc="-190" noProof="0" dirty="0">
                <a:latin typeface="Microsoft Sans Serif"/>
                <a:cs typeface="Microsoft Sans Serif"/>
              </a:rPr>
              <a:t>un</a:t>
            </a:r>
            <a:r>
              <a:rPr lang="es-CO" sz="2800" spc="-295" noProof="0" dirty="0">
                <a:latin typeface="Microsoft Sans Serif"/>
                <a:cs typeface="Microsoft Sans Serif"/>
              </a:rPr>
              <a:t> </a:t>
            </a:r>
            <a:r>
              <a:rPr lang="es-CO" sz="2800" spc="-215" noProof="0" dirty="0">
                <a:latin typeface="Microsoft Sans Serif"/>
                <a:cs typeface="Microsoft Sans Serif"/>
              </a:rPr>
              <a:t>sistema</a:t>
            </a:r>
            <a:r>
              <a:rPr lang="es-CO" sz="2800" spc="-220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de</a:t>
            </a:r>
            <a:r>
              <a:rPr lang="es-CO" sz="2800" spc="-114" noProof="0" dirty="0">
                <a:latin typeface="Microsoft Sans Serif"/>
                <a:cs typeface="Microsoft Sans Serif"/>
              </a:rPr>
              <a:t> </a:t>
            </a:r>
            <a:r>
              <a:rPr lang="es-CO" sz="2800" spc="-65" noProof="0" dirty="0">
                <a:latin typeface="Microsoft Sans Serif"/>
                <a:cs typeface="Microsoft Sans Serif"/>
              </a:rPr>
              <a:t>coordenadas</a:t>
            </a:r>
            <a:endParaRPr lang="es-CO" sz="2800" noProof="0" dirty="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lang="es-CO" spc="-220" noProof="0" dirty="0"/>
              <a:t>Diagramas</a:t>
            </a:r>
            <a:r>
              <a:rPr lang="es-CO" spc="-240" noProof="0" dirty="0"/>
              <a:t> </a:t>
            </a:r>
            <a:r>
              <a:rPr lang="es-CO" noProof="0" dirty="0"/>
              <a:t>de</a:t>
            </a:r>
            <a:r>
              <a:rPr lang="es-CO" spc="-240" noProof="0" dirty="0"/>
              <a:t> </a:t>
            </a:r>
            <a:r>
              <a:rPr lang="es-CO" spc="-295" noProof="0" dirty="0"/>
              <a:t>Dispersión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371344" y="2769107"/>
            <a:ext cx="7725409" cy="3363595"/>
            <a:chOff x="2371344" y="2769107"/>
            <a:chExt cx="7725409" cy="33635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1344" y="2769107"/>
              <a:ext cx="7725156" cy="302056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217163" y="5804915"/>
              <a:ext cx="359410" cy="317500"/>
            </a:xfrm>
            <a:custGeom>
              <a:avLst/>
              <a:gdLst/>
              <a:ahLst/>
              <a:cxnLst/>
              <a:rect l="l" t="t" r="r" b="b"/>
              <a:pathLst>
                <a:path w="359410" h="317500">
                  <a:moveTo>
                    <a:pt x="179705" y="0"/>
                  </a:moveTo>
                  <a:lnTo>
                    <a:pt x="0" y="158445"/>
                  </a:lnTo>
                  <a:lnTo>
                    <a:pt x="89788" y="158445"/>
                  </a:lnTo>
                  <a:lnTo>
                    <a:pt x="89788" y="316890"/>
                  </a:lnTo>
                  <a:lnTo>
                    <a:pt x="269494" y="316890"/>
                  </a:lnTo>
                  <a:lnTo>
                    <a:pt x="269494" y="158445"/>
                  </a:lnTo>
                  <a:lnTo>
                    <a:pt x="359283" y="158445"/>
                  </a:lnTo>
                  <a:lnTo>
                    <a:pt x="17970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3217926" y="5805677"/>
              <a:ext cx="359410" cy="317500"/>
            </a:xfrm>
            <a:custGeom>
              <a:avLst/>
              <a:gdLst/>
              <a:ahLst/>
              <a:cxnLst/>
              <a:rect l="l" t="t" r="r" b="b"/>
              <a:pathLst>
                <a:path w="359410" h="317500">
                  <a:moveTo>
                    <a:pt x="0" y="158445"/>
                  </a:moveTo>
                  <a:lnTo>
                    <a:pt x="179577" y="0"/>
                  </a:lnTo>
                  <a:lnTo>
                    <a:pt x="359283" y="158445"/>
                  </a:lnTo>
                  <a:lnTo>
                    <a:pt x="269494" y="158445"/>
                  </a:lnTo>
                  <a:lnTo>
                    <a:pt x="269494" y="316890"/>
                  </a:lnTo>
                  <a:lnTo>
                    <a:pt x="89788" y="316890"/>
                  </a:lnTo>
                  <a:lnTo>
                    <a:pt x="89788" y="158445"/>
                  </a:lnTo>
                  <a:lnTo>
                    <a:pt x="0" y="158445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559052" y="6195059"/>
            <a:ext cx="5689600" cy="401320"/>
          </a:xfrm>
          <a:prstGeom prst="rect">
            <a:avLst/>
          </a:prstGeom>
          <a:solidFill>
            <a:srgbClr val="D2E0EB"/>
          </a:solidFill>
        </p:spPr>
        <p:txBody>
          <a:bodyPr vert="horz" wrap="square" lIns="0" tIns="33655" rIns="0" bIns="0" rtlCol="0">
            <a:spAutoFit/>
          </a:bodyPr>
          <a:lstStyle/>
          <a:p>
            <a:pPr marL="271145">
              <a:lnSpc>
                <a:spcPct val="100000"/>
              </a:lnSpc>
              <a:spcBef>
                <a:spcPts val="265"/>
              </a:spcBef>
            </a:pPr>
            <a:r>
              <a:rPr lang="es-CO" sz="2000" noProof="0" dirty="0">
                <a:latin typeface="Arial MT"/>
                <a:cs typeface="Arial MT"/>
              </a:rPr>
              <a:t>Entre</a:t>
            </a:r>
            <a:r>
              <a:rPr lang="es-CO" sz="2000" spc="-75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X</a:t>
            </a:r>
            <a:r>
              <a:rPr lang="es-CO" sz="2000" spc="-20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e</a:t>
            </a:r>
            <a:r>
              <a:rPr lang="es-CO" sz="2000" spc="-95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Y</a:t>
            </a:r>
            <a:r>
              <a:rPr lang="es-CO" sz="2000" spc="-90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no</a:t>
            </a:r>
            <a:r>
              <a:rPr lang="es-CO" sz="2000" spc="-50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hay</a:t>
            </a:r>
            <a:r>
              <a:rPr lang="es-CO" sz="2000" spc="-30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ninguna</a:t>
            </a:r>
            <a:r>
              <a:rPr lang="es-CO" sz="2000" spc="-65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relación</a:t>
            </a:r>
            <a:r>
              <a:rPr lang="es-CO" sz="2000" spc="-45" noProof="0" dirty="0">
                <a:latin typeface="Arial MT"/>
                <a:cs typeface="Arial MT"/>
              </a:rPr>
              <a:t> </a:t>
            </a:r>
            <a:r>
              <a:rPr lang="es-CO" sz="2000" spc="-10" noProof="0" dirty="0">
                <a:latin typeface="Arial MT"/>
                <a:cs typeface="Arial MT"/>
              </a:rPr>
              <a:t>funcional</a:t>
            </a:r>
            <a:endParaRPr lang="es-CO" sz="2000" noProof="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0203" y="1527429"/>
            <a:ext cx="1044321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8140" marR="47625" indent="-32067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928"/>
              <a:buFont typeface="Wingdings"/>
              <a:buChar char=""/>
              <a:tabLst>
                <a:tab pos="358140" algn="l"/>
              </a:tabLst>
            </a:pPr>
            <a:r>
              <a:rPr lang="es-CO" sz="2800" spc="-240" noProof="0" dirty="0">
                <a:latin typeface="Microsoft Sans Serif"/>
                <a:cs typeface="Microsoft Sans Serif"/>
              </a:rPr>
              <a:t>Consiste</a:t>
            </a:r>
            <a:r>
              <a:rPr lang="es-CO" sz="2800" spc="-190" noProof="0" dirty="0">
                <a:latin typeface="Microsoft Sans Serif"/>
                <a:cs typeface="Microsoft Sans Serif"/>
              </a:rPr>
              <a:t> </a:t>
            </a:r>
            <a:r>
              <a:rPr lang="es-CO" sz="2800" spc="-145" noProof="0" dirty="0">
                <a:latin typeface="Microsoft Sans Serif"/>
                <a:cs typeface="Microsoft Sans Serif"/>
              </a:rPr>
              <a:t>en</a:t>
            </a:r>
            <a:r>
              <a:rPr lang="es-CO" sz="2800" spc="-190" noProof="0" dirty="0">
                <a:latin typeface="Microsoft Sans Serif"/>
                <a:cs typeface="Microsoft Sans Serif"/>
              </a:rPr>
              <a:t> </a:t>
            </a:r>
            <a:r>
              <a:rPr lang="es-CO" sz="2800" spc="-55" noProof="0" dirty="0">
                <a:latin typeface="Microsoft Sans Serif"/>
                <a:cs typeface="Microsoft Sans Serif"/>
              </a:rPr>
              <a:t>dibujar</a:t>
            </a:r>
            <a:r>
              <a:rPr lang="es-CO" sz="2800" spc="-135" noProof="0" dirty="0">
                <a:latin typeface="Microsoft Sans Serif"/>
                <a:cs typeface="Microsoft Sans Serif"/>
              </a:rPr>
              <a:t> </a:t>
            </a:r>
            <a:r>
              <a:rPr lang="es-CO" sz="2800" spc="-114" noProof="0" dirty="0">
                <a:latin typeface="Microsoft Sans Serif"/>
                <a:cs typeface="Microsoft Sans Serif"/>
              </a:rPr>
              <a:t>pares</a:t>
            </a:r>
            <a:r>
              <a:rPr lang="es-CO" sz="2800" spc="-70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de</a:t>
            </a:r>
            <a:r>
              <a:rPr lang="es-CO" sz="2800" spc="-150" noProof="0" dirty="0">
                <a:latin typeface="Microsoft Sans Serif"/>
                <a:cs typeface="Microsoft Sans Serif"/>
              </a:rPr>
              <a:t> </a:t>
            </a:r>
            <a:r>
              <a:rPr lang="es-CO" sz="2800" spc="-155" noProof="0" dirty="0">
                <a:latin typeface="Microsoft Sans Serif"/>
                <a:cs typeface="Microsoft Sans Serif"/>
              </a:rPr>
              <a:t>valores</a:t>
            </a:r>
            <a:r>
              <a:rPr lang="es-CO" sz="2800" spc="-100" noProof="0" dirty="0">
                <a:latin typeface="Microsoft Sans Serif"/>
                <a:cs typeface="Microsoft Sans Serif"/>
              </a:rPr>
              <a:t> </a:t>
            </a:r>
            <a:r>
              <a:rPr lang="es-CO" sz="2800" spc="-50" noProof="0" dirty="0">
                <a:latin typeface="Microsoft Sans Serif"/>
                <a:cs typeface="Microsoft Sans Serif"/>
              </a:rPr>
              <a:t>(x</a:t>
            </a:r>
            <a:r>
              <a:rPr lang="es-CO" sz="2775" spc="-75" baseline="-18018" noProof="0" dirty="0">
                <a:latin typeface="Microsoft Sans Serif"/>
                <a:cs typeface="Microsoft Sans Serif"/>
              </a:rPr>
              <a:t>i</a:t>
            </a:r>
            <a:r>
              <a:rPr lang="es-CO" sz="2800" spc="-50" noProof="0" dirty="0">
                <a:latin typeface="Microsoft Sans Serif"/>
                <a:cs typeface="Microsoft Sans Serif"/>
              </a:rPr>
              <a:t>,</a:t>
            </a:r>
            <a:r>
              <a:rPr lang="es-CO" sz="2800" spc="-65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 err="1">
                <a:latin typeface="Microsoft Sans Serif"/>
                <a:cs typeface="Microsoft Sans Serif"/>
              </a:rPr>
              <a:t>y</a:t>
            </a:r>
            <a:r>
              <a:rPr lang="es-CO" sz="2775" baseline="-18018" noProof="0" dirty="0" err="1">
                <a:latin typeface="Microsoft Sans Serif"/>
                <a:cs typeface="Microsoft Sans Serif"/>
              </a:rPr>
              <a:t>j</a:t>
            </a:r>
            <a:r>
              <a:rPr lang="es-CO" sz="2800" noProof="0" dirty="0">
                <a:latin typeface="Microsoft Sans Serif"/>
                <a:cs typeface="Microsoft Sans Serif"/>
              </a:rPr>
              <a:t>)</a:t>
            </a:r>
            <a:r>
              <a:rPr lang="es-CO" sz="2800" spc="-25" noProof="0" dirty="0">
                <a:latin typeface="Microsoft Sans Serif"/>
                <a:cs typeface="Microsoft Sans Serif"/>
              </a:rPr>
              <a:t> </a:t>
            </a:r>
            <a:r>
              <a:rPr lang="es-CO" sz="2800" spc="-185" noProof="0" dirty="0">
                <a:latin typeface="Microsoft Sans Serif"/>
                <a:cs typeface="Microsoft Sans Serif"/>
              </a:rPr>
              <a:t>medidos</a:t>
            </a:r>
            <a:r>
              <a:rPr lang="es-CO" sz="2800" spc="-110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de</a:t>
            </a:r>
            <a:r>
              <a:rPr lang="es-CO" sz="2800" spc="-60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una variable </a:t>
            </a:r>
            <a:r>
              <a:rPr lang="es-CO" sz="2800" noProof="0" dirty="0" err="1">
                <a:latin typeface="Microsoft Sans Serif"/>
                <a:cs typeface="Microsoft Sans Serif"/>
              </a:rPr>
              <a:t>aletaoria</a:t>
            </a:r>
            <a:r>
              <a:rPr lang="es-CO" sz="2800" spc="-145" noProof="0" dirty="0">
                <a:latin typeface="Microsoft Sans Serif"/>
                <a:cs typeface="Microsoft Sans Serif"/>
              </a:rPr>
              <a:t> </a:t>
            </a:r>
            <a:r>
              <a:rPr lang="es-CO" sz="2800" spc="-204" noProof="0" dirty="0">
                <a:latin typeface="Microsoft Sans Serif"/>
                <a:cs typeface="Microsoft Sans Serif"/>
              </a:rPr>
              <a:t>(X,Y)</a:t>
            </a:r>
            <a:r>
              <a:rPr lang="es-CO" sz="2800" spc="-135" noProof="0" dirty="0">
                <a:latin typeface="Microsoft Sans Serif"/>
                <a:cs typeface="Microsoft Sans Serif"/>
              </a:rPr>
              <a:t> </a:t>
            </a:r>
            <a:r>
              <a:rPr lang="es-CO" sz="2800" spc="-285" noProof="0" dirty="0">
                <a:latin typeface="Microsoft Sans Serif"/>
                <a:cs typeface="Microsoft Sans Serif"/>
              </a:rPr>
              <a:t>en </a:t>
            </a:r>
            <a:r>
              <a:rPr lang="es-CO" sz="2800" spc="-190" noProof="0" dirty="0">
                <a:latin typeface="Microsoft Sans Serif"/>
                <a:cs typeface="Microsoft Sans Serif"/>
              </a:rPr>
              <a:t>un</a:t>
            </a:r>
            <a:r>
              <a:rPr lang="es-CO" sz="2800" spc="-295" noProof="0" dirty="0">
                <a:latin typeface="Microsoft Sans Serif"/>
                <a:cs typeface="Microsoft Sans Serif"/>
              </a:rPr>
              <a:t> </a:t>
            </a:r>
            <a:r>
              <a:rPr lang="es-CO" sz="2800" spc="-215" noProof="0" dirty="0">
                <a:latin typeface="Microsoft Sans Serif"/>
                <a:cs typeface="Microsoft Sans Serif"/>
              </a:rPr>
              <a:t>sistema</a:t>
            </a:r>
            <a:r>
              <a:rPr lang="es-CO" sz="2800" spc="-220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de</a:t>
            </a:r>
            <a:r>
              <a:rPr lang="es-CO" sz="2800" spc="-114" noProof="0" dirty="0">
                <a:latin typeface="Microsoft Sans Serif"/>
                <a:cs typeface="Microsoft Sans Serif"/>
              </a:rPr>
              <a:t> </a:t>
            </a:r>
            <a:r>
              <a:rPr lang="es-CO" sz="2800" spc="-65" noProof="0" dirty="0">
                <a:latin typeface="Microsoft Sans Serif"/>
                <a:cs typeface="Microsoft Sans Serif"/>
              </a:rPr>
              <a:t>coordenadas</a:t>
            </a:r>
            <a:endParaRPr lang="es-CO" sz="2800" noProof="0" dirty="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lang="es-CO" spc="-220" noProof="0" dirty="0"/>
              <a:t>Diagramas</a:t>
            </a:r>
            <a:r>
              <a:rPr lang="es-CO" spc="-240" noProof="0" dirty="0"/>
              <a:t> </a:t>
            </a:r>
            <a:r>
              <a:rPr lang="es-CO" noProof="0" dirty="0"/>
              <a:t>de</a:t>
            </a:r>
            <a:r>
              <a:rPr lang="es-CO" spc="-240" noProof="0" dirty="0"/>
              <a:t> </a:t>
            </a:r>
            <a:r>
              <a:rPr lang="es-CO" spc="-295" noProof="0" dirty="0"/>
              <a:t>Dispersión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371344" y="2769107"/>
            <a:ext cx="7725409" cy="3245485"/>
            <a:chOff x="2371344" y="2769107"/>
            <a:chExt cx="7725409" cy="324548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1344" y="2769107"/>
              <a:ext cx="7725156" cy="302056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524500" y="5689091"/>
              <a:ext cx="361315" cy="315595"/>
            </a:xfrm>
            <a:custGeom>
              <a:avLst/>
              <a:gdLst/>
              <a:ahLst/>
              <a:cxnLst/>
              <a:rect l="l" t="t" r="r" b="b"/>
              <a:pathLst>
                <a:path w="361314" h="315595">
                  <a:moveTo>
                    <a:pt x="180339" y="0"/>
                  </a:moveTo>
                  <a:lnTo>
                    <a:pt x="0" y="157543"/>
                  </a:lnTo>
                  <a:lnTo>
                    <a:pt x="90170" y="157543"/>
                  </a:lnTo>
                  <a:lnTo>
                    <a:pt x="90170" y="315087"/>
                  </a:lnTo>
                  <a:lnTo>
                    <a:pt x="270637" y="315087"/>
                  </a:lnTo>
                  <a:lnTo>
                    <a:pt x="270637" y="157543"/>
                  </a:lnTo>
                  <a:lnTo>
                    <a:pt x="360807" y="157543"/>
                  </a:lnTo>
                  <a:lnTo>
                    <a:pt x="18033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5525261" y="5689853"/>
              <a:ext cx="361315" cy="315595"/>
            </a:xfrm>
            <a:custGeom>
              <a:avLst/>
              <a:gdLst/>
              <a:ahLst/>
              <a:cxnLst/>
              <a:rect l="l" t="t" r="r" b="b"/>
              <a:pathLst>
                <a:path w="361314" h="315595">
                  <a:moveTo>
                    <a:pt x="0" y="157543"/>
                  </a:moveTo>
                  <a:lnTo>
                    <a:pt x="180339" y="0"/>
                  </a:lnTo>
                  <a:lnTo>
                    <a:pt x="360807" y="157543"/>
                  </a:lnTo>
                  <a:lnTo>
                    <a:pt x="270637" y="157543"/>
                  </a:lnTo>
                  <a:lnTo>
                    <a:pt x="270637" y="315087"/>
                  </a:lnTo>
                  <a:lnTo>
                    <a:pt x="90170" y="315087"/>
                  </a:lnTo>
                  <a:lnTo>
                    <a:pt x="90170" y="157543"/>
                  </a:lnTo>
                  <a:lnTo>
                    <a:pt x="0" y="157543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600200" y="6096000"/>
            <a:ext cx="9865360" cy="649537"/>
          </a:xfrm>
          <a:prstGeom prst="rect">
            <a:avLst/>
          </a:prstGeom>
          <a:solidFill>
            <a:srgbClr val="D2E0EB"/>
          </a:solidFill>
        </p:spPr>
        <p:txBody>
          <a:bodyPr vert="horz" wrap="square" lIns="0" tIns="33655" rIns="0" bIns="0" rtlCol="0">
            <a:spAutoFit/>
          </a:bodyPr>
          <a:lstStyle/>
          <a:p>
            <a:pPr marL="455295" algn="ctr">
              <a:lnSpc>
                <a:spcPct val="100000"/>
              </a:lnSpc>
              <a:spcBef>
                <a:spcPts val="265"/>
              </a:spcBef>
            </a:pPr>
            <a:r>
              <a:rPr lang="es-CO" sz="2000" noProof="0" dirty="0">
                <a:latin typeface="Arial MT"/>
                <a:cs typeface="Arial MT"/>
              </a:rPr>
              <a:t>Entre</a:t>
            </a:r>
            <a:r>
              <a:rPr lang="es-CO" sz="2000" spc="-65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X</a:t>
            </a:r>
            <a:r>
              <a:rPr lang="es-CO" sz="2000" spc="-20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e</a:t>
            </a:r>
            <a:r>
              <a:rPr lang="es-CO" sz="2000" spc="-100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Y</a:t>
            </a:r>
            <a:r>
              <a:rPr lang="es-CO" sz="2000" spc="-90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podría</a:t>
            </a:r>
            <a:r>
              <a:rPr lang="es-CO" sz="2000" spc="-70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existir</a:t>
            </a:r>
            <a:r>
              <a:rPr lang="es-CO" sz="2000" spc="-35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un</a:t>
            </a:r>
            <a:r>
              <a:rPr lang="es-CO" sz="2000" spc="-40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relación</a:t>
            </a:r>
            <a:r>
              <a:rPr lang="es-CO" sz="2000" spc="-60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funcional</a:t>
            </a:r>
            <a:r>
              <a:rPr lang="es-CO" sz="2000" spc="-55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que</a:t>
            </a:r>
            <a:r>
              <a:rPr lang="es-CO" sz="2000" spc="-35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corresponde</a:t>
            </a:r>
            <a:r>
              <a:rPr lang="es-CO" sz="2000" spc="-95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a</a:t>
            </a:r>
            <a:r>
              <a:rPr lang="es-CO" sz="2000" spc="-30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una</a:t>
            </a:r>
            <a:r>
              <a:rPr lang="es-CO" sz="2000" spc="-10" noProof="0" dirty="0">
                <a:latin typeface="Arial MT"/>
                <a:cs typeface="Arial MT"/>
              </a:rPr>
              <a:t> parábola (relación no lineal)</a:t>
            </a:r>
            <a:endParaRPr lang="es-CO" sz="2000" noProof="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0203" y="1527429"/>
            <a:ext cx="1044321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8140" marR="47625" indent="-32067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928"/>
              <a:buFont typeface="Wingdings"/>
              <a:buChar char=""/>
              <a:tabLst>
                <a:tab pos="358140" algn="l"/>
              </a:tabLst>
            </a:pPr>
            <a:r>
              <a:rPr lang="es-CO" sz="2800" spc="-240" noProof="0" dirty="0">
                <a:latin typeface="Microsoft Sans Serif"/>
                <a:cs typeface="Microsoft Sans Serif"/>
              </a:rPr>
              <a:t>Consiste</a:t>
            </a:r>
            <a:r>
              <a:rPr lang="es-CO" sz="2800" spc="-190" noProof="0" dirty="0">
                <a:latin typeface="Microsoft Sans Serif"/>
                <a:cs typeface="Microsoft Sans Serif"/>
              </a:rPr>
              <a:t> </a:t>
            </a:r>
            <a:r>
              <a:rPr lang="es-CO" sz="2800" spc="-145" noProof="0" dirty="0">
                <a:latin typeface="Microsoft Sans Serif"/>
                <a:cs typeface="Microsoft Sans Serif"/>
              </a:rPr>
              <a:t>en</a:t>
            </a:r>
            <a:r>
              <a:rPr lang="es-CO" sz="2800" spc="-190" noProof="0" dirty="0">
                <a:latin typeface="Microsoft Sans Serif"/>
                <a:cs typeface="Microsoft Sans Serif"/>
              </a:rPr>
              <a:t> </a:t>
            </a:r>
            <a:r>
              <a:rPr lang="es-CO" sz="2800" spc="-55" noProof="0" dirty="0">
                <a:latin typeface="Microsoft Sans Serif"/>
                <a:cs typeface="Microsoft Sans Serif"/>
              </a:rPr>
              <a:t>dibujar</a:t>
            </a:r>
            <a:r>
              <a:rPr lang="es-CO" sz="2800" spc="-135" noProof="0" dirty="0">
                <a:latin typeface="Microsoft Sans Serif"/>
                <a:cs typeface="Microsoft Sans Serif"/>
              </a:rPr>
              <a:t> </a:t>
            </a:r>
            <a:r>
              <a:rPr lang="es-CO" sz="2800" spc="-114" noProof="0" dirty="0">
                <a:latin typeface="Microsoft Sans Serif"/>
                <a:cs typeface="Microsoft Sans Serif"/>
              </a:rPr>
              <a:t>pares</a:t>
            </a:r>
            <a:r>
              <a:rPr lang="es-CO" sz="2800" spc="-70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de</a:t>
            </a:r>
            <a:r>
              <a:rPr lang="es-CO" sz="2800" spc="-150" noProof="0" dirty="0">
                <a:latin typeface="Microsoft Sans Serif"/>
                <a:cs typeface="Microsoft Sans Serif"/>
              </a:rPr>
              <a:t> </a:t>
            </a:r>
            <a:r>
              <a:rPr lang="es-CO" sz="2800" spc="-155" noProof="0" dirty="0">
                <a:latin typeface="Microsoft Sans Serif"/>
                <a:cs typeface="Microsoft Sans Serif"/>
              </a:rPr>
              <a:t>valores</a:t>
            </a:r>
            <a:r>
              <a:rPr lang="es-CO" sz="2800" spc="-100" noProof="0" dirty="0">
                <a:latin typeface="Microsoft Sans Serif"/>
                <a:cs typeface="Microsoft Sans Serif"/>
              </a:rPr>
              <a:t> </a:t>
            </a:r>
            <a:r>
              <a:rPr lang="es-CO" sz="2800" spc="-50" noProof="0" dirty="0">
                <a:latin typeface="Microsoft Sans Serif"/>
                <a:cs typeface="Microsoft Sans Serif"/>
              </a:rPr>
              <a:t>(x</a:t>
            </a:r>
            <a:r>
              <a:rPr lang="es-CO" sz="2775" spc="-75" baseline="-18018" noProof="0" dirty="0">
                <a:latin typeface="Microsoft Sans Serif"/>
                <a:cs typeface="Microsoft Sans Serif"/>
              </a:rPr>
              <a:t>i</a:t>
            </a:r>
            <a:r>
              <a:rPr lang="es-CO" sz="2800" spc="-50" noProof="0" dirty="0">
                <a:latin typeface="Microsoft Sans Serif"/>
                <a:cs typeface="Microsoft Sans Serif"/>
              </a:rPr>
              <a:t>,</a:t>
            </a:r>
            <a:r>
              <a:rPr lang="es-CO" sz="2800" spc="-65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 err="1">
                <a:latin typeface="Microsoft Sans Serif"/>
                <a:cs typeface="Microsoft Sans Serif"/>
              </a:rPr>
              <a:t>y</a:t>
            </a:r>
            <a:r>
              <a:rPr lang="es-CO" sz="2775" baseline="-18018" noProof="0" dirty="0" err="1">
                <a:latin typeface="Microsoft Sans Serif"/>
                <a:cs typeface="Microsoft Sans Serif"/>
              </a:rPr>
              <a:t>j</a:t>
            </a:r>
            <a:r>
              <a:rPr lang="es-CO" sz="2800" noProof="0" dirty="0">
                <a:latin typeface="Microsoft Sans Serif"/>
                <a:cs typeface="Microsoft Sans Serif"/>
              </a:rPr>
              <a:t>)</a:t>
            </a:r>
            <a:r>
              <a:rPr lang="es-CO" sz="2800" spc="-25" noProof="0" dirty="0">
                <a:latin typeface="Microsoft Sans Serif"/>
                <a:cs typeface="Microsoft Sans Serif"/>
              </a:rPr>
              <a:t> </a:t>
            </a:r>
            <a:r>
              <a:rPr lang="es-CO" sz="2800" spc="-185" noProof="0" dirty="0">
                <a:latin typeface="Microsoft Sans Serif"/>
                <a:cs typeface="Microsoft Sans Serif"/>
              </a:rPr>
              <a:t>medidos</a:t>
            </a:r>
            <a:r>
              <a:rPr lang="es-CO" sz="2800" spc="-110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de</a:t>
            </a:r>
            <a:r>
              <a:rPr lang="es-CO" sz="2800" spc="-60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una variable </a:t>
            </a:r>
            <a:r>
              <a:rPr lang="es-CO" sz="2800" noProof="0" dirty="0" err="1">
                <a:latin typeface="Microsoft Sans Serif"/>
                <a:cs typeface="Microsoft Sans Serif"/>
              </a:rPr>
              <a:t>aletaoria</a:t>
            </a:r>
            <a:r>
              <a:rPr lang="es-CO" sz="2800" spc="-145" noProof="0" dirty="0">
                <a:latin typeface="Microsoft Sans Serif"/>
                <a:cs typeface="Microsoft Sans Serif"/>
              </a:rPr>
              <a:t> </a:t>
            </a:r>
            <a:r>
              <a:rPr lang="es-CO" sz="2800" spc="-204" noProof="0" dirty="0">
                <a:latin typeface="Microsoft Sans Serif"/>
                <a:cs typeface="Microsoft Sans Serif"/>
              </a:rPr>
              <a:t>(X,Y)</a:t>
            </a:r>
            <a:r>
              <a:rPr lang="es-CO" sz="2800" spc="-135" noProof="0" dirty="0">
                <a:latin typeface="Microsoft Sans Serif"/>
                <a:cs typeface="Microsoft Sans Serif"/>
              </a:rPr>
              <a:t> </a:t>
            </a:r>
            <a:r>
              <a:rPr lang="es-CO" sz="2800" spc="-285" noProof="0" dirty="0">
                <a:latin typeface="Microsoft Sans Serif"/>
                <a:cs typeface="Microsoft Sans Serif"/>
              </a:rPr>
              <a:t>en </a:t>
            </a:r>
            <a:r>
              <a:rPr lang="es-CO" sz="2800" spc="-190" noProof="0" dirty="0">
                <a:latin typeface="Microsoft Sans Serif"/>
                <a:cs typeface="Microsoft Sans Serif"/>
              </a:rPr>
              <a:t>un</a:t>
            </a:r>
            <a:r>
              <a:rPr lang="es-CO" sz="2800" spc="-295" noProof="0" dirty="0">
                <a:latin typeface="Microsoft Sans Serif"/>
                <a:cs typeface="Microsoft Sans Serif"/>
              </a:rPr>
              <a:t> </a:t>
            </a:r>
            <a:r>
              <a:rPr lang="es-CO" sz="2800" spc="-215" noProof="0" dirty="0">
                <a:latin typeface="Microsoft Sans Serif"/>
                <a:cs typeface="Microsoft Sans Serif"/>
              </a:rPr>
              <a:t>sistema</a:t>
            </a:r>
            <a:r>
              <a:rPr lang="es-CO" sz="2800" spc="-220" noProof="0" dirty="0">
                <a:latin typeface="Microsoft Sans Serif"/>
                <a:cs typeface="Microsoft Sans Serif"/>
              </a:rPr>
              <a:t> </a:t>
            </a:r>
            <a:r>
              <a:rPr lang="es-CO" sz="2800" noProof="0" dirty="0">
                <a:latin typeface="Microsoft Sans Serif"/>
                <a:cs typeface="Microsoft Sans Serif"/>
              </a:rPr>
              <a:t>de</a:t>
            </a:r>
            <a:r>
              <a:rPr lang="es-CO" sz="2800" spc="-114" noProof="0" dirty="0">
                <a:latin typeface="Microsoft Sans Serif"/>
                <a:cs typeface="Microsoft Sans Serif"/>
              </a:rPr>
              <a:t> </a:t>
            </a:r>
            <a:r>
              <a:rPr lang="es-CO" sz="2800" spc="-65" noProof="0" dirty="0">
                <a:latin typeface="Microsoft Sans Serif"/>
                <a:cs typeface="Microsoft Sans Serif"/>
              </a:rPr>
              <a:t>coordenadas</a:t>
            </a:r>
            <a:endParaRPr lang="es-CO" sz="2800" noProof="0" dirty="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lang="es-CO" spc="-220" noProof="0" dirty="0"/>
              <a:t>Diagramas</a:t>
            </a:r>
            <a:r>
              <a:rPr lang="es-CO" spc="-240" noProof="0" dirty="0"/>
              <a:t> </a:t>
            </a:r>
            <a:r>
              <a:rPr lang="es-CO" noProof="0" dirty="0"/>
              <a:t>de</a:t>
            </a:r>
            <a:r>
              <a:rPr lang="es-CO" spc="-240" noProof="0" dirty="0"/>
              <a:t> </a:t>
            </a:r>
            <a:r>
              <a:rPr lang="es-CO" spc="-295" noProof="0" dirty="0"/>
              <a:t>Dispersión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371344" y="2769107"/>
            <a:ext cx="7725409" cy="3268345"/>
            <a:chOff x="2371344" y="2769107"/>
            <a:chExt cx="7725409" cy="32683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71344" y="2769107"/>
              <a:ext cx="7725156" cy="302056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618220" y="5711951"/>
              <a:ext cx="359410" cy="315595"/>
            </a:xfrm>
            <a:custGeom>
              <a:avLst/>
              <a:gdLst/>
              <a:ahLst/>
              <a:cxnLst/>
              <a:rect l="l" t="t" r="r" b="b"/>
              <a:pathLst>
                <a:path w="359409" h="315595">
                  <a:moveTo>
                    <a:pt x="179704" y="0"/>
                  </a:moveTo>
                  <a:lnTo>
                    <a:pt x="0" y="157543"/>
                  </a:lnTo>
                  <a:lnTo>
                    <a:pt x="89788" y="157543"/>
                  </a:lnTo>
                  <a:lnTo>
                    <a:pt x="89788" y="315087"/>
                  </a:lnTo>
                  <a:lnTo>
                    <a:pt x="269494" y="315087"/>
                  </a:lnTo>
                  <a:lnTo>
                    <a:pt x="269494" y="157543"/>
                  </a:lnTo>
                  <a:lnTo>
                    <a:pt x="359282" y="157543"/>
                  </a:lnTo>
                  <a:lnTo>
                    <a:pt x="17970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8618982" y="5712713"/>
              <a:ext cx="359410" cy="315595"/>
            </a:xfrm>
            <a:custGeom>
              <a:avLst/>
              <a:gdLst/>
              <a:ahLst/>
              <a:cxnLst/>
              <a:rect l="l" t="t" r="r" b="b"/>
              <a:pathLst>
                <a:path w="359409" h="315595">
                  <a:moveTo>
                    <a:pt x="0" y="157543"/>
                  </a:moveTo>
                  <a:lnTo>
                    <a:pt x="179577" y="0"/>
                  </a:lnTo>
                  <a:lnTo>
                    <a:pt x="359283" y="157543"/>
                  </a:lnTo>
                  <a:lnTo>
                    <a:pt x="269494" y="157543"/>
                  </a:lnTo>
                  <a:lnTo>
                    <a:pt x="269494" y="315087"/>
                  </a:lnTo>
                  <a:lnTo>
                    <a:pt x="89789" y="315087"/>
                  </a:lnTo>
                  <a:lnTo>
                    <a:pt x="89789" y="157543"/>
                  </a:lnTo>
                  <a:lnTo>
                    <a:pt x="0" y="157543"/>
                  </a:lnTo>
                  <a:close/>
                </a:path>
              </a:pathLst>
            </a:custGeom>
            <a:ln w="19050">
              <a:solidFill>
                <a:srgbClr val="6B859A"/>
              </a:solidFill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559052" y="6195059"/>
            <a:ext cx="9865360" cy="401320"/>
          </a:xfrm>
          <a:prstGeom prst="rect">
            <a:avLst/>
          </a:prstGeom>
          <a:solidFill>
            <a:srgbClr val="D2E0EB"/>
          </a:solidFill>
        </p:spPr>
        <p:txBody>
          <a:bodyPr vert="horz" wrap="square" lIns="0" tIns="33655" rIns="0" bIns="0" rtlCol="0">
            <a:spAutoFit/>
          </a:bodyPr>
          <a:lstStyle/>
          <a:p>
            <a:pPr marL="295275">
              <a:lnSpc>
                <a:spcPct val="100000"/>
              </a:lnSpc>
              <a:spcBef>
                <a:spcPts val="265"/>
              </a:spcBef>
            </a:pPr>
            <a:r>
              <a:rPr lang="es-CO" sz="2000" noProof="0" dirty="0">
                <a:latin typeface="Arial MT"/>
                <a:cs typeface="Arial MT"/>
              </a:rPr>
              <a:t>Entre</a:t>
            </a:r>
            <a:r>
              <a:rPr lang="es-CO" sz="2000" spc="-55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X</a:t>
            </a:r>
            <a:r>
              <a:rPr lang="es-CO" sz="2000" spc="-20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e</a:t>
            </a:r>
            <a:r>
              <a:rPr lang="es-CO" sz="2000" spc="-90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Y</a:t>
            </a:r>
            <a:r>
              <a:rPr lang="es-CO" sz="2000" spc="-90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existe</a:t>
            </a:r>
            <a:r>
              <a:rPr lang="es-CO" sz="2000" spc="-30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una</a:t>
            </a:r>
            <a:r>
              <a:rPr lang="es-CO" sz="2000" spc="-65" noProof="0" dirty="0">
                <a:latin typeface="Arial MT"/>
                <a:cs typeface="Arial MT"/>
              </a:rPr>
              <a:t> </a:t>
            </a:r>
            <a:r>
              <a:rPr lang="es-CO" sz="2000" b="1" noProof="0" dirty="0">
                <a:latin typeface="Arial"/>
                <a:cs typeface="Arial"/>
              </a:rPr>
              <a:t>relación</a:t>
            </a:r>
            <a:r>
              <a:rPr lang="es-CO" sz="2000" b="1" spc="-70" noProof="0" dirty="0">
                <a:latin typeface="Arial"/>
                <a:cs typeface="Arial"/>
              </a:rPr>
              <a:t> </a:t>
            </a:r>
            <a:r>
              <a:rPr lang="es-CO" sz="2000" b="1" noProof="0" dirty="0">
                <a:latin typeface="Arial"/>
                <a:cs typeface="Arial"/>
              </a:rPr>
              <a:t>lineal</a:t>
            </a:r>
            <a:r>
              <a:rPr lang="es-CO" sz="2000" noProof="0" dirty="0">
                <a:latin typeface="Arial MT"/>
                <a:cs typeface="Arial MT"/>
              </a:rPr>
              <a:t>.</a:t>
            </a:r>
            <a:r>
              <a:rPr lang="es-CO" sz="2000" spc="-80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Este</a:t>
            </a:r>
            <a:r>
              <a:rPr lang="es-CO" sz="2000" spc="-35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es</a:t>
            </a:r>
            <a:r>
              <a:rPr lang="es-CO" sz="2000" spc="-35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el</a:t>
            </a:r>
            <a:r>
              <a:rPr lang="es-CO" sz="2000" spc="-15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tipo</a:t>
            </a:r>
            <a:r>
              <a:rPr lang="es-CO" sz="2000" spc="-40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de</a:t>
            </a:r>
            <a:r>
              <a:rPr lang="es-CO" sz="2000" spc="-25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relación</a:t>
            </a:r>
            <a:r>
              <a:rPr lang="es-CO" sz="2000" spc="-65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que</a:t>
            </a:r>
            <a:r>
              <a:rPr lang="es-CO" sz="2000" spc="-35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nos</a:t>
            </a:r>
            <a:r>
              <a:rPr lang="es-CO" sz="2000" spc="-35" noProof="0" dirty="0">
                <a:latin typeface="Arial MT"/>
                <a:cs typeface="Arial MT"/>
              </a:rPr>
              <a:t> </a:t>
            </a:r>
            <a:r>
              <a:rPr lang="es-CO" sz="2000" spc="-10" noProof="0" dirty="0">
                <a:latin typeface="Arial MT"/>
                <a:cs typeface="Arial MT"/>
              </a:rPr>
              <a:t>interesa</a:t>
            </a:r>
            <a:endParaRPr lang="es-CO" sz="2000" noProof="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lang="es-CO" spc="-1110" noProof="0" dirty="0"/>
              <a:t>R</a:t>
            </a:r>
            <a:r>
              <a:rPr lang="es-CO" spc="-229" noProof="0" dirty="0"/>
              <a:t>e</a:t>
            </a:r>
            <a:r>
              <a:rPr lang="es-CO" spc="-225" noProof="0" dirty="0"/>
              <a:t>l</a:t>
            </a:r>
            <a:r>
              <a:rPr lang="es-CO" spc="-229" noProof="0" dirty="0"/>
              <a:t>a</a:t>
            </a:r>
            <a:r>
              <a:rPr lang="es-CO" spc="-225" noProof="0" dirty="0"/>
              <a:t>ci</a:t>
            </a:r>
            <a:r>
              <a:rPr lang="es-CO" spc="-229" noProof="0" dirty="0"/>
              <a:t>ó</a:t>
            </a:r>
            <a:r>
              <a:rPr lang="es-CO" noProof="0" dirty="0"/>
              <a:t>n</a:t>
            </a:r>
            <a:r>
              <a:rPr lang="es-CO" spc="-235" noProof="0" dirty="0"/>
              <a:t> </a:t>
            </a:r>
            <a:r>
              <a:rPr lang="es-CO" spc="-190" noProof="0" dirty="0"/>
              <a:t>entre</a:t>
            </a:r>
            <a:r>
              <a:rPr lang="es-CO" spc="-50" noProof="0" dirty="0"/>
              <a:t> </a:t>
            </a:r>
            <a:r>
              <a:rPr lang="es-CO" spc="-160" noProof="0" dirty="0"/>
              <a:t>atributos</a:t>
            </a:r>
            <a:r>
              <a:rPr lang="es-CO" spc="-295" noProof="0" dirty="0"/>
              <a:t> </a:t>
            </a:r>
            <a:r>
              <a:rPr lang="es-CO" spc="-520" noProof="0" dirty="0"/>
              <a:t>nu</a:t>
            </a:r>
            <a:r>
              <a:rPr lang="es-CO" spc="-765" noProof="0" dirty="0"/>
              <a:t>m</a:t>
            </a:r>
            <a:r>
              <a:rPr lang="es-CO" spc="-315" noProof="0" dirty="0"/>
              <a:t>ér</a:t>
            </a:r>
            <a:r>
              <a:rPr lang="es-CO" spc="-310" noProof="0" dirty="0"/>
              <a:t>ic</a:t>
            </a:r>
            <a:r>
              <a:rPr lang="es-CO" spc="-315" noProof="0" dirty="0"/>
              <a:t>o</a:t>
            </a:r>
            <a:r>
              <a:rPr lang="es-CO" spc="-10" noProof="0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5299" y="1560957"/>
            <a:ext cx="10824845" cy="13506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2740" marR="5080" indent="-320040">
              <a:lnSpc>
                <a:spcPct val="99800"/>
              </a:lnSpc>
              <a:spcBef>
                <a:spcPts val="11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lang="es-CO" sz="2900" spc="-80" noProof="0" dirty="0">
                <a:latin typeface="Microsoft Sans Serif"/>
                <a:cs typeface="Microsoft Sans Serif"/>
              </a:rPr>
              <a:t>Al</a:t>
            </a:r>
            <a:r>
              <a:rPr lang="es-CO" sz="2900" spc="-150" noProof="0" dirty="0">
                <a:latin typeface="Microsoft Sans Serif"/>
                <a:cs typeface="Microsoft Sans Serif"/>
              </a:rPr>
              <a:t> </a:t>
            </a:r>
            <a:r>
              <a:rPr lang="es-CO" sz="2900" spc="-265" noProof="0" dirty="0">
                <a:latin typeface="Microsoft Sans Serif"/>
                <a:cs typeface="Microsoft Sans Serif"/>
              </a:rPr>
              <a:t>momen</a:t>
            </a:r>
            <a:r>
              <a:rPr lang="es-CO" sz="2900" spc="-275" noProof="0" dirty="0">
                <a:latin typeface="Microsoft Sans Serif"/>
                <a:cs typeface="Microsoft Sans Serif"/>
              </a:rPr>
              <a:t>t</a:t>
            </a:r>
            <a:r>
              <a:rPr lang="es-CO" sz="2900" spc="225" noProof="0" dirty="0">
                <a:latin typeface="Microsoft Sans Serif"/>
                <a:cs typeface="Microsoft Sans Serif"/>
              </a:rPr>
              <a:t>o </a:t>
            </a:r>
            <a:r>
              <a:rPr lang="es-CO" sz="2900" spc="-85" noProof="0" dirty="0">
                <a:latin typeface="Microsoft Sans Serif"/>
                <a:cs typeface="Microsoft Sans Serif"/>
              </a:rPr>
              <a:t>d</a:t>
            </a:r>
            <a:r>
              <a:rPr lang="es-CO" sz="2900" spc="-5" noProof="0" dirty="0">
                <a:latin typeface="Microsoft Sans Serif"/>
                <a:cs typeface="Microsoft Sans Serif"/>
              </a:rPr>
              <a:t>e</a:t>
            </a:r>
            <a:r>
              <a:rPr lang="es-CO" sz="2900" spc="-130" noProof="0" dirty="0">
                <a:latin typeface="Microsoft Sans Serif"/>
                <a:cs typeface="Microsoft Sans Serif"/>
              </a:rPr>
              <a:t> </a:t>
            </a:r>
            <a:r>
              <a:rPr lang="es-CO" sz="2900" spc="-175" noProof="0" dirty="0">
                <a:latin typeface="Microsoft Sans Serif"/>
                <a:cs typeface="Microsoft Sans Serif"/>
              </a:rPr>
              <a:t>construir</a:t>
            </a:r>
            <a:r>
              <a:rPr lang="es-CO" sz="2900" spc="-340" noProof="0" dirty="0">
                <a:latin typeface="Microsoft Sans Serif"/>
                <a:cs typeface="Microsoft Sans Serif"/>
              </a:rPr>
              <a:t> </a:t>
            </a:r>
            <a:r>
              <a:rPr lang="es-CO" sz="2900" spc="-150" noProof="0" dirty="0">
                <a:latin typeface="Microsoft Sans Serif"/>
                <a:cs typeface="Microsoft Sans Serif"/>
              </a:rPr>
              <a:t>un modelo</a:t>
            </a:r>
            <a:r>
              <a:rPr lang="es-CO" sz="2900" spc="-305" noProof="0" dirty="0">
                <a:latin typeface="Microsoft Sans Serif"/>
                <a:cs typeface="Microsoft Sans Serif"/>
              </a:rPr>
              <a:t> </a:t>
            </a:r>
            <a:r>
              <a:rPr lang="es-CO" sz="2900" spc="-55" noProof="0" dirty="0">
                <a:latin typeface="Microsoft Sans Serif"/>
                <a:cs typeface="Microsoft Sans Serif"/>
              </a:rPr>
              <a:t>de</a:t>
            </a:r>
            <a:r>
              <a:rPr lang="es-CO" sz="2900" spc="-155" noProof="0" dirty="0">
                <a:latin typeface="Microsoft Sans Serif"/>
                <a:cs typeface="Microsoft Sans Serif"/>
              </a:rPr>
              <a:t> </a:t>
            </a:r>
            <a:r>
              <a:rPr lang="es-CO" sz="2900" spc="-105" noProof="0" dirty="0">
                <a:latin typeface="Microsoft Sans Serif"/>
                <a:cs typeface="Microsoft Sans Serif"/>
              </a:rPr>
              <a:t>Minería</a:t>
            </a:r>
            <a:r>
              <a:rPr lang="es-CO" sz="2900" spc="-204" noProof="0" dirty="0">
                <a:latin typeface="Microsoft Sans Serif"/>
                <a:cs typeface="Microsoft Sans Serif"/>
              </a:rPr>
              <a:t> </a:t>
            </a:r>
            <a:r>
              <a:rPr lang="es-CO" sz="2900" spc="-50" noProof="0" dirty="0">
                <a:latin typeface="Microsoft Sans Serif"/>
                <a:cs typeface="Microsoft Sans Serif"/>
              </a:rPr>
              <a:t>de</a:t>
            </a:r>
            <a:r>
              <a:rPr lang="es-CO" sz="2900" spc="-125" noProof="0" dirty="0">
                <a:latin typeface="Microsoft Sans Serif"/>
                <a:cs typeface="Microsoft Sans Serif"/>
              </a:rPr>
              <a:t> </a:t>
            </a:r>
            <a:r>
              <a:rPr lang="es-CO" sz="2900" spc="-175" noProof="0" dirty="0">
                <a:latin typeface="Microsoft Sans Serif"/>
                <a:cs typeface="Microsoft Sans Serif"/>
              </a:rPr>
              <a:t>Datos</a:t>
            </a:r>
            <a:r>
              <a:rPr lang="es-CO" sz="2900" spc="-400" noProof="0" dirty="0">
                <a:latin typeface="Microsoft Sans Serif"/>
                <a:cs typeface="Microsoft Sans Serif"/>
              </a:rPr>
              <a:t> </a:t>
            </a:r>
            <a:r>
              <a:rPr lang="es-CO" sz="2900" spc="-145" noProof="0" dirty="0">
                <a:latin typeface="Microsoft Sans Serif"/>
                <a:cs typeface="Microsoft Sans Serif"/>
              </a:rPr>
              <a:t>resulta</a:t>
            </a:r>
            <a:r>
              <a:rPr lang="es-CO" sz="2900" spc="-245" noProof="0" dirty="0">
                <a:latin typeface="Microsoft Sans Serif"/>
                <a:cs typeface="Microsoft Sans Serif"/>
              </a:rPr>
              <a:t> </a:t>
            </a:r>
            <a:r>
              <a:rPr lang="es-CO" sz="2900" spc="-25" noProof="0" dirty="0">
                <a:latin typeface="Microsoft Sans Serif"/>
                <a:cs typeface="Microsoft Sans Serif"/>
              </a:rPr>
              <a:t>de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interés</a:t>
            </a:r>
            <a:r>
              <a:rPr lang="es-CO" sz="2900" spc="-295" noProof="0" dirty="0">
                <a:latin typeface="Microsoft Sans Serif"/>
                <a:cs typeface="Microsoft Sans Serif"/>
              </a:rPr>
              <a:t> </a:t>
            </a:r>
            <a:r>
              <a:rPr lang="es-CO" sz="2900" spc="-105" noProof="0" dirty="0">
                <a:latin typeface="Microsoft Sans Serif"/>
                <a:cs typeface="Microsoft Sans Serif"/>
              </a:rPr>
              <a:t>saber</a:t>
            </a:r>
            <a:r>
              <a:rPr lang="es-CO" sz="2900" spc="-240" noProof="0" dirty="0">
                <a:latin typeface="Microsoft Sans Serif"/>
                <a:cs typeface="Microsoft Sans Serif"/>
              </a:rPr>
              <a:t> </a:t>
            </a:r>
            <a:r>
              <a:rPr lang="es-CO" sz="2900" spc="-135" noProof="0" dirty="0">
                <a:latin typeface="Microsoft Sans Serif"/>
                <a:cs typeface="Microsoft Sans Serif"/>
              </a:rPr>
              <a:t>si</a:t>
            </a:r>
            <a:r>
              <a:rPr lang="es-CO" sz="2900" spc="-459" noProof="0" dirty="0">
                <a:latin typeface="Microsoft Sans Serif"/>
                <a:cs typeface="Microsoft Sans Serif"/>
              </a:rPr>
              <a:t> </a:t>
            </a:r>
            <a:r>
              <a:rPr lang="es-CO" sz="2900" spc="-150" noProof="0" dirty="0">
                <a:latin typeface="Microsoft Sans Serif"/>
                <a:cs typeface="Microsoft Sans Serif"/>
              </a:rPr>
              <a:t>dos</a:t>
            </a:r>
            <a:r>
              <a:rPr lang="es-CO" sz="2900" spc="-415" noProof="0" dirty="0">
                <a:latin typeface="Microsoft Sans Serif"/>
                <a:cs typeface="Microsoft Sans Serif"/>
              </a:rPr>
              <a:t> </a:t>
            </a:r>
            <a:r>
              <a:rPr lang="es-CO" sz="2900" spc="-114" noProof="0" dirty="0">
                <a:latin typeface="Microsoft Sans Serif"/>
                <a:cs typeface="Microsoft Sans Serif"/>
              </a:rPr>
              <a:t>atributos</a:t>
            </a:r>
            <a:r>
              <a:rPr lang="es-CO" sz="2900" spc="-195" noProof="0" dirty="0">
                <a:latin typeface="Microsoft Sans Serif"/>
                <a:cs typeface="Microsoft Sans Serif"/>
              </a:rPr>
              <a:t> </a:t>
            </a:r>
            <a:r>
              <a:rPr lang="es-CO" sz="2900" spc="-270" noProof="0" dirty="0">
                <a:latin typeface="Microsoft Sans Serif"/>
                <a:cs typeface="Microsoft Sans Serif"/>
              </a:rPr>
              <a:t>numér</a:t>
            </a:r>
            <a:r>
              <a:rPr lang="es-CO" sz="2900" spc="-285" noProof="0" dirty="0">
                <a:latin typeface="Microsoft Sans Serif"/>
                <a:cs typeface="Microsoft Sans Serif"/>
              </a:rPr>
              <a:t>i</a:t>
            </a:r>
            <a:r>
              <a:rPr lang="es-CO" sz="2900" spc="-275" noProof="0" dirty="0">
                <a:latin typeface="Microsoft Sans Serif"/>
                <a:cs typeface="Microsoft Sans Serif"/>
              </a:rPr>
              <a:t>c</a:t>
            </a:r>
            <a:r>
              <a:rPr lang="es-CO" sz="2900" spc="-270" noProof="0" dirty="0">
                <a:latin typeface="Microsoft Sans Serif"/>
                <a:cs typeface="Microsoft Sans Serif"/>
              </a:rPr>
              <a:t>o</a:t>
            </a:r>
            <a:r>
              <a:rPr lang="es-CO" sz="2900" spc="225" noProof="0" dirty="0">
                <a:latin typeface="Microsoft Sans Serif"/>
                <a:cs typeface="Microsoft Sans Serif"/>
              </a:rPr>
              <a:t>s </a:t>
            </a:r>
            <a:r>
              <a:rPr lang="es-CO" sz="2900" spc="-335" noProof="0" dirty="0">
                <a:latin typeface="Microsoft Sans Serif"/>
                <a:cs typeface="Microsoft Sans Serif"/>
              </a:rPr>
              <a:t>s</a:t>
            </a:r>
            <a:r>
              <a:rPr lang="es-CO" sz="2900" spc="114" noProof="0" dirty="0">
                <a:latin typeface="Microsoft Sans Serif"/>
                <a:cs typeface="Microsoft Sans Serif"/>
              </a:rPr>
              <a:t>e </a:t>
            </a:r>
            <a:r>
              <a:rPr lang="es-CO" sz="2900" spc="-225" noProof="0" dirty="0">
                <a:latin typeface="Microsoft Sans Serif"/>
                <a:cs typeface="Microsoft Sans Serif"/>
              </a:rPr>
              <a:t>encuen</a:t>
            </a:r>
            <a:r>
              <a:rPr lang="es-CO" sz="2900" spc="-235" noProof="0" dirty="0">
                <a:latin typeface="Microsoft Sans Serif"/>
                <a:cs typeface="Microsoft Sans Serif"/>
              </a:rPr>
              <a:t>t</a:t>
            </a:r>
            <a:r>
              <a:rPr lang="es-CO" sz="2900" spc="-225" noProof="0" dirty="0">
                <a:latin typeface="Microsoft Sans Serif"/>
                <a:cs typeface="Microsoft Sans Serif"/>
              </a:rPr>
              <a:t>ra</a:t>
            </a:r>
            <a:r>
              <a:rPr lang="es-CO" sz="2900" spc="-10" noProof="0" dirty="0">
                <a:latin typeface="Microsoft Sans Serif"/>
                <a:cs typeface="Microsoft Sans Serif"/>
              </a:rPr>
              <a:t>n</a:t>
            </a:r>
            <a:r>
              <a:rPr lang="es-CO" sz="2900" spc="-350" noProof="0" dirty="0">
                <a:latin typeface="Microsoft Sans Serif"/>
                <a:cs typeface="Microsoft Sans Serif"/>
              </a:rPr>
              <a:t> </a:t>
            </a:r>
            <a:r>
              <a:rPr lang="es-CO" sz="2900" spc="-60" noProof="0" dirty="0">
                <a:latin typeface="Microsoft Sans Serif"/>
                <a:cs typeface="Microsoft Sans Serif"/>
              </a:rPr>
              <a:t>linealmente </a:t>
            </a:r>
            <a:r>
              <a:rPr lang="es-CO" sz="2900" spc="-140" noProof="0" dirty="0">
                <a:latin typeface="Microsoft Sans Serif"/>
                <a:cs typeface="Microsoft Sans Serif"/>
              </a:rPr>
              <a:t>relacionados</a:t>
            </a:r>
            <a:r>
              <a:rPr lang="es-CO" sz="2900" spc="-15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o</a:t>
            </a:r>
            <a:r>
              <a:rPr lang="es-CO" sz="2900" spc="-135" noProof="0" dirty="0">
                <a:latin typeface="Microsoft Sans Serif"/>
                <a:cs typeface="Microsoft Sans Serif"/>
              </a:rPr>
              <a:t> </a:t>
            </a:r>
            <a:r>
              <a:rPr lang="es-CO" sz="2900" spc="-165" noProof="0" dirty="0">
                <a:latin typeface="Microsoft Sans Serif"/>
                <a:cs typeface="Microsoft Sans Serif"/>
              </a:rPr>
              <a:t>no.</a:t>
            </a:r>
            <a:r>
              <a:rPr lang="es-CO" sz="2900" spc="-225" noProof="0" dirty="0">
                <a:latin typeface="Microsoft Sans Serif"/>
                <a:cs typeface="Microsoft Sans Serif"/>
              </a:rPr>
              <a:t> </a:t>
            </a:r>
            <a:r>
              <a:rPr lang="es-CO" sz="2900" spc="-140" noProof="0" dirty="0">
                <a:latin typeface="Microsoft Sans Serif"/>
                <a:cs typeface="Microsoft Sans Serif"/>
              </a:rPr>
              <a:t>Para</a:t>
            </a:r>
            <a:r>
              <a:rPr lang="es-CO" sz="2900" spc="-155" noProof="0" dirty="0">
                <a:latin typeface="Microsoft Sans Serif"/>
                <a:cs typeface="Microsoft Sans Serif"/>
              </a:rPr>
              <a:t> </a:t>
            </a:r>
            <a:r>
              <a:rPr lang="es-CO" sz="2900" spc="-65" noProof="0" dirty="0">
                <a:latin typeface="Microsoft Sans Serif"/>
                <a:cs typeface="Microsoft Sans Serif"/>
              </a:rPr>
              <a:t>ello</a:t>
            </a:r>
            <a:r>
              <a:rPr lang="es-CO" sz="2900" spc="-60" noProof="0" dirty="0">
                <a:latin typeface="Microsoft Sans Serif"/>
                <a:cs typeface="Microsoft Sans Serif"/>
              </a:rPr>
              <a:t> </a:t>
            </a:r>
            <a:r>
              <a:rPr lang="es-CO" sz="2900" spc="-170" noProof="0" dirty="0">
                <a:latin typeface="Microsoft Sans Serif"/>
                <a:cs typeface="Microsoft Sans Serif"/>
              </a:rPr>
              <a:t>se</a:t>
            </a:r>
            <a:r>
              <a:rPr lang="es-CO" sz="2900" spc="-275" noProof="0" dirty="0">
                <a:latin typeface="Microsoft Sans Serif"/>
                <a:cs typeface="Microsoft Sans Serif"/>
              </a:rPr>
              <a:t> </a:t>
            </a:r>
            <a:r>
              <a:rPr lang="es-CO" sz="2900" spc="-185" noProof="0" dirty="0">
                <a:latin typeface="Microsoft Sans Serif"/>
                <a:cs typeface="Microsoft Sans Serif"/>
              </a:rPr>
              <a:t>usa</a:t>
            </a:r>
            <a:r>
              <a:rPr lang="es-CO" sz="2900" spc="-26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el</a:t>
            </a:r>
            <a:r>
              <a:rPr lang="es-CO" sz="2900" spc="-40" noProof="0" dirty="0">
                <a:latin typeface="Microsoft Sans Serif"/>
                <a:cs typeface="Microsoft Sans Serif"/>
              </a:rPr>
              <a:t> </a:t>
            </a:r>
            <a:r>
              <a:rPr lang="es-CO" sz="2900" b="1" spc="-215" noProof="0" dirty="0">
                <a:latin typeface="Arial"/>
                <a:cs typeface="Arial"/>
              </a:rPr>
              <a:t>coeficiente</a:t>
            </a:r>
            <a:r>
              <a:rPr lang="es-CO" sz="2900" b="1" spc="-300" noProof="0" dirty="0">
                <a:latin typeface="Arial"/>
                <a:cs typeface="Arial"/>
              </a:rPr>
              <a:t> </a:t>
            </a:r>
            <a:r>
              <a:rPr lang="es-CO" sz="2900" b="1" spc="-114" noProof="0" dirty="0">
                <a:latin typeface="Arial"/>
                <a:cs typeface="Arial"/>
              </a:rPr>
              <a:t>de</a:t>
            </a:r>
            <a:r>
              <a:rPr lang="es-CO" sz="2900" b="1" spc="-254" noProof="0" dirty="0">
                <a:latin typeface="Arial"/>
                <a:cs typeface="Arial"/>
              </a:rPr>
              <a:t> </a:t>
            </a:r>
            <a:r>
              <a:rPr lang="es-CO" sz="2900" b="1" spc="-210" noProof="0" dirty="0">
                <a:latin typeface="Arial"/>
                <a:cs typeface="Arial"/>
              </a:rPr>
              <a:t>correlación</a:t>
            </a:r>
            <a:r>
              <a:rPr lang="es-CO" sz="2900" b="1" spc="-254" noProof="0" dirty="0">
                <a:latin typeface="Arial"/>
                <a:cs typeface="Arial"/>
              </a:rPr>
              <a:t> </a:t>
            </a:r>
            <a:r>
              <a:rPr lang="es-CO" sz="2900" b="1" spc="-60" noProof="0" dirty="0">
                <a:latin typeface="Arial"/>
                <a:cs typeface="Arial"/>
              </a:rPr>
              <a:t>lineal</a:t>
            </a:r>
            <a:r>
              <a:rPr lang="es-CO" sz="2900" spc="-60" noProof="0" dirty="0">
                <a:latin typeface="Microsoft Sans Serif"/>
                <a:cs typeface="Microsoft Sans Serif"/>
              </a:rPr>
              <a:t>.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9511" y="3278123"/>
            <a:ext cx="6833616" cy="332232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113776" y="4562855"/>
            <a:ext cx="3578860" cy="1199515"/>
          </a:xfrm>
          <a:prstGeom prst="rect">
            <a:avLst/>
          </a:prstGeom>
          <a:solidFill>
            <a:srgbClr val="E8D19D"/>
          </a:solidFill>
        </p:spPr>
        <p:txBody>
          <a:bodyPr vert="horz" wrap="square" lIns="0" tIns="31115" rIns="0" bIns="0" rtlCol="0">
            <a:spAutoFit/>
          </a:bodyPr>
          <a:lstStyle/>
          <a:p>
            <a:pPr marL="187325" marR="167640" algn="ctr">
              <a:lnSpc>
                <a:spcPct val="100000"/>
              </a:lnSpc>
              <a:spcBef>
                <a:spcPts val="245"/>
              </a:spcBef>
            </a:pPr>
            <a:r>
              <a:rPr lang="es-CO" sz="2400" noProof="0" dirty="0">
                <a:latin typeface="Arial MT"/>
                <a:cs typeface="Arial MT"/>
              </a:rPr>
              <a:t>Diagrama</a:t>
            </a:r>
            <a:r>
              <a:rPr lang="es-CO" sz="2400" spc="-100" noProof="0" dirty="0">
                <a:latin typeface="Arial MT"/>
                <a:cs typeface="Arial MT"/>
              </a:rPr>
              <a:t> </a:t>
            </a:r>
            <a:r>
              <a:rPr lang="es-CO" sz="2400" noProof="0" dirty="0">
                <a:latin typeface="Arial MT"/>
                <a:cs typeface="Arial MT"/>
              </a:rPr>
              <a:t>de</a:t>
            </a:r>
            <a:r>
              <a:rPr lang="es-CO" sz="2400" spc="-100" noProof="0" dirty="0">
                <a:latin typeface="Arial MT"/>
                <a:cs typeface="Arial MT"/>
              </a:rPr>
              <a:t> </a:t>
            </a:r>
            <a:r>
              <a:rPr lang="es-CO" sz="2400" spc="-10" noProof="0" dirty="0">
                <a:latin typeface="Arial MT"/>
                <a:cs typeface="Arial MT"/>
              </a:rPr>
              <a:t>dispersión </a:t>
            </a:r>
            <a:r>
              <a:rPr lang="es-CO" sz="2400" noProof="0" dirty="0">
                <a:latin typeface="Arial MT"/>
                <a:cs typeface="Arial MT"/>
              </a:rPr>
              <a:t>entre</a:t>
            </a:r>
            <a:r>
              <a:rPr lang="es-CO" sz="2400" spc="-125" noProof="0" dirty="0">
                <a:latin typeface="Arial MT"/>
                <a:cs typeface="Arial MT"/>
              </a:rPr>
              <a:t> </a:t>
            </a:r>
            <a:r>
              <a:rPr lang="es-CO" sz="2400" spc="-50" noProof="0" dirty="0">
                <a:latin typeface="Arial MT"/>
                <a:cs typeface="Arial MT"/>
              </a:rPr>
              <a:t>DURATION</a:t>
            </a:r>
            <a:r>
              <a:rPr lang="es-CO" sz="2400" spc="-60" noProof="0" dirty="0">
                <a:latin typeface="Arial MT"/>
                <a:cs typeface="Arial MT"/>
              </a:rPr>
              <a:t> </a:t>
            </a:r>
            <a:r>
              <a:rPr lang="es-CO" sz="2400" spc="-50" noProof="0" dirty="0">
                <a:latin typeface="Arial MT"/>
                <a:cs typeface="Arial MT"/>
              </a:rPr>
              <a:t>y </a:t>
            </a:r>
            <a:r>
              <a:rPr lang="es-CO" sz="2400" spc="-10" noProof="0" dirty="0">
                <a:latin typeface="Arial MT"/>
                <a:cs typeface="Arial MT"/>
              </a:rPr>
              <a:t>NOMINATIONS</a:t>
            </a:r>
            <a:endParaRPr lang="es-CO" sz="2400" noProof="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C311EDF-181A-52C6-FFF6-6FC8EF9C0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A9E33E1-E6FF-308F-D51A-0F9A019365AB}"/>
              </a:ext>
            </a:extLst>
          </p:cNvPr>
          <p:cNvSpPr/>
          <p:nvPr/>
        </p:nvSpPr>
        <p:spPr>
          <a:xfrm>
            <a:off x="0" y="1280160"/>
            <a:ext cx="711835" cy="228600"/>
          </a:xfrm>
          <a:custGeom>
            <a:avLst/>
            <a:gdLst/>
            <a:ahLst/>
            <a:cxnLst/>
            <a:rect l="l" t="t" r="r" b="b"/>
            <a:pathLst>
              <a:path w="711835" h="228600">
                <a:moveTo>
                  <a:pt x="711581" y="0"/>
                </a:moveTo>
                <a:lnTo>
                  <a:pt x="0" y="0"/>
                </a:lnTo>
                <a:lnTo>
                  <a:pt x="0" y="228600"/>
                </a:lnTo>
                <a:lnTo>
                  <a:pt x="711581" y="228600"/>
                </a:lnTo>
                <a:lnTo>
                  <a:pt x="711581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BFC0DF4-9642-7E8C-FB95-1884D147FF9E}"/>
              </a:ext>
            </a:extLst>
          </p:cNvPr>
          <p:cNvSpPr/>
          <p:nvPr/>
        </p:nvSpPr>
        <p:spPr>
          <a:xfrm>
            <a:off x="787908" y="1280160"/>
            <a:ext cx="11403965" cy="228600"/>
          </a:xfrm>
          <a:custGeom>
            <a:avLst/>
            <a:gdLst/>
            <a:ahLst/>
            <a:cxnLst/>
            <a:rect l="l" t="t" r="r" b="b"/>
            <a:pathLst>
              <a:path w="11403965" h="228600">
                <a:moveTo>
                  <a:pt x="11403584" y="0"/>
                </a:moveTo>
                <a:lnTo>
                  <a:pt x="0" y="0"/>
                </a:lnTo>
                <a:lnTo>
                  <a:pt x="0" y="228600"/>
                </a:lnTo>
                <a:lnTo>
                  <a:pt x="11403584" y="228600"/>
                </a:lnTo>
                <a:lnTo>
                  <a:pt x="11403584" y="0"/>
                </a:lnTo>
                <a:close/>
              </a:path>
            </a:pathLst>
          </a:custGeom>
          <a:solidFill>
            <a:srgbClr val="92B6D2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68CE27B0-C11A-6FEA-A0F5-146B93B02BBD}"/>
              </a:ext>
            </a:extLst>
          </p:cNvPr>
          <p:cNvSpPr txBox="1"/>
          <p:nvPr/>
        </p:nvSpPr>
        <p:spPr>
          <a:xfrm>
            <a:off x="871815" y="2286000"/>
            <a:ext cx="4895901" cy="37196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 algn="just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lang="es-CO" sz="2400" spc="-125" noProof="0" dirty="0">
                <a:latin typeface="Microsoft Sans Serif"/>
                <a:cs typeface="Microsoft Sans Serif"/>
              </a:rPr>
              <a:t>Varianza mide qué tanto se dispersan los valores de una sola variable respecto a su media. Es un concepto </a:t>
            </a:r>
            <a:r>
              <a:rPr lang="es-CO" sz="2400" spc="-125" noProof="0" dirty="0" err="1">
                <a:latin typeface="Microsoft Sans Serif"/>
                <a:cs typeface="Microsoft Sans Serif"/>
              </a:rPr>
              <a:t>univariado</a:t>
            </a:r>
            <a:r>
              <a:rPr lang="es-CO" sz="2400" spc="-125" noProof="0" dirty="0">
                <a:latin typeface="Microsoft Sans Serif"/>
                <a:cs typeface="Microsoft Sans Serif"/>
              </a:rPr>
              <a:t>. </a:t>
            </a:r>
          </a:p>
          <a:p>
            <a:pPr marL="332740" marR="5080" indent="-320040" algn="just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lang="es-CO" sz="2400" spc="-125" noProof="0" dirty="0">
                <a:latin typeface="Microsoft Sans Serif"/>
                <a:cs typeface="Microsoft Sans Serif"/>
              </a:rPr>
              <a:t>Covarianza mide cómo dos variables se mueven juntas: si cuando X sube, Y también sube (covarianza positiva), o si se mueven en sentido contrario (covarianza negativa). Es un concepto bivariado.</a:t>
            </a:r>
            <a:endParaRPr lang="es-CO" sz="2400" noProof="0" dirty="0">
              <a:latin typeface="Microsoft Sans Serif"/>
              <a:cs typeface="Microsoft Sans Serif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26639BE-2ED3-97E4-8F4E-DA82573E8018}"/>
              </a:ext>
            </a:extLst>
          </p:cNvPr>
          <p:cNvSpPr txBox="1"/>
          <p:nvPr/>
        </p:nvSpPr>
        <p:spPr>
          <a:xfrm>
            <a:off x="845311" y="480821"/>
            <a:ext cx="6393689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z="4400" spc="-185" noProof="0" dirty="0">
                <a:solidFill>
                  <a:srgbClr val="775F53"/>
                </a:solidFill>
                <a:latin typeface="Microsoft Sans Serif"/>
                <a:cs typeface="Microsoft Sans Serif"/>
              </a:rPr>
              <a:t>Varianza y Covarianza</a:t>
            </a:r>
            <a:endParaRPr lang="es-CO" sz="4400" noProof="0" dirty="0">
              <a:latin typeface="Microsoft Sans Serif"/>
              <a:cs typeface="Microsoft Sans Serif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5DAC2BA-E837-75CF-FA0D-E60EA7F6C2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1935426"/>
            <a:ext cx="60579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21504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lang="es-CO" spc="-204" noProof="0" dirty="0"/>
              <a:t>Coeficiente</a:t>
            </a:r>
            <a:r>
              <a:rPr lang="es-CO" spc="-245" noProof="0" dirty="0"/>
              <a:t> </a:t>
            </a:r>
            <a:r>
              <a:rPr lang="es-CO" noProof="0" dirty="0"/>
              <a:t>de</a:t>
            </a:r>
            <a:r>
              <a:rPr lang="es-CO" spc="-155" noProof="0" dirty="0"/>
              <a:t> </a:t>
            </a:r>
            <a:r>
              <a:rPr lang="es-CO" spc="-204" noProof="0" dirty="0"/>
              <a:t>correlación</a:t>
            </a:r>
            <a:r>
              <a:rPr lang="es-CO" spc="-240" noProof="0" dirty="0"/>
              <a:t> </a:t>
            </a:r>
            <a:r>
              <a:rPr lang="es-CO" spc="-110" noProof="0" dirty="0"/>
              <a:t>lineal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5299" y="1602105"/>
            <a:ext cx="10216515" cy="9118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32740" marR="5080" indent="-320040">
              <a:lnSpc>
                <a:spcPct val="100400"/>
              </a:lnSpc>
              <a:spcBef>
                <a:spcPts val="9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lang="es-CO" sz="2900" spc="-175" noProof="0" dirty="0">
                <a:latin typeface="Microsoft Sans Serif"/>
                <a:cs typeface="Microsoft Sans Serif"/>
              </a:rPr>
              <a:t>Dados</a:t>
            </a:r>
            <a:r>
              <a:rPr lang="es-CO" sz="2900" spc="-200" noProof="0" dirty="0">
                <a:latin typeface="Microsoft Sans Serif"/>
                <a:cs typeface="Microsoft Sans Serif"/>
              </a:rPr>
              <a:t> </a:t>
            </a:r>
            <a:r>
              <a:rPr lang="es-CO" sz="2900" spc="-150" noProof="0" dirty="0">
                <a:latin typeface="Microsoft Sans Serif"/>
                <a:cs typeface="Microsoft Sans Serif"/>
              </a:rPr>
              <a:t>dos</a:t>
            </a:r>
            <a:r>
              <a:rPr lang="es-CO" sz="2900" spc="-229" noProof="0" dirty="0">
                <a:latin typeface="Microsoft Sans Serif"/>
                <a:cs typeface="Microsoft Sans Serif"/>
              </a:rPr>
              <a:t> </a:t>
            </a:r>
            <a:r>
              <a:rPr lang="es-CO" sz="2900" spc="-110" noProof="0" dirty="0">
                <a:latin typeface="Microsoft Sans Serif"/>
                <a:cs typeface="Microsoft Sans Serif"/>
              </a:rPr>
              <a:t>atributos</a:t>
            </a:r>
            <a:r>
              <a:rPr lang="es-CO" sz="2900" spc="-15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Cambria Math"/>
                <a:cs typeface="Cambria Math"/>
              </a:rPr>
              <a:t>𝑋</a:t>
            </a:r>
            <a:r>
              <a:rPr lang="es-CO" sz="2900" spc="195" noProof="0" dirty="0">
                <a:latin typeface="Cambria Math"/>
                <a:cs typeface="Cambria Math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e</a:t>
            </a:r>
            <a:r>
              <a:rPr lang="es-CO" sz="2900" spc="-12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Cambria Math"/>
                <a:cs typeface="Cambria Math"/>
              </a:rPr>
              <a:t>𝑌</a:t>
            </a:r>
            <a:r>
              <a:rPr lang="es-CO" sz="2900" spc="210" noProof="0" dirty="0">
                <a:latin typeface="Cambria Math"/>
                <a:cs typeface="Cambria Math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el</a:t>
            </a:r>
            <a:r>
              <a:rPr lang="es-CO" sz="2900" spc="-60" noProof="0" dirty="0">
                <a:latin typeface="Microsoft Sans Serif"/>
                <a:cs typeface="Microsoft Sans Serif"/>
              </a:rPr>
              <a:t> </a:t>
            </a:r>
            <a:r>
              <a:rPr lang="es-CO" sz="2900" spc="-140" noProof="0" dirty="0">
                <a:latin typeface="Microsoft Sans Serif"/>
                <a:cs typeface="Microsoft Sans Serif"/>
              </a:rPr>
              <a:t>coeficiente</a:t>
            </a:r>
            <a:r>
              <a:rPr lang="es-CO" sz="2900" spc="-15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85" noProof="0" dirty="0">
                <a:latin typeface="Microsoft Sans Serif"/>
                <a:cs typeface="Microsoft Sans Serif"/>
              </a:rPr>
              <a:t> </a:t>
            </a:r>
            <a:r>
              <a:rPr lang="es-CO" sz="2900" spc="-140" noProof="0" dirty="0">
                <a:latin typeface="Microsoft Sans Serif"/>
                <a:cs typeface="Microsoft Sans Serif"/>
              </a:rPr>
              <a:t>correlación</a:t>
            </a:r>
            <a:r>
              <a:rPr lang="es-CO" sz="2900" spc="-190" noProof="0" dirty="0">
                <a:latin typeface="Microsoft Sans Serif"/>
                <a:cs typeface="Microsoft Sans Serif"/>
              </a:rPr>
              <a:t> </a:t>
            </a:r>
            <a:r>
              <a:rPr lang="es-CO" sz="2900" spc="-90" noProof="0" dirty="0">
                <a:latin typeface="Microsoft Sans Serif"/>
                <a:cs typeface="Microsoft Sans Serif"/>
              </a:rPr>
              <a:t>lineal</a:t>
            </a:r>
            <a:r>
              <a:rPr lang="es-CO" sz="2900" spc="-70" noProof="0" dirty="0">
                <a:latin typeface="Microsoft Sans Serif"/>
                <a:cs typeface="Microsoft Sans Serif"/>
              </a:rPr>
              <a:t> </a:t>
            </a:r>
            <a:r>
              <a:rPr lang="es-CO" sz="2900" spc="-45" noProof="0" dirty="0">
                <a:latin typeface="Microsoft Sans Serif"/>
                <a:cs typeface="Microsoft Sans Serif"/>
              </a:rPr>
              <a:t>entre ellos </a:t>
            </a:r>
            <a:r>
              <a:rPr lang="es-CO" sz="2900" spc="-170" noProof="0" dirty="0">
                <a:latin typeface="Microsoft Sans Serif"/>
                <a:cs typeface="Microsoft Sans Serif"/>
              </a:rPr>
              <a:t>se</a:t>
            </a:r>
            <a:r>
              <a:rPr lang="es-CO" sz="2900" spc="-310" noProof="0" dirty="0">
                <a:latin typeface="Microsoft Sans Serif"/>
                <a:cs typeface="Microsoft Sans Serif"/>
              </a:rPr>
              <a:t> </a:t>
            </a:r>
            <a:r>
              <a:rPr lang="es-CO" sz="2900" spc="-145" noProof="0" dirty="0">
                <a:latin typeface="Microsoft Sans Serif"/>
                <a:cs typeface="Microsoft Sans Serif"/>
              </a:rPr>
              <a:t>calcula</a:t>
            </a:r>
            <a:r>
              <a:rPr lang="es-CO" sz="2900" spc="-13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7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la</a:t>
            </a:r>
            <a:r>
              <a:rPr lang="es-CO" sz="2900" spc="5" noProof="0" dirty="0">
                <a:latin typeface="Microsoft Sans Serif"/>
                <a:cs typeface="Microsoft Sans Serif"/>
              </a:rPr>
              <a:t> </a:t>
            </a:r>
            <a:r>
              <a:rPr lang="es-CO" sz="2900" spc="-165" noProof="0" dirty="0">
                <a:latin typeface="Microsoft Sans Serif"/>
                <a:cs typeface="Microsoft Sans Serif"/>
              </a:rPr>
              <a:t>siguiente </a:t>
            </a:r>
            <a:r>
              <a:rPr lang="es-CO" sz="2900" spc="-10" noProof="0" dirty="0">
                <a:latin typeface="Microsoft Sans Serif"/>
                <a:cs typeface="Microsoft Sans Serif"/>
              </a:rPr>
              <a:t>forma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16253" y="4687646"/>
            <a:ext cx="6509384" cy="91249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z="2900" spc="-180" noProof="0" dirty="0">
                <a:latin typeface="Microsoft Sans Serif"/>
                <a:cs typeface="Microsoft Sans Serif"/>
              </a:rPr>
              <a:t>siendo</a:t>
            </a:r>
            <a:r>
              <a:rPr lang="es-CO" sz="2900" spc="-17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Cambria Math"/>
                <a:cs typeface="Cambria Math"/>
              </a:rPr>
              <a:t>𝐶𝑜𝑣(𝑋,</a:t>
            </a:r>
            <a:r>
              <a:rPr lang="es-CO" sz="2900" spc="-125" noProof="0" dirty="0">
                <a:latin typeface="Cambria Math"/>
                <a:cs typeface="Cambria Math"/>
              </a:rPr>
              <a:t> </a:t>
            </a:r>
            <a:r>
              <a:rPr lang="es-CO" sz="2900" noProof="0" dirty="0">
                <a:latin typeface="Cambria Math"/>
                <a:cs typeface="Cambria Math"/>
              </a:rPr>
              <a:t>𝑌)</a:t>
            </a:r>
            <a:r>
              <a:rPr lang="es-CO" sz="2900" spc="165" noProof="0" dirty="0">
                <a:latin typeface="Cambria Math"/>
                <a:cs typeface="Cambria Math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la</a:t>
            </a:r>
            <a:r>
              <a:rPr lang="es-CO" sz="2900" spc="40" noProof="0" dirty="0">
                <a:latin typeface="Microsoft Sans Serif"/>
                <a:cs typeface="Microsoft Sans Serif"/>
              </a:rPr>
              <a:t> </a:t>
            </a:r>
            <a:r>
              <a:rPr lang="es-CO" sz="2900" spc="-125" noProof="0" dirty="0">
                <a:latin typeface="Microsoft Sans Serif"/>
                <a:cs typeface="Microsoft Sans Serif"/>
              </a:rPr>
              <a:t>covarianza</a:t>
            </a:r>
            <a:r>
              <a:rPr lang="es-CO" sz="2900" spc="-175" noProof="0" dirty="0">
                <a:latin typeface="Microsoft Sans Serif"/>
                <a:cs typeface="Microsoft Sans Serif"/>
              </a:rPr>
              <a:t> </a:t>
            </a:r>
            <a:r>
              <a:rPr lang="es-CO" sz="2900" spc="-114" noProof="0" dirty="0">
                <a:latin typeface="Microsoft Sans Serif"/>
                <a:cs typeface="Microsoft Sans Serif"/>
              </a:rPr>
              <a:t>entre</a:t>
            </a:r>
            <a:r>
              <a:rPr lang="es-CO" sz="2900" spc="-11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Cambria Math"/>
                <a:cs typeface="Cambria Math"/>
              </a:rPr>
              <a:t>𝑋</a:t>
            </a:r>
            <a:r>
              <a:rPr lang="es-CO" sz="2900" spc="245" noProof="0" dirty="0">
                <a:latin typeface="Cambria Math"/>
                <a:cs typeface="Cambria Math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e</a:t>
            </a:r>
            <a:r>
              <a:rPr lang="es-CO" sz="2900" spc="-120" noProof="0" dirty="0">
                <a:latin typeface="Microsoft Sans Serif"/>
                <a:cs typeface="Microsoft Sans Serif"/>
              </a:rPr>
              <a:t> </a:t>
            </a:r>
            <a:r>
              <a:rPr lang="es-CO" sz="2900" spc="-60" noProof="0" dirty="0">
                <a:latin typeface="Cambria Math"/>
                <a:cs typeface="Cambria Math"/>
              </a:rPr>
              <a:t>𝑌</a:t>
            </a:r>
            <a:endParaRPr lang="es-CO" sz="2900" noProof="0" dirty="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  <a:tabLst>
                <a:tab pos="585470" algn="l"/>
              </a:tabLst>
            </a:pPr>
            <a:r>
              <a:rPr lang="es-CO" sz="2900" spc="-25" noProof="0" dirty="0">
                <a:latin typeface="Microsoft Sans Serif"/>
                <a:cs typeface="Microsoft Sans Serif"/>
              </a:rPr>
              <a:t>de</a:t>
            </a:r>
            <a:r>
              <a:rPr lang="es-CO" sz="2900" noProof="0" dirty="0">
                <a:latin typeface="Microsoft Sans Serif"/>
                <a:cs typeface="Microsoft Sans Serif"/>
              </a:rPr>
              <a:t>	</a:t>
            </a:r>
            <a:r>
              <a:rPr lang="es-CO" sz="2900" spc="-70" noProof="0" dirty="0">
                <a:latin typeface="Microsoft Sans Serif"/>
                <a:cs typeface="Microsoft Sans Serif"/>
              </a:rPr>
              <a:t>cada</a:t>
            </a:r>
            <a:r>
              <a:rPr lang="es-CO" sz="2900" spc="-120" noProof="0" dirty="0">
                <a:latin typeface="Microsoft Sans Serif"/>
                <a:cs typeface="Microsoft Sans Serif"/>
              </a:rPr>
              <a:t> </a:t>
            </a:r>
            <a:r>
              <a:rPr lang="es-CO" sz="2900" spc="-10" noProof="0" dirty="0">
                <a:latin typeface="Microsoft Sans Serif"/>
                <a:cs typeface="Microsoft Sans Serif"/>
              </a:rPr>
              <a:t>variable.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61377" y="4675263"/>
            <a:ext cx="3214370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826135" algn="l"/>
                <a:tab pos="1597025" algn="l"/>
              </a:tabLst>
            </a:pPr>
            <a:r>
              <a:rPr lang="es-CO" sz="2900" noProof="0" dirty="0">
                <a:latin typeface="Microsoft Sans Serif"/>
                <a:cs typeface="Microsoft Sans Serif"/>
              </a:rPr>
              <a:t>y</a:t>
            </a:r>
            <a:r>
              <a:rPr lang="es-CO" sz="2900" spc="30" noProof="0" dirty="0">
                <a:latin typeface="Microsoft Sans Serif"/>
                <a:cs typeface="Microsoft Sans Serif"/>
              </a:rPr>
              <a:t> </a:t>
            </a:r>
            <a:r>
              <a:rPr lang="es-CO" sz="2900" spc="-25" noProof="0" dirty="0">
                <a:latin typeface="Cambria Math"/>
                <a:cs typeface="Cambria Math"/>
              </a:rPr>
              <a:t>𝜎</a:t>
            </a:r>
            <a:r>
              <a:rPr lang="es-CO" sz="3150" spc="-37" baseline="-13227" noProof="0" dirty="0">
                <a:latin typeface="Cambria Math"/>
                <a:cs typeface="Cambria Math"/>
              </a:rPr>
              <a:t>𝑋</a:t>
            </a:r>
            <a:r>
              <a:rPr lang="es-CO" sz="3150" baseline="-13227" noProof="0" dirty="0">
                <a:latin typeface="Cambria Math"/>
                <a:cs typeface="Cambria Math"/>
              </a:rPr>
              <a:t>	</a:t>
            </a:r>
            <a:r>
              <a:rPr lang="es-CO" sz="2900" noProof="0" dirty="0">
                <a:latin typeface="Microsoft Sans Serif"/>
                <a:cs typeface="Microsoft Sans Serif"/>
              </a:rPr>
              <a:t>y</a:t>
            </a:r>
            <a:r>
              <a:rPr lang="es-CO" sz="2900" spc="20" noProof="0" dirty="0">
                <a:latin typeface="Microsoft Sans Serif"/>
                <a:cs typeface="Microsoft Sans Serif"/>
              </a:rPr>
              <a:t> </a:t>
            </a:r>
            <a:r>
              <a:rPr lang="es-CO" sz="2900" spc="-25" noProof="0" dirty="0">
                <a:latin typeface="Cambria Math"/>
                <a:cs typeface="Cambria Math"/>
              </a:rPr>
              <a:t>𝜎</a:t>
            </a:r>
            <a:r>
              <a:rPr lang="es-CO" sz="3150" spc="-37" baseline="-13227" noProof="0" dirty="0">
                <a:latin typeface="Cambria Math"/>
                <a:cs typeface="Cambria Math"/>
              </a:rPr>
              <a:t>𝑌</a:t>
            </a:r>
            <a:r>
              <a:rPr lang="es-CO" sz="3150" baseline="-13227" noProof="0" dirty="0">
                <a:latin typeface="Cambria Math"/>
                <a:cs typeface="Cambria Math"/>
              </a:rPr>
              <a:t>	</a:t>
            </a:r>
            <a:r>
              <a:rPr lang="es-CO" sz="2900" spc="-145" noProof="0" dirty="0">
                <a:latin typeface="Microsoft Sans Serif"/>
                <a:cs typeface="Microsoft Sans Serif"/>
              </a:rPr>
              <a:t>los</a:t>
            </a:r>
            <a:r>
              <a:rPr lang="es-CO" sz="2900" spc="-220" noProof="0" dirty="0">
                <a:latin typeface="Microsoft Sans Serif"/>
                <a:cs typeface="Microsoft Sans Serif"/>
              </a:rPr>
              <a:t> </a:t>
            </a:r>
            <a:r>
              <a:rPr lang="es-CO" sz="2900" spc="-150" noProof="0" dirty="0">
                <a:latin typeface="Microsoft Sans Serif"/>
                <a:cs typeface="Microsoft Sans Serif"/>
              </a:rPr>
              <a:t>desvíos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434076" y="3346703"/>
            <a:ext cx="125730" cy="377825"/>
          </a:xfrm>
          <a:custGeom>
            <a:avLst/>
            <a:gdLst/>
            <a:ahLst/>
            <a:cxnLst/>
            <a:rect l="l" t="t" r="r" b="b"/>
            <a:pathLst>
              <a:path w="125729" h="377825">
                <a:moveTo>
                  <a:pt x="5334" y="0"/>
                </a:moveTo>
                <a:lnTo>
                  <a:pt x="0" y="15367"/>
                </a:lnTo>
                <a:lnTo>
                  <a:pt x="21844" y="24892"/>
                </a:lnTo>
                <a:lnTo>
                  <a:pt x="40512" y="37973"/>
                </a:lnTo>
                <a:lnTo>
                  <a:pt x="68961" y="75184"/>
                </a:lnTo>
                <a:lnTo>
                  <a:pt x="85598" y="125349"/>
                </a:lnTo>
                <a:lnTo>
                  <a:pt x="91186" y="186944"/>
                </a:lnTo>
                <a:lnTo>
                  <a:pt x="89788" y="220218"/>
                </a:lnTo>
                <a:lnTo>
                  <a:pt x="78612" y="277749"/>
                </a:lnTo>
                <a:lnTo>
                  <a:pt x="56134" y="322580"/>
                </a:lnTo>
                <a:lnTo>
                  <a:pt x="21971" y="352806"/>
                </a:lnTo>
                <a:lnTo>
                  <a:pt x="508" y="362458"/>
                </a:lnTo>
                <a:lnTo>
                  <a:pt x="5334" y="377698"/>
                </a:lnTo>
                <a:lnTo>
                  <a:pt x="56769" y="353568"/>
                </a:lnTo>
                <a:lnTo>
                  <a:pt x="94487" y="311785"/>
                </a:lnTo>
                <a:lnTo>
                  <a:pt x="117728" y="255778"/>
                </a:lnTo>
                <a:lnTo>
                  <a:pt x="125475" y="188975"/>
                </a:lnTo>
                <a:lnTo>
                  <a:pt x="123571" y="154432"/>
                </a:lnTo>
                <a:lnTo>
                  <a:pt x="108076" y="92963"/>
                </a:lnTo>
                <a:lnTo>
                  <a:pt x="77215" y="43053"/>
                </a:lnTo>
                <a:lnTo>
                  <a:pt x="32638" y="9906"/>
                </a:lnTo>
                <a:lnTo>
                  <a:pt x="53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7" name="object 7"/>
          <p:cNvSpPr/>
          <p:nvPr/>
        </p:nvSpPr>
        <p:spPr>
          <a:xfrm>
            <a:off x="4613147" y="3346703"/>
            <a:ext cx="125730" cy="377825"/>
          </a:xfrm>
          <a:custGeom>
            <a:avLst/>
            <a:gdLst/>
            <a:ahLst/>
            <a:cxnLst/>
            <a:rect l="l" t="t" r="r" b="b"/>
            <a:pathLst>
              <a:path w="125729" h="377825">
                <a:moveTo>
                  <a:pt x="120141" y="0"/>
                </a:moveTo>
                <a:lnTo>
                  <a:pt x="68961" y="24257"/>
                </a:lnTo>
                <a:lnTo>
                  <a:pt x="31114" y="66294"/>
                </a:lnTo>
                <a:lnTo>
                  <a:pt x="7747" y="122428"/>
                </a:lnTo>
                <a:lnTo>
                  <a:pt x="0" y="188975"/>
                </a:lnTo>
                <a:lnTo>
                  <a:pt x="1904" y="223647"/>
                </a:lnTo>
                <a:lnTo>
                  <a:pt x="17399" y="285115"/>
                </a:lnTo>
                <a:lnTo>
                  <a:pt x="48260" y="334899"/>
                </a:lnTo>
                <a:lnTo>
                  <a:pt x="92837" y="367792"/>
                </a:lnTo>
                <a:lnTo>
                  <a:pt x="120141" y="377698"/>
                </a:lnTo>
                <a:lnTo>
                  <a:pt x="124967" y="362458"/>
                </a:lnTo>
                <a:lnTo>
                  <a:pt x="103504" y="352806"/>
                </a:lnTo>
                <a:lnTo>
                  <a:pt x="84962" y="339598"/>
                </a:lnTo>
                <a:lnTo>
                  <a:pt x="56768" y="301879"/>
                </a:lnTo>
                <a:lnTo>
                  <a:pt x="40004" y="250444"/>
                </a:lnTo>
                <a:lnTo>
                  <a:pt x="34416" y="186944"/>
                </a:lnTo>
                <a:lnTo>
                  <a:pt x="35813" y="154812"/>
                </a:lnTo>
                <a:lnTo>
                  <a:pt x="46989" y="98933"/>
                </a:lnTo>
                <a:lnTo>
                  <a:pt x="69468" y="54737"/>
                </a:lnTo>
                <a:lnTo>
                  <a:pt x="103886" y="24892"/>
                </a:lnTo>
                <a:lnTo>
                  <a:pt x="125602" y="15367"/>
                </a:lnTo>
                <a:lnTo>
                  <a:pt x="1201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8" name="object 8"/>
          <p:cNvSpPr txBox="1"/>
          <p:nvPr/>
        </p:nvSpPr>
        <p:spPr>
          <a:xfrm>
            <a:off x="3709796" y="3220669"/>
            <a:ext cx="23145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36319" algn="l"/>
                <a:tab pos="1997075" algn="l"/>
              </a:tabLst>
            </a:pPr>
            <a:r>
              <a:rPr lang="es-CO" sz="3200" spc="-20" noProof="0" dirty="0">
                <a:latin typeface="Cambria Math"/>
                <a:cs typeface="Cambria Math"/>
              </a:rPr>
              <a:t>𝐶𝑜𝑟𝑟</a:t>
            </a:r>
            <a:r>
              <a:rPr lang="es-CO" sz="3200" noProof="0" dirty="0">
                <a:latin typeface="Cambria Math"/>
                <a:cs typeface="Cambria Math"/>
              </a:rPr>
              <a:t>	𝑋,</a:t>
            </a:r>
            <a:r>
              <a:rPr lang="es-CO" sz="3200" spc="-120" noProof="0" dirty="0">
                <a:latin typeface="Cambria Math"/>
                <a:cs typeface="Cambria Math"/>
              </a:rPr>
              <a:t> </a:t>
            </a:r>
            <a:r>
              <a:rPr lang="es-CO" sz="3200" spc="-50" noProof="0" dirty="0">
                <a:latin typeface="Cambria Math"/>
                <a:cs typeface="Cambria Math"/>
              </a:rPr>
              <a:t>𝑌</a:t>
            </a:r>
            <a:r>
              <a:rPr lang="es-CO" sz="3200" noProof="0" dirty="0">
                <a:latin typeface="Cambria Math"/>
                <a:cs typeface="Cambria Math"/>
              </a:rPr>
              <a:t>	</a:t>
            </a:r>
            <a:r>
              <a:rPr lang="es-CO" sz="3200" spc="-50" noProof="0" dirty="0">
                <a:latin typeface="Cambria Math"/>
                <a:cs typeface="Cambria Math"/>
              </a:rPr>
              <a:t>=</a:t>
            </a:r>
            <a:endParaRPr lang="es-CO" sz="3200" noProof="0" dirty="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210300" y="3523486"/>
            <a:ext cx="1705610" cy="26034"/>
          </a:xfrm>
          <a:custGeom>
            <a:avLst/>
            <a:gdLst/>
            <a:ahLst/>
            <a:cxnLst/>
            <a:rect l="l" t="t" r="r" b="b"/>
            <a:pathLst>
              <a:path w="1705609" h="26035">
                <a:moveTo>
                  <a:pt x="1705102" y="0"/>
                </a:moveTo>
                <a:lnTo>
                  <a:pt x="0" y="0"/>
                </a:lnTo>
                <a:lnTo>
                  <a:pt x="0" y="25782"/>
                </a:lnTo>
                <a:lnTo>
                  <a:pt x="1705102" y="25782"/>
                </a:lnTo>
                <a:lnTo>
                  <a:pt x="17051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10" name="object 10"/>
          <p:cNvSpPr txBox="1"/>
          <p:nvPr/>
        </p:nvSpPr>
        <p:spPr>
          <a:xfrm>
            <a:off x="6207378" y="2912440"/>
            <a:ext cx="171767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z="3200" noProof="0" dirty="0">
                <a:latin typeface="Cambria Math"/>
                <a:cs typeface="Cambria Math"/>
              </a:rPr>
              <a:t>𝐶𝑜𝑣(𝑋,</a:t>
            </a:r>
            <a:r>
              <a:rPr lang="es-CO" sz="3200" spc="-160" noProof="0" dirty="0">
                <a:latin typeface="Cambria Math"/>
                <a:cs typeface="Cambria Math"/>
              </a:rPr>
              <a:t> </a:t>
            </a:r>
            <a:r>
              <a:rPr lang="es-CO" sz="3200" spc="-25" noProof="0" dirty="0">
                <a:latin typeface="Cambria Math"/>
                <a:cs typeface="Cambria Math"/>
              </a:rPr>
              <a:t>𝑌)</a:t>
            </a:r>
            <a:endParaRPr lang="es-CO" sz="3200" noProof="0" dirty="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17513" y="3490721"/>
            <a:ext cx="109347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648970" algn="l"/>
              </a:tabLst>
            </a:pPr>
            <a:r>
              <a:rPr lang="es-CO" sz="3200" spc="-25" noProof="0" dirty="0">
                <a:latin typeface="Cambria Math"/>
                <a:cs typeface="Cambria Math"/>
              </a:rPr>
              <a:t>𝜎</a:t>
            </a:r>
            <a:r>
              <a:rPr lang="es-CO" sz="3525" spc="-37" baseline="-11820" noProof="0" dirty="0">
                <a:latin typeface="Cambria Math"/>
                <a:cs typeface="Cambria Math"/>
              </a:rPr>
              <a:t>𝑋</a:t>
            </a:r>
            <a:r>
              <a:rPr lang="es-CO" sz="3525" baseline="-11820" noProof="0" dirty="0">
                <a:latin typeface="Cambria Math"/>
                <a:cs typeface="Cambria Math"/>
              </a:rPr>
              <a:t>	</a:t>
            </a:r>
            <a:r>
              <a:rPr lang="es-CO" sz="3200" spc="-25" noProof="0" dirty="0">
                <a:latin typeface="Cambria Math"/>
                <a:cs typeface="Cambria Math"/>
              </a:rPr>
              <a:t>𝜎</a:t>
            </a:r>
            <a:r>
              <a:rPr lang="es-CO" sz="3525" spc="-37" baseline="-11820" noProof="0" dirty="0">
                <a:latin typeface="Cambria Math"/>
                <a:cs typeface="Cambria Math"/>
              </a:rPr>
              <a:t>𝑌</a:t>
            </a:r>
            <a:endParaRPr lang="es-CO" sz="3525" baseline="-11820" noProof="0" dirty="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5299" y="330149"/>
            <a:ext cx="674941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pc="-195" noProof="0" dirty="0"/>
              <a:t>Covarianza</a:t>
            </a:r>
            <a:r>
              <a:rPr lang="es-CO" spc="-165" noProof="0" dirty="0"/>
              <a:t> </a:t>
            </a:r>
            <a:r>
              <a:rPr lang="es-CO" noProof="0" dirty="0"/>
              <a:t>y</a:t>
            </a:r>
            <a:r>
              <a:rPr lang="es-CO" spc="100" noProof="0" dirty="0"/>
              <a:t> </a:t>
            </a:r>
            <a:r>
              <a:rPr lang="es-CO" spc="-229" noProof="0" dirty="0"/>
              <a:t>desvío</a:t>
            </a:r>
            <a:r>
              <a:rPr lang="es-CO" spc="-195" noProof="0" dirty="0"/>
              <a:t> </a:t>
            </a:r>
            <a:r>
              <a:rPr lang="es-CO" spc="-170" noProof="0" dirty="0"/>
              <a:t>estándar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5299" y="1602105"/>
            <a:ext cx="432181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145" noProof="0" dirty="0">
                <a:latin typeface="Microsoft Sans Serif"/>
                <a:cs typeface="Microsoft Sans Serif"/>
              </a:rPr>
              <a:t>Dadas</a:t>
            </a:r>
            <a:r>
              <a:rPr lang="es-CO" sz="2900" spc="-180" noProof="0" dirty="0">
                <a:latin typeface="Microsoft Sans Serif"/>
                <a:cs typeface="Microsoft Sans Serif"/>
              </a:rPr>
              <a:t> </a:t>
            </a:r>
            <a:r>
              <a:rPr lang="es-CO" sz="2900" spc="-150" noProof="0" dirty="0">
                <a:latin typeface="Microsoft Sans Serif"/>
                <a:cs typeface="Microsoft Sans Serif"/>
              </a:rPr>
              <a:t>dos</a:t>
            </a:r>
            <a:r>
              <a:rPr lang="es-CO" sz="2900" spc="-210" noProof="0" dirty="0">
                <a:latin typeface="Microsoft Sans Serif"/>
                <a:cs typeface="Microsoft Sans Serif"/>
              </a:rPr>
              <a:t> </a:t>
            </a:r>
            <a:r>
              <a:rPr lang="es-CO" sz="2900" spc="-95" noProof="0" dirty="0">
                <a:latin typeface="Microsoft Sans Serif"/>
                <a:cs typeface="Microsoft Sans Serif"/>
              </a:rPr>
              <a:t>variables</a:t>
            </a:r>
            <a:r>
              <a:rPr lang="es-CO" sz="2900" spc="-19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Cambria Math"/>
                <a:cs typeface="Cambria Math"/>
              </a:rPr>
              <a:t>𝑋</a:t>
            </a:r>
            <a:r>
              <a:rPr lang="es-CO" sz="2900" spc="260" noProof="0" dirty="0">
                <a:latin typeface="Cambria Math"/>
                <a:cs typeface="Cambria Math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y</a:t>
            </a:r>
            <a:r>
              <a:rPr lang="es-CO" sz="2900" spc="40" noProof="0" dirty="0">
                <a:latin typeface="Microsoft Sans Serif"/>
                <a:cs typeface="Microsoft Sans Serif"/>
              </a:rPr>
              <a:t> </a:t>
            </a:r>
            <a:r>
              <a:rPr lang="es-CO" sz="2900" spc="-50" noProof="0" dirty="0">
                <a:latin typeface="Cambria Math"/>
                <a:cs typeface="Cambria Math"/>
              </a:rPr>
              <a:t>𝑌</a:t>
            </a:r>
            <a:endParaRPr lang="es-CO" sz="2900" noProof="0" dirty="0">
              <a:latin typeface="Cambria Math"/>
              <a:cs typeface="Cambria Math"/>
            </a:endParaRPr>
          </a:p>
        </p:txBody>
      </p:sp>
      <p:pic>
        <p:nvPicPr>
          <p:cNvPr id="1035" name="Picture 11" descr="Cómo se calcula la covarianza entre dos variables?">
            <a:extLst>
              <a:ext uri="{FF2B5EF4-FFF2-40B4-BE49-F238E27FC236}">
                <a16:creationId xmlns:a16="http://schemas.microsoft.com/office/drawing/2014/main" id="{309C7FE6-926B-0EB6-9021-1706606E7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0038" y="2324100"/>
            <a:ext cx="3971925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CAFB5F9-6471-5BCD-3900-77F4984CE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801" y="4343400"/>
            <a:ext cx="4130398" cy="1333616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280160"/>
            <a:ext cx="711835" cy="228600"/>
          </a:xfrm>
          <a:custGeom>
            <a:avLst/>
            <a:gdLst/>
            <a:ahLst/>
            <a:cxnLst/>
            <a:rect l="l" t="t" r="r" b="b"/>
            <a:pathLst>
              <a:path w="711835" h="228600">
                <a:moveTo>
                  <a:pt x="711581" y="0"/>
                </a:moveTo>
                <a:lnTo>
                  <a:pt x="0" y="0"/>
                </a:lnTo>
                <a:lnTo>
                  <a:pt x="0" y="228600"/>
                </a:lnTo>
                <a:lnTo>
                  <a:pt x="711581" y="228600"/>
                </a:lnTo>
                <a:lnTo>
                  <a:pt x="711581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3" name="object 3"/>
          <p:cNvSpPr/>
          <p:nvPr/>
        </p:nvSpPr>
        <p:spPr>
          <a:xfrm>
            <a:off x="787908" y="1280160"/>
            <a:ext cx="11403965" cy="228600"/>
          </a:xfrm>
          <a:custGeom>
            <a:avLst/>
            <a:gdLst/>
            <a:ahLst/>
            <a:cxnLst/>
            <a:rect l="l" t="t" r="r" b="b"/>
            <a:pathLst>
              <a:path w="11403965" h="228600">
                <a:moveTo>
                  <a:pt x="11403584" y="0"/>
                </a:moveTo>
                <a:lnTo>
                  <a:pt x="0" y="0"/>
                </a:lnTo>
                <a:lnTo>
                  <a:pt x="0" y="228600"/>
                </a:lnTo>
                <a:lnTo>
                  <a:pt x="11403584" y="228600"/>
                </a:lnTo>
                <a:lnTo>
                  <a:pt x="11403584" y="0"/>
                </a:lnTo>
                <a:close/>
              </a:path>
            </a:pathLst>
          </a:custGeom>
          <a:solidFill>
            <a:srgbClr val="92B6D2"/>
          </a:solidFill>
        </p:spPr>
        <p:txBody>
          <a:bodyPr wrap="square" lIns="0" tIns="0" rIns="0" bIns="0" rtlCol="0"/>
          <a:lstStyle/>
          <a:p>
            <a:endParaRPr lang="es-CO" noProof="0" dirty="0"/>
          </a:p>
        </p:txBody>
      </p:sp>
      <p:sp>
        <p:nvSpPr>
          <p:cNvPr id="4" name="object 4"/>
          <p:cNvSpPr txBox="1"/>
          <p:nvPr/>
        </p:nvSpPr>
        <p:spPr>
          <a:xfrm>
            <a:off x="895299" y="1487170"/>
            <a:ext cx="10407015" cy="910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lang="es-CO" sz="2900" spc="-125" noProof="0" dirty="0">
                <a:latin typeface="Microsoft Sans Serif"/>
                <a:cs typeface="Microsoft Sans Serif"/>
              </a:rPr>
              <a:t>La</a:t>
            </a:r>
            <a:r>
              <a:rPr lang="es-CO" sz="2900" spc="-240" noProof="0" dirty="0">
                <a:latin typeface="Microsoft Sans Serif"/>
                <a:cs typeface="Microsoft Sans Serif"/>
              </a:rPr>
              <a:t> </a:t>
            </a:r>
            <a:r>
              <a:rPr lang="es-CO" sz="2900" b="1" spc="-165" noProof="0" dirty="0">
                <a:latin typeface="Arial"/>
                <a:cs typeface="Arial"/>
              </a:rPr>
              <a:t>covarianza</a:t>
            </a:r>
            <a:r>
              <a:rPr lang="es-CO" sz="2900" b="1" spc="-265" noProof="0" dirty="0">
                <a:latin typeface="Arial"/>
                <a:cs typeface="Arial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es</a:t>
            </a:r>
            <a:r>
              <a:rPr lang="es-CO" sz="2900" spc="-305" noProof="0" dirty="0">
                <a:latin typeface="Microsoft Sans Serif"/>
                <a:cs typeface="Microsoft Sans Serif"/>
              </a:rPr>
              <a:t> </a:t>
            </a:r>
            <a:r>
              <a:rPr lang="es-CO" sz="2900" spc="-180" noProof="0" dirty="0">
                <a:latin typeface="Microsoft Sans Serif"/>
                <a:cs typeface="Microsoft Sans Serif"/>
              </a:rPr>
              <a:t>un</a:t>
            </a:r>
            <a:r>
              <a:rPr lang="es-CO" sz="2900" spc="-310" noProof="0" dirty="0">
                <a:latin typeface="Microsoft Sans Serif"/>
                <a:cs typeface="Microsoft Sans Serif"/>
              </a:rPr>
              <a:t> </a:t>
            </a:r>
            <a:r>
              <a:rPr lang="es-CO" sz="2900" spc="-65" noProof="0" dirty="0">
                <a:latin typeface="Microsoft Sans Serif"/>
                <a:cs typeface="Microsoft Sans Serif"/>
              </a:rPr>
              <a:t>valor</a:t>
            </a:r>
            <a:r>
              <a:rPr lang="es-CO" sz="2900" spc="-130" noProof="0" dirty="0">
                <a:latin typeface="Microsoft Sans Serif"/>
                <a:cs typeface="Microsoft Sans Serif"/>
              </a:rPr>
              <a:t>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que</a:t>
            </a:r>
            <a:r>
              <a:rPr lang="es-CO" sz="2900" spc="-145" noProof="0" dirty="0">
                <a:latin typeface="Microsoft Sans Serif"/>
                <a:cs typeface="Microsoft Sans Serif"/>
              </a:rPr>
              <a:t>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indica</a:t>
            </a:r>
            <a:r>
              <a:rPr lang="es-CO" sz="2900" spc="-9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el</a:t>
            </a:r>
            <a:r>
              <a:rPr lang="es-CO" sz="2900" spc="-18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grado</a:t>
            </a:r>
            <a:r>
              <a:rPr lang="es-CO" sz="2900" spc="-7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120" noProof="0" dirty="0">
                <a:latin typeface="Microsoft Sans Serif"/>
                <a:cs typeface="Microsoft Sans Serif"/>
              </a:rPr>
              <a:t> variación</a:t>
            </a:r>
            <a:r>
              <a:rPr lang="es-CO" sz="2900" spc="-114" noProof="0" dirty="0">
                <a:latin typeface="Microsoft Sans Serif"/>
                <a:cs typeface="Microsoft Sans Serif"/>
              </a:rPr>
              <a:t> </a:t>
            </a:r>
            <a:r>
              <a:rPr lang="es-CO" sz="2900" spc="-145" noProof="0" dirty="0">
                <a:latin typeface="Microsoft Sans Serif"/>
                <a:cs typeface="Microsoft Sans Serif"/>
              </a:rPr>
              <a:t>conjunta </a:t>
            </a:r>
            <a:r>
              <a:rPr lang="es-CO" sz="2900" noProof="0" dirty="0">
                <a:latin typeface="Microsoft Sans Serif"/>
                <a:cs typeface="Microsoft Sans Serif"/>
              </a:rPr>
              <a:t>de</a:t>
            </a:r>
            <a:r>
              <a:rPr lang="es-CO" sz="2900" spc="-40" noProof="0" dirty="0">
                <a:latin typeface="Microsoft Sans Serif"/>
                <a:cs typeface="Microsoft Sans Serif"/>
              </a:rPr>
              <a:t> </a:t>
            </a:r>
            <a:r>
              <a:rPr lang="es-CO" sz="2900" spc="-150" noProof="0" dirty="0">
                <a:latin typeface="Microsoft Sans Serif"/>
                <a:cs typeface="Microsoft Sans Serif"/>
              </a:rPr>
              <a:t>dos</a:t>
            </a:r>
            <a:r>
              <a:rPr lang="es-CO" sz="2900" spc="-215" noProof="0" dirty="0">
                <a:latin typeface="Microsoft Sans Serif"/>
                <a:cs typeface="Microsoft Sans Serif"/>
              </a:rPr>
              <a:t> </a:t>
            </a:r>
            <a:r>
              <a:rPr lang="es-CO" sz="2900" b="1" spc="-155" noProof="0" dirty="0">
                <a:latin typeface="Arial"/>
                <a:cs typeface="Arial"/>
              </a:rPr>
              <a:t>variables</a:t>
            </a:r>
            <a:r>
              <a:rPr lang="es-CO" sz="2900" b="1" spc="-270" noProof="0" dirty="0">
                <a:latin typeface="Arial"/>
                <a:cs typeface="Arial"/>
              </a:rPr>
              <a:t> </a:t>
            </a:r>
            <a:r>
              <a:rPr lang="es-CO" sz="2900" b="1" spc="-155" noProof="0" dirty="0">
                <a:latin typeface="Arial"/>
                <a:cs typeface="Arial"/>
              </a:rPr>
              <a:t>aleatorias</a:t>
            </a:r>
            <a:r>
              <a:rPr lang="es-CO" sz="2900" b="1" spc="-229" noProof="0" dirty="0">
                <a:latin typeface="Arial"/>
                <a:cs typeface="Arial"/>
              </a:rPr>
              <a:t> </a:t>
            </a:r>
            <a:r>
              <a:rPr lang="es-CO" sz="2900" spc="-155" noProof="0" dirty="0">
                <a:latin typeface="Microsoft Sans Serif"/>
                <a:cs typeface="Microsoft Sans Serif"/>
              </a:rPr>
              <a:t>respecto</a:t>
            </a:r>
            <a:r>
              <a:rPr lang="es-CO" sz="2900" spc="-17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a</a:t>
            </a:r>
            <a:r>
              <a:rPr lang="es-CO" sz="2900" spc="35" noProof="0" dirty="0">
                <a:latin typeface="Microsoft Sans Serif"/>
                <a:cs typeface="Microsoft Sans Serif"/>
              </a:rPr>
              <a:t> </a:t>
            </a:r>
            <a:r>
              <a:rPr lang="es-CO" sz="2900" spc="-100" noProof="0" dirty="0">
                <a:latin typeface="Microsoft Sans Serif"/>
                <a:cs typeface="Microsoft Sans Serif"/>
              </a:rPr>
              <a:t>sus medias.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5311" y="480821"/>
            <a:ext cx="26269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CO" sz="4400" spc="-185" noProof="0" dirty="0">
                <a:solidFill>
                  <a:srgbClr val="775F53"/>
                </a:solidFill>
                <a:latin typeface="Microsoft Sans Serif"/>
                <a:cs typeface="Microsoft Sans Serif"/>
              </a:rPr>
              <a:t>Covarianza</a:t>
            </a:r>
            <a:endParaRPr lang="es-CO" sz="4400" noProof="0" dirty="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045207" y="2746248"/>
            <a:ext cx="8225155" cy="3246120"/>
            <a:chOff x="2045207" y="2746248"/>
            <a:chExt cx="8225155" cy="324612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45207" y="2746248"/>
              <a:ext cx="8225028" cy="324612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241041" y="2891790"/>
              <a:ext cx="8001000" cy="3072130"/>
            </a:xfrm>
            <a:custGeom>
              <a:avLst/>
              <a:gdLst/>
              <a:ahLst/>
              <a:cxnLst/>
              <a:rect l="l" t="t" r="r" b="b"/>
              <a:pathLst>
                <a:path w="8001000" h="3072129">
                  <a:moveTo>
                    <a:pt x="998219" y="3000616"/>
                  </a:moveTo>
                  <a:lnTo>
                    <a:pt x="998982" y="0"/>
                  </a:lnTo>
                </a:path>
                <a:path w="8001000" h="3072129">
                  <a:moveTo>
                    <a:pt x="3784473" y="3000616"/>
                  </a:moveTo>
                  <a:lnTo>
                    <a:pt x="3785234" y="0"/>
                  </a:lnTo>
                </a:path>
                <a:path w="8001000" h="3072129">
                  <a:moveTo>
                    <a:pt x="7070852" y="3071926"/>
                  </a:moveTo>
                  <a:lnTo>
                    <a:pt x="7072503" y="428244"/>
                  </a:lnTo>
                </a:path>
                <a:path w="8001000" h="3072129">
                  <a:moveTo>
                    <a:pt x="2000122" y="1430147"/>
                  </a:moveTo>
                  <a:lnTo>
                    <a:pt x="0" y="1428496"/>
                  </a:lnTo>
                </a:path>
                <a:path w="8001000" h="3072129">
                  <a:moveTo>
                    <a:pt x="4786122" y="1430147"/>
                  </a:moveTo>
                  <a:lnTo>
                    <a:pt x="2928873" y="1428496"/>
                  </a:lnTo>
                </a:path>
                <a:path w="8001000" h="3072129">
                  <a:moveTo>
                    <a:pt x="8000618" y="1860042"/>
                  </a:moveTo>
                  <a:lnTo>
                    <a:pt x="5786119" y="1858391"/>
                  </a:lnTo>
                </a:path>
              </a:pathLst>
            </a:custGeom>
            <a:ln w="19050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lang="es-CO" noProof="0" dirty="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221101" y="5706262"/>
            <a:ext cx="311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s-CO" sz="1800" spc="-25" noProof="0" dirty="0">
                <a:latin typeface="Symbol"/>
                <a:cs typeface="Symbol"/>
              </a:rPr>
              <a:t></a:t>
            </a:r>
            <a:r>
              <a:rPr lang="es-CO" sz="1800" spc="-37" baseline="-16203" noProof="0" dirty="0">
                <a:latin typeface="Arial MT"/>
                <a:cs typeface="Arial MT"/>
              </a:rPr>
              <a:t>X</a:t>
            </a:r>
            <a:endParaRPr lang="es-CO" sz="1800" baseline="-16203" noProof="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50991" y="5706262"/>
            <a:ext cx="310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s-CO" sz="1800" spc="-25" noProof="0" dirty="0">
                <a:latin typeface="Symbol"/>
                <a:cs typeface="Symbol"/>
              </a:rPr>
              <a:t></a:t>
            </a:r>
            <a:r>
              <a:rPr lang="es-CO" sz="1800" spc="-37" baseline="-16203" noProof="0" dirty="0">
                <a:latin typeface="Arial MT"/>
                <a:cs typeface="Arial MT"/>
              </a:rPr>
              <a:t>X</a:t>
            </a:r>
            <a:endParaRPr lang="es-CO" sz="1800" baseline="-16203" noProof="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366504" y="5848908"/>
            <a:ext cx="310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s-CO" sz="1800" spc="-25" noProof="0" dirty="0">
                <a:latin typeface="Symbol"/>
                <a:cs typeface="Symbol"/>
              </a:rPr>
              <a:t></a:t>
            </a:r>
            <a:r>
              <a:rPr lang="es-CO" sz="1800" spc="-37" baseline="-16203" noProof="0" dirty="0">
                <a:latin typeface="Arial MT"/>
                <a:cs typeface="Arial MT"/>
              </a:rPr>
              <a:t>X</a:t>
            </a:r>
            <a:endParaRPr lang="es-CO" sz="1800" baseline="-16203" noProof="0" dirty="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06473" y="4062476"/>
            <a:ext cx="310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s-CO" sz="1800" spc="-25" noProof="0" dirty="0">
                <a:latin typeface="Symbol"/>
                <a:cs typeface="Symbol"/>
              </a:rPr>
              <a:t></a:t>
            </a:r>
            <a:r>
              <a:rPr lang="es-CO" sz="1800" spc="-37" baseline="-16203" noProof="0" dirty="0">
                <a:latin typeface="Arial MT"/>
                <a:cs typeface="Arial MT"/>
              </a:rPr>
              <a:t>Y</a:t>
            </a:r>
            <a:endParaRPr lang="es-CO" sz="1800" baseline="-16203" noProof="0" dirty="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07609" y="4276725"/>
            <a:ext cx="310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s-CO" sz="1800" spc="-25" noProof="0" dirty="0">
                <a:latin typeface="Symbol"/>
                <a:cs typeface="Symbol"/>
              </a:rPr>
              <a:t></a:t>
            </a:r>
            <a:r>
              <a:rPr lang="es-CO" sz="1800" spc="-37" baseline="-16203" noProof="0" dirty="0">
                <a:latin typeface="Arial MT"/>
                <a:cs typeface="Arial MT"/>
              </a:rPr>
              <a:t>Y</a:t>
            </a:r>
            <a:endParaRPr lang="es-CO" sz="1800" baseline="-16203" noProof="0" dirty="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65618" y="4347717"/>
            <a:ext cx="310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lang="es-CO" sz="1800" spc="-25" noProof="0" dirty="0">
                <a:latin typeface="Symbol"/>
                <a:cs typeface="Symbol"/>
              </a:rPr>
              <a:t></a:t>
            </a:r>
            <a:r>
              <a:rPr lang="es-CO" sz="1800" spc="-37" baseline="-16203" noProof="0" dirty="0">
                <a:latin typeface="Arial MT"/>
                <a:cs typeface="Arial MT"/>
              </a:rPr>
              <a:t>Y</a:t>
            </a:r>
            <a:endParaRPr lang="es-CO" sz="1800" baseline="-16203" noProof="0" dirty="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52244" y="6320028"/>
            <a:ext cx="2573020" cy="368935"/>
          </a:xfrm>
          <a:prstGeom prst="rect">
            <a:avLst/>
          </a:prstGeom>
          <a:solidFill>
            <a:srgbClr val="EBDDC3"/>
          </a:solidFill>
        </p:spPr>
        <p:txBody>
          <a:bodyPr vert="horz" wrap="square" lIns="0" tIns="35560" rIns="0" bIns="0" rtlCol="0">
            <a:spAutoFit/>
          </a:bodyPr>
          <a:lstStyle/>
          <a:p>
            <a:pPr marL="277495">
              <a:lnSpc>
                <a:spcPct val="100000"/>
              </a:lnSpc>
              <a:spcBef>
                <a:spcPts val="280"/>
              </a:spcBef>
            </a:pPr>
            <a:r>
              <a:rPr lang="es-CO" sz="1800" noProof="0" dirty="0">
                <a:latin typeface="Arial MT"/>
                <a:cs typeface="Arial MT"/>
              </a:rPr>
              <a:t>Covarianza</a:t>
            </a:r>
            <a:r>
              <a:rPr lang="es-CO" sz="1800" spc="-100" noProof="0" dirty="0">
                <a:latin typeface="Arial MT"/>
                <a:cs typeface="Arial MT"/>
              </a:rPr>
              <a:t> </a:t>
            </a:r>
            <a:r>
              <a:rPr lang="es-CO" sz="1800" spc="-10" noProof="0" dirty="0">
                <a:latin typeface="Arial MT"/>
                <a:cs typeface="Arial MT"/>
              </a:rPr>
              <a:t>Positiva</a:t>
            </a:r>
            <a:endParaRPr lang="es-CO" sz="1800" noProof="0" dirty="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81371" y="6320028"/>
            <a:ext cx="2573020" cy="368935"/>
          </a:xfrm>
          <a:prstGeom prst="rect">
            <a:avLst/>
          </a:prstGeom>
          <a:solidFill>
            <a:srgbClr val="EBDDC3"/>
          </a:solidFill>
        </p:spPr>
        <p:txBody>
          <a:bodyPr vert="horz" wrap="square" lIns="0" tIns="35560" rIns="0" bIns="0" rtlCol="0">
            <a:spAutoFit/>
          </a:bodyPr>
          <a:lstStyle/>
          <a:p>
            <a:pPr marL="227329">
              <a:lnSpc>
                <a:spcPct val="100000"/>
              </a:lnSpc>
              <a:spcBef>
                <a:spcPts val="280"/>
              </a:spcBef>
            </a:pPr>
            <a:r>
              <a:rPr lang="es-CO" sz="1800" noProof="0" dirty="0">
                <a:latin typeface="Arial MT"/>
                <a:cs typeface="Arial MT"/>
              </a:rPr>
              <a:t>Covarianza</a:t>
            </a:r>
            <a:r>
              <a:rPr lang="es-CO" sz="1800" spc="-95" noProof="0" dirty="0">
                <a:latin typeface="Arial MT"/>
                <a:cs typeface="Arial MT"/>
              </a:rPr>
              <a:t> </a:t>
            </a:r>
            <a:r>
              <a:rPr lang="es-CO" sz="1800" spc="-10" noProof="0" dirty="0">
                <a:latin typeface="Arial MT"/>
                <a:cs typeface="Arial MT"/>
              </a:rPr>
              <a:t>Negativa</a:t>
            </a:r>
            <a:endParaRPr lang="es-CO" sz="1800" noProof="0" dirty="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79435" y="6320028"/>
            <a:ext cx="3182620" cy="368935"/>
          </a:xfrm>
          <a:prstGeom prst="rect">
            <a:avLst/>
          </a:prstGeom>
          <a:solidFill>
            <a:srgbClr val="EBDDC3"/>
          </a:solidFill>
        </p:spPr>
        <p:txBody>
          <a:bodyPr vert="horz" wrap="square" lIns="0" tIns="35560" rIns="0" bIns="0" rtlCol="0">
            <a:spAutoFit/>
          </a:bodyPr>
          <a:lstStyle/>
          <a:p>
            <a:pPr marL="227965">
              <a:lnSpc>
                <a:spcPct val="100000"/>
              </a:lnSpc>
              <a:spcBef>
                <a:spcPts val="280"/>
              </a:spcBef>
            </a:pPr>
            <a:r>
              <a:rPr lang="es-CO" sz="1800" noProof="0" dirty="0">
                <a:latin typeface="Arial MT"/>
                <a:cs typeface="Arial MT"/>
              </a:rPr>
              <a:t>Covarianza</a:t>
            </a:r>
            <a:r>
              <a:rPr lang="es-CO" sz="1800" spc="-45" noProof="0" dirty="0">
                <a:latin typeface="Arial MT"/>
                <a:cs typeface="Arial MT"/>
              </a:rPr>
              <a:t> </a:t>
            </a:r>
            <a:r>
              <a:rPr lang="es-CO" sz="1800" noProof="0" dirty="0">
                <a:latin typeface="Arial MT"/>
                <a:cs typeface="Arial MT"/>
              </a:rPr>
              <a:t>cercana</a:t>
            </a:r>
            <a:r>
              <a:rPr lang="es-CO" sz="1800" spc="-50" noProof="0" dirty="0">
                <a:latin typeface="Arial MT"/>
                <a:cs typeface="Arial MT"/>
              </a:rPr>
              <a:t> </a:t>
            </a:r>
            <a:r>
              <a:rPr lang="es-CO" sz="1800" noProof="0" dirty="0">
                <a:latin typeface="Arial MT"/>
                <a:cs typeface="Arial MT"/>
              </a:rPr>
              <a:t>a</a:t>
            </a:r>
            <a:r>
              <a:rPr lang="es-CO" sz="1800" spc="-45" noProof="0" dirty="0">
                <a:latin typeface="Arial MT"/>
                <a:cs typeface="Arial MT"/>
              </a:rPr>
              <a:t> </a:t>
            </a:r>
            <a:r>
              <a:rPr lang="es-CO" sz="1800" spc="-20" noProof="0" dirty="0">
                <a:latin typeface="Arial MT"/>
                <a:cs typeface="Arial MT"/>
              </a:rPr>
              <a:t>cero</a:t>
            </a:r>
            <a:endParaRPr lang="es-CO" sz="1800" noProof="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lang="es-CO" spc="-204" noProof="0" dirty="0"/>
              <a:t>Coeficiente</a:t>
            </a:r>
            <a:r>
              <a:rPr lang="es-CO" spc="-245" noProof="0" dirty="0"/>
              <a:t> </a:t>
            </a:r>
            <a:r>
              <a:rPr lang="es-CO" noProof="0" dirty="0"/>
              <a:t>de</a:t>
            </a:r>
            <a:r>
              <a:rPr lang="es-CO" spc="-155" noProof="0" dirty="0"/>
              <a:t> </a:t>
            </a:r>
            <a:r>
              <a:rPr lang="es-CO" spc="-204" noProof="0" dirty="0"/>
              <a:t>correlación</a:t>
            </a:r>
            <a:r>
              <a:rPr lang="es-CO" spc="-240" noProof="0" dirty="0"/>
              <a:t> </a:t>
            </a:r>
            <a:r>
              <a:rPr lang="es-CO" spc="-110" noProof="0" dirty="0"/>
              <a:t>lineal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5299" y="1618970"/>
            <a:ext cx="10310495" cy="4478655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lang="es-CO" sz="2900" b="1" spc="-340" noProof="0" dirty="0">
                <a:latin typeface="Arial"/>
                <a:cs typeface="Arial"/>
              </a:rPr>
              <a:t>I</a:t>
            </a:r>
            <a:r>
              <a:rPr lang="es-CO" sz="2900" b="1" spc="-335" noProof="0" dirty="0">
                <a:latin typeface="Arial"/>
                <a:cs typeface="Arial"/>
              </a:rPr>
              <a:t>N</a:t>
            </a:r>
            <a:r>
              <a:rPr lang="es-CO" sz="2900" b="1" spc="-340" noProof="0" dirty="0">
                <a:latin typeface="Arial"/>
                <a:cs typeface="Arial"/>
              </a:rPr>
              <a:t>T</a:t>
            </a:r>
            <a:r>
              <a:rPr lang="es-CO" sz="2900" b="1" spc="-345" noProof="0" dirty="0">
                <a:latin typeface="Arial"/>
                <a:cs typeface="Arial"/>
              </a:rPr>
              <a:t>E</a:t>
            </a:r>
            <a:r>
              <a:rPr lang="es-CO" sz="2900" b="1" spc="-335" noProof="0" dirty="0">
                <a:latin typeface="Arial"/>
                <a:cs typeface="Arial"/>
              </a:rPr>
              <a:t>R</a:t>
            </a:r>
            <a:r>
              <a:rPr lang="es-CO" sz="2900" b="1" spc="-345" noProof="0" dirty="0">
                <a:latin typeface="Arial"/>
                <a:cs typeface="Arial"/>
              </a:rPr>
              <a:t>P</a:t>
            </a:r>
            <a:r>
              <a:rPr lang="es-CO" sz="2900" b="1" spc="-335" noProof="0" dirty="0">
                <a:latin typeface="Arial"/>
                <a:cs typeface="Arial"/>
              </a:rPr>
              <a:t>R</a:t>
            </a:r>
            <a:r>
              <a:rPr lang="es-CO" sz="2900" b="1" spc="-345" noProof="0" dirty="0">
                <a:latin typeface="Arial"/>
                <a:cs typeface="Arial"/>
              </a:rPr>
              <a:t>E</a:t>
            </a:r>
            <a:r>
              <a:rPr lang="es-CO" sz="2900" b="1" spc="-560" noProof="0" dirty="0">
                <a:latin typeface="Arial"/>
                <a:cs typeface="Arial"/>
              </a:rPr>
              <a:t>T</a:t>
            </a:r>
            <a:r>
              <a:rPr lang="es-CO" sz="2900" b="1" spc="-335" noProof="0" dirty="0">
                <a:latin typeface="Arial"/>
                <a:cs typeface="Arial"/>
              </a:rPr>
              <a:t>AC</a:t>
            </a:r>
            <a:r>
              <a:rPr lang="es-CO" sz="2900" b="1" spc="-340" noProof="0" dirty="0">
                <a:latin typeface="Arial"/>
                <a:cs typeface="Arial"/>
              </a:rPr>
              <a:t>IO</a:t>
            </a:r>
            <a:r>
              <a:rPr lang="es-CO" sz="2900" b="1" spc="-20" noProof="0" dirty="0">
                <a:latin typeface="Arial"/>
                <a:cs typeface="Arial"/>
              </a:rPr>
              <a:t>N</a:t>
            </a:r>
            <a:endParaRPr lang="es-CO" sz="2900" noProof="0" dirty="0">
              <a:latin typeface="Arial"/>
              <a:cs typeface="Arial"/>
            </a:endParaRPr>
          </a:p>
          <a:p>
            <a:pPr marL="332740" marR="1254760" indent="-320040">
              <a:lnSpc>
                <a:spcPct val="100299"/>
              </a:lnSpc>
              <a:spcBef>
                <a:spcPts val="1789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  <a:tab pos="1627505" algn="l"/>
              </a:tabLst>
            </a:pPr>
            <a:r>
              <a:rPr lang="es-CO" sz="2900" spc="-215" noProof="0" dirty="0">
                <a:latin typeface="Microsoft Sans Serif"/>
                <a:cs typeface="Microsoft Sans Serif"/>
              </a:rPr>
              <a:t>Si</a:t>
            </a:r>
            <a:r>
              <a:rPr lang="es-CO" sz="2900" spc="-80" noProof="0" dirty="0">
                <a:latin typeface="Microsoft Sans Serif"/>
                <a:cs typeface="Microsoft Sans Serif"/>
              </a:rPr>
              <a:t> </a:t>
            </a:r>
            <a:r>
              <a:rPr lang="es-CO" sz="2900" b="1" spc="-20" noProof="0" dirty="0">
                <a:latin typeface="Arial"/>
                <a:cs typeface="Arial"/>
              </a:rPr>
              <a:t>0.5≤</a:t>
            </a:r>
            <a:r>
              <a:rPr lang="es-CO" sz="2900" b="1" noProof="0" dirty="0">
                <a:latin typeface="Arial"/>
                <a:cs typeface="Arial"/>
              </a:rPr>
              <a:t>	</a:t>
            </a:r>
            <a:r>
              <a:rPr lang="es-CO" sz="2900" b="1" spc="-200" noProof="0" dirty="0" err="1">
                <a:latin typeface="Arial"/>
                <a:cs typeface="Arial"/>
              </a:rPr>
              <a:t>abs</a:t>
            </a:r>
            <a:r>
              <a:rPr lang="es-CO" sz="2900" b="1" spc="-200" noProof="0" dirty="0">
                <a:latin typeface="Arial"/>
                <a:cs typeface="Arial"/>
              </a:rPr>
              <a:t>(Corr(A,B))</a:t>
            </a:r>
            <a:r>
              <a:rPr lang="es-CO" sz="2900" b="1" spc="-130" noProof="0" dirty="0">
                <a:latin typeface="Arial"/>
                <a:cs typeface="Arial"/>
              </a:rPr>
              <a:t> </a:t>
            </a:r>
            <a:r>
              <a:rPr lang="es-CO" sz="2900" b="1" noProof="0" dirty="0">
                <a:latin typeface="Arial"/>
                <a:cs typeface="Arial"/>
              </a:rPr>
              <a:t>&lt;</a:t>
            </a:r>
            <a:r>
              <a:rPr lang="es-CO" sz="2900" b="1" spc="229" noProof="0" dirty="0">
                <a:latin typeface="Arial"/>
                <a:cs typeface="Arial"/>
              </a:rPr>
              <a:t> </a:t>
            </a:r>
            <a:r>
              <a:rPr lang="es-CO" sz="2900" b="1" spc="-45" noProof="0" dirty="0">
                <a:latin typeface="Arial"/>
                <a:cs typeface="Arial"/>
              </a:rPr>
              <a:t>0.8</a:t>
            </a:r>
            <a:r>
              <a:rPr lang="es-CO" sz="2900" b="1" spc="-135" noProof="0" dirty="0">
                <a:latin typeface="Arial"/>
                <a:cs typeface="Arial"/>
              </a:rPr>
              <a:t> </a:t>
            </a:r>
            <a:r>
              <a:rPr lang="es-CO" sz="2900" spc="-170" noProof="0" dirty="0">
                <a:latin typeface="Microsoft Sans Serif"/>
                <a:cs typeface="Microsoft Sans Serif"/>
              </a:rPr>
              <a:t>se</a:t>
            </a:r>
            <a:r>
              <a:rPr lang="es-CO" sz="2900" spc="-290" noProof="0" dirty="0">
                <a:latin typeface="Microsoft Sans Serif"/>
                <a:cs typeface="Microsoft Sans Serif"/>
              </a:rPr>
              <a:t> </a:t>
            </a:r>
            <a:r>
              <a:rPr lang="es-CO" sz="2900" spc="-110" noProof="0" dirty="0">
                <a:latin typeface="Microsoft Sans Serif"/>
                <a:cs typeface="Microsoft Sans Serif"/>
              </a:rPr>
              <a:t>dice</a:t>
            </a:r>
            <a:r>
              <a:rPr lang="es-CO" sz="2900" spc="-100" noProof="0" dirty="0">
                <a:latin typeface="Microsoft Sans Serif"/>
                <a:cs typeface="Microsoft Sans Serif"/>
              </a:rPr>
              <a:t> </a:t>
            </a:r>
            <a:r>
              <a:rPr lang="es-CO" sz="2900" spc="-110" noProof="0" dirty="0">
                <a:latin typeface="Microsoft Sans Serif"/>
                <a:cs typeface="Microsoft Sans Serif"/>
              </a:rPr>
              <a:t>que</a:t>
            </a:r>
            <a:r>
              <a:rPr lang="es-CO" sz="2900" spc="-13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A</a:t>
            </a:r>
            <a:r>
              <a:rPr lang="es-CO" sz="2900" spc="-14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y</a:t>
            </a:r>
            <a:r>
              <a:rPr lang="es-CO" sz="2900" spc="55" noProof="0" dirty="0">
                <a:latin typeface="Microsoft Sans Serif"/>
                <a:cs typeface="Microsoft Sans Serif"/>
              </a:rPr>
              <a:t> </a:t>
            </a:r>
            <a:r>
              <a:rPr lang="es-CO" sz="2900" spc="-25" noProof="0" dirty="0">
                <a:latin typeface="Microsoft Sans Serif"/>
                <a:cs typeface="Microsoft Sans Serif"/>
              </a:rPr>
              <a:t>B</a:t>
            </a:r>
            <a:r>
              <a:rPr lang="es-CO" sz="2900" spc="-459" noProof="0" dirty="0">
                <a:latin typeface="Microsoft Sans Serif"/>
                <a:cs typeface="Microsoft Sans Serif"/>
              </a:rPr>
              <a:t> </a:t>
            </a:r>
            <a:r>
              <a:rPr lang="es-CO" sz="2900" spc="-135" noProof="0" dirty="0">
                <a:latin typeface="Microsoft Sans Serif"/>
                <a:cs typeface="Microsoft Sans Serif"/>
              </a:rPr>
              <a:t>tienen</a:t>
            </a:r>
            <a:r>
              <a:rPr lang="es-CO" sz="2900" spc="-260" noProof="0" dirty="0">
                <a:latin typeface="Microsoft Sans Serif"/>
                <a:cs typeface="Microsoft Sans Serif"/>
              </a:rPr>
              <a:t> </a:t>
            </a:r>
            <a:r>
              <a:rPr lang="es-CO" sz="2900" spc="-75" noProof="0" dirty="0">
                <a:latin typeface="Microsoft Sans Serif"/>
                <a:cs typeface="Microsoft Sans Serif"/>
              </a:rPr>
              <a:t>una </a:t>
            </a:r>
            <a:r>
              <a:rPr lang="es-CO" sz="2900" spc="-140" noProof="0" dirty="0">
                <a:latin typeface="Microsoft Sans Serif"/>
                <a:cs typeface="Microsoft Sans Serif"/>
              </a:rPr>
              <a:t>correlación</a:t>
            </a:r>
            <a:r>
              <a:rPr lang="es-CO" sz="2900" spc="-120" noProof="0" dirty="0">
                <a:latin typeface="Microsoft Sans Serif"/>
                <a:cs typeface="Microsoft Sans Serif"/>
              </a:rPr>
              <a:t> </a:t>
            </a:r>
            <a:r>
              <a:rPr lang="es-CO" sz="2900" spc="-100" noProof="0" dirty="0">
                <a:latin typeface="Microsoft Sans Serif"/>
                <a:cs typeface="Microsoft Sans Serif"/>
              </a:rPr>
              <a:t>lineal</a:t>
            </a:r>
            <a:r>
              <a:rPr lang="es-CO" sz="2900" spc="-55" noProof="0" dirty="0">
                <a:latin typeface="Microsoft Sans Serif"/>
                <a:cs typeface="Microsoft Sans Serif"/>
              </a:rPr>
              <a:t> </a:t>
            </a:r>
            <a:r>
              <a:rPr lang="es-CO" sz="2900" spc="-10" noProof="0" dirty="0">
                <a:latin typeface="Microsoft Sans Serif"/>
                <a:cs typeface="Microsoft Sans Serif"/>
              </a:rPr>
              <a:t>débil.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332740" marR="520700" indent="-320040">
              <a:lnSpc>
                <a:spcPct val="100400"/>
              </a:lnSpc>
              <a:spcBef>
                <a:spcPts val="177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lang="es-CO" sz="2900" spc="-130" noProof="0" dirty="0">
                <a:latin typeface="Microsoft Sans Serif"/>
                <a:cs typeface="Microsoft Sans Serif"/>
              </a:rPr>
              <a:t>Si</a:t>
            </a:r>
            <a:r>
              <a:rPr lang="es-CO" sz="2900" spc="-215" noProof="0" dirty="0">
                <a:latin typeface="Microsoft Sans Serif"/>
                <a:cs typeface="Microsoft Sans Serif"/>
              </a:rPr>
              <a:t> </a:t>
            </a:r>
            <a:r>
              <a:rPr lang="es-CO" sz="2900" b="1" spc="-190" noProof="0" dirty="0" err="1">
                <a:latin typeface="Arial"/>
                <a:cs typeface="Arial"/>
              </a:rPr>
              <a:t>abs</a:t>
            </a:r>
            <a:r>
              <a:rPr lang="es-CO" sz="2900" b="1" spc="-190" noProof="0" dirty="0">
                <a:latin typeface="Arial"/>
                <a:cs typeface="Arial"/>
              </a:rPr>
              <a:t>(Corr(A,B))</a:t>
            </a:r>
            <a:r>
              <a:rPr lang="es-CO" sz="2900" b="1" spc="-229" noProof="0" dirty="0">
                <a:latin typeface="Arial"/>
                <a:cs typeface="Arial"/>
              </a:rPr>
              <a:t> </a:t>
            </a:r>
            <a:r>
              <a:rPr lang="es-CO" sz="2900" b="1" noProof="0" dirty="0">
                <a:latin typeface="Arial"/>
                <a:cs typeface="Arial"/>
              </a:rPr>
              <a:t>&gt;</a:t>
            </a:r>
            <a:r>
              <a:rPr lang="es-CO" sz="2900" b="1" spc="200" noProof="0" dirty="0">
                <a:latin typeface="Arial"/>
                <a:cs typeface="Arial"/>
              </a:rPr>
              <a:t> </a:t>
            </a:r>
            <a:r>
              <a:rPr lang="es-CO" sz="2900" b="1" spc="-40" noProof="0" dirty="0">
                <a:latin typeface="Arial"/>
                <a:cs typeface="Arial"/>
              </a:rPr>
              <a:t>0.8</a:t>
            </a:r>
            <a:r>
              <a:rPr lang="es-CO" sz="2900" b="1" spc="-135" noProof="0" dirty="0">
                <a:latin typeface="Arial"/>
                <a:cs typeface="Arial"/>
              </a:rPr>
              <a:t> </a:t>
            </a:r>
            <a:r>
              <a:rPr lang="es-CO" sz="2900" spc="-165" noProof="0" dirty="0">
                <a:latin typeface="Microsoft Sans Serif"/>
                <a:cs typeface="Microsoft Sans Serif"/>
              </a:rPr>
              <a:t>se</a:t>
            </a:r>
            <a:r>
              <a:rPr lang="es-CO" sz="2900" spc="-275" noProof="0" dirty="0">
                <a:latin typeface="Microsoft Sans Serif"/>
                <a:cs typeface="Microsoft Sans Serif"/>
              </a:rPr>
              <a:t> </a:t>
            </a:r>
            <a:r>
              <a:rPr lang="es-CO" sz="2900" spc="-100" noProof="0" dirty="0">
                <a:latin typeface="Microsoft Sans Serif"/>
                <a:cs typeface="Microsoft Sans Serif"/>
              </a:rPr>
              <a:t>dice</a:t>
            </a:r>
            <a:r>
              <a:rPr lang="es-CO" sz="2900" spc="-135" noProof="0" dirty="0">
                <a:latin typeface="Microsoft Sans Serif"/>
                <a:cs typeface="Microsoft Sans Serif"/>
              </a:rPr>
              <a:t>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que</a:t>
            </a:r>
            <a:r>
              <a:rPr lang="es-CO" sz="2900" spc="-13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A</a:t>
            </a:r>
            <a:r>
              <a:rPr lang="es-CO" sz="2900" spc="-14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y</a:t>
            </a:r>
            <a:r>
              <a:rPr lang="es-CO" sz="2900" spc="45" noProof="0" dirty="0">
                <a:latin typeface="Microsoft Sans Serif"/>
                <a:cs typeface="Microsoft Sans Serif"/>
              </a:rPr>
              <a:t> </a:t>
            </a:r>
            <a:r>
              <a:rPr lang="es-CO" sz="2900" spc="-135" noProof="0" dirty="0">
                <a:latin typeface="Microsoft Sans Serif"/>
                <a:cs typeface="Microsoft Sans Serif"/>
              </a:rPr>
              <a:t>B tienen</a:t>
            </a:r>
            <a:r>
              <a:rPr lang="es-CO" sz="2900" spc="-125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una</a:t>
            </a:r>
            <a:r>
              <a:rPr lang="es-CO" sz="2900" spc="-195" noProof="0" dirty="0">
                <a:latin typeface="Microsoft Sans Serif"/>
                <a:cs typeface="Microsoft Sans Serif"/>
              </a:rPr>
              <a:t> </a:t>
            </a:r>
            <a:r>
              <a:rPr lang="es-CO" sz="2900" spc="-105" noProof="0" dirty="0">
                <a:latin typeface="Microsoft Sans Serif"/>
                <a:cs typeface="Microsoft Sans Serif"/>
              </a:rPr>
              <a:t>correlación </a:t>
            </a:r>
            <a:r>
              <a:rPr lang="es-CO" sz="2900" spc="-100" noProof="0" dirty="0">
                <a:latin typeface="Microsoft Sans Serif"/>
                <a:cs typeface="Microsoft Sans Serif"/>
              </a:rPr>
              <a:t>lineal</a:t>
            </a:r>
            <a:r>
              <a:rPr lang="es-CO" sz="2900" spc="-60" noProof="0" dirty="0">
                <a:latin typeface="Microsoft Sans Serif"/>
                <a:cs typeface="Microsoft Sans Serif"/>
              </a:rPr>
              <a:t> </a:t>
            </a:r>
            <a:r>
              <a:rPr lang="es-CO" sz="2900" spc="-10" noProof="0" dirty="0">
                <a:latin typeface="Microsoft Sans Serif"/>
                <a:cs typeface="Microsoft Sans Serif"/>
              </a:rPr>
              <a:t>fuerte</a:t>
            </a:r>
            <a:endParaRPr lang="es-CO" sz="2900" noProof="0" dirty="0">
              <a:latin typeface="Microsoft Sans Serif"/>
              <a:cs typeface="Microsoft Sans Serif"/>
            </a:endParaRPr>
          </a:p>
          <a:p>
            <a:pPr marL="332740" marR="5080" indent="-320040">
              <a:lnSpc>
                <a:spcPct val="100200"/>
              </a:lnSpc>
              <a:spcBef>
                <a:spcPts val="1780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740" algn="l"/>
              </a:tabLst>
            </a:pPr>
            <a:r>
              <a:rPr lang="es-CO" sz="2900" spc="-150" noProof="0" dirty="0">
                <a:latin typeface="Microsoft Sans Serif"/>
                <a:cs typeface="Microsoft Sans Serif"/>
              </a:rPr>
              <a:t>Si</a:t>
            </a:r>
            <a:r>
              <a:rPr lang="es-CO" sz="2900" spc="-484" noProof="0" dirty="0">
                <a:latin typeface="Microsoft Sans Serif"/>
                <a:cs typeface="Microsoft Sans Serif"/>
              </a:rPr>
              <a:t> </a:t>
            </a:r>
            <a:r>
              <a:rPr lang="es-CO" sz="2900" b="1" spc="-150" noProof="0" dirty="0" err="1">
                <a:latin typeface="Arial"/>
                <a:cs typeface="Arial"/>
              </a:rPr>
              <a:t>abs</a:t>
            </a:r>
            <a:r>
              <a:rPr lang="es-CO" sz="2900" b="1" spc="-150" noProof="0" dirty="0">
                <a:latin typeface="Arial"/>
                <a:cs typeface="Arial"/>
              </a:rPr>
              <a:t>(Corr(A,B))&lt;0.5</a:t>
            </a:r>
            <a:r>
              <a:rPr lang="es-CO" sz="2900" b="1" spc="-305" noProof="0" dirty="0">
                <a:latin typeface="Arial"/>
                <a:cs typeface="Arial"/>
              </a:rPr>
              <a:t> </a:t>
            </a:r>
            <a:r>
              <a:rPr lang="es-CO" sz="2900" spc="-110" noProof="0" dirty="0">
                <a:latin typeface="Microsoft Sans Serif"/>
                <a:cs typeface="Microsoft Sans Serif"/>
              </a:rPr>
              <a:t>se dice</a:t>
            </a:r>
            <a:r>
              <a:rPr lang="es-CO" sz="2900" spc="-254" noProof="0" dirty="0">
                <a:latin typeface="Microsoft Sans Serif"/>
                <a:cs typeface="Microsoft Sans Serif"/>
              </a:rPr>
              <a:t>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que</a:t>
            </a:r>
            <a:r>
              <a:rPr lang="es-CO" sz="2900" spc="-335" noProof="0" dirty="0">
                <a:latin typeface="Microsoft Sans Serif"/>
                <a:cs typeface="Microsoft Sans Serif"/>
              </a:rPr>
              <a:t> </a:t>
            </a:r>
            <a:r>
              <a:rPr lang="es-CO" sz="2900" spc="-25" noProof="0" dirty="0">
                <a:latin typeface="Microsoft Sans Serif"/>
                <a:cs typeface="Microsoft Sans Serif"/>
              </a:rPr>
              <a:t>A</a:t>
            </a:r>
            <a:r>
              <a:rPr lang="es-CO" sz="2900" spc="-330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y</a:t>
            </a:r>
            <a:r>
              <a:rPr lang="es-CO" sz="2900" spc="45" noProof="0" dirty="0">
                <a:latin typeface="Microsoft Sans Serif"/>
                <a:cs typeface="Microsoft Sans Serif"/>
              </a:rPr>
              <a:t> </a:t>
            </a:r>
            <a:r>
              <a:rPr lang="es-CO" sz="2900" spc="-160" noProof="0" dirty="0">
                <a:latin typeface="Microsoft Sans Serif"/>
                <a:cs typeface="Microsoft Sans Serif"/>
              </a:rPr>
              <a:t>B no</a:t>
            </a:r>
            <a:r>
              <a:rPr lang="es-CO" sz="2900" spc="-490" noProof="0" dirty="0">
                <a:latin typeface="Microsoft Sans Serif"/>
                <a:cs typeface="Microsoft Sans Serif"/>
              </a:rPr>
              <a:t> </a:t>
            </a:r>
            <a:r>
              <a:rPr lang="es-CO" sz="2900" spc="-170" noProof="0" dirty="0">
                <a:latin typeface="Microsoft Sans Serif"/>
                <a:cs typeface="Microsoft Sans Serif"/>
              </a:rPr>
              <a:t>están</a:t>
            </a:r>
            <a:r>
              <a:rPr lang="es-CO" sz="2900" spc="-400" noProof="0" dirty="0">
                <a:latin typeface="Microsoft Sans Serif"/>
                <a:cs typeface="Microsoft Sans Serif"/>
              </a:rPr>
              <a:t> </a:t>
            </a:r>
            <a:r>
              <a:rPr lang="es-CO" sz="2900" spc="-75" noProof="0" dirty="0">
                <a:latin typeface="Microsoft Sans Serif"/>
                <a:cs typeface="Microsoft Sans Serif"/>
              </a:rPr>
              <a:t>correlacionados </a:t>
            </a:r>
            <a:r>
              <a:rPr lang="es-CO" sz="2900" spc="-165" noProof="0" dirty="0">
                <a:latin typeface="Microsoft Sans Serif"/>
                <a:cs typeface="Microsoft Sans Serif"/>
              </a:rPr>
              <a:t>linealmente.</a:t>
            </a:r>
            <a:r>
              <a:rPr lang="es-CO" sz="2900" spc="-145" noProof="0" dirty="0">
                <a:latin typeface="Microsoft Sans Serif"/>
                <a:cs typeface="Microsoft Sans Serif"/>
              </a:rPr>
              <a:t> </a:t>
            </a:r>
            <a:r>
              <a:rPr lang="es-CO" sz="2900" spc="-260" noProof="0" dirty="0">
                <a:latin typeface="Microsoft Sans Serif"/>
                <a:cs typeface="Microsoft Sans Serif"/>
              </a:rPr>
              <a:t>Esto</a:t>
            </a:r>
            <a:r>
              <a:rPr lang="es-CO" sz="2900" spc="-295" noProof="0" dirty="0">
                <a:latin typeface="Microsoft Sans Serif"/>
                <a:cs typeface="Microsoft Sans Serif"/>
              </a:rPr>
              <a:t> </a:t>
            </a:r>
            <a:r>
              <a:rPr lang="es-CO" sz="2900" noProof="0" dirty="0">
                <a:latin typeface="Microsoft Sans Serif"/>
                <a:cs typeface="Microsoft Sans Serif"/>
              </a:rPr>
              <a:t>NO</a:t>
            </a:r>
            <a:r>
              <a:rPr lang="es-CO" sz="2900" spc="-40" noProof="0" dirty="0">
                <a:latin typeface="Microsoft Sans Serif"/>
                <a:cs typeface="Microsoft Sans Serif"/>
              </a:rPr>
              <a:t> </a:t>
            </a:r>
            <a:r>
              <a:rPr lang="es-CO" sz="2900" spc="-120" noProof="0" dirty="0">
                <a:latin typeface="Microsoft Sans Serif"/>
                <a:cs typeface="Microsoft Sans Serif"/>
              </a:rPr>
              <a:t>implica</a:t>
            </a:r>
            <a:r>
              <a:rPr lang="es-CO" sz="2900" spc="-95" noProof="0" dirty="0">
                <a:latin typeface="Microsoft Sans Serif"/>
                <a:cs typeface="Microsoft Sans Serif"/>
              </a:rPr>
              <a:t> </a:t>
            </a:r>
            <a:r>
              <a:rPr lang="es-CO" sz="2900" spc="-125" noProof="0" dirty="0">
                <a:latin typeface="Microsoft Sans Serif"/>
                <a:cs typeface="Microsoft Sans Serif"/>
              </a:rPr>
              <a:t>que</a:t>
            </a:r>
            <a:r>
              <a:rPr lang="es-CO" sz="2900" spc="-155" noProof="0" dirty="0">
                <a:latin typeface="Microsoft Sans Serif"/>
                <a:cs typeface="Microsoft Sans Serif"/>
              </a:rPr>
              <a:t> </a:t>
            </a:r>
            <a:r>
              <a:rPr lang="es-CO" sz="2900" spc="-225" noProof="0" dirty="0">
                <a:latin typeface="Microsoft Sans Serif"/>
                <a:cs typeface="Microsoft Sans Serif"/>
              </a:rPr>
              <a:t>son</a:t>
            </a:r>
            <a:r>
              <a:rPr lang="es-CO" sz="2900" spc="-280" noProof="0" dirty="0">
                <a:latin typeface="Microsoft Sans Serif"/>
                <a:cs typeface="Microsoft Sans Serif"/>
              </a:rPr>
              <a:t> </a:t>
            </a:r>
            <a:r>
              <a:rPr lang="es-CO" sz="2900" spc="-170" noProof="0" dirty="0">
                <a:latin typeface="Microsoft Sans Serif"/>
                <a:cs typeface="Microsoft Sans Serif"/>
              </a:rPr>
              <a:t>independientes,</a:t>
            </a:r>
            <a:r>
              <a:rPr lang="es-CO" sz="2900" spc="-160" noProof="0" dirty="0">
                <a:latin typeface="Microsoft Sans Serif"/>
                <a:cs typeface="Microsoft Sans Serif"/>
              </a:rPr>
              <a:t> </a:t>
            </a:r>
            <a:r>
              <a:rPr lang="es-CO" sz="2900" spc="-170" noProof="0" dirty="0">
                <a:latin typeface="Microsoft Sans Serif"/>
                <a:cs typeface="Microsoft Sans Serif"/>
              </a:rPr>
              <a:t>sólo </a:t>
            </a:r>
            <a:r>
              <a:rPr lang="es-CO" sz="2900" spc="-125" noProof="0" dirty="0">
                <a:latin typeface="Microsoft Sans Serif"/>
                <a:cs typeface="Microsoft Sans Serif"/>
              </a:rPr>
              <a:t>que</a:t>
            </a:r>
            <a:r>
              <a:rPr lang="es-CO" sz="2900" spc="-130" noProof="0" dirty="0">
                <a:latin typeface="Microsoft Sans Serif"/>
                <a:cs typeface="Microsoft Sans Serif"/>
              </a:rPr>
              <a:t> </a:t>
            </a:r>
            <a:r>
              <a:rPr lang="es-CO" sz="2900" spc="-60" noProof="0" dirty="0">
                <a:latin typeface="Microsoft Sans Serif"/>
                <a:cs typeface="Microsoft Sans Serif"/>
              </a:rPr>
              <a:t>entre </a:t>
            </a:r>
            <a:r>
              <a:rPr lang="es-CO" sz="2900" spc="-180" noProof="0" dirty="0">
                <a:latin typeface="Microsoft Sans Serif"/>
                <a:cs typeface="Microsoft Sans Serif"/>
              </a:rPr>
              <a:t>ambos</a:t>
            </a:r>
            <a:r>
              <a:rPr lang="es-CO" sz="2900" spc="-254" noProof="0" dirty="0">
                <a:latin typeface="Microsoft Sans Serif"/>
                <a:cs typeface="Microsoft Sans Serif"/>
              </a:rPr>
              <a:t> </a:t>
            </a:r>
            <a:r>
              <a:rPr lang="es-CO" sz="2900" spc="-125" noProof="0" dirty="0">
                <a:latin typeface="Microsoft Sans Serif"/>
                <a:cs typeface="Microsoft Sans Serif"/>
              </a:rPr>
              <a:t>no</a:t>
            </a:r>
            <a:r>
              <a:rPr lang="es-CO" sz="2900" spc="-215" noProof="0" dirty="0">
                <a:latin typeface="Microsoft Sans Serif"/>
                <a:cs typeface="Microsoft Sans Serif"/>
              </a:rPr>
              <a:t> </a:t>
            </a:r>
            <a:r>
              <a:rPr lang="es-CO" sz="2900" spc="-114" noProof="0" dirty="0">
                <a:latin typeface="Microsoft Sans Serif"/>
                <a:cs typeface="Microsoft Sans Serif"/>
              </a:rPr>
              <a:t>hay</a:t>
            </a:r>
            <a:r>
              <a:rPr lang="es-CO" sz="2900" noProof="0" dirty="0">
                <a:latin typeface="Microsoft Sans Serif"/>
                <a:cs typeface="Microsoft Sans Serif"/>
              </a:rPr>
              <a:t> </a:t>
            </a:r>
            <a:r>
              <a:rPr lang="es-CO" sz="2900" spc="-150" noProof="0" dirty="0">
                <a:latin typeface="Microsoft Sans Serif"/>
                <a:cs typeface="Microsoft Sans Serif"/>
              </a:rPr>
              <a:t>una</a:t>
            </a:r>
            <a:r>
              <a:rPr lang="es-CO" sz="2900" spc="-215" noProof="0" dirty="0">
                <a:latin typeface="Microsoft Sans Serif"/>
                <a:cs typeface="Microsoft Sans Serif"/>
              </a:rPr>
              <a:t> </a:t>
            </a:r>
            <a:r>
              <a:rPr lang="es-CO" sz="2900" spc="-130" noProof="0" dirty="0">
                <a:latin typeface="Microsoft Sans Serif"/>
                <a:cs typeface="Microsoft Sans Serif"/>
              </a:rPr>
              <a:t>correlación</a:t>
            </a:r>
            <a:r>
              <a:rPr lang="es-CO" sz="2900" spc="-254" noProof="0" dirty="0">
                <a:latin typeface="Microsoft Sans Serif"/>
                <a:cs typeface="Microsoft Sans Serif"/>
              </a:rPr>
              <a:t> </a:t>
            </a:r>
            <a:r>
              <a:rPr lang="es-CO" sz="2900" spc="-10" noProof="0" dirty="0">
                <a:latin typeface="Microsoft Sans Serif"/>
                <a:cs typeface="Microsoft Sans Serif"/>
              </a:rPr>
              <a:t>lineal.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A80EC-1CF3-0C63-E9F4-D72509D15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08E52A8-6EBF-5FCC-9A18-01C1160062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78815">
              <a:lnSpc>
                <a:spcPct val="100000"/>
              </a:lnSpc>
              <a:spcBef>
                <a:spcPts val="105"/>
              </a:spcBef>
            </a:pPr>
            <a:r>
              <a:rPr lang="es-CO" spc="-204" noProof="0" dirty="0"/>
              <a:t>Coeficiente</a:t>
            </a:r>
            <a:r>
              <a:rPr lang="es-CO" spc="-245" noProof="0" dirty="0"/>
              <a:t> </a:t>
            </a:r>
            <a:r>
              <a:rPr lang="es-CO" noProof="0" dirty="0"/>
              <a:t>de</a:t>
            </a:r>
            <a:r>
              <a:rPr lang="es-CO" spc="-155" noProof="0" dirty="0"/>
              <a:t> </a:t>
            </a:r>
            <a:r>
              <a:rPr lang="es-CO" spc="-204" noProof="0" dirty="0"/>
              <a:t>correlación</a:t>
            </a:r>
            <a:r>
              <a:rPr lang="es-CO" spc="-240" noProof="0" dirty="0"/>
              <a:t> </a:t>
            </a:r>
            <a:r>
              <a:rPr lang="es-CO" spc="-110" noProof="0" dirty="0"/>
              <a:t>lineal</a:t>
            </a:r>
          </a:p>
        </p:txBody>
      </p:sp>
      <p:pic>
        <p:nvPicPr>
          <p:cNvPr id="3074" name="Picture 2" descr="Estadística Bidimensional. Covarianza y coef. correlación">
            <a:extLst>
              <a:ext uri="{FF2B5EF4-FFF2-40B4-BE49-F238E27FC236}">
                <a16:creationId xmlns:a16="http://schemas.microsoft.com/office/drawing/2014/main" id="{63CD0FA8-84E8-BF12-A9B1-8492F7D765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62" t="-7346" r="12844" b="14380"/>
          <a:stretch>
            <a:fillRect/>
          </a:stretch>
        </p:blipFill>
        <p:spPr bwMode="auto">
          <a:xfrm>
            <a:off x="2486303" y="1343123"/>
            <a:ext cx="7219391" cy="5143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324377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29285">
              <a:lnSpc>
                <a:spcPct val="100000"/>
              </a:lnSpc>
              <a:spcBef>
                <a:spcPts val="105"/>
              </a:spcBef>
            </a:pPr>
            <a:r>
              <a:rPr lang="es-CO" spc="-85" noProof="0" dirty="0"/>
              <a:t>Matriz</a:t>
            </a:r>
            <a:r>
              <a:rPr lang="es-CO" spc="-210" noProof="0" dirty="0"/>
              <a:t> </a:t>
            </a:r>
            <a:r>
              <a:rPr lang="es-CO" noProof="0" dirty="0"/>
              <a:t>de</a:t>
            </a:r>
            <a:r>
              <a:rPr lang="es-CO" spc="-229" noProof="0" dirty="0"/>
              <a:t> </a:t>
            </a:r>
            <a:r>
              <a:rPr lang="es-CO" spc="-195" noProof="0" dirty="0"/>
              <a:t>correlación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5921" y="1603628"/>
            <a:ext cx="2964079" cy="45974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120" noProof="0" dirty="0">
                <a:latin typeface="Microsoft Sans Serif"/>
                <a:cs typeface="Microsoft Sans Serif"/>
              </a:rPr>
              <a:t>¿Qué</a:t>
            </a:r>
            <a:r>
              <a:rPr lang="es-CO" sz="2900" spc="-155" noProof="0" dirty="0">
                <a:latin typeface="Microsoft Sans Serif"/>
                <a:cs typeface="Microsoft Sans Serif"/>
              </a:rPr>
              <a:t> </a:t>
            </a:r>
            <a:r>
              <a:rPr lang="es-CO" sz="2900" spc="-135" noProof="0" dirty="0">
                <a:latin typeface="Microsoft Sans Serif"/>
                <a:cs typeface="Microsoft Sans Serif"/>
              </a:rPr>
              <a:t>significa?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10916" y="5760847"/>
            <a:ext cx="8170165" cy="341760"/>
          </a:xfrm>
          <a:prstGeom prst="rect">
            <a:avLst/>
          </a:prstGeom>
          <a:solidFill>
            <a:srgbClr val="FFFFCC"/>
          </a:solidFill>
        </p:spPr>
        <p:txBody>
          <a:bodyPr vert="horz" wrap="square" lIns="0" tIns="33655" rIns="0" bIns="0" rtlCol="0">
            <a:spAutoFit/>
          </a:bodyPr>
          <a:lstStyle/>
          <a:p>
            <a:pPr marL="114300" marR="128270" indent="179705">
              <a:lnSpc>
                <a:spcPct val="100000"/>
              </a:lnSpc>
              <a:spcBef>
                <a:spcPts val="265"/>
              </a:spcBef>
            </a:pPr>
            <a:r>
              <a:rPr lang="es-CO" sz="2000" noProof="0" dirty="0">
                <a:latin typeface="Arial MT"/>
                <a:cs typeface="Arial MT"/>
              </a:rPr>
              <a:t>Para</a:t>
            </a:r>
            <a:r>
              <a:rPr lang="es-CO" sz="2000" spc="-25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obtener</a:t>
            </a:r>
            <a:r>
              <a:rPr lang="es-CO" sz="2000" spc="-40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esta</a:t>
            </a:r>
            <a:r>
              <a:rPr lang="es-CO" sz="2000" spc="-25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matriz</a:t>
            </a:r>
            <a:r>
              <a:rPr lang="es-CO" sz="2000" spc="-35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todos</a:t>
            </a:r>
            <a:r>
              <a:rPr lang="es-CO" sz="2000" spc="-30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los</a:t>
            </a:r>
            <a:r>
              <a:rPr lang="es-CO" sz="2000" spc="-20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atributos</a:t>
            </a:r>
            <a:r>
              <a:rPr lang="es-CO" sz="2000" spc="-30" noProof="0" dirty="0">
                <a:latin typeface="Arial MT"/>
                <a:cs typeface="Arial MT"/>
              </a:rPr>
              <a:t> </a:t>
            </a:r>
            <a:r>
              <a:rPr lang="es-CO" sz="2000" noProof="0" dirty="0">
                <a:latin typeface="Arial MT"/>
                <a:cs typeface="Arial MT"/>
              </a:rPr>
              <a:t>deben</a:t>
            </a:r>
            <a:r>
              <a:rPr lang="es-CO" sz="2000" spc="-40" noProof="0" dirty="0">
                <a:latin typeface="Arial MT"/>
                <a:cs typeface="Arial MT"/>
              </a:rPr>
              <a:t> </a:t>
            </a:r>
            <a:r>
              <a:rPr lang="es-CO" sz="2000" spc="-25" noProof="0" dirty="0">
                <a:latin typeface="Arial MT"/>
                <a:cs typeface="Arial MT"/>
              </a:rPr>
              <a:t>ser </a:t>
            </a:r>
            <a:r>
              <a:rPr lang="es-CO" sz="2000" noProof="0" dirty="0">
                <a:latin typeface="Arial MT"/>
                <a:cs typeface="Arial MT"/>
              </a:rPr>
              <a:t>numéricos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8962" y="2389632"/>
            <a:ext cx="7434072" cy="3044952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A12D4-19CF-9F93-37E9-208CD8838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26F8B68-2D48-4FE4-D6D5-B32F446572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29285">
              <a:lnSpc>
                <a:spcPct val="100000"/>
              </a:lnSpc>
              <a:spcBef>
                <a:spcPts val="105"/>
              </a:spcBef>
            </a:pPr>
            <a:r>
              <a:rPr lang="es-CO" spc="-85" noProof="0" dirty="0"/>
              <a:t>Matriz</a:t>
            </a:r>
            <a:r>
              <a:rPr lang="es-CO" spc="-210" noProof="0" dirty="0"/>
              <a:t> </a:t>
            </a:r>
            <a:r>
              <a:rPr lang="es-CO" noProof="0" dirty="0"/>
              <a:t>de</a:t>
            </a:r>
            <a:r>
              <a:rPr lang="es-CO" spc="-229" noProof="0" dirty="0"/>
              <a:t> </a:t>
            </a:r>
            <a:r>
              <a:rPr lang="es-CO" spc="-195" noProof="0" dirty="0"/>
              <a:t>correlación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2C81D17A-060C-E7A1-9B14-510328A041FE}"/>
              </a:ext>
            </a:extLst>
          </p:cNvPr>
          <p:cNvSpPr txBox="1"/>
          <p:nvPr/>
        </p:nvSpPr>
        <p:spPr>
          <a:xfrm>
            <a:off x="845921" y="1603628"/>
            <a:ext cx="2964079" cy="45974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05"/>
              </a:spcBef>
              <a:buClr>
                <a:srgbClr val="DD8046"/>
              </a:buClr>
              <a:buSzPct val="60344"/>
              <a:buFont typeface="Wingdings"/>
              <a:buChar char=""/>
              <a:tabLst>
                <a:tab pos="332105" algn="l"/>
              </a:tabLst>
            </a:pPr>
            <a:r>
              <a:rPr lang="es-CO" sz="2900" spc="-120" noProof="0" dirty="0">
                <a:latin typeface="Microsoft Sans Serif"/>
                <a:cs typeface="Microsoft Sans Serif"/>
              </a:rPr>
              <a:t>¿Qué</a:t>
            </a:r>
            <a:r>
              <a:rPr lang="es-CO" sz="2900" spc="-155" noProof="0" dirty="0">
                <a:latin typeface="Microsoft Sans Serif"/>
                <a:cs typeface="Microsoft Sans Serif"/>
              </a:rPr>
              <a:t> </a:t>
            </a:r>
            <a:r>
              <a:rPr lang="es-CO" sz="2900" spc="-135" noProof="0" dirty="0">
                <a:latin typeface="Microsoft Sans Serif"/>
                <a:cs typeface="Microsoft Sans Serif"/>
              </a:rPr>
              <a:t>significa?</a:t>
            </a:r>
            <a:endParaRPr lang="es-CO" sz="2900" noProof="0" dirty="0">
              <a:latin typeface="Microsoft Sans Serif"/>
              <a:cs typeface="Microsoft Sans Serif"/>
            </a:endParaRPr>
          </a:p>
        </p:txBody>
      </p:sp>
      <p:pic>
        <p:nvPicPr>
          <p:cNvPr id="4098" name="Picture 2" descr="Gráfico de CORRELACIÓN en R ◤Correlograma◢ [CON EJEMPLOS]">
            <a:extLst>
              <a:ext uri="{FF2B5EF4-FFF2-40B4-BE49-F238E27FC236}">
                <a16:creationId xmlns:a16="http://schemas.microsoft.com/office/drawing/2014/main" id="{0B3C6304-ABCE-476D-B125-A2A8919A8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8986" y="2209800"/>
            <a:ext cx="5534025" cy="427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775662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803C0-C0D6-6420-4528-CB1860001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17C4075-FBB2-3825-7CFC-CAF2F4F7BE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427" rIns="0" bIns="0" rtlCol="0">
            <a:spAutoFit/>
          </a:bodyPr>
          <a:lstStyle/>
          <a:p>
            <a:pPr marL="629285">
              <a:lnSpc>
                <a:spcPct val="100000"/>
              </a:lnSpc>
              <a:spcBef>
                <a:spcPts val="105"/>
              </a:spcBef>
            </a:pPr>
            <a:r>
              <a:rPr lang="es-CO" spc="-85" noProof="0" dirty="0"/>
              <a:t>Matriz</a:t>
            </a:r>
            <a:r>
              <a:rPr lang="es-CO" spc="-210" noProof="0" dirty="0"/>
              <a:t> </a:t>
            </a:r>
            <a:r>
              <a:rPr lang="es-CO" noProof="0" dirty="0"/>
              <a:t>de</a:t>
            </a:r>
            <a:r>
              <a:rPr lang="es-CO" spc="-229" noProof="0" dirty="0"/>
              <a:t> </a:t>
            </a:r>
            <a:r>
              <a:rPr lang="es-CO" spc="-195" noProof="0" dirty="0"/>
              <a:t>correlación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F232B5-05A3-1309-0D17-4944B3A6E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866320"/>
              </p:ext>
            </p:extLst>
          </p:nvPr>
        </p:nvGraphicFramePr>
        <p:xfrm>
          <a:off x="2029482" y="2438400"/>
          <a:ext cx="8133033" cy="2978012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009118">
                  <a:extLst>
                    <a:ext uri="{9D8B030D-6E8A-4147-A177-3AD203B41FA5}">
                      <a16:colId xmlns:a16="http://schemas.microsoft.com/office/drawing/2014/main" val="3851590688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77198753"/>
                    </a:ext>
                  </a:extLst>
                </a:gridCol>
                <a:gridCol w="3990315">
                  <a:extLst>
                    <a:ext uri="{9D8B030D-6E8A-4147-A177-3AD203B41FA5}">
                      <a16:colId xmlns:a16="http://schemas.microsoft.com/office/drawing/2014/main" val="3580640887"/>
                    </a:ext>
                  </a:extLst>
                </a:gridCol>
              </a:tblGrid>
              <a:tr h="2148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400" b="1" dirty="0"/>
                        <a:t>Tipo</a:t>
                      </a:r>
                    </a:p>
                  </a:txBody>
                  <a:tcPr marL="72754" marR="72754" marT="36377" marB="3637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400" b="1" dirty="0"/>
                        <a:t>Variables</a:t>
                      </a:r>
                    </a:p>
                  </a:txBody>
                  <a:tcPr marL="72754" marR="72754" marT="36377" marB="3637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400" b="1" dirty="0"/>
                        <a:t>Cuándo usarlo</a:t>
                      </a:r>
                    </a:p>
                  </a:txBody>
                  <a:tcPr marL="72754" marR="72754" marT="36377" marB="36377" anchor="ctr"/>
                </a:tc>
                <a:extLst>
                  <a:ext uri="{0D108BD9-81ED-4DB2-BD59-A6C34878D82A}">
                    <a16:rowId xmlns:a16="http://schemas.microsoft.com/office/drawing/2014/main" val="443748231"/>
                  </a:ext>
                </a:extLst>
              </a:tr>
              <a:tr h="5092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400" b="1"/>
                        <a:t>Pearson</a:t>
                      </a:r>
                    </a:p>
                  </a:txBody>
                  <a:tcPr marL="72754" marR="72754" marT="36377" marB="3637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400"/>
                        <a:t>Cuantitativas continuas</a:t>
                      </a:r>
                    </a:p>
                  </a:txBody>
                  <a:tcPr marL="72754" marR="72754" marT="36377" marB="3637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400"/>
                        <a:t>Relación lineal, distribución normal</a:t>
                      </a:r>
                    </a:p>
                  </a:txBody>
                  <a:tcPr marL="72754" marR="72754" marT="36377" marB="36377" anchor="ctr"/>
                </a:tc>
                <a:extLst>
                  <a:ext uri="{0D108BD9-81ED-4DB2-BD59-A6C34878D82A}">
                    <a16:rowId xmlns:a16="http://schemas.microsoft.com/office/drawing/2014/main" val="2610977186"/>
                  </a:ext>
                </a:extLst>
              </a:tr>
              <a:tr h="2910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400" b="1"/>
                        <a:t>Spearman</a:t>
                      </a:r>
                    </a:p>
                  </a:txBody>
                  <a:tcPr marL="72754" marR="72754" marT="36377" marB="3637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400"/>
                        <a:t>Ordinales o cuantitativas</a:t>
                      </a:r>
                    </a:p>
                  </a:txBody>
                  <a:tcPr marL="72754" marR="72754" marT="36377" marB="3637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400"/>
                        <a:t>Sin normalidad, datos con rangos</a:t>
                      </a:r>
                    </a:p>
                  </a:txBody>
                  <a:tcPr marL="72754" marR="72754" marT="36377" marB="36377" anchor="ctr"/>
                </a:tc>
                <a:extLst>
                  <a:ext uri="{0D108BD9-81ED-4DB2-BD59-A6C34878D82A}">
                    <a16:rowId xmlns:a16="http://schemas.microsoft.com/office/drawing/2014/main" val="4222535612"/>
                  </a:ext>
                </a:extLst>
              </a:tr>
              <a:tr h="5092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400" b="1"/>
                        <a:t>Kendall</a:t>
                      </a:r>
                    </a:p>
                  </a:txBody>
                  <a:tcPr marL="72754" marR="72754" marT="36377" marB="3637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400"/>
                        <a:t>Ordinales o cuantitativas</a:t>
                      </a:r>
                    </a:p>
                  </a:txBody>
                  <a:tcPr marL="72754" marR="72754" marT="36377" marB="3637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400" dirty="0"/>
                        <a:t>Muestras pequeñas</a:t>
                      </a:r>
                    </a:p>
                  </a:txBody>
                  <a:tcPr marL="72754" marR="72754" marT="36377" marB="36377" anchor="ctr"/>
                </a:tc>
                <a:extLst>
                  <a:ext uri="{0D108BD9-81ED-4DB2-BD59-A6C34878D82A}">
                    <a16:rowId xmlns:a16="http://schemas.microsoft.com/office/drawing/2014/main" val="1781973795"/>
                  </a:ext>
                </a:extLst>
              </a:tr>
              <a:tr h="2910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400" b="1"/>
                        <a:t>Policórica</a:t>
                      </a:r>
                    </a:p>
                  </a:txBody>
                  <a:tcPr marL="72754" marR="72754" marT="36377" marB="3637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400"/>
                        <a:t>Ordinales</a:t>
                      </a:r>
                    </a:p>
                  </a:txBody>
                  <a:tcPr marL="72754" marR="72754" marT="36377" marB="3637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400"/>
                        <a:t>Se asume normalidad subyacente</a:t>
                      </a:r>
                    </a:p>
                  </a:txBody>
                  <a:tcPr marL="72754" marR="72754" marT="36377" marB="36377" anchor="ctr"/>
                </a:tc>
                <a:extLst>
                  <a:ext uri="{0D108BD9-81ED-4DB2-BD59-A6C34878D82A}">
                    <a16:rowId xmlns:a16="http://schemas.microsoft.com/office/drawing/2014/main" val="2759104608"/>
                  </a:ext>
                </a:extLst>
              </a:tr>
              <a:tr h="2910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400" b="1"/>
                        <a:t>Tetracórica</a:t>
                      </a:r>
                    </a:p>
                  </a:txBody>
                  <a:tcPr marL="72754" marR="72754" marT="36377" marB="3637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400"/>
                        <a:t>Binarias (0/1)</a:t>
                      </a:r>
                    </a:p>
                  </a:txBody>
                  <a:tcPr marL="72754" marR="72754" marT="36377" marB="3637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400"/>
                        <a:t>Caso especial de la policórica</a:t>
                      </a:r>
                    </a:p>
                  </a:txBody>
                  <a:tcPr marL="72754" marR="72754" marT="36377" marB="36377" anchor="ctr"/>
                </a:tc>
                <a:extLst>
                  <a:ext uri="{0D108BD9-81ED-4DB2-BD59-A6C34878D82A}">
                    <a16:rowId xmlns:a16="http://schemas.microsoft.com/office/drawing/2014/main" val="1493610431"/>
                  </a:ext>
                </a:extLst>
              </a:tr>
              <a:tr h="5092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400" b="1"/>
                        <a:t>Biserial puntual</a:t>
                      </a:r>
                    </a:p>
                  </a:txBody>
                  <a:tcPr marL="72754" marR="72754" marT="36377" marB="3637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400"/>
                        <a:t>Continua + Binaria</a:t>
                      </a:r>
                    </a:p>
                  </a:txBody>
                  <a:tcPr marL="72754" marR="72754" marT="36377" marB="3637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400"/>
                        <a:t>Una variable continua y una binaria</a:t>
                      </a:r>
                    </a:p>
                  </a:txBody>
                  <a:tcPr marL="72754" marR="72754" marT="36377" marB="36377" anchor="ctr"/>
                </a:tc>
                <a:extLst>
                  <a:ext uri="{0D108BD9-81ED-4DB2-BD59-A6C34878D82A}">
                    <a16:rowId xmlns:a16="http://schemas.microsoft.com/office/drawing/2014/main" val="1715120399"/>
                  </a:ext>
                </a:extLst>
              </a:tr>
              <a:tr h="2910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400" b="1" dirty="0"/>
                        <a:t>Parcial</a:t>
                      </a:r>
                    </a:p>
                  </a:txBody>
                  <a:tcPr marL="72754" marR="72754" marT="36377" marB="3637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400"/>
                        <a:t>Cuantitativas</a:t>
                      </a:r>
                    </a:p>
                  </a:txBody>
                  <a:tcPr marL="72754" marR="72754" marT="36377" marB="3637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1400" dirty="0"/>
                        <a:t>Eliminar efecto de otras variables</a:t>
                      </a:r>
                    </a:p>
                  </a:txBody>
                  <a:tcPr marL="72754" marR="72754" marT="36377" marB="36377" anchor="ctr"/>
                </a:tc>
                <a:extLst>
                  <a:ext uri="{0D108BD9-81ED-4DB2-BD59-A6C34878D82A}">
                    <a16:rowId xmlns:a16="http://schemas.microsoft.com/office/drawing/2014/main" val="198858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6576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Words>4155</Words>
  <Application>Microsoft Office PowerPoint</Application>
  <PresentationFormat>Widescreen</PresentationFormat>
  <Paragraphs>804</Paragraphs>
  <Slides>88</Slides>
  <Notes>4</Notes>
  <HiddenSlides>3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88</vt:i4>
      </vt:variant>
    </vt:vector>
  </HeadingPairs>
  <TitlesOfParts>
    <vt:vector size="101" baseType="lpstr">
      <vt:lpstr>Aptos</vt:lpstr>
      <vt:lpstr>Arial</vt:lpstr>
      <vt:lpstr>Arial MT</vt:lpstr>
      <vt:lpstr>Calibri</vt:lpstr>
      <vt:lpstr>Calibri Light</vt:lpstr>
      <vt:lpstr>Cambria Math</vt:lpstr>
      <vt:lpstr>Courier New</vt:lpstr>
      <vt:lpstr>Microsoft Sans Serif</vt:lpstr>
      <vt:lpstr>Symbol</vt:lpstr>
      <vt:lpstr>Times New Roman</vt:lpstr>
      <vt:lpstr>Wingdings</vt:lpstr>
      <vt:lpstr>Office Theme</vt:lpstr>
      <vt:lpstr>1_Office Theme</vt:lpstr>
      <vt:lpstr>MINERÍA DE DATOS  Sobre  los datos</vt:lpstr>
      <vt:lpstr>PowerPoint Presentation</vt:lpstr>
      <vt:lpstr>PowerPoint Presentation</vt:lpstr>
      <vt:lpstr>Minería de Datos y el proceso de KDD</vt:lpstr>
      <vt:lpstr>Cross Industry Standard Process for Data Mining</vt:lpstr>
      <vt:lpstr>Entendimiento del Negocio.   Se definen los objetivos del proyecto y los requerimientos desde la perspectiva empresarial. Se establecen los criterios de éxito y se formula el problema de datos inicial.</vt:lpstr>
      <vt:lpstr>Entender los datos.   Identificar atributos (característicos) y las fuentes.  Cargar datos y hacer un análisis exploratorio.</vt:lpstr>
      <vt:lpstr>¿Qué son los datos?</vt:lpstr>
      <vt:lpstr>Dato Estructurado, Semiestructurado y No Estructurado</vt:lpstr>
      <vt:lpstr>PowerPoint Presentation</vt:lpstr>
      <vt:lpstr>¿Qué es una variable?</vt:lpstr>
      <vt:lpstr>Taxonomía de las variables</vt:lpstr>
      <vt:lpstr>Taxonomía de las variables</vt:lpstr>
      <vt:lpstr>Tipos de variables</vt:lpstr>
      <vt:lpstr>Conjunto de Datos</vt:lpstr>
      <vt:lpstr>PowerPoint Presentation</vt:lpstr>
      <vt:lpstr>PowerPoint Presentation</vt:lpstr>
      <vt:lpstr>PowerPoint Presentation</vt:lpstr>
      <vt:lpstr>Meta data</vt:lpstr>
      <vt:lpstr>Tidy Data. Tablón de Datos. Data rectangular. Dataframe. Dataset</vt:lpstr>
      <vt:lpstr>Preparar los Datos para el análisis</vt:lpstr>
      <vt:lpstr>Construir los modelos de análisis</vt:lpstr>
      <vt:lpstr>PowerPoint Presentation</vt:lpstr>
      <vt:lpstr>Estadística es la base del EDA</vt:lpstr>
      <vt:lpstr>Probabilidad para la ciencia de datos y las variables aleatorias</vt:lpstr>
      <vt:lpstr>Muestreo</vt:lpstr>
      <vt:lpstr>Análisis Exploratorio de Datos EDA</vt:lpstr>
      <vt:lpstr>Estadística Descriptiva:   Análisis de 1 variable</vt:lpstr>
      <vt:lpstr>Ejemplos</vt:lpstr>
      <vt:lpstr>Análisis Grafico</vt:lpstr>
      <vt:lpstr>Análisis Grafico</vt:lpstr>
      <vt:lpstr>Análisis Grafico. Análisis de 1 variable</vt:lpstr>
      <vt:lpstr>Análisis Grafico</vt:lpstr>
      <vt:lpstr>Estadística Descriptiva:   Análisis de 2 variables</vt:lpstr>
      <vt:lpstr>Ejemplo de tabla de distribución de frecuencias</vt:lpstr>
      <vt:lpstr>Ejemplos</vt:lpstr>
      <vt:lpstr>Análisis Grafico. Análisis de 2 variables</vt:lpstr>
      <vt:lpstr>Estadística Descriptiva:   Análisis de 3 o más variables</vt:lpstr>
      <vt:lpstr>3 o más variables</vt:lpstr>
      <vt:lpstr>Descripciones estadísticas básicas</vt:lpstr>
      <vt:lpstr>MEDIA</vt:lpstr>
      <vt:lpstr>MEDIANA</vt:lpstr>
      <vt:lpstr>MEDIANA</vt:lpstr>
      <vt:lpstr>MEDIANA</vt:lpstr>
      <vt:lpstr>MEDIANA</vt:lpstr>
      <vt:lpstr>MEDIANA</vt:lpstr>
      <vt:lpstr>MODA</vt:lpstr>
      <vt:lpstr>MODA</vt:lpstr>
      <vt:lpstr>RANGO MEDIO</vt:lpstr>
      <vt:lpstr>Atributo AGE</vt:lpstr>
      <vt:lpstr>Atributo AGE</vt:lpstr>
      <vt:lpstr>Medidas de tendencia central</vt:lpstr>
      <vt:lpstr>Medidas de tendencia central</vt:lpstr>
      <vt:lpstr>Medidas de tendencia central</vt:lpstr>
      <vt:lpstr>Descripciones estadísticas básicas</vt:lpstr>
      <vt:lpstr>VARIANZA Y DESVIACION ESTÁNDAR</vt:lpstr>
      <vt:lpstr>VARIANZA Y DESVIACION ESTÁNDAR</vt:lpstr>
      <vt:lpstr>RANGO</vt:lpstr>
      <vt:lpstr>Atributo AGE</vt:lpstr>
      <vt:lpstr>Cuantiles, Cuartiles y Percentiles</vt:lpstr>
      <vt:lpstr>CUARTILES</vt:lpstr>
      <vt:lpstr>CUARTILES</vt:lpstr>
      <vt:lpstr>CUARTILES</vt:lpstr>
      <vt:lpstr>CUARTILES</vt:lpstr>
      <vt:lpstr>RANGO INTERCUARTIL</vt:lpstr>
      <vt:lpstr>Diagrama de caja simple</vt:lpstr>
      <vt:lpstr>Cuartiles y RIC del atributo AGE</vt:lpstr>
      <vt:lpstr>Diagrama de caja simple</vt:lpstr>
      <vt:lpstr>Diagrama de caja simple</vt:lpstr>
      <vt:lpstr>Valor atípico o fuera de rango</vt:lpstr>
      <vt:lpstr>Diagrama de caja de Tukey</vt:lpstr>
      <vt:lpstr>Diagrama de caja de Tukey</vt:lpstr>
      <vt:lpstr>Histograma y diagrama de caja simple (Atributo AGE)</vt:lpstr>
      <vt:lpstr>Histograma y diagrama de caja de Tukey (Atributo AGE)</vt:lpstr>
      <vt:lpstr>Diagramas de Dispersión</vt:lpstr>
      <vt:lpstr>Diagramas de Dispersión</vt:lpstr>
      <vt:lpstr>Diagramas de Dispersión</vt:lpstr>
      <vt:lpstr>Diagramas de Dispersión</vt:lpstr>
      <vt:lpstr>Relación entre atributos numéricos</vt:lpstr>
      <vt:lpstr>PowerPoint Presentation</vt:lpstr>
      <vt:lpstr>Coeficiente de correlación lineal</vt:lpstr>
      <vt:lpstr>Covarianza y desvío estándar</vt:lpstr>
      <vt:lpstr>PowerPoint Presentation</vt:lpstr>
      <vt:lpstr>Coeficiente de correlación lineal</vt:lpstr>
      <vt:lpstr>Coeficiente de correlación lineal</vt:lpstr>
      <vt:lpstr>Matriz de correlación</vt:lpstr>
      <vt:lpstr>Matriz de correlación</vt:lpstr>
      <vt:lpstr>Matriz de correlación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Minería de Datos Inteligente</dc:title>
  <dc:creator>Laura</dc:creator>
  <cp:lastModifiedBy>Norbey Muñoz</cp:lastModifiedBy>
  <cp:revision>1</cp:revision>
  <dcterms:created xsi:type="dcterms:W3CDTF">2026-05-13T02:47:42Z</dcterms:created>
  <dcterms:modified xsi:type="dcterms:W3CDTF">2026-05-31T04:26:29Z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2024-02-12T00:00:00Z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2026-05-13T00:00:00Z</vt:filetime>
  </property>
  <property fmtid="{D5CDD505-2E9C-101B-9397-08002B2CF9AE}" pid="5" name="Producer">
    <vt:lpwstr>Microsoft® PowerPoint® para Microsoft 365</vt:lpwstr>
  </property>
</Properties>
</file>