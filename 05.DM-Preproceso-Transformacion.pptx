
<file path=[Content_Types].xml><?xml version="1.0" encoding="utf-8"?>
<Types xmlns="http://schemas.openxmlformats.org/package/2006/content-types">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331" r:id="rId3"/>
    <p:sldId id="292" r:id="rId4"/>
    <p:sldId id="293" r:id="rId5"/>
    <p:sldId id="1353" r:id="rId6"/>
    <p:sldId id="1355" r:id="rId7"/>
    <p:sldId id="257" r:id="rId8"/>
    <p:sldId id="1354" r:id="rId9"/>
    <p:sldId id="1329" r:id="rId10"/>
    <p:sldId id="1330" r:id="rId11"/>
    <p:sldId id="1331" r:id="rId12"/>
    <p:sldId id="515" r:id="rId13"/>
    <p:sldId id="1335" r:id="rId14"/>
    <p:sldId id="576" r:id="rId15"/>
    <p:sldId id="522" r:id="rId16"/>
    <p:sldId id="465" r:id="rId17"/>
    <p:sldId id="1336" r:id="rId18"/>
    <p:sldId id="1337" r:id="rId19"/>
    <p:sldId id="1338" r:id="rId20"/>
    <p:sldId id="1339" r:id="rId21"/>
    <p:sldId id="1332" r:id="rId22"/>
    <p:sldId id="1341" r:id="rId23"/>
    <p:sldId id="1340" r:id="rId24"/>
    <p:sldId id="1356" r:id="rId25"/>
  </p:sldIdLst>
  <p:sldSz cx="12192000" cy="6858000"/>
  <p:notesSz cx="6858000" cy="9144000"/>
  <p:embeddedFontLst>
    <p:embeddedFont>
      <p:font typeface="Microsoft Sans Serif" panose="020B0604020202020204" pitchFamily="34" charset="0"/>
      <p:regular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3" roundtripDataSignature="AMtx7mhvwoM9eB9/dioecwqT0tewQNWU8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57B7E5-087B-4794-9C50-74A3AAAB3F96}" v="12" dt="2026-06-10T13:25:18.013"/>
  </p1510:revLst>
</p1510:revInfo>
</file>

<file path=ppt/tableStyles.xml><?xml version="1.0" encoding="utf-8"?>
<a:tblStyleLst xmlns:a="http://schemas.openxmlformats.org/drawingml/2006/main" def="{25A4D92F-EE95-46B2-AAA7-93A10D061BFF}">
  <a:tblStyle styleId="{25A4D92F-EE95-46B2-AAA7-93A10D061BF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5" d="100"/>
          <a:sy n="115" d="100"/>
        </p:scale>
        <p:origin x="7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84" Type="http://schemas.openxmlformats.org/officeDocument/2006/relationships/presProps" Target="presProps.xml"/><Relationship Id="rId89"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83" Type="http://customschemas.google.com/relationships/presentationmetadata" Target="metadata"/><Relationship Id="rId88"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8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8" Type="http://schemas.openxmlformats.org/officeDocument/2006/relationships/slide" Target="slides/slide7.xml"/><Relationship Id="rId85"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rbey Muñoz" userId="b7e811e8891ccd42" providerId="LiveId" clId="{2482167B-ADD3-4E68-AB8B-ADE9CECE27D0}"/>
    <pc:docChg chg="undo custSel addSld delSld modSld sldOrd">
      <pc:chgData name="Norbey Muñoz" userId="b7e811e8891ccd42" providerId="LiveId" clId="{2482167B-ADD3-4E68-AB8B-ADE9CECE27D0}" dt="2026-07-08T04:19:40.238" v="811" actId="20577"/>
      <pc:docMkLst>
        <pc:docMk/>
      </pc:docMkLst>
      <pc:sldChg chg="modSp mod">
        <pc:chgData name="Norbey Muñoz" userId="b7e811e8891ccd42" providerId="LiveId" clId="{2482167B-ADD3-4E68-AB8B-ADE9CECE27D0}" dt="2026-06-10T12:46:32.507" v="78" actId="20577"/>
        <pc:sldMkLst>
          <pc:docMk/>
          <pc:sldMk cId="0" sldId="256"/>
        </pc:sldMkLst>
        <pc:spChg chg="mod">
          <ac:chgData name="Norbey Muñoz" userId="b7e811e8891ccd42" providerId="LiveId" clId="{2482167B-ADD3-4E68-AB8B-ADE9CECE27D0}" dt="2026-06-10T12:46:32.507" v="78" actId="20577"/>
          <ac:spMkLst>
            <pc:docMk/>
            <pc:sldMk cId="0" sldId="256"/>
            <ac:spMk id="3" creationId="{F6E5FE4C-F0A4-04D9-BDF6-552D3C5B8C83}"/>
          </ac:spMkLst>
        </pc:spChg>
        <pc:spChg chg="mod">
          <ac:chgData name="Norbey Muñoz" userId="b7e811e8891ccd42" providerId="LiveId" clId="{2482167B-ADD3-4E68-AB8B-ADE9CECE27D0}" dt="2026-06-10T12:46:11.755" v="20" actId="20577"/>
          <ac:spMkLst>
            <pc:docMk/>
            <pc:sldMk cId="0" sldId="256"/>
            <ac:spMk id="91" creationId="{00000000-0000-0000-0000-000000000000}"/>
          </ac:spMkLst>
        </pc:spChg>
        <pc:spChg chg="mod">
          <ac:chgData name="Norbey Muñoz" userId="b7e811e8891ccd42" providerId="LiveId" clId="{2482167B-ADD3-4E68-AB8B-ADE9CECE27D0}" dt="2026-06-10T12:46:29.119" v="76" actId="20577"/>
          <ac:spMkLst>
            <pc:docMk/>
            <pc:sldMk cId="0" sldId="256"/>
            <ac:spMk id="98" creationId="{00000000-0000-0000-0000-000000000000}"/>
          </ac:spMkLst>
        </pc:spChg>
      </pc:sldChg>
      <pc:sldChg chg="modSp add mod setBg">
        <pc:chgData name="Norbey Muñoz" userId="b7e811e8891ccd42" providerId="LiveId" clId="{2482167B-ADD3-4E68-AB8B-ADE9CECE27D0}" dt="2026-06-22T03:20:53.669" v="396" actId="1076"/>
        <pc:sldMkLst>
          <pc:docMk/>
          <pc:sldMk cId="0" sldId="257"/>
        </pc:sldMkLst>
        <pc:spChg chg="mod">
          <ac:chgData name="Norbey Muñoz" userId="b7e811e8891ccd42" providerId="LiveId" clId="{2482167B-ADD3-4E68-AB8B-ADE9CECE27D0}" dt="2026-06-22T03:20:53.669" v="396" actId="1076"/>
          <ac:spMkLst>
            <pc:docMk/>
            <pc:sldMk cId="0" sldId="257"/>
            <ac:spMk id="3" creationId="{00000000-0000-0000-0000-000000000000}"/>
          </ac:spMkLst>
        </pc:spChg>
        <pc:graphicFrameChg chg="modGraphic">
          <ac:chgData name="Norbey Muñoz" userId="b7e811e8891ccd42" providerId="LiveId" clId="{2482167B-ADD3-4E68-AB8B-ADE9CECE27D0}" dt="2026-06-22T03:20:46.834" v="395" actId="14100"/>
          <ac:graphicFrameMkLst>
            <pc:docMk/>
            <pc:sldMk cId="0" sldId="257"/>
            <ac:graphicFrameMk id="6" creationId="{00000000-0000-0000-0000-000000000000}"/>
          </ac:graphicFrameMkLst>
        </pc:graphicFrameChg>
      </pc:sldChg>
      <pc:sldChg chg="add setBg">
        <pc:chgData name="Norbey Muñoz" userId="b7e811e8891ccd42" providerId="LiveId" clId="{2482167B-ADD3-4E68-AB8B-ADE9CECE27D0}" dt="2026-06-10T12:47:57.588" v="81"/>
        <pc:sldMkLst>
          <pc:docMk/>
          <pc:sldMk cId="0" sldId="292"/>
        </pc:sldMkLst>
      </pc:sldChg>
      <pc:sldChg chg="add ord setBg">
        <pc:chgData name="Norbey Muñoz" userId="b7e811e8891ccd42" providerId="LiveId" clId="{2482167B-ADD3-4E68-AB8B-ADE9CECE27D0}" dt="2026-06-10T13:25:28.363" v="387"/>
        <pc:sldMkLst>
          <pc:docMk/>
          <pc:sldMk cId="0" sldId="293"/>
        </pc:sldMkLst>
      </pc:sldChg>
      <pc:sldChg chg="modSp mod ord">
        <pc:chgData name="Norbey Muñoz" userId="b7e811e8891ccd42" providerId="LiveId" clId="{2482167B-ADD3-4E68-AB8B-ADE9CECE27D0}" dt="2026-06-10T13:15:16.199" v="213" actId="20577"/>
        <pc:sldMkLst>
          <pc:docMk/>
          <pc:sldMk cId="216095517" sldId="331"/>
        </pc:sldMkLst>
        <pc:spChg chg="mod">
          <ac:chgData name="Norbey Muñoz" userId="b7e811e8891ccd42" providerId="LiveId" clId="{2482167B-ADD3-4E68-AB8B-ADE9CECE27D0}" dt="2026-06-10T13:15:16.199" v="213" actId="20577"/>
          <ac:spMkLst>
            <pc:docMk/>
            <pc:sldMk cId="216095517" sldId="331"/>
            <ac:spMk id="3" creationId="{02927E72-96C8-066F-9023-5BEF8F916658}"/>
          </ac:spMkLst>
        </pc:spChg>
        <pc:spChg chg="mod">
          <ac:chgData name="Norbey Muñoz" userId="b7e811e8891ccd42" providerId="LiveId" clId="{2482167B-ADD3-4E68-AB8B-ADE9CECE27D0}" dt="2026-06-10T13:11:24.692" v="135" actId="20577"/>
          <ac:spMkLst>
            <pc:docMk/>
            <pc:sldMk cId="216095517" sldId="331"/>
            <ac:spMk id="108" creationId="{00000000-0000-0000-0000-000000000000}"/>
          </ac:spMkLst>
        </pc:spChg>
      </pc:sldChg>
      <pc:sldChg chg="modSp mod">
        <pc:chgData name="Norbey Muñoz" userId="b7e811e8891ccd42" providerId="LiveId" clId="{2482167B-ADD3-4E68-AB8B-ADE9CECE27D0}" dt="2026-06-10T13:21:07.804" v="347" actId="20577"/>
        <pc:sldMkLst>
          <pc:docMk/>
          <pc:sldMk cId="3107005021" sldId="515"/>
        </pc:sldMkLst>
        <pc:graphicFrameChg chg="modGraphic">
          <ac:chgData name="Norbey Muñoz" userId="b7e811e8891ccd42" providerId="LiveId" clId="{2482167B-ADD3-4E68-AB8B-ADE9CECE27D0}" dt="2026-06-10T13:21:07.804" v="347" actId="20577"/>
          <ac:graphicFrameMkLst>
            <pc:docMk/>
            <pc:sldMk cId="3107005021" sldId="515"/>
            <ac:graphicFrameMk id="5" creationId="{4D5D7B2B-2E53-4F72-BD79-3718A88A4E0B}"/>
          </ac:graphicFrameMkLst>
        </pc:graphicFrameChg>
      </pc:sldChg>
      <pc:sldChg chg="modSp mod">
        <pc:chgData name="Norbey Muñoz" userId="b7e811e8891ccd42" providerId="LiveId" clId="{2482167B-ADD3-4E68-AB8B-ADE9CECE27D0}" dt="2026-06-10T13:19:47.448" v="272" actId="14100"/>
        <pc:sldMkLst>
          <pc:docMk/>
          <pc:sldMk cId="2546194558" sldId="1329"/>
        </pc:sldMkLst>
        <pc:spChg chg="mod">
          <ac:chgData name="Norbey Muñoz" userId="b7e811e8891ccd42" providerId="LiveId" clId="{2482167B-ADD3-4E68-AB8B-ADE9CECE27D0}" dt="2026-06-10T13:18:44.129" v="220" actId="20577"/>
          <ac:spMkLst>
            <pc:docMk/>
            <pc:sldMk cId="2546194558" sldId="1329"/>
            <ac:spMk id="3" creationId="{02927E72-96C8-066F-9023-5BEF8F916658}"/>
          </ac:spMkLst>
        </pc:spChg>
        <pc:spChg chg="mod">
          <ac:chgData name="Norbey Muñoz" userId="b7e811e8891ccd42" providerId="LiveId" clId="{2482167B-ADD3-4E68-AB8B-ADE9CECE27D0}" dt="2026-06-10T13:19:47.448" v="272" actId="14100"/>
          <ac:spMkLst>
            <pc:docMk/>
            <pc:sldMk cId="2546194558" sldId="1329"/>
            <ac:spMk id="108" creationId="{00000000-0000-0000-0000-000000000000}"/>
          </ac:spMkLst>
        </pc:spChg>
      </pc:sldChg>
      <pc:sldChg chg="addSp delSp modSp mod">
        <pc:chgData name="Norbey Muñoz" userId="b7e811e8891ccd42" providerId="LiveId" clId="{2482167B-ADD3-4E68-AB8B-ADE9CECE27D0}" dt="2026-06-10T13:19:58.982" v="274"/>
        <pc:sldMkLst>
          <pc:docMk/>
          <pc:sldMk cId="3279597992" sldId="1330"/>
        </pc:sldMkLst>
        <pc:spChg chg="add mod">
          <ac:chgData name="Norbey Muñoz" userId="b7e811e8891ccd42" providerId="LiveId" clId="{2482167B-ADD3-4E68-AB8B-ADE9CECE27D0}" dt="2026-06-10T13:19:58.982" v="274"/>
          <ac:spMkLst>
            <pc:docMk/>
            <pc:sldMk cId="3279597992" sldId="1330"/>
            <ac:spMk id="2" creationId="{354FC5E6-3E3A-0906-6402-5B197A890C91}"/>
          </ac:spMkLst>
        </pc:spChg>
      </pc:sldChg>
      <pc:sldChg chg="addSp delSp modSp mod">
        <pc:chgData name="Norbey Muñoz" userId="b7e811e8891ccd42" providerId="LiveId" clId="{2482167B-ADD3-4E68-AB8B-ADE9CECE27D0}" dt="2026-06-10T13:20:43.944" v="335" actId="20577"/>
        <pc:sldMkLst>
          <pc:docMk/>
          <pc:sldMk cId="1878834936" sldId="1331"/>
        </pc:sldMkLst>
        <pc:spChg chg="add mod">
          <ac:chgData name="Norbey Muñoz" userId="b7e811e8891ccd42" providerId="LiveId" clId="{2482167B-ADD3-4E68-AB8B-ADE9CECE27D0}" dt="2026-06-10T13:20:14.939" v="276"/>
          <ac:spMkLst>
            <pc:docMk/>
            <pc:sldMk cId="1878834936" sldId="1331"/>
            <ac:spMk id="2" creationId="{6AB5FFE6-019C-BF69-737C-8B8AAD664190}"/>
          </ac:spMkLst>
        </pc:spChg>
        <pc:spChg chg="mod">
          <ac:chgData name="Norbey Muñoz" userId="b7e811e8891ccd42" providerId="LiveId" clId="{2482167B-ADD3-4E68-AB8B-ADE9CECE27D0}" dt="2026-06-10T13:20:43.944" v="335" actId="20577"/>
          <ac:spMkLst>
            <pc:docMk/>
            <pc:sldMk cId="1878834936" sldId="1331"/>
            <ac:spMk id="3" creationId="{02927E72-96C8-066F-9023-5BEF8F916658}"/>
          </ac:spMkLst>
        </pc:spChg>
      </pc:sldChg>
      <pc:sldChg chg="modSp mod">
        <pc:chgData name="Norbey Muñoz" userId="b7e811e8891ccd42" providerId="LiveId" clId="{2482167B-ADD3-4E68-AB8B-ADE9CECE27D0}" dt="2026-06-10T13:21:44.459" v="384" actId="14100"/>
        <pc:sldMkLst>
          <pc:docMk/>
          <pc:sldMk cId="4234187005" sldId="1335"/>
        </pc:sldMkLst>
        <pc:spChg chg="mod">
          <ac:chgData name="Norbey Muñoz" userId="b7e811e8891ccd42" providerId="LiveId" clId="{2482167B-ADD3-4E68-AB8B-ADE9CECE27D0}" dt="2026-06-10T13:21:44.459" v="384" actId="14100"/>
          <ac:spMkLst>
            <pc:docMk/>
            <pc:sldMk cId="4234187005" sldId="1335"/>
            <ac:spMk id="108" creationId="{00000000-0000-0000-0000-000000000000}"/>
          </ac:spMkLst>
        </pc:spChg>
      </pc:sldChg>
      <pc:sldChg chg="modSp mod">
        <pc:chgData name="Norbey Muñoz" userId="b7e811e8891ccd42" providerId="LiveId" clId="{2482167B-ADD3-4E68-AB8B-ADE9CECE27D0}" dt="2026-06-22T03:40:12.416" v="486" actId="20577"/>
        <pc:sldMkLst>
          <pc:docMk/>
          <pc:sldMk cId="426110878" sldId="1340"/>
        </pc:sldMkLst>
        <pc:spChg chg="mod">
          <ac:chgData name="Norbey Muñoz" userId="b7e811e8891ccd42" providerId="LiveId" clId="{2482167B-ADD3-4E68-AB8B-ADE9CECE27D0}" dt="2026-06-22T03:40:12.416" v="486" actId="20577"/>
          <ac:spMkLst>
            <pc:docMk/>
            <pc:sldMk cId="426110878" sldId="1340"/>
            <ac:spMk id="3" creationId="{02927E72-96C8-066F-9023-5BEF8F916658}"/>
          </ac:spMkLst>
        </pc:spChg>
      </pc:sldChg>
      <pc:sldChg chg="modSp mod">
        <pc:chgData name="Norbey Muñoz" userId="b7e811e8891ccd42" providerId="LiveId" clId="{2482167B-ADD3-4E68-AB8B-ADE9CECE27D0}" dt="2026-06-22T03:31:55.117" v="412" actId="20577"/>
        <pc:sldMkLst>
          <pc:docMk/>
          <pc:sldMk cId="595459555" sldId="1341"/>
        </pc:sldMkLst>
        <pc:spChg chg="mod">
          <ac:chgData name="Norbey Muñoz" userId="b7e811e8891ccd42" providerId="LiveId" clId="{2482167B-ADD3-4E68-AB8B-ADE9CECE27D0}" dt="2026-06-22T03:31:55.117" v="412" actId="20577"/>
          <ac:spMkLst>
            <pc:docMk/>
            <pc:sldMk cId="595459555" sldId="1341"/>
            <ac:spMk id="3" creationId="{02927E72-96C8-066F-9023-5BEF8F916658}"/>
          </ac:spMkLst>
        </pc:spChg>
      </pc:sldChg>
      <pc:sldChg chg="add ord setBg">
        <pc:chgData name="Norbey Muñoz" userId="b7e811e8891ccd42" providerId="LiveId" clId="{2482167B-ADD3-4E68-AB8B-ADE9CECE27D0}" dt="2026-06-10T13:25:34.042" v="389"/>
        <pc:sldMkLst>
          <pc:docMk/>
          <pc:sldMk cId="3242832850" sldId="1353"/>
        </pc:sldMkLst>
      </pc:sldChg>
      <pc:sldChg chg="add ord setBg">
        <pc:chgData name="Norbey Muñoz" userId="b7e811e8891ccd42" providerId="LiveId" clId="{2482167B-ADD3-4E68-AB8B-ADE9CECE27D0}" dt="2026-06-10T13:18:10.732" v="217"/>
        <pc:sldMkLst>
          <pc:docMk/>
          <pc:sldMk cId="2718314828" sldId="1354"/>
        </pc:sldMkLst>
      </pc:sldChg>
      <pc:sldChg chg="modSp add mod setBg">
        <pc:chgData name="Norbey Muñoz" userId="b7e811e8891ccd42" providerId="LiveId" clId="{2482167B-ADD3-4E68-AB8B-ADE9CECE27D0}" dt="2026-06-22T03:10:58.172" v="394" actId="122"/>
        <pc:sldMkLst>
          <pc:docMk/>
          <pc:sldMk cId="0" sldId="1355"/>
        </pc:sldMkLst>
        <pc:spChg chg="mod">
          <ac:chgData name="Norbey Muñoz" userId="b7e811e8891ccd42" providerId="LiveId" clId="{2482167B-ADD3-4E68-AB8B-ADE9CECE27D0}" dt="2026-06-22T03:10:09.110" v="390" actId="207"/>
          <ac:spMkLst>
            <pc:docMk/>
            <pc:sldMk cId="0" sldId="1355"/>
            <ac:spMk id="4" creationId="{00000000-0000-0000-0000-000000000000}"/>
          </ac:spMkLst>
        </pc:spChg>
        <pc:spChg chg="mod">
          <ac:chgData name="Norbey Muñoz" userId="b7e811e8891ccd42" providerId="LiveId" clId="{2482167B-ADD3-4E68-AB8B-ADE9CECE27D0}" dt="2026-06-22T03:10:09.110" v="390" actId="207"/>
          <ac:spMkLst>
            <pc:docMk/>
            <pc:sldMk cId="0" sldId="1355"/>
            <ac:spMk id="5" creationId="{00000000-0000-0000-0000-000000000000}"/>
          </ac:spMkLst>
        </pc:spChg>
        <pc:spChg chg="mod">
          <ac:chgData name="Norbey Muñoz" userId="b7e811e8891ccd42" providerId="LiveId" clId="{2482167B-ADD3-4E68-AB8B-ADE9CECE27D0}" dt="2026-06-22T03:10:53.714" v="393" actId="14100"/>
          <ac:spMkLst>
            <pc:docMk/>
            <pc:sldMk cId="0" sldId="1355"/>
            <ac:spMk id="20" creationId="{00000000-0000-0000-0000-000000000000}"/>
          </ac:spMkLst>
        </pc:spChg>
        <pc:spChg chg="mod">
          <ac:chgData name="Norbey Muñoz" userId="b7e811e8891ccd42" providerId="LiveId" clId="{2482167B-ADD3-4E68-AB8B-ADE9CECE27D0}" dt="2026-06-22T03:10:58.172" v="394" actId="122"/>
          <ac:spMkLst>
            <pc:docMk/>
            <pc:sldMk cId="0" sldId="1355"/>
            <ac:spMk id="21" creationId="{00000000-0000-0000-0000-000000000000}"/>
          </ac:spMkLst>
        </pc:spChg>
      </pc:sldChg>
      <pc:sldChg chg="modSp add mod">
        <pc:chgData name="Norbey Muñoz" userId="b7e811e8891ccd42" providerId="LiveId" clId="{2482167B-ADD3-4E68-AB8B-ADE9CECE27D0}" dt="2026-07-08T04:19:40.238" v="811" actId="20577"/>
        <pc:sldMkLst>
          <pc:docMk/>
          <pc:sldMk cId="1924188671" sldId="1356"/>
        </pc:sldMkLst>
        <pc:spChg chg="mod">
          <ac:chgData name="Norbey Muñoz" userId="b7e811e8891ccd42" providerId="LiveId" clId="{2482167B-ADD3-4E68-AB8B-ADE9CECE27D0}" dt="2026-07-08T04:19:40.238" v="811" actId="20577"/>
          <ac:spMkLst>
            <pc:docMk/>
            <pc:sldMk cId="1924188671" sldId="1356"/>
            <ac:spMk id="3" creationId="{982A2860-8F75-4A78-5ABC-A62D6F59CDB3}"/>
          </ac:spMkLst>
        </pc:spChg>
        <pc:spChg chg="mod">
          <ac:chgData name="Norbey Muñoz" userId="b7e811e8891ccd42" providerId="LiveId" clId="{2482167B-ADD3-4E68-AB8B-ADE9CECE27D0}" dt="2026-07-08T04:17:21.607" v="584" actId="20577"/>
          <ac:spMkLst>
            <pc:docMk/>
            <pc:sldMk cId="1924188671" sldId="1356"/>
            <ac:spMk id="108" creationId="{38226AC4-8280-DD74-7D84-BA1065B2B4EA}"/>
          </ac:spMkLst>
        </pc:spChg>
      </pc:sldChg>
      <pc:sldMasterChg chg="delSldLayout">
        <pc:chgData name="Norbey Muñoz" userId="b7e811e8891ccd42" providerId="LiveId" clId="{2482167B-ADD3-4E68-AB8B-ADE9CECE27D0}" dt="2026-06-10T13:13:49.804" v="193" actId="47"/>
        <pc:sldMasterMkLst>
          <pc:docMk/>
          <pc:sldMasterMk cId="0" sldId="2147483648"/>
        </pc:sldMasterMkLst>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9BE567-4657-4BB7-B0E2-C8E5D87192F8}" type="doc">
      <dgm:prSet loTypeId="urn:microsoft.com/office/officeart/2005/8/layout/list1" loCatId="list" qsTypeId="urn:microsoft.com/office/officeart/2005/8/quickstyle/simple1" qsCatId="simple" csTypeId="urn:microsoft.com/office/officeart/2005/8/colors/accent0_3" csCatId="mainScheme" phldr="1"/>
      <dgm:spPr/>
      <dgm:t>
        <a:bodyPr/>
        <a:lstStyle/>
        <a:p>
          <a:endParaRPr lang="en-US"/>
        </a:p>
      </dgm:t>
    </dgm:pt>
    <dgm:pt modelId="{C8CD0447-A0A3-47B8-A369-2E80CD4B4895}">
      <dgm:prSet/>
      <dgm:spPr/>
      <dgm:t>
        <a:bodyPr/>
        <a:lstStyle/>
        <a:p>
          <a:r>
            <a:rPr lang="es-CO" dirty="0"/>
            <a:t>Datos perdidos o faltantes (Los NaN o NA)</a:t>
          </a:r>
          <a:endParaRPr lang="en-US" dirty="0"/>
        </a:p>
      </dgm:t>
    </dgm:pt>
    <dgm:pt modelId="{92CDD517-4545-4089-B403-CE2D9BC62623}" type="parTrans" cxnId="{8B109DC8-EC52-4C9A-8676-C41DA66C2796}">
      <dgm:prSet/>
      <dgm:spPr/>
      <dgm:t>
        <a:bodyPr/>
        <a:lstStyle/>
        <a:p>
          <a:endParaRPr lang="en-US"/>
        </a:p>
      </dgm:t>
    </dgm:pt>
    <dgm:pt modelId="{1D6214C0-2496-4043-A2D7-680295E60268}" type="sibTrans" cxnId="{8B109DC8-EC52-4C9A-8676-C41DA66C2796}">
      <dgm:prSet/>
      <dgm:spPr/>
      <dgm:t>
        <a:bodyPr/>
        <a:lstStyle/>
        <a:p>
          <a:endParaRPr lang="en-US"/>
        </a:p>
      </dgm:t>
    </dgm:pt>
    <dgm:pt modelId="{55755908-98A1-40BC-80D8-C34B6FD57ED1}">
      <dgm:prSet/>
      <dgm:spPr/>
      <dgm:t>
        <a:bodyPr/>
        <a:lstStyle/>
        <a:p>
          <a:r>
            <a:rPr lang="es-CO" dirty="0"/>
            <a:t>Compruebe si hay NAN	</a:t>
          </a:r>
          <a:endParaRPr lang="en-US" dirty="0"/>
        </a:p>
      </dgm:t>
    </dgm:pt>
    <dgm:pt modelId="{9B98B79F-0424-4012-AF89-82FFC2BA7F94}" type="parTrans" cxnId="{30F33B53-8848-4640-9524-E25D72D7C9CD}">
      <dgm:prSet/>
      <dgm:spPr/>
      <dgm:t>
        <a:bodyPr/>
        <a:lstStyle/>
        <a:p>
          <a:endParaRPr lang="en-US"/>
        </a:p>
      </dgm:t>
    </dgm:pt>
    <dgm:pt modelId="{1476694B-3186-4DEA-9A87-26FEE246CF3B}" type="sibTrans" cxnId="{30F33B53-8848-4640-9524-E25D72D7C9CD}">
      <dgm:prSet/>
      <dgm:spPr/>
      <dgm:t>
        <a:bodyPr/>
        <a:lstStyle/>
        <a:p>
          <a:endParaRPr lang="en-US"/>
        </a:p>
      </dgm:t>
    </dgm:pt>
    <dgm:pt modelId="{C3E8F59D-07E1-4908-B1C6-4A643F050DD3}">
      <dgm:prSet/>
      <dgm:spPr/>
      <dgm:t>
        <a:bodyPr/>
        <a:lstStyle/>
        <a:p>
          <a:r>
            <a:rPr lang="es-CO"/>
            <a:t>Eliminar datos faltantes	</a:t>
          </a:r>
          <a:endParaRPr lang="en-US"/>
        </a:p>
      </dgm:t>
    </dgm:pt>
    <dgm:pt modelId="{D906A510-3F1B-419F-8C7D-3F7D8E24AB14}" type="parTrans" cxnId="{8E0654B2-CA87-4D8C-BE33-E87BF61EAF09}">
      <dgm:prSet/>
      <dgm:spPr/>
      <dgm:t>
        <a:bodyPr/>
        <a:lstStyle/>
        <a:p>
          <a:endParaRPr lang="en-US"/>
        </a:p>
      </dgm:t>
    </dgm:pt>
    <dgm:pt modelId="{194F780E-4C7B-41EA-8C8C-C4FF45F46813}" type="sibTrans" cxnId="{8E0654B2-CA87-4D8C-BE33-E87BF61EAF09}">
      <dgm:prSet/>
      <dgm:spPr/>
      <dgm:t>
        <a:bodyPr/>
        <a:lstStyle/>
        <a:p>
          <a:endParaRPr lang="en-US"/>
        </a:p>
      </dgm:t>
    </dgm:pt>
    <dgm:pt modelId="{4EAEA9C8-65F7-4170-970B-A09BF5C6F0BC}">
      <dgm:prSet/>
      <dgm:spPr/>
      <dgm:t>
        <a:bodyPr/>
        <a:lstStyle/>
        <a:p>
          <a:r>
            <a:rPr lang="es-CO"/>
            <a:t>Reemplace los datos faltantes	</a:t>
          </a:r>
          <a:endParaRPr lang="en-US"/>
        </a:p>
      </dgm:t>
    </dgm:pt>
    <dgm:pt modelId="{16C05EB9-8579-4EAF-A0DC-E46EC04612FE}" type="parTrans" cxnId="{5B35C68D-0C3B-4BFE-8B5B-9C9C69D8BCFA}">
      <dgm:prSet/>
      <dgm:spPr/>
      <dgm:t>
        <a:bodyPr/>
        <a:lstStyle/>
        <a:p>
          <a:endParaRPr lang="en-US"/>
        </a:p>
      </dgm:t>
    </dgm:pt>
    <dgm:pt modelId="{468DAD09-CEA0-4CEE-9F0F-D909990B9730}" type="sibTrans" cxnId="{5B35C68D-0C3B-4BFE-8B5B-9C9C69D8BCFA}">
      <dgm:prSet/>
      <dgm:spPr/>
      <dgm:t>
        <a:bodyPr/>
        <a:lstStyle/>
        <a:p>
          <a:endParaRPr lang="en-US"/>
        </a:p>
      </dgm:t>
    </dgm:pt>
    <dgm:pt modelId="{C61064DD-2A6F-4ED0-BEE1-42F6905BC80F}">
      <dgm:prSet/>
      <dgm:spPr/>
      <dgm:t>
        <a:bodyPr/>
        <a:lstStyle/>
        <a:p>
          <a:r>
            <a:rPr lang="es-CO"/>
            <a:t>Descarte una característica</a:t>
          </a:r>
          <a:endParaRPr lang="en-US"/>
        </a:p>
      </dgm:t>
    </dgm:pt>
    <dgm:pt modelId="{F1E03981-C2B1-478F-9C41-ABF68D68C245}" type="parTrans" cxnId="{DF18F77A-FE48-428A-BBB6-24AE83F73EAC}">
      <dgm:prSet/>
      <dgm:spPr/>
      <dgm:t>
        <a:bodyPr/>
        <a:lstStyle/>
        <a:p>
          <a:endParaRPr lang="en-US"/>
        </a:p>
      </dgm:t>
    </dgm:pt>
    <dgm:pt modelId="{5ABD522A-EC4E-44E7-88FE-700F5AD0D4D1}" type="sibTrans" cxnId="{DF18F77A-FE48-428A-BBB6-24AE83F73EAC}">
      <dgm:prSet/>
      <dgm:spPr/>
      <dgm:t>
        <a:bodyPr/>
        <a:lstStyle/>
        <a:p>
          <a:endParaRPr lang="en-US"/>
        </a:p>
      </dgm:t>
    </dgm:pt>
    <dgm:pt modelId="{8D99C062-A85D-4EAB-BD12-682D800C1F2B}">
      <dgm:prSet/>
      <dgm:spPr/>
      <dgm:t>
        <a:bodyPr/>
        <a:lstStyle/>
        <a:p>
          <a:r>
            <a:rPr lang="en-US"/>
            <a:t>Outliers</a:t>
          </a:r>
          <a:r>
            <a:rPr lang="es-CO"/>
            <a:t> o valores atípicos</a:t>
          </a:r>
          <a:endParaRPr lang="en-US"/>
        </a:p>
      </dgm:t>
    </dgm:pt>
    <dgm:pt modelId="{4CF3EE99-3289-44ED-8767-4271CDE2790B}" type="parTrans" cxnId="{D6E945FB-CF26-4A39-81DA-EA131BA93035}">
      <dgm:prSet/>
      <dgm:spPr/>
      <dgm:t>
        <a:bodyPr/>
        <a:lstStyle/>
        <a:p>
          <a:endParaRPr lang="en-US"/>
        </a:p>
      </dgm:t>
    </dgm:pt>
    <dgm:pt modelId="{001A31E1-BAA5-4C85-82B0-C07FE1A5DA82}" type="sibTrans" cxnId="{D6E945FB-CF26-4A39-81DA-EA131BA93035}">
      <dgm:prSet/>
      <dgm:spPr/>
      <dgm:t>
        <a:bodyPr/>
        <a:lstStyle/>
        <a:p>
          <a:endParaRPr lang="en-US"/>
        </a:p>
      </dgm:t>
    </dgm:pt>
    <dgm:pt modelId="{2AA4BB32-6B3C-4E3F-A186-452650F91AC7}">
      <dgm:prSet/>
      <dgm:spPr/>
      <dgm:t>
        <a:bodyPr/>
        <a:lstStyle/>
        <a:p>
          <a:r>
            <a:rPr lang="es-CO"/>
            <a:t>Use gráficos para identificarlos: Boxplot, Histograma, etc.</a:t>
          </a:r>
          <a:endParaRPr lang="en-US"/>
        </a:p>
      </dgm:t>
    </dgm:pt>
    <dgm:pt modelId="{5E5981D5-FF31-4E36-B4B8-22E1D276078F}" type="parTrans" cxnId="{5B7C80AC-FDD0-4118-8817-25BFA4F2FFA4}">
      <dgm:prSet/>
      <dgm:spPr/>
      <dgm:t>
        <a:bodyPr/>
        <a:lstStyle/>
        <a:p>
          <a:endParaRPr lang="en-US"/>
        </a:p>
      </dgm:t>
    </dgm:pt>
    <dgm:pt modelId="{845E70C3-A196-4776-9857-2A2600DB747B}" type="sibTrans" cxnId="{5B7C80AC-FDD0-4118-8817-25BFA4F2FFA4}">
      <dgm:prSet/>
      <dgm:spPr/>
      <dgm:t>
        <a:bodyPr/>
        <a:lstStyle/>
        <a:p>
          <a:endParaRPr lang="en-US"/>
        </a:p>
      </dgm:t>
    </dgm:pt>
    <dgm:pt modelId="{36F61984-5A78-4854-AE03-BFE6890984CE}">
      <dgm:prSet/>
      <dgm:spPr/>
      <dgm:t>
        <a:bodyPr/>
        <a:lstStyle/>
        <a:p>
          <a:r>
            <a:rPr lang="es-CO"/>
            <a:t>Malos datos y duplicados</a:t>
          </a:r>
          <a:endParaRPr lang="en-US"/>
        </a:p>
      </dgm:t>
    </dgm:pt>
    <dgm:pt modelId="{B8361F46-2EAB-4D6F-B611-92F16ACC4B8B}" type="parTrans" cxnId="{00608957-7B25-4E5A-AE6D-48DA67AEB338}">
      <dgm:prSet/>
      <dgm:spPr/>
      <dgm:t>
        <a:bodyPr/>
        <a:lstStyle/>
        <a:p>
          <a:endParaRPr lang="en-US"/>
        </a:p>
      </dgm:t>
    </dgm:pt>
    <dgm:pt modelId="{17A2BFBB-BFC9-4482-A1EE-E4B0344E027E}" type="sibTrans" cxnId="{00608957-7B25-4E5A-AE6D-48DA67AEB338}">
      <dgm:prSet/>
      <dgm:spPr/>
      <dgm:t>
        <a:bodyPr/>
        <a:lstStyle/>
        <a:p>
          <a:endParaRPr lang="en-US"/>
        </a:p>
      </dgm:t>
    </dgm:pt>
    <dgm:pt modelId="{73360589-0AC9-4DCC-9E47-E4E88C8E743F}">
      <dgm:prSet/>
      <dgm:spPr/>
      <dgm:t>
        <a:bodyPr/>
        <a:lstStyle/>
        <a:p>
          <a:r>
            <a:rPr lang="es-CO"/>
            <a:t>Elimínelos los duplicados</a:t>
          </a:r>
          <a:endParaRPr lang="en-US"/>
        </a:p>
      </dgm:t>
    </dgm:pt>
    <dgm:pt modelId="{91B6A634-EDAF-4589-8356-2FE77D897D21}" type="parTrans" cxnId="{8C0C7A58-E95B-4807-A3E3-A53C344A9253}">
      <dgm:prSet/>
      <dgm:spPr/>
      <dgm:t>
        <a:bodyPr/>
        <a:lstStyle/>
        <a:p>
          <a:endParaRPr lang="en-US"/>
        </a:p>
      </dgm:t>
    </dgm:pt>
    <dgm:pt modelId="{5B5242A8-61ED-48E5-A08E-FD2C858D5535}" type="sibTrans" cxnId="{8C0C7A58-E95B-4807-A3E3-A53C344A9253}">
      <dgm:prSet/>
      <dgm:spPr/>
      <dgm:t>
        <a:bodyPr/>
        <a:lstStyle/>
        <a:p>
          <a:endParaRPr lang="en-US"/>
        </a:p>
      </dgm:t>
    </dgm:pt>
    <dgm:pt modelId="{8EE976A1-DF4B-4CB4-B85B-714C37FEAACF}">
      <dgm:prSet/>
      <dgm:spPr/>
      <dgm:t>
        <a:bodyPr/>
        <a:lstStyle/>
        <a:p>
          <a:r>
            <a:rPr lang="es-CO" dirty="0"/>
            <a:t>Los malos busque reemplazarlos </a:t>
          </a:r>
          <a:endParaRPr lang="en-US" dirty="0"/>
        </a:p>
      </dgm:t>
    </dgm:pt>
    <dgm:pt modelId="{DF6980BC-7E56-4543-8B1B-CEE3EF12AB9D}" type="parTrans" cxnId="{1C3B9D7A-C850-46F7-BDC6-83E9676B52BB}">
      <dgm:prSet/>
      <dgm:spPr/>
      <dgm:t>
        <a:bodyPr/>
        <a:lstStyle/>
        <a:p>
          <a:endParaRPr lang="en-US"/>
        </a:p>
      </dgm:t>
    </dgm:pt>
    <dgm:pt modelId="{4CD12219-E78A-46A0-AB99-9A762DAE5D0A}" type="sibTrans" cxnId="{1C3B9D7A-C850-46F7-BDC6-83E9676B52BB}">
      <dgm:prSet/>
      <dgm:spPr/>
      <dgm:t>
        <a:bodyPr/>
        <a:lstStyle/>
        <a:p>
          <a:endParaRPr lang="en-US"/>
        </a:p>
      </dgm:t>
    </dgm:pt>
    <dgm:pt modelId="{6B1B9B35-93FC-4846-8E45-D8CB97EB05ED}">
      <dgm:prSet/>
      <dgm:spPr/>
      <dgm:t>
        <a:bodyPr/>
        <a:lstStyle/>
        <a:p>
          <a:r>
            <a:rPr lang="es-CO" dirty="0"/>
            <a:t>Características irrelevantes y derivadas</a:t>
          </a:r>
          <a:endParaRPr lang="en-US" dirty="0"/>
        </a:p>
      </dgm:t>
    </dgm:pt>
    <dgm:pt modelId="{79055B48-DACF-40BD-815F-21FB8B5A2E68}" type="parTrans" cxnId="{F72F9037-30BF-4C21-BE7E-B77C7C5A6409}">
      <dgm:prSet/>
      <dgm:spPr/>
      <dgm:t>
        <a:bodyPr/>
        <a:lstStyle/>
        <a:p>
          <a:endParaRPr lang="en-US"/>
        </a:p>
      </dgm:t>
    </dgm:pt>
    <dgm:pt modelId="{49BB6283-6084-4F8D-A2AD-C8D1D2377E2B}" type="sibTrans" cxnId="{F72F9037-30BF-4C21-BE7E-B77C7C5A6409}">
      <dgm:prSet/>
      <dgm:spPr/>
      <dgm:t>
        <a:bodyPr/>
        <a:lstStyle/>
        <a:p>
          <a:endParaRPr lang="en-US"/>
        </a:p>
      </dgm:t>
    </dgm:pt>
    <dgm:pt modelId="{5E8EA520-7C2F-49C2-9F8C-DDD77FFF3F2F}">
      <dgm:prSet/>
      <dgm:spPr/>
      <dgm:t>
        <a:bodyPr/>
        <a:lstStyle/>
        <a:p>
          <a:r>
            <a:rPr lang="es-CO" dirty="0"/>
            <a:t>Normalización</a:t>
          </a:r>
          <a:endParaRPr lang="en-US" dirty="0"/>
        </a:p>
      </dgm:t>
    </dgm:pt>
    <dgm:pt modelId="{E893C7EF-9D3F-4EC0-8D2D-F2B1E8EBC89C}" type="parTrans" cxnId="{2E06A71C-02C5-4342-A298-2BFFC75B198C}">
      <dgm:prSet/>
      <dgm:spPr/>
      <dgm:t>
        <a:bodyPr/>
        <a:lstStyle/>
        <a:p>
          <a:endParaRPr lang="en-US"/>
        </a:p>
      </dgm:t>
    </dgm:pt>
    <dgm:pt modelId="{D87A37BE-6B00-4C1E-99E0-00C6089160EB}" type="sibTrans" cxnId="{2E06A71C-02C5-4342-A298-2BFFC75B198C}">
      <dgm:prSet/>
      <dgm:spPr/>
      <dgm:t>
        <a:bodyPr/>
        <a:lstStyle/>
        <a:p>
          <a:endParaRPr lang="en-US"/>
        </a:p>
      </dgm:t>
    </dgm:pt>
    <dgm:pt modelId="{5D923361-1B95-424C-A768-50A7EBB54DE2}">
      <dgm:prSet/>
      <dgm:spPr/>
      <dgm:t>
        <a:bodyPr/>
        <a:lstStyle/>
        <a:p>
          <a:r>
            <a:rPr lang="es-CO" noProof="0" dirty="0"/>
            <a:t>Eliminarlas</a:t>
          </a:r>
        </a:p>
      </dgm:t>
    </dgm:pt>
    <dgm:pt modelId="{85994E3C-F6CA-4B1A-91C4-BB25CB901800}" type="parTrans" cxnId="{EE01715D-FF40-4E2A-8519-7F0036947BAD}">
      <dgm:prSet/>
      <dgm:spPr/>
      <dgm:t>
        <a:bodyPr/>
        <a:lstStyle/>
        <a:p>
          <a:endParaRPr lang="es-CO"/>
        </a:p>
      </dgm:t>
    </dgm:pt>
    <dgm:pt modelId="{ABFA713A-9A23-47C0-95C6-92A9861BF350}" type="sibTrans" cxnId="{EE01715D-FF40-4E2A-8519-7F0036947BAD}">
      <dgm:prSet/>
      <dgm:spPr/>
      <dgm:t>
        <a:bodyPr/>
        <a:lstStyle/>
        <a:p>
          <a:endParaRPr lang="es-CO"/>
        </a:p>
      </dgm:t>
    </dgm:pt>
    <dgm:pt modelId="{5210AE3C-C071-42D8-82EE-34BBAD496B85}">
      <dgm:prSet/>
      <dgm:spPr/>
      <dgm:t>
        <a:bodyPr/>
        <a:lstStyle/>
        <a:p>
          <a:r>
            <a:rPr lang="es-CO" noProof="0" dirty="0"/>
            <a:t>Para números. Escalas equivalentes</a:t>
          </a:r>
        </a:p>
      </dgm:t>
    </dgm:pt>
    <dgm:pt modelId="{F2AE0DB5-6C22-4EDE-B515-9F0D26AA5751}" type="parTrans" cxnId="{947BE646-21E0-439B-85C0-0081B85C7E7B}">
      <dgm:prSet/>
      <dgm:spPr/>
      <dgm:t>
        <a:bodyPr/>
        <a:lstStyle/>
        <a:p>
          <a:endParaRPr lang="es-CO"/>
        </a:p>
      </dgm:t>
    </dgm:pt>
    <dgm:pt modelId="{40AAA093-C606-4586-BF1D-6789FEDB615C}" type="sibTrans" cxnId="{947BE646-21E0-439B-85C0-0081B85C7E7B}">
      <dgm:prSet/>
      <dgm:spPr/>
      <dgm:t>
        <a:bodyPr/>
        <a:lstStyle/>
        <a:p>
          <a:endParaRPr lang="es-CO"/>
        </a:p>
      </dgm:t>
    </dgm:pt>
    <dgm:pt modelId="{20BC8A54-B6C2-4493-8564-A38BCDB5B0B3}">
      <dgm:prSet/>
      <dgm:spPr/>
      <dgm:t>
        <a:bodyPr/>
        <a:lstStyle/>
        <a:p>
          <a:r>
            <a:rPr lang="es-ES" noProof="0" dirty="0"/>
            <a:t>Obtenga nuevas a partir de las existentes. Fecha (duración)</a:t>
          </a:r>
          <a:endParaRPr lang="es-CO" noProof="0" dirty="0"/>
        </a:p>
      </dgm:t>
    </dgm:pt>
    <dgm:pt modelId="{2030BCB3-6B72-4997-8AA0-DCF909E2DF31}" type="parTrans" cxnId="{42D8ADF4-C938-410F-ABA6-EE0C82B78FC6}">
      <dgm:prSet/>
      <dgm:spPr/>
      <dgm:t>
        <a:bodyPr/>
        <a:lstStyle/>
        <a:p>
          <a:endParaRPr lang="es-CO"/>
        </a:p>
      </dgm:t>
    </dgm:pt>
    <dgm:pt modelId="{E96A3295-AF64-49B4-8B55-7930211216F7}" type="sibTrans" cxnId="{42D8ADF4-C938-410F-ABA6-EE0C82B78FC6}">
      <dgm:prSet/>
      <dgm:spPr/>
      <dgm:t>
        <a:bodyPr/>
        <a:lstStyle/>
        <a:p>
          <a:endParaRPr lang="es-CO"/>
        </a:p>
      </dgm:t>
    </dgm:pt>
    <dgm:pt modelId="{EC086B53-0114-433F-A05B-D5DC924ACBF3}" type="pres">
      <dgm:prSet presAssocID="{1B9BE567-4657-4BB7-B0E2-C8E5D87192F8}" presName="linear" presStyleCnt="0">
        <dgm:presLayoutVars>
          <dgm:dir/>
          <dgm:animLvl val="lvl"/>
          <dgm:resizeHandles val="exact"/>
        </dgm:presLayoutVars>
      </dgm:prSet>
      <dgm:spPr/>
    </dgm:pt>
    <dgm:pt modelId="{97504F23-296C-42A6-8D4B-053574905F65}" type="pres">
      <dgm:prSet presAssocID="{C8CD0447-A0A3-47B8-A369-2E80CD4B4895}" presName="parentLin" presStyleCnt="0"/>
      <dgm:spPr/>
    </dgm:pt>
    <dgm:pt modelId="{C491043D-2AC8-4E11-85FA-8D4676124535}" type="pres">
      <dgm:prSet presAssocID="{C8CD0447-A0A3-47B8-A369-2E80CD4B4895}" presName="parentLeftMargin" presStyleLbl="node1" presStyleIdx="0" presStyleCnt="5"/>
      <dgm:spPr/>
    </dgm:pt>
    <dgm:pt modelId="{915ACB12-EEBF-43C6-962D-FB387B97F02B}" type="pres">
      <dgm:prSet presAssocID="{C8CD0447-A0A3-47B8-A369-2E80CD4B4895}" presName="parentText" presStyleLbl="node1" presStyleIdx="0" presStyleCnt="5">
        <dgm:presLayoutVars>
          <dgm:chMax val="0"/>
          <dgm:bulletEnabled val="1"/>
        </dgm:presLayoutVars>
      </dgm:prSet>
      <dgm:spPr/>
    </dgm:pt>
    <dgm:pt modelId="{A26C6D45-1D45-46F9-BDCF-5831631F99EE}" type="pres">
      <dgm:prSet presAssocID="{C8CD0447-A0A3-47B8-A369-2E80CD4B4895}" presName="negativeSpace" presStyleCnt="0"/>
      <dgm:spPr/>
    </dgm:pt>
    <dgm:pt modelId="{F5FB902E-284A-408F-9E68-21307967D10A}" type="pres">
      <dgm:prSet presAssocID="{C8CD0447-A0A3-47B8-A369-2E80CD4B4895}" presName="childText" presStyleLbl="conFgAcc1" presStyleIdx="0" presStyleCnt="5">
        <dgm:presLayoutVars>
          <dgm:bulletEnabled val="1"/>
        </dgm:presLayoutVars>
      </dgm:prSet>
      <dgm:spPr/>
    </dgm:pt>
    <dgm:pt modelId="{F79162BA-6727-4A2E-8026-B97B446A6433}" type="pres">
      <dgm:prSet presAssocID="{1D6214C0-2496-4043-A2D7-680295E60268}" presName="spaceBetweenRectangles" presStyleCnt="0"/>
      <dgm:spPr/>
    </dgm:pt>
    <dgm:pt modelId="{4D88DAF0-335E-4F82-A3C4-6C54AA61975B}" type="pres">
      <dgm:prSet presAssocID="{8D99C062-A85D-4EAB-BD12-682D800C1F2B}" presName="parentLin" presStyleCnt="0"/>
      <dgm:spPr/>
    </dgm:pt>
    <dgm:pt modelId="{B7029885-8B78-4261-9942-A3B1EF53D771}" type="pres">
      <dgm:prSet presAssocID="{8D99C062-A85D-4EAB-BD12-682D800C1F2B}" presName="parentLeftMargin" presStyleLbl="node1" presStyleIdx="0" presStyleCnt="5"/>
      <dgm:spPr/>
    </dgm:pt>
    <dgm:pt modelId="{45C66ED1-236A-496D-8911-AB13057005E2}" type="pres">
      <dgm:prSet presAssocID="{8D99C062-A85D-4EAB-BD12-682D800C1F2B}" presName="parentText" presStyleLbl="node1" presStyleIdx="1" presStyleCnt="5">
        <dgm:presLayoutVars>
          <dgm:chMax val="0"/>
          <dgm:bulletEnabled val="1"/>
        </dgm:presLayoutVars>
      </dgm:prSet>
      <dgm:spPr/>
    </dgm:pt>
    <dgm:pt modelId="{72E82218-214C-4906-9883-91ACFE6F44CF}" type="pres">
      <dgm:prSet presAssocID="{8D99C062-A85D-4EAB-BD12-682D800C1F2B}" presName="negativeSpace" presStyleCnt="0"/>
      <dgm:spPr/>
    </dgm:pt>
    <dgm:pt modelId="{C7319CE9-978D-47D5-AB1A-AD92C61A52A5}" type="pres">
      <dgm:prSet presAssocID="{8D99C062-A85D-4EAB-BD12-682D800C1F2B}" presName="childText" presStyleLbl="conFgAcc1" presStyleIdx="1" presStyleCnt="5">
        <dgm:presLayoutVars>
          <dgm:bulletEnabled val="1"/>
        </dgm:presLayoutVars>
      </dgm:prSet>
      <dgm:spPr/>
    </dgm:pt>
    <dgm:pt modelId="{97D09B91-F174-4A6D-BD4D-F8E3B0666FF4}" type="pres">
      <dgm:prSet presAssocID="{001A31E1-BAA5-4C85-82B0-C07FE1A5DA82}" presName="spaceBetweenRectangles" presStyleCnt="0"/>
      <dgm:spPr/>
    </dgm:pt>
    <dgm:pt modelId="{8631C0B9-9B2D-4BBF-A894-5442A6AFC72A}" type="pres">
      <dgm:prSet presAssocID="{36F61984-5A78-4854-AE03-BFE6890984CE}" presName="parentLin" presStyleCnt="0"/>
      <dgm:spPr/>
    </dgm:pt>
    <dgm:pt modelId="{6A95F463-C84F-4FE2-BD13-AC0F8D75355E}" type="pres">
      <dgm:prSet presAssocID="{36F61984-5A78-4854-AE03-BFE6890984CE}" presName="parentLeftMargin" presStyleLbl="node1" presStyleIdx="1" presStyleCnt="5"/>
      <dgm:spPr/>
    </dgm:pt>
    <dgm:pt modelId="{62C3281F-1D3D-448E-BC40-463D1E78DEF9}" type="pres">
      <dgm:prSet presAssocID="{36F61984-5A78-4854-AE03-BFE6890984CE}" presName="parentText" presStyleLbl="node1" presStyleIdx="2" presStyleCnt="5">
        <dgm:presLayoutVars>
          <dgm:chMax val="0"/>
          <dgm:bulletEnabled val="1"/>
        </dgm:presLayoutVars>
      </dgm:prSet>
      <dgm:spPr/>
    </dgm:pt>
    <dgm:pt modelId="{48690CCE-6F7B-4D54-9EC9-4038FAE00E58}" type="pres">
      <dgm:prSet presAssocID="{36F61984-5A78-4854-AE03-BFE6890984CE}" presName="negativeSpace" presStyleCnt="0"/>
      <dgm:spPr/>
    </dgm:pt>
    <dgm:pt modelId="{A97F82FF-385F-47D7-94C6-1FF4A8BE74AE}" type="pres">
      <dgm:prSet presAssocID="{36F61984-5A78-4854-AE03-BFE6890984CE}" presName="childText" presStyleLbl="conFgAcc1" presStyleIdx="2" presStyleCnt="5">
        <dgm:presLayoutVars>
          <dgm:bulletEnabled val="1"/>
        </dgm:presLayoutVars>
      </dgm:prSet>
      <dgm:spPr/>
    </dgm:pt>
    <dgm:pt modelId="{71AD328F-C0E7-4A08-9C50-0919EC9913A0}" type="pres">
      <dgm:prSet presAssocID="{17A2BFBB-BFC9-4482-A1EE-E4B0344E027E}" presName="spaceBetweenRectangles" presStyleCnt="0"/>
      <dgm:spPr/>
    </dgm:pt>
    <dgm:pt modelId="{6E5854EE-9EFE-4BC4-9396-F4DA603943B4}" type="pres">
      <dgm:prSet presAssocID="{6B1B9B35-93FC-4846-8E45-D8CB97EB05ED}" presName="parentLin" presStyleCnt="0"/>
      <dgm:spPr/>
    </dgm:pt>
    <dgm:pt modelId="{93619F78-02BD-4AEF-BC24-1A7D983F8325}" type="pres">
      <dgm:prSet presAssocID="{6B1B9B35-93FC-4846-8E45-D8CB97EB05ED}" presName="parentLeftMargin" presStyleLbl="node1" presStyleIdx="2" presStyleCnt="5"/>
      <dgm:spPr/>
    </dgm:pt>
    <dgm:pt modelId="{280CBB13-FE0A-4E76-90B1-3D6502C10943}" type="pres">
      <dgm:prSet presAssocID="{6B1B9B35-93FC-4846-8E45-D8CB97EB05ED}" presName="parentText" presStyleLbl="node1" presStyleIdx="3" presStyleCnt="5">
        <dgm:presLayoutVars>
          <dgm:chMax val="0"/>
          <dgm:bulletEnabled val="1"/>
        </dgm:presLayoutVars>
      </dgm:prSet>
      <dgm:spPr/>
    </dgm:pt>
    <dgm:pt modelId="{B43A4887-14F4-4D7B-A449-D55B44DABDB1}" type="pres">
      <dgm:prSet presAssocID="{6B1B9B35-93FC-4846-8E45-D8CB97EB05ED}" presName="negativeSpace" presStyleCnt="0"/>
      <dgm:spPr/>
    </dgm:pt>
    <dgm:pt modelId="{334DC496-494B-4E29-89D2-2F114DD25615}" type="pres">
      <dgm:prSet presAssocID="{6B1B9B35-93FC-4846-8E45-D8CB97EB05ED}" presName="childText" presStyleLbl="conFgAcc1" presStyleIdx="3" presStyleCnt="5">
        <dgm:presLayoutVars>
          <dgm:bulletEnabled val="1"/>
        </dgm:presLayoutVars>
      </dgm:prSet>
      <dgm:spPr/>
    </dgm:pt>
    <dgm:pt modelId="{00D6F724-5CBE-446E-B320-3423E509D859}" type="pres">
      <dgm:prSet presAssocID="{49BB6283-6084-4F8D-A2AD-C8D1D2377E2B}" presName="spaceBetweenRectangles" presStyleCnt="0"/>
      <dgm:spPr/>
    </dgm:pt>
    <dgm:pt modelId="{909C861B-162B-4F1A-A11D-B1AAF3E26509}" type="pres">
      <dgm:prSet presAssocID="{5E8EA520-7C2F-49C2-9F8C-DDD77FFF3F2F}" presName="parentLin" presStyleCnt="0"/>
      <dgm:spPr/>
    </dgm:pt>
    <dgm:pt modelId="{452A318C-488B-432A-A16A-4FAC669B7B47}" type="pres">
      <dgm:prSet presAssocID="{5E8EA520-7C2F-49C2-9F8C-DDD77FFF3F2F}" presName="parentLeftMargin" presStyleLbl="node1" presStyleIdx="3" presStyleCnt="5"/>
      <dgm:spPr/>
    </dgm:pt>
    <dgm:pt modelId="{52FA208A-6D5F-4451-AF94-BE02AFFE83E3}" type="pres">
      <dgm:prSet presAssocID="{5E8EA520-7C2F-49C2-9F8C-DDD77FFF3F2F}" presName="parentText" presStyleLbl="node1" presStyleIdx="4" presStyleCnt="5">
        <dgm:presLayoutVars>
          <dgm:chMax val="0"/>
          <dgm:bulletEnabled val="1"/>
        </dgm:presLayoutVars>
      </dgm:prSet>
      <dgm:spPr/>
    </dgm:pt>
    <dgm:pt modelId="{743CA526-EEB7-468E-86FA-35776E094C80}" type="pres">
      <dgm:prSet presAssocID="{5E8EA520-7C2F-49C2-9F8C-DDD77FFF3F2F}" presName="negativeSpace" presStyleCnt="0"/>
      <dgm:spPr/>
    </dgm:pt>
    <dgm:pt modelId="{4AA30457-94F8-4E05-96B6-CBC9B5C62AA0}" type="pres">
      <dgm:prSet presAssocID="{5E8EA520-7C2F-49C2-9F8C-DDD77FFF3F2F}" presName="childText" presStyleLbl="conFgAcc1" presStyleIdx="4" presStyleCnt="5">
        <dgm:presLayoutVars>
          <dgm:bulletEnabled val="1"/>
        </dgm:presLayoutVars>
      </dgm:prSet>
      <dgm:spPr/>
    </dgm:pt>
  </dgm:ptLst>
  <dgm:cxnLst>
    <dgm:cxn modelId="{15A9A001-F04A-4A7E-B2EB-219465534049}" type="presOf" srcId="{4EAEA9C8-65F7-4170-970B-A09BF5C6F0BC}" destId="{F5FB902E-284A-408F-9E68-21307967D10A}" srcOrd="0" destOrd="2" presId="urn:microsoft.com/office/officeart/2005/8/layout/list1"/>
    <dgm:cxn modelId="{F5518F02-39DD-4C01-93FB-37A58319E7FE}" type="presOf" srcId="{73360589-0AC9-4DCC-9E47-E4E88C8E743F}" destId="{A97F82FF-385F-47D7-94C6-1FF4A8BE74AE}" srcOrd="0" destOrd="0" presId="urn:microsoft.com/office/officeart/2005/8/layout/list1"/>
    <dgm:cxn modelId="{3D8A8D09-A176-4650-A3C7-6DFF8E3CDA77}" type="presOf" srcId="{8D99C062-A85D-4EAB-BD12-682D800C1F2B}" destId="{B7029885-8B78-4261-9942-A3B1EF53D771}" srcOrd="0" destOrd="0" presId="urn:microsoft.com/office/officeart/2005/8/layout/list1"/>
    <dgm:cxn modelId="{37D7230F-4948-4F0E-BBC6-689B957F7CCA}" type="presOf" srcId="{2AA4BB32-6B3C-4E3F-A186-452650F91AC7}" destId="{C7319CE9-978D-47D5-AB1A-AD92C61A52A5}" srcOrd="0" destOrd="0" presId="urn:microsoft.com/office/officeart/2005/8/layout/list1"/>
    <dgm:cxn modelId="{4972F516-7285-42AC-9142-F32A24A9C4BC}" type="presOf" srcId="{8D99C062-A85D-4EAB-BD12-682D800C1F2B}" destId="{45C66ED1-236A-496D-8911-AB13057005E2}" srcOrd="1" destOrd="0" presId="urn:microsoft.com/office/officeart/2005/8/layout/list1"/>
    <dgm:cxn modelId="{2E06A71C-02C5-4342-A298-2BFFC75B198C}" srcId="{1B9BE567-4657-4BB7-B0E2-C8E5D87192F8}" destId="{5E8EA520-7C2F-49C2-9F8C-DDD77FFF3F2F}" srcOrd="4" destOrd="0" parTransId="{E893C7EF-9D3F-4EC0-8D2D-F2B1E8EBC89C}" sibTransId="{D87A37BE-6B00-4C1E-99E0-00C6089160EB}"/>
    <dgm:cxn modelId="{7A63841F-28FF-4185-BFF3-8A3C39CF1740}" type="presOf" srcId="{5210AE3C-C071-42D8-82EE-34BBAD496B85}" destId="{4AA30457-94F8-4E05-96B6-CBC9B5C62AA0}" srcOrd="0" destOrd="0" presId="urn:microsoft.com/office/officeart/2005/8/layout/list1"/>
    <dgm:cxn modelId="{D5598820-1650-41EB-A38B-F5DA91FC0147}" type="presOf" srcId="{8EE976A1-DF4B-4CB4-B85B-714C37FEAACF}" destId="{A97F82FF-385F-47D7-94C6-1FF4A8BE74AE}" srcOrd="0" destOrd="1" presId="urn:microsoft.com/office/officeart/2005/8/layout/list1"/>
    <dgm:cxn modelId="{F72F9037-30BF-4C21-BE7E-B77C7C5A6409}" srcId="{1B9BE567-4657-4BB7-B0E2-C8E5D87192F8}" destId="{6B1B9B35-93FC-4846-8E45-D8CB97EB05ED}" srcOrd="3" destOrd="0" parTransId="{79055B48-DACF-40BD-815F-21FB8B5A2E68}" sibTransId="{49BB6283-6084-4F8D-A2AD-C8D1D2377E2B}"/>
    <dgm:cxn modelId="{6AD9B13D-EA9E-4A10-ADC6-1E4EDEC0DAE8}" type="presOf" srcId="{1B9BE567-4657-4BB7-B0E2-C8E5D87192F8}" destId="{EC086B53-0114-433F-A05B-D5DC924ACBF3}" srcOrd="0" destOrd="0" presId="urn:microsoft.com/office/officeart/2005/8/layout/list1"/>
    <dgm:cxn modelId="{EE01715D-FF40-4E2A-8519-7F0036947BAD}" srcId="{6B1B9B35-93FC-4846-8E45-D8CB97EB05ED}" destId="{5D923361-1B95-424C-A768-50A7EBB54DE2}" srcOrd="0" destOrd="0" parTransId="{85994E3C-F6CA-4B1A-91C4-BB25CB901800}" sibTransId="{ABFA713A-9A23-47C0-95C6-92A9861BF350}"/>
    <dgm:cxn modelId="{B9ED1F64-F8AC-465B-B47A-60E1E003E11F}" type="presOf" srcId="{C8CD0447-A0A3-47B8-A369-2E80CD4B4895}" destId="{C491043D-2AC8-4E11-85FA-8D4676124535}" srcOrd="0" destOrd="0" presId="urn:microsoft.com/office/officeart/2005/8/layout/list1"/>
    <dgm:cxn modelId="{666FA865-0D5C-4DF0-AD21-E78C47C4CE66}" type="presOf" srcId="{C8CD0447-A0A3-47B8-A369-2E80CD4B4895}" destId="{915ACB12-EEBF-43C6-962D-FB387B97F02B}" srcOrd="1" destOrd="0" presId="urn:microsoft.com/office/officeart/2005/8/layout/list1"/>
    <dgm:cxn modelId="{947BE646-21E0-439B-85C0-0081B85C7E7B}" srcId="{5E8EA520-7C2F-49C2-9F8C-DDD77FFF3F2F}" destId="{5210AE3C-C071-42D8-82EE-34BBAD496B85}" srcOrd="0" destOrd="0" parTransId="{F2AE0DB5-6C22-4EDE-B515-9F0D26AA5751}" sibTransId="{40AAA093-C606-4586-BF1D-6789FEDB615C}"/>
    <dgm:cxn modelId="{30F33B53-8848-4640-9524-E25D72D7C9CD}" srcId="{C8CD0447-A0A3-47B8-A369-2E80CD4B4895}" destId="{55755908-98A1-40BC-80D8-C34B6FD57ED1}" srcOrd="0" destOrd="0" parTransId="{9B98B79F-0424-4012-AF89-82FFC2BA7F94}" sibTransId="{1476694B-3186-4DEA-9A87-26FEE246CF3B}"/>
    <dgm:cxn modelId="{00608957-7B25-4E5A-AE6D-48DA67AEB338}" srcId="{1B9BE567-4657-4BB7-B0E2-C8E5D87192F8}" destId="{36F61984-5A78-4854-AE03-BFE6890984CE}" srcOrd="2" destOrd="0" parTransId="{B8361F46-2EAB-4D6F-B611-92F16ACC4B8B}" sibTransId="{17A2BFBB-BFC9-4482-A1EE-E4B0344E027E}"/>
    <dgm:cxn modelId="{8C0C7A58-E95B-4807-A3E3-A53C344A9253}" srcId="{36F61984-5A78-4854-AE03-BFE6890984CE}" destId="{73360589-0AC9-4DCC-9E47-E4E88C8E743F}" srcOrd="0" destOrd="0" parTransId="{91B6A634-EDAF-4589-8356-2FE77D897D21}" sibTransId="{5B5242A8-61ED-48E5-A08E-FD2C858D5535}"/>
    <dgm:cxn modelId="{1C3B9D7A-C850-46F7-BDC6-83E9676B52BB}" srcId="{36F61984-5A78-4854-AE03-BFE6890984CE}" destId="{8EE976A1-DF4B-4CB4-B85B-714C37FEAACF}" srcOrd="1" destOrd="0" parTransId="{DF6980BC-7E56-4543-8B1B-CEE3EF12AB9D}" sibTransId="{4CD12219-E78A-46A0-AB99-9A762DAE5D0A}"/>
    <dgm:cxn modelId="{DF18F77A-FE48-428A-BBB6-24AE83F73EAC}" srcId="{C8CD0447-A0A3-47B8-A369-2E80CD4B4895}" destId="{C61064DD-2A6F-4ED0-BEE1-42F6905BC80F}" srcOrd="3" destOrd="0" parTransId="{F1E03981-C2B1-478F-9C41-ABF68D68C245}" sibTransId="{5ABD522A-EC4E-44E7-88FE-700F5AD0D4D1}"/>
    <dgm:cxn modelId="{B5D75E7F-B475-4821-A7BC-30FF34C6C6A6}" type="presOf" srcId="{36F61984-5A78-4854-AE03-BFE6890984CE}" destId="{6A95F463-C84F-4FE2-BD13-AC0F8D75355E}" srcOrd="0" destOrd="0" presId="urn:microsoft.com/office/officeart/2005/8/layout/list1"/>
    <dgm:cxn modelId="{81D1AC80-07E3-47F7-B99C-FA401B8642CD}" type="presOf" srcId="{C61064DD-2A6F-4ED0-BEE1-42F6905BC80F}" destId="{F5FB902E-284A-408F-9E68-21307967D10A}" srcOrd="0" destOrd="3" presId="urn:microsoft.com/office/officeart/2005/8/layout/list1"/>
    <dgm:cxn modelId="{F28C7082-7D40-45C1-AB7A-9FBDF9A075BE}" type="presOf" srcId="{C3E8F59D-07E1-4908-B1C6-4A643F050DD3}" destId="{F5FB902E-284A-408F-9E68-21307967D10A}" srcOrd="0" destOrd="1" presId="urn:microsoft.com/office/officeart/2005/8/layout/list1"/>
    <dgm:cxn modelId="{5B35C68D-0C3B-4BFE-8B5B-9C9C69D8BCFA}" srcId="{C8CD0447-A0A3-47B8-A369-2E80CD4B4895}" destId="{4EAEA9C8-65F7-4170-970B-A09BF5C6F0BC}" srcOrd="2" destOrd="0" parTransId="{16C05EB9-8579-4EAF-A0DC-E46EC04612FE}" sibTransId="{468DAD09-CEA0-4CEE-9F0F-D909990B9730}"/>
    <dgm:cxn modelId="{0456589C-5E8E-4894-97A4-C46E4BBB0C8B}" type="presOf" srcId="{5D923361-1B95-424C-A768-50A7EBB54DE2}" destId="{334DC496-494B-4E29-89D2-2F114DD25615}" srcOrd="0" destOrd="0" presId="urn:microsoft.com/office/officeart/2005/8/layout/list1"/>
    <dgm:cxn modelId="{AC219B9C-5E02-4AF3-B5DF-2DF12A98A9F5}" type="presOf" srcId="{55755908-98A1-40BC-80D8-C34B6FD57ED1}" destId="{F5FB902E-284A-408F-9E68-21307967D10A}" srcOrd="0" destOrd="0" presId="urn:microsoft.com/office/officeart/2005/8/layout/list1"/>
    <dgm:cxn modelId="{997BC1A8-ADA9-409C-8340-78072E29D46E}" type="presOf" srcId="{6B1B9B35-93FC-4846-8E45-D8CB97EB05ED}" destId="{280CBB13-FE0A-4E76-90B1-3D6502C10943}" srcOrd="1" destOrd="0" presId="urn:microsoft.com/office/officeart/2005/8/layout/list1"/>
    <dgm:cxn modelId="{BF9C9DA9-ACF2-4B6C-BC7D-6427C343F312}" type="presOf" srcId="{36F61984-5A78-4854-AE03-BFE6890984CE}" destId="{62C3281F-1D3D-448E-BC40-463D1E78DEF9}" srcOrd="1" destOrd="0" presId="urn:microsoft.com/office/officeart/2005/8/layout/list1"/>
    <dgm:cxn modelId="{2637AEAB-64FA-4DC8-8BC3-CD89FC6CA71C}" type="presOf" srcId="{5E8EA520-7C2F-49C2-9F8C-DDD77FFF3F2F}" destId="{52FA208A-6D5F-4451-AF94-BE02AFFE83E3}" srcOrd="1" destOrd="0" presId="urn:microsoft.com/office/officeart/2005/8/layout/list1"/>
    <dgm:cxn modelId="{5B7C80AC-FDD0-4118-8817-25BFA4F2FFA4}" srcId="{8D99C062-A85D-4EAB-BD12-682D800C1F2B}" destId="{2AA4BB32-6B3C-4E3F-A186-452650F91AC7}" srcOrd="0" destOrd="0" parTransId="{5E5981D5-FF31-4E36-B4B8-22E1D276078F}" sibTransId="{845E70C3-A196-4776-9857-2A2600DB747B}"/>
    <dgm:cxn modelId="{8E0654B2-CA87-4D8C-BE33-E87BF61EAF09}" srcId="{C8CD0447-A0A3-47B8-A369-2E80CD4B4895}" destId="{C3E8F59D-07E1-4908-B1C6-4A643F050DD3}" srcOrd="1" destOrd="0" parTransId="{D906A510-3F1B-419F-8C7D-3F7D8E24AB14}" sibTransId="{194F780E-4C7B-41EA-8C8C-C4FF45F46813}"/>
    <dgm:cxn modelId="{DBA13EBC-7113-44ED-B999-222FDF940C39}" type="presOf" srcId="{20BC8A54-B6C2-4493-8564-A38BCDB5B0B3}" destId="{334DC496-494B-4E29-89D2-2F114DD25615}" srcOrd="0" destOrd="1" presId="urn:microsoft.com/office/officeart/2005/8/layout/list1"/>
    <dgm:cxn modelId="{F3E3F1BF-23C9-4678-8245-E9CAE1AB453C}" type="presOf" srcId="{5E8EA520-7C2F-49C2-9F8C-DDD77FFF3F2F}" destId="{452A318C-488B-432A-A16A-4FAC669B7B47}" srcOrd="0" destOrd="0" presId="urn:microsoft.com/office/officeart/2005/8/layout/list1"/>
    <dgm:cxn modelId="{8B109DC8-EC52-4C9A-8676-C41DA66C2796}" srcId="{1B9BE567-4657-4BB7-B0E2-C8E5D87192F8}" destId="{C8CD0447-A0A3-47B8-A369-2E80CD4B4895}" srcOrd="0" destOrd="0" parTransId="{92CDD517-4545-4089-B403-CE2D9BC62623}" sibTransId="{1D6214C0-2496-4043-A2D7-680295E60268}"/>
    <dgm:cxn modelId="{42D8ADF4-C938-410F-ABA6-EE0C82B78FC6}" srcId="{6B1B9B35-93FC-4846-8E45-D8CB97EB05ED}" destId="{20BC8A54-B6C2-4493-8564-A38BCDB5B0B3}" srcOrd="1" destOrd="0" parTransId="{2030BCB3-6B72-4997-8AA0-DCF909E2DF31}" sibTransId="{E96A3295-AF64-49B4-8B55-7930211216F7}"/>
    <dgm:cxn modelId="{C50DDDF7-5912-4BC9-9C08-3F88A503B180}" type="presOf" srcId="{6B1B9B35-93FC-4846-8E45-D8CB97EB05ED}" destId="{93619F78-02BD-4AEF-BC24-1A7D983F8325}" srcOrd="0" destOrd="0" presId="urn:microsoft.com/office/officeart/2005/8/layout/list1"/>
    <dgm:cxn modelId="{D6E945FB-CF26-4A39-81DA-EA131BA93035}" srcId="{1B9BE567-4657-4BB7-B0E2-C8E5D87192F8}" destId="{8D99C062-A85D-4EAB-BD12-682D800C1F2B}" srcOrd="1" destOrd="0" parTransId="{4CF3EE99-3289-44ED-8767-4271CDE2790B}" sibTransId="{001A31E1-BAA5-4C85-82B0-C07FE1A5DA82}"/>
    <dgm:cxn modelId="{C96B401F-11C6-4120-8716-2CA570838792}" type="presParOf" srcId="{EC086B53-0114-433F-A05B-D5DC924ACBF3}" destId="{97504F23-296C-42A6-8D4B-053574905F65}" srcOrd="0" destOrd="0" presId="urn:microsoft.com/office/officeart/2005/8/layout/list1"/>
    <dgm:cxn modelId="{B291CB7A-2607-4A03-AB17-1D2B1CDD9224}" type="presParOf" srcId="{97504F23-296C-42A6-8D4B-053574905F65}" destId="{C491043D-2AC8-4E11-85FA-8D4676124535}" srcOrd="0" destOrd="0" presId="urn:microsoft.com/office/officeart/2005/8/layout/list1"/>
    <dgm:cxn modelId="{1EEDB08B-968B-4B5E-848F-2C89AA216EA7}" type="presParOf" srcId="{97504F23-296C-42A6-8D4B-053574905F65}" destId="{915ACB12-EEBF-43C6-962D-FB387B97F02B}" srcOrd="1" destOrd="0" presId="urn:microsoft.com/office/officeart/2005/8/layout/list1"/>
    <dgm:cxn modelId="{841EE8C4-1F6D-49E9-9F15-A7C3340B4ACF}" type="presParOf" srcId="{EC086B53-0114-433F-A05B-D5DC924ACBF3}" destId="{A26C6D45-1D45-46F9-BDCF-5831631F99EE}" srcOrd="1" destOrd="0" presId="urn:microsoft.com/office/officeart/2005/8/layout/list1"/>
    <dgm:cxn modelId="{E2551DC5-ADFD-4BE9-A52F-D1CBF154519E}" type="presParOf" srcId="{EC086B53-0114-433F-A05B-D5DC924ACBF3}" destId="{F5FB902E-284A-408F-9E68-21307967D10A}" srcOrd="2" destOrd="0" presId="urn:microsoft.com/office/officeart/2005/8/layout/list1"/>
    <dgm:cxn modelId="{0BDAA2DA-CC94-4FC8-A4D5-C42EA2A6855B}" type="presParOf" srcId="{EC086B53-0114-433F-A05B-D5DC924ACBF3}" destId="{F79162BA-6727-4A2E-8026-B97B446A6433}" srcOrd="3" destOrd="0" presId="urn:microsoft.com/office/officeart/2005/8/layout/list1"/>
    <dgm:cxn modelId="{D5AFD30F-E327-4012-9675-7765BB560544}" type="presParOf" srcId="{EC086B53-0114-433F-A05B-D5DC924ACBF3}" destId="{4D88DAF0-335E-4F82-A3C4-6C54AA61975B}" srcOrd="4" destOrd="0" presId="urn:microsoft.com/office/officeart/2005/8/layout/list1"/>
    <dgm:cxn modelId="{E2B349D9-9D1C-4BF0-AA74-CE8870FA5552}" type="presParOf" srcId="{4D88DAF0-335E-4F82-A3C4-6C54AA61975B}" destId="{B7029885-8B78-4261-9942-A3B1EF53D771}" srcOrd="0" destOrd="0" presId="urn:microsoft.com/office/officeart/2005/8/layout/list1"/>
    <dgm:cxn modelId="{C8BD4F94-C3ED-4A1F-957D-1642178DC9C2}" type="presParOf" srcId="{4D88DAF0-335E-4F82-A3C4-6C54AA61975B}" destId="{45C66ED1-236A-496D-8911-AB13057005E2}" srcOrd="1" destOrd="0" presId="urn:microsoft.com/office/officeart/2005/8/layout/list1"/>
    <dgm:cxn modelId="{4A80B22C-4CDA-4694-99AE-4DEC97677FEF}" type="presParOf" srcId="{EC086B53-0114-433F-A05B-D5DC924ACBF3}" destId="{72E82218-214C-4906-9883-91ACFE6F44CF}" srcOrd="5" destOrd="0" presId="urn:microsoft.com/office/officeart/2005/8/layout/list1"/>
    <dgm:cxn modelId="{17E02832-E113-470A-A819-27A30843E859}" type="presParOf" srcId="{EC086B53-0114-433F-A05B-D5DC924ACBF3}" destId="{C7319CE9-978D-47D5-AB1A-AD92C61A52A5}" srcOrd="6" destOrd="0" presId="urn:microsoft.com/office/officeart/2005/8/layout/list1"/>
    <dgm:cxn modelId="{752D170E-3A9A-4379-BEFE-4C6228ECA10F}" type="presParOf" srcId="{EC086B53-0114-433F-A05B-D5DC924ACBF3}" destId="{97D09B91-F174-4A6D-BD4D-F8E3B0666FF4}" srcOrd="7" destOrd="0" presId="urn:microsoft.com/office/officeart/2005/8/layout/list1"/>
    <dgm:cxn modelId="{982BDBC9-B56A-467D-B0FC-883D572750CA}" type="presParOf" srcId="{EC086B53-0114-433F-A05B-D5DC924ACBF3}" destId="{8631C0B9-9B2D-4BBF-A894-5442A6AFC72A}" srcOrd="8" destOrd="0" presId="urn:microsoft.com/office/officeart/2005/8/layout/list1"/>
    <dgm:cxn modelId="{29E7C6DB-ACC1-46A0-B52C-00000AD20F28}" type="presParOf" srcId="{8631C0B9-9B2D-4BBF-A894-5442A6AFC72A}" destId="{6A95F463-C84F-4FE2-BD13-AC0F8D75355E}" srcOrd="0" destOrd="0" presId="urn:microsoft.com/office/officeart/2005/8/layout/list1"/>
    <dgm:cxn modelId="{F9143663-7A71-45E1-8D12-7EC723F9647B}" type="presParOf" srcId="{8631C0B9-9B2D-4BBF-A894-5442A6AFC72A}" destId="{62C3281F-1D3D-448E-BC40-463D1E78DEF9}" srcOrd="1" destOrd="0" presId="urn:microsoft.com/office/officeart/2005/8/layout/list1"/>
    <dgm:cxn modelId="{39E9F170-F896-4BA1-97FD-638AEF5C51CC}" type="presParOf" srcId="{EC086B53-0114-433F-A05B-D5DC924ACBF3}" destId="{48690CCE-6F7B-4D54-9EC9-4038FAE00E58}" srcOrd="9" destOrd="0" presId="urn:microsoft.com/office/officeart/2005/8/layout/list1"/>
    <dgm:cxn modelId="{0BAFD99C-0EEE-4764-8C12-E6BFD61F141B}" type="presParOf" srcId="{EC086B53-0114-433F-A05B-D5DC924ACBF3}" destId="{A97F82FF-385F-47D7-94C6-1FF4A8BE74AE}" srcOrd="10" destOrd="0" presId="urn:microsoft.com/office/officeart/2005/8/layout/list1"/>
    <dgm:cxn modelId="{E6FBE2DE-F0D1-42FB-A1FE-51E9AFFCD2F6}" type="presParOf" srcId="{EC086B53-0114-433F-A05B-D5DC924ACBF3}" destId="{71AD328F-C0E7-4A08-9C50-0919EC9913A0}" srcOrd="11" destOrd="0" presId="urn:microsoft.com/office/officeart/2005/8/layout/list1"/>
    <dgm:cxn modelId="{54193273-1FE3-4D8C-B240-521EFC762595}" type="presParOf" srcId="{EC086B53-0114-433F-A05B-D5DC924ACBF3}" destId="{6E5854EE-9EFE-4BC4-9396-F4DA603943B4}" srcOrd="12" destOrd="0" presId="urn:microsoft.com/office/officeart/2005/8/layout/list1"/>
    <dgm:cxn modelId="{1F371F30-0D23-4FEA-BC3D-429AC4AE3C0B}" type="presParOf" srcId="{6E5854EE-9EFE-4BC4-9396-F4DA603943B4}" destId="{93619F78-02BD-4AEF-BC24-1A7D983F8325}" srcOrd="0" destOrd="0" presId="urn:microsoft.com/office/officeart/2005/8/layout/list1"/>
    <dgm:cxn modelId="{A2D75582-A9B1-4976-BE92-E0221AAC1A79}" type="presParOf" srcId="{6E5854EE-9EFE-4BC4-9396-F4DA603943B4}" destId="{280CBB13-FE0A-4E76-90B1-3D6502C10943}" srcOrd="1" destOrd="0" presId="urn:microsoft.com/office/officeart/2005/8/layout/list1"/>
    <dgm:cxn modelId="{FD919A86-CF37-4299-9C26-F304DB5652DA}" type="presParOf" srcId="{EC086B53-0114-433F-A05B-D5DC924ACBF3}" destId="{B43A4887-14F4-4D7B-A449-D55B44DABDB1}" srcOrd="13" destOrd="0" presId="urn:microsoft.com/office/officeart/2005/8/layout/list1"/>
    <dgm:cxn modelId="{79B000D6-7341-4F5D-9DB5-9BCD27D40811}" type="presParOf" srcId="{EC086B53-0114-433F-A05B-D5DC924ACBF3}" destId="{334DC496-494B-4E29-89D2-2F114DD25615}" srcOrd="14" destOrd="0" presId="urn:microsoft.com/office/officeart/2005/8/layout/list1"/>
    <dgm:cxn modelId="{919070F6-577A-45DB-9294-5BD9A05F2887}" type="presParOf" srcId="{EC086B53-0114-433F-A05B-D5DC924ACBF3}" destId="{00D6F724-5CBE-446E-B320-3423E509D859}" srcOrd="15" destOrd="0" presId="urn:microsoft.com/office/officeart/2005/8/layout/list1"/>
    <dgm:cxn modelId="{F1BCDDA8-D810-4ED7-8054-7B8AC1276558}" type="presParOf" srcId="{EC086B53-0114-433F-A05B-D5DC924ACBF3}" destId="{909C861B-162B-4F1A-A11D-B1AAF3E26509}" srcOrd="16" destOrd="0" presId="urn:microsoft.com/office/officeart/2005/8/layout/list1"/>
    <dgm:cxn modelId="{2E5D3263-B7A2-4877-8DC6-6127BBD1B68C}" type="presParOf" srcId="{909C861B-162B-4F1A-A11D-B1AAF3E26509}" destId="{452A318C-488B-432A-A16A-4FAC669B7B47}" srcOrd="0" destOrd="0" presId="urn:microsoft.com/office/officeart/2005/8/layout/list1"/>
    <dgm:cxn modelId="{3F339CEC-7A39-48AD-BA08-B6FADE8BCF2C}" type="presParOf" srcId="{909C861B-162B-4F1A-A11D-B1AAF3E26509}" destId="{52FA208A-6D5F-4451-AF94-BE02AFFE83E3}" srcOrd="1" destOrd="0" presId="urn:microsoft.com/office/officeart/2005/8/layout/list1"/>
    <dgm:cxn modelId="{E732F9CF-D638-4748-B609-30A1BAC5956A}" type="presParOf" srcId="{EC086B53-0114-433F-A05B-D5DC924ACBF3}" destId="{743CA526-EEB7-468E-86FA-35776E094C80}" srcOrd="17" destOrd="0" presId="urn:microsoft.com/office/officeart/2005/8/layout/list1"/>
    <dgm:cxn modelId="{FE78DBDD-AC18-4E24-8128-2A4917432790}" type="presParOf" srcId="{EC086B53-0114-433F-A05B-D5DC924ACBF3}" destId="{4AA30457-94F8-4E05-96B6-CBC9B5C62AA0}"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FB902E-284A-408F-9E68-21307967D10A}">
      <dsp:nvSpPr>
        <dsp:cNvPr id="0" name=""/>
        <dsp:cNvSpPr/>
      </dsp:nvSpPr>
      <dsp:spPr>
        <a:xfrm>
          <a:off x="0" y="304119"/>
          <a:ext cx="7545355" cy="1411200"/>
        </a:xfrm>
        <a:prstGeom prst="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5603" tIns="333248" rIns="585603" bIns="113792" numCol="1" spcCol="1270" anchor="t" anchorCtr="0">
          <a:noAutofit/>
        </a:bodyPr>
        <a:lstStyle/>
        <a:p>
          <a:pPr marL="171450" lvl="1" indent="-171450" algn="l" defTabSz="711200">
            <a:lnSpc>
              <a:spcPct val="90000"/>
            </a:lnSpc>
            <a:spcBef>
              <a:spcPct val="0"/>
            </a:spcBef>
            <a:spcAft>
              <a:spcPct val="15000"/>
            </a:spcAft>
            <a:buChar char="•"/>
          </a:pPr>
          <a:r>
            <a:rPr lang="es-CO" sz="1600" kern="1200" dirty="0"/>
            <a:t>Compruebe si hay NAN	</a:t>
          </a:r>
          <a:endParaRPr lang="en-US" sz="1600" kern="1200" dirty="0"/>
        </a:p>
        <a:p>
          <a:pPr marL="171450" lvl="1" indent="-171450" algn="l" defTabSz="711200">
            <a:lnSpc>
              <a:spcPct val="90000"/>
            </a:lnSpc>
            <a:spcBef>
              <a:spcPct val="0"/>
            </a:spcBef>
            <a:spcAft>
              <a:spcPct val="15000"/>
            </a:spcAft>
            <a:buChar char="•"/>
          </a:pPr>
          <a:r>
            <a:rPr lang="es-CO" sz="1600" kern="1200"/>
            <a:t>Eliminar datos faltantes	</a:t>
          </a:r>
          <a:endParaRPr lang="en-US" sz="1600" kern="1200"/>
        </a:p>
        <a:p>
          <a:pPr marL="171450" lvl="1" indent="-171450" algn="l" defTabSz="711200">
            <a:lnSpc>
              <a:spcPct val="90000"/>
            </a:lnSpc>
            <a:spcBef>
              <a:spcPct val="0"/>
            </a:spcBef>
            <a:spcAft>
              <a:spcPct val="15000"/>
            </a:spcAft>
            <a:buChar char="•"/>
          </a:pPr>
          <a:r>
            <a:rPr lang="es-CO" sz="1600" kern="1200"/>
            <a:t>Reemplace los datos faltantes	</a:t>
          </a:r>
          <a:endParaRPr lang="en-US" sz="1600" kern="1200"/>
        </a:p>
        <a:p>
          <a:pPr marL="171450" lvl="1" indent="-171450" algn="l" defTabSz="711200">
            <a:lnSpc>
              <a:spcPct val="90000"/>
            </a:lnSpc>
            <a:spcBef>
              <a:spcPct val="0"/>
            </a:spcBef>
            <a:spcAft>
              <a:spcPct val="15000"/>
            </a:spcAft>
            <a:buChar char="•"/>
          </a:pPr>
          <a:r>
            <a:rPr lang="es-CO" sz="1600" kern="1200"/>
            <a:t>Descarte una característica</a:t>
          </a:r>
          <a:endParaRPr lang="en-US" sz="1600" kern="1200"/>
        </a:p>
      </dsp:txBody>
      <dsp:txXfrm>
        <a:off x="0" y="304119"/>
        <a:ext cx="7545355" cy="1411200"/>
      </dsp:txXfrm>
    </dsp:sp>
    <dsp:sp modelId="{915ACB12-EEBF-43C6-962D-FB387B97F02B}">
      <dsp:nvSpPr>
        <dsp:cNvPr id="0" name=""/>
        <dsp:cNvSpPr/>
      </dsp:nvSpPr>
      <dsp:spPr>
        <a:xfrm>
          <a:off x="377267" y="67959"/>
          <a:ext cx="5281748" cy="472320"/>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638" tIns="0" rIns="199638" bIns="0" numCol="1" spcCol="1270" anchor="ctr" anchorCtr="0">
          <a:noAutofit/>
        </a:bodyPr>
        <a:lstStyle/>
        <a:p>
          <a:pPr marL="0" lvl="0" indent="0" algn="l" defTabSz="711200">
            <a:lnSpc>
              <a:spcPct val="90000"/>
            </a:lnSpc>
            <a:spcBef>
              <a:spcPct val="0"/>
            </a:spcBef>
            <a:spcAft>
              <a:spcPct val="35000"/>
            </a:spcAft>
            <a:buNone/>
          </a:pPr>
          <a:r>
            <a:rPr lang="es-CO" sz="1600" kern="1200" dirty="0"/>
            <a:t>Datos perdidos o faltantes (Los NaN o NA)</a:t>
          </a:r>
          <a:endParaRPr lang="en-US" sz="1600" kern="1200" dirty="0"/>
        </a:p>
      </dsp:txBody>
      <dsp:txXfrm>
        <a:off x="400324" y="91016"/>
        <a:ext cx="5235634" cy="426206"/>
      </dsp:txXfrm>
    </dsp:sp>
    <dsp:sp modelId="{C7319CE9-978D-47D5-AB1A-AD92C61A52A5}">
      <dsp:nvSpPr>
        <dsp:cNvPr id="0" name=""/>
        <dsp:cNvSpPr/>
      </dsp:nvSpPr>
      <dsp:spPr>
        <a:xfrm>
          <a:off x="0" y="2037879"/>
          <a:ext cx="7545355" cy="667800"/>
        </a:xfrm>
        <a:prstGeom prst="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5603" tIns="333248" rIns="585603" bIns="113792" numCol="1" spcCol="1270" anchor="t" anchorCtr="0">
          <a:noAutofit/>
        </a:bodyPr>
        <a:lstStyle/>
        <a:p>
          <a:pPr marL="171450" lvl="1" indent="-171450" algn="l" defTabSz="711200">
            <a:lnSpc>
              <a:spcPct val="90000"/>
            </a:lnSpc>
            <a:spcBef>
              <a:spcPct val="0"/>
            </a:spcBef>
            <a:spcAft>
              <a:spcPct val="15000"/>
            </a:spcAft>
            <a:buChar char="•"/>
          </a:pPr>
          <a:r>
            <a:rPr lang="es-CO" sz="1600" kern="1200"/>
            <a:t>Use gráficos para identificarlos: Boxplot, Histograma, etc.</a:t>
          </a:r>
          <a:endParaRPr lang="en-US" sz="1600" kern="1200"/>
        </a:p>
      </dsp:txBody>
      <dsp:txXfrm>
        <a:off x="0" y="2037879"/>
        <a:ext cx="7545355" cy="667800"/>
      </dsp:txXfrm>
    </dsp:sp>
    <dsp:sp modelId="{45C66ED1-236A-496D-8911-AB13057005E2}">
      <dsp:nvSpPr>
        <dsp:cNvPr id="0" name=""/>
        <dsp:cNvSpPr/>
      </dsp:nvSpPr>
      <dsp:spPr>
        <a:xfrm>
          <a:off x="377267" y="1801719"/>
          <a:ext cx="5281748" cy="472320"/>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638" tIns="0" rIns="199638" bIns="0" numCol="1" spcCol="1270" anchor="ctr" anchorCtr="0">
          <a:noAutofit/>
        </a:bodyPr>
        <a:lstStyle/>
        <a:p>
          <a:pPr marL="0" lvl="0" indent="0" algn="l" defTabSz="711200">
            <a:lnSpc>
              <a:spcPct val="90000"/>
            </a:lnSpc>
            <a:spcBef>
              <a:spcPct val="0"/>
            </a:spcBef>
            <a:spcAft>
              <a:spcPct val="35000"/>
            </a:spcAft>
            <a:buNone/>
          </a:pPr>
          <a:r>
            <a:rPr lang="en-US" sz="1600" kern="1200"/>
            <a:t>Outliers</a:t>
          </a:r>
          <a:r>
            <a:rPr lang="es-CO" sz="1600" kern="1200"/>
            <a:t> o valores atípicos</a:t>
          </a:r>
          <a:endParaRPr lang="en-US" sz="1600" kern="1200"/>
        </a:p>
      </dsp:txBody>
      <dsp:txXfrm>
        <a:off x="400324" y="1824776"/>
        <a:ext cx="5235634" cy="426206"/>
      </dsp:txXfrm>
    </dsp:sp>
    <dsp:sp modelId="{A97F82FF-385F-47D7-94C6-1FF4A8BE74AE}">
      <dsp:nvSpPr>
        <dsp:cNvPr id="0" name=""/>
        <dsp:cNvSpPr/>
      </dsp:nvSpPr>
      <dsp:spPr>
        <a:xfrm>
          <a:off x="0" y="3028239"/>
          <a:ext cx="7545355" cy="907200"/>
        </a:xfrm>
        <a:prstGeom prst="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5603" tIns="333248" rIns="585603" bIns="113792" numCol="1" spcCol="1270" anchor="t" anchorCtr="0">
          <a:noAutofit/>
        </a:bodyPr>
        <a:lstStyle/>
        <a:p>
          <a:pPr marL="171450" lvl="1" indent="-171450" algn="l" defTabSz="711200">
            <a:lnSpc>
              <a:spcPct val="90000"/>
            </a:lnSpc>
            <a:spcBef>
              <a:spcPct val="0"/>
            </a:spcBef>
            <a:spcAft>
              <a:spcPct val="15000"/>
            </a:spcAft>
            <a:buChar char="•"/>
          </a:pPr>
          <a:r>
            <a:rPr lang="es-CO" sz="1600" kern="1200"/>
            <a:t>Elimínelos los duplicados</a:t>
          </a:r>
          <a:endParaRPr lang="en-US" sz="1600" kern="1200"/>
        </a:p>
        <a:p>
          <a:pPr marL="171450" lvl="1" indent="-171450" algn="l" defTabSz="711200">
            <a:lnSpc>
              <a:spcPct val="90000"/>
            </a:lnSpc>
            <a:spcBef>
              <a:spcPct val="0"/>
            </a:spcBef>
            <a:spcAft>
              <a:spcPct val="15000"/>
            </a:spcAft>
            <a:buChar char="•"/>
          </a:pPr>
          <a:r>
            <a:rPr lang="es-CO" sz="1600" kern="1200" dirty="0"/>
            <a:t>Los malos busque reemplazarlos </a:t>
          </a:r>
          <a:endParaRPr lang="en-US" sz="1600" kern="1200" dirty="0"/>
        </a:p>
      </dsp:txBody>
      <dsp:txXfrm>
        <a:off x="0" y="3028239"/>
        <a:ext cx="7545355" cy="907200"/>
      </dsp:txXfrm>
    </dsp:sp>
    <dsp:sp modelId="{62C3281F-1D3D-448E-BC40-463D1E78DEF9}">
      <dsp:nvSpPr>
        <dsp:cNvPr id="0" name=""/>
        <dsp:cNvSpPr/>
      </dsp:nvSpPr>
      <dsp:spPr>
        <a:xfrm>
          <a:off x="377267" y="2792079"/>
          <a:ext cx="5281748" cy="472320"/>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638" tIns="0" rIns="199638" bIns="0" numCol="1" spcCol="1270" anchor="ctr" anchorCtr="0">
          <a:noAutofit/>
        </a:bodyPr>
        <a:lstStyle/>
        <a:p>
          <a:pPr marL="0" lvl="0" indent="0" algn="l" defTabSz="711200">
            <a:lnSpc>
              <a:spcPct val="90000"/>
            </a:lnSpc>
            <a:spcBef>
              <a:spcPct val="0"/>
            </a:spcBef>
            <a:spcAft>
              <a:spcPct val="35000"/>
            </a:spcAft>
            <a:buNone/>
          </a:pPr>
          <a:r>
            <a:rPr lang="es-CO" sz="1600" kern="1200"/>
            <a:t>Malos datos y duplicados</a:t>
          </a:r>
          <a:endParaRPr lang="en-US" sz="1600" kern="1200"/>
        </a:p>
      </dsp:txBody>
      <dsp:txXfrm>
        <a:off x="400324" y="2815136"/>
        <a:ext cx="5235634" cy="426206"/>
      </dsp:txXfrm>
    </dsp:sp>
    <dsp:sp modelId="{334DC496-494B-4E29-89D2-2F114DD25615}">
      <dsp:nvSpPr>
        <dsp:cNvPr id="0" name=""/>
        <dsp:cNvSpPr/>
      </dsp:nvSpPr>
      <dsp:spPr>
        <a:xfrm>
          <a:off x="0" y="4257999"/>
          <a:ext cx="7545355" cy="907200"/>
        </a:xfrm>
        <a:prstGeom prst="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5603" tIns="333248" rIns="585603" bIns="113792" numCol="1" spcCol="1270" anchor="t" anchorCtr="0">
          <a:noAutofit/>
        </a:bodyPr>
        <a:lstStyle/>
        <a:p>
          <a:pPr marL="171450" lvl="1" indent="-171450" algn="l" defTabSz="711200">
            <a:lnSpc>
              <a:spcPct val="90000"/>
            </a:lnSpc>
            <a:spcBef>
              <a:spcPct val="0"/>
            </a:spcBef>
            <a:spcAft>
              <a:spcPct val="15000"/>
            </a:spcAft>
            <a:buChar char="•"/>
          </a:pPr>
          <a:r>
            <a:rPr lang="es-CO" sz="1600" kern="1200" noProof="0" dirty="0"/>
            <a:t>Eliminarlas</a:t>
          </a:r>
        </a:p>
        <a:p>
          <a:pPr marL="171450" lvl="1" indent="-171450" algn="l" defTabSz="711200">
            <a:lnSpc>
              <a:spcPct val="90000"/>
            </a:lnSpc>
            <a:spcBef>
              <a:spcPct val="0"/>
            </a:spcBef>
            <a:spcAft>
              <a:spcPct val="15000"/>
            </a:spcAft>
            <a:buChar char="•"/>
          </a:pPr>
          <a:r>
            <a:rPr lang="es-ES" sz="1600" kern="1200" noProof="0" dirty="0"/>
            <a:t>Obtenga nuevas a partir de las existentes. Fecha (duración)</a:t>
          </a:r>
          <a:endParaRPr lang="es-CO" sz="1600" kern="1200" noProof="0" dirty="0"/>
        </a:p>
      </dsp:txBody>
      <dsp:txXfrm>
        <a:off x="0" y="4257999"/>
        <a:ext cx="7545355" cy="907200"/>
      </dsp:txXfrm>
    </dsp:sp>
    <dsp:sp modelId="{280CBB13-FE0A-4E76-90B1-3D6502C10943}">
      <dsp:nvSpPr>
        <dsp:cNvPr id="0" name=""/>
        <dsp:cNvSpPr/>
      </dsp:nvSpPr>
      <dsp:spPr>
        <a:xfrm>
          <a:off x="377267" y="4021839"/>
          <a:ext cx="5281748" cy="472320"/>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638" tIns="0" rIns="199638" bIns="0" numCol="1" spcCol="1270" anchor="ctr" anchorCtr="0">
          <a:noAutofit/>
        </a:bodyPr>
        <a:lstStyle/>
        <a:p>
          <a:pPr marL="0" lvl="0" indent="0" algn="l" defTabSz="711200">
            <a:lnSpc>
              <a:spcPct val="90000"/>
            </a:lnSpc>
            <a:spcBef>
              <a:spcPct val="0"/>
            </a:spcBef>
            <a:spcAft>
              <a:spcPct val="35000"/>
            </a:spcAft>
            <a:buNone/>
          </a:pPr>
          <a:r>
            <a:rPr lang="es-CO" sz="1600" kern="1200" dirty="0"/>
            <a:t>Características irrelevantes y derivadas</a:t>
          </a:r>
          <a:endParaRPr lang="en-US" sz="1600" kern="1200" dirty="0"/>
        </a:p>
      </dsp:txBody>
      <dsp:txXfrm>
        <a:off x="400324" y="4044896"/>
        <a:ext cx="5235634" cy="426206"/>
      </dsp:txXfrm>
    </dsp:sp>
    <dsp:sp modelId="{4AA30457-94F8-4E05-96B6-CBC9B5C62AA0}">
      <dsp:nvSpPr>
        <dsp:cNvPr id="0" name=""/>
        <dsp:cNvSpPr/>
      </dsp:nvSpPr>
      <dsp:spPr>
        <a:xfrm>
          <a:off x="0" y="5487759"/>
          <a:ext cx="7545355" cy="667800"/>
        </a:xfrm>
        <a:prstGeom prst="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5603" tIns="333248" rIns="585603" bIns="113792" numCol="1" spcCol="1270" anchor="t" anchorCtr="0">
          <a:noAutofit/>
        </a:bodyPr>
        <a:lstStyle/>
        <a:p>
          <a:pPr marL="171450" lvl="1" indent="-171450" algn="l" defTabSz="711200">
            <a:lnSpc>
              <a:spcPct val="90000"/>
            </a:lnSpc>
            <a:spcBef>
              <a:spcPct val="0"/>
            </a:spcBef>
            <a:spcAft>
              <a:spcPct val="15000"/>
            </a:spcAft>
            <a:buChar char="•"/>
          </a:pPr>
          <a:r>
            <a:rPr lang="es-CO" sz="1600" kern="1200" noProof="0" dirty="0"/>
            <a:t>Para números. Escalas equivalentes</a:t>
          </a:r>
        </a:p>
      </dsp:txBody>
      <dsp:txXfrm>
        <a:off x="0" y="5487759"/>
        <a:ext cx="7545355" cy="667800"/>
      </dsp:txXfrm>
    </dsp:sp>
    <dsp:sp modelId="{52FA208A-6D5F-4451-AF94-BE02AFFE83E3}">
      <dsp:nvSpPr>
        <dsp:cNvPr id="0" name=""/>
        <dsp:cNvSpPr/>
      </dsp:nvSpPr>
      <dsp:spPr>
        <a:xfrm>
          <a:off x="377267" y="5251599"/>
          <a:ext cx="5281748" cy="472320"/>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638" tIns="0" rIns="199638" bIns="0" numCol="1" spcCol="1270" anchor="ctr" anchorCtr="0">
          <a:noAutofit/>
        </a:bodyPr>
        <a:lstStyle/>
        <a:p>
          <a:pPr marL="0" lvl="0" indent="0" algn="l" defTabSz="711200">
            <a:lnSpc>
              <a:spcPct val="90000"/>
            </a:lnSpc>
            <a:spcBef>
              <a:spcPct val="0"/>
            </a:spcBef>
            <a:spcAft>
              <a:spcPct val="35000"/>
            </a:spcAft>
            <a:buNone/>
          </a:pPr>
          <a:r>
            <a:rPr lang="es-CO" sz="1600" kern="1200" dirty="0"/>
            <a:t>Normalización</a:t>
          </a:r>
          <a:endParaRPr lang="en-US" sz="1600" kern="1200" dirty="0"/>
        </a:p>
      </dsp:txBody>
      <dsp:txXfrm>
        <a:off x="400324" y="5274656"/>
        <a:ext cx="5235634" cy="42620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1"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1"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1"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1"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1"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1" i="0" u="none" strike="noStrike" cap="none">
                <a:solidFill>
                  <a:schemeClr val="dk1"/>
                </a:solidFill>
                <a:latin typeface="Arial"/>
                <a:ea typeface="Arial"/>
                <a:cs typeface="Arial"/>
                <a:sym typeface="Arial"/>
              </a:rPr>
              <a:t>‹#›</a:t>
            </a:fld>
            <a:endParaRPr sz="1200" b="1"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900"/>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1" i="0" u="none" strike="noStrike" cap="none">
                <a:solidFill>
                  <a:srgbClr val="000000"/>
                </a:solidFill>
                <a:latin typeface="Arial"/>
                <a:ea typeface="Arial"/>
                <a:cs typeface="Arial"/>
                <a:sym typeface="Arial"/>
              </a:rPr>
              <a:t>1</a:t>
            </a:fld>
            <a:endParaRPr sz="1200" b="1" i="0" u="none" strike="noStrike" cap="non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08216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13453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22535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25833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98052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775407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56589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82342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38500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34953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45688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17714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18F28FF8-00E6-ADA8-95CB-F6786A4D8625}"/>
            </a:ext>
          </a:extLst>
        </p:cNvPr>
        <p:cNvGrpSpPr/>
        <p:nvPr/>
      </p:nvGrpSpPr>
      <p:grpSpPr>
        <a:xfrm>
          <a:off x="0" y="0"/>
          <a:ext cx="0" cy="0"/>
          <a:chOff x="0" y="0"/>
          <a:chExt cx="0" cy="0"/>
        </a:xfrm>
      </p:grpSpPr>
      <p:sp>
        <p:nvSpPr>
          <p:cNvPr id="103" name="Google Shape;103;p2:notes">
            <a:extLst>
              <a:ext uri="{FF2B5EF4-FFF2-40B4-BE49-F238E27FC236}">
                <a16:creationId xmlns:a16="http://schemas.microsoft.com/office/drawing/2014/main" id="{35C90014-8D3D-BD39-EF16-B5D3F6DFD89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a:extLst>
              <a:ext uri="{FF2B5EF4-FFF2-40B4-BE49-F238E27FC236}">
                <a16:creationId xmlns:a16="http://schemas.microsoft.com/office/drawing/2014/main" id="{80705609-CB72-72B6-D561-8B335D5927E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08967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Diapositiva de título" type="title">
  <p:cSld name="TITLE">
    <p:spTree>
      <p:nvGrpSpPr>
        <p:cNvPr id="1" name="Shape 21"/>
        <p:cNvGrpSpPr/>
        <p:nvPr/>
      </p:nvGrpSpPr>
      <p:grpSpPr>
        <a:xfrm>
          <a:off x="0" y="0"/>
          <a:ext cx="0" cy="0"/>
          <a:chOff x="0" y="0"/>
          <a:chExt cx="0" cy="0"/>
        </a:xfrm>
      </p:grpSpPr>
      <p:sp>
        <p:nvSpPr>
          <p:cNvPr id="22" name="Google Shape;22;p2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Encabezado de sección"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Comparación" type="twoTxTwoObj">
  <p:cSld name="TWO_OBJECTS_WITH_TEXT">
    <p:spTree>
      <p:nvGrpSpPr>
        <p:cNvPr id="1" name="Shape 40"/>
        <p:cNvGrpSpPr/>
        <p:nvPr/>
      </p:nvGrpSpPr>
      <p:grpSpPr>
        <a:xfrm>
          <a:off x="0" y="0"/>
          <a:ext cx="0" cy="0"/>
          <a:chOff x="0" y="0"/>
          <a:chExt cx="0" cy="0"/>
        </a:xfrm>
      </p:grpSpPr>
      <p:sp>
        <p:nvSpPr>
          <p:cNvPr id="41" name="Google Shape;41;p2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En blanco" type="blank">
  <p:cSld name="BLANK">
    <p:spTree>
      <p:nvGrpSpPr>
        <p:cNvPr id="1" name="Shape 54"/>
        <p:cNvGrpSpPr/>
        <p:nvPr/>
      </p:nvGrpSpPr>
      <p:grpSpPr>
        <a:xfrm>
          <a:off x="0" y="0"/>
          <a:ext cx="0" cy="0"/>
          <a:chOff x="0" y="0"/>
          <a:chExt cx="0" cy="0"/>
        </a:xfrm>
      </p:grpSpPr>
      <p:sp>
        <p:nvSpPr>
          <p:cNvPr id="55" name="Google Shape;55;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Contenido con título" type="objTx">
  <p:cSld name="OBJECT_WITH_CAPTION_TEXT">
    <p:spTree>
      <p:nvGrpSpPr>
        <p:cNvPr id="1" name="Shape 58"/>
        <p:cNvGrpSpPr/>
        <p:nvPr/>
      </p:nvGrpSpPr>
      <p:grpSpPr>
        <a:xfrm>
          <a:off x="0" y="0"/>
          <a:ext cx="0" cy="0"/>
          <a:chOff x="0" y="0"/>
          <a:chExt cx="0" cy="0"/>
        </a:xfrm>
      </p:grpSpPr>
      <p:sp>
        <p:nvSpPr>
          <p:cNvPr id="59" name="Google Shape;59;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Imagen con título" type="picTx">
  <p:cSld name="PICTURE_WITH_CAPTION_TEXT">
    <p:spTree>
      <p:nvGrpSpPr>
        <p:cNvPr id="1" name="Shape 65"/>
        <p:cNvGrpSpPr/>
        <p:nvPr/>
      </p:nvGrpSpPr>
      <p:grpSpPr>
        <a:xfrm>
          <a:off x="0" y="0"/>
          <a:ext cx="0" cy="0"/>
          <a:chOff x="0" y="0"/>
          <a:chExt cx="0" cy="0"/>
        </a:xfrm>
      </p:grpSpPr>
      <p:sp>
        <p:nvSpPr>
          <p:cNvPr id="66" name="Google Shape;66;p2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8"/>
          <p:cNvSpPr>
            <a:spLocks noGrp="1"/>
          </p:cNvSpPr>
          <p:nvPr>
            <p:ph type="pic" idx="2"/>
          </p:nvPr>
        </p:nvSpPr>
        <p:spPr>
          <a:xfrm>
            <a:off x="5183188" y="987425"/>
            <a:ext cx="6172200" cy="4873625"/>
          </a:xfrm>
          <a:prstGeom prst="rect">
            <a:avLst/>
          </a:prstGeom>
          <a:noFill/>
          <a:ln>
            <a:noFill/>
          </a:ln>
        </p:spPr>
      </p:sp>
      <p:sp>
        <p:nvSpPr>
          <p:cNvPr id="68" name="Google Shape;68;p2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Título y texto vertical" type="vertTx">
  <p:cSld name="VERTICAL_TEXT">
    <p:spTree>
      <p:nvGrpSpPr>
        <p:cNvPr id="1" name="Shape 72"/>
        <p:cNvGrpSpPr/>
        <p:nvPr/>
      </p:nvGrpSpPr>
      <p:grpSpPr>
        <a:xfrm>
          <a:off x="0" y="0"/>
          <a:ext cx="0" cy="0"/>
          <a:chOff x="0" y="0"/>
          <a:chExt cx="0" cy="0"/>
        </a:xfrm>
      </p:grpSpPr>
      <p:sp>
        <p:nvSpPr>
          <p:cNvPr id="73" name="Google Shape;73;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3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5756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6FF"/>
        </a:solidFill>
        <a:effectLst/>
      </p:bgPr>
    </p:bg>
    <p:spTree>
      <p:nvGrpSpPr>
        <p:cNvPr id="1" name="Shape 9"/>
        <p:cNvGrpSpPr/>
        <p:nvPr/>
      </p:nvGrpSpPr>
      <p:grpSpPr>
        <a:xfrm>
          <a:off x="0" y="0"/>
          <a:ext cx="0" cy="0"/>
          <a:chOff x="0" y="0"/>
          <a:chExt cx="0" cy="0"/>
        </a:xfrm>
      </p:grpSpPr>
      <p:sp>
        <p:nvSpPr>
          <p:cNvPr id="10" name="Google Shape;10;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1"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1"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1"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dirty="0"/>
          </a:p>
        </p:txBody>
      </p:sp>
      <p:sp>
        <p:nvSpPr>
          <p:cNvPr id="12" name="Google Shape;1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1"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9"/>
          <p:cNvSpPr txBox="1">
            <a:spLocks noGrp="1"/>
          </p:cNvSpPr>
          <p:nvPr>
            <p:ph type="sldNum" idx="12"/>
          </p:nvPr>
        </p:nvSpPr>
        <p:spPr>
          <a:xfrm>
            <a:off x="3725091" y="6351089"/>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1" i="0" u="none" strike="noStrike" cap="none">
                <a:solidFill>
                  <a:srgbClr val="888888"/>
                </a:solidFill>
                <a:latin typeface="Arial"/>
                <a:ea typeface="Arial"/>
                <a:cs typeface="Arial"/>
                <a:sym typeface="Arial"/>
              </a:defRPr>
            </a:lvl1pPr>
            <a:lvl2pPr marL="0" marR="0" lvl="1" indent="0" algn="r" rtl="0">
              <a:spcBef>
                <a:spcPts val="0"/>
              </a:spcBef>
              <a:buNone/>
              <a:defRPr sz="1200" b="1" i="0" u="none" strike="noStrike" cap="none">
                <a:solidFill>
                  <a:srgbClr val="888888"/>
                </a:solidFill>
                <a:latin typeface="Arial"/>
                <a:ea typeface="Arial"/>
                <a:cs typeface="Arial"/>
                <a:sym typeface="Arial"/>
              </a:defRPr>
            </a:lvl2pPr>
            <a:lvl3pPr marL="0" marR="0" lvl="2" indent="0" algn="r" rtl="0">
              <a:spcBef>
                <a:spcPts val="0"/>
              </a:spcBef>
              <a:buNone/>
              <a:defRPr sz="1200" b="1" i="0" u="none" strike="noStrike" cap="none">
                <a:solidFill>
                  <a:srgbClr val="888888"/>
                </a:solidFill>
                <a:latin typeface="Arial"/>
                <a:ea typeface="Arial"/>
                <a:cs typeface="Arial"/>
                <a:sym typeface="Arial"/>
              </a:defRPr>
            </a:lvl3pPr>
            <a:lvl4pPr marL="0" marR="0" lvl="3" indent="0" algn="r" rtl="0">
              <a:spcBef>
                <a:spcPts val="0"/>
              </a:spcBef>
              <a:buNone/>
              <a:defRPr sz="1200" b="1" i="0" u="none" strike="noStrike" cap="none">
                <a:solidFill>
                  <a:srgbClr val="888888"/>
                </a:solidFill>
                <a:latin typeface="Arial"/>
                <a:ea typeface="Arial"/>
                <a:cs typeface="Arial"/>
                <a:sym typeface="Arial"/>
              </a:defRPr>
            </a:lvl4pPr>
            <a:lvl5pPr marL="0" marR="0" lvl="4" indent="0" algn="r" rtl="0">
              <a:spcBef>
                <a:spcPts val="0"/>
              </a:spcBef>
              <a:buNone/>
              <a:defRPr sz="1200" b="1" i="0" u="none" strike="noStrike" cap="none">
                <a:solidFill>
                  <a:srgbClr val="888888"/>
                </a:solidFill>
                <a:latin typeface="Arial"/>
                <a:ea typeface="Arial"/>
                <a:cs typeface="Arial"/>
                <a:sym typeface="Arial"/>
              </a:defRPr>
            </a:lvl5pPr>
            <a:lvl6pPr marL="0" marR="0" lvl="5" indent="0" algn="r" rtl="0">
              <a:spcBef>
                <a:spcPts val="0"/>
              </a:spcBef>
              <a:buNone/>
              <a:defRPr sz="1200" b="1" i="0" u="none" strike="noStrike" cap="none">
                <a:solidFill>
                  <a:srgbClr val="888888"/>
                </a:solidFill>
                <a:latin typeface="Arial"/>
                <a:ea typeface="Arial"/>
                <a:cs typeface="Arial"/>
                <a:sym typeface="Arial"/>
              </a:defRPr>
            </a:lvl6pPr>
            <a:lvl7pPr marL="0" marR="0" lvl="6" indent="0" algn="r" rtl="0">
              <a:spcBef>
                <a:spcPts val="0"/>
              </a:spcBef>
              <a:buNone/>
              <a:defRPr sz="1200" b="1" i="0" u="none" strike="noStrike" cap="none">
                <a:solidFill>
                  <a:srgbClr val="888888"/>
                </a:solidFill>
                <a:latin typeface="Arial"/>
                <a:ea typeface="Arial"/>
                <a:cs typeface="Arial"/>
                <a:sym typeface="Arial"/>
              </a:defRPr>
            </a:lvl7pPr>
            <a:lvl8pPr marL="0" marR="0" lvl="7" indent="0" algn="r" rtl="0">
              <a:spcBef>
                <a:spcPts val="0"/>
              </a:spcBef>
              <a:buNone/>
              <a:defRPr sz="1200" b="1" i="0" u="none" strike="noStrike" cap="none">
                <a:solidFill>
                  <a:srgbClr val="888888"/>
                </a:solidFill>
                <a:latin typeface="Arial"/>
                <a:ea typeface="Arial"/>
                <a:cs typeface="Arial"/>
                <a:sym typeface="Arial"/>
              </a:defRPr>
            </a:lvl8pPr>
            <a:lvl9pPr marL="0" marR="0" lvl="8" indent="0" algn="r" rtl="0">
              <a:spcBef>
                <a:spcPts val="0"/>
              </a:spcBef>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a:t>
            </a:fld>
            <a:endParaRPr/>
          </a:p>
        </p:txBody>
      </p:sp>
      <p:pic>
        <p:nvPicPr>
          <p:cNvPr id="5" name="Imagen 4" descr="Escala de tiempo&#10;&#10;Descripción generada automáticamente con confianza media">
            <a:extLst>
              <a:ext uri="{FF2B5EF4-FFF2-40B4-BE49-F238E27FC236}">
                <a16:creationId xmlns:a16="http://schemas.microsoft.com/office/drawing/2014/main" id="{FF23A706-937B-567A-37E0-E24E11173CA1}"/>
              </a:ext>
            </a:extLst>
          </p:cNvPr>
          <p:cNvPicPr>
            <a:picLocks noChangeAspect="1"/>
          </p:cNvPicPr>
          <p:nvPr userDrawn="1"/>
        </p:nvPicPr>
        <p:blipFill rotWithShape="1">
          <a:blip r:embed="rId12"/>
          <a:srcRect l="26893" t="50000"/>
          <a:stretch/>
        </p:blipFill>
        <p:spPr>
          <a:xfrm>
            <a:off x="6498305" y="6021977"/>
            <a:ext cx="5693696" cy="811417"/>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5" r:id="rId5"/>
    <p:sldLayoutId id="2147483656" r:id="rId6"/>
    <p:sldLayoutId id="2147483657" r:id="rId7"/>
    <p:sldLayoutId id="2147483658" r:id="rId8"/>
    <p:sldLayoutId id="2147483659" r:id="rId9"/>
    <p:sldLayoutId id="214748366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accent5">
            <a:lumMod val="50000"/>
          </a:schemeClr>
        </a:solidFill>
        <a:effectLst/>
      </p:bgPr>
    </p:bg>
    <p:spTree>
      <p:nvGrpSpPr>
        <p:cNvPr id="1" name="Shape 88"/>
        <p:cNvGrpSpPr/>
        <p:nvPr/>
      </p:nvGrpSpPr>
      <p:grpSpPr>
        <a:xfrm>
          <a:off x="0" y="0"/>
          <a:ext cx="0" cy="0"/>
          <a:chOff x="0" y="0"/>
          <a:chExt cx="0" cy="0"/>
        </a:xfrm>
      </p:grpSpPr>
      <p:sp>
        <p:nvSpPr>
          <p:cNvPr id="91" name="Google Shape;91;p1"/>
          <p:cNvSpPr/>
          <p:nvPr/>
        </p:nvSpPr>
        <p:spPr>
          <a:xfrm>
            <a:off x="3455304" y="2089552"/>
            <a:ext cx="5281387" cy="989557"/>
          </a:xfrm>
          <a:prstGeom prst="roundRect">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r>
              <a:rPr lang="en-US" sz="2800" dirty="0">
                <a:solidFill>
                  <a:schemeClr val="tx1"/>
                </a:solidFill>
                <a:latin typeface="+mj-lt"/>
                <a:ea typeface="Calibri"/>
                <a:cs typeface="Calibri"/>
                <a:sym typeface="Calibri"/>
              </a:rPr>
              <a:t>D</a:t>
            </a:r>
            <a:r>
              <a:rPr lang="es-CO" sz="2800" dirty="0">
                <a:solidFill>
                  <a:schemeClr val="tx1"/>
                </a:solidFill>
                <a:latin typeface="+mj-lt"/>
                <a:ea typeface="Calibri"/>
                <a:cs typeface="Calibri"/>
                <a:sym typeface="Calibri"/>
              </a:rPr>
              <a:t>ata </a:t>
            </a:r>
            <a:r>
              <a:rPr lang="es-CO" sz="2800" dirty="0" err="1">
                <a:solidFill>
                  <a:schemeClr val="tx1"/>
                </a:solidFill>
                <a:latin typeface="+mj-lt"/>
                <a:ea typeface="Calibri"/>
                <a:cs typeface="Calibri"/>
                <a:sym typeface="Calibri"/>
              </a:rPr>
              <a:t>Mining</a:t>
            </a:r>
            <a:endParaRPr lang="es-CO" sz="2800" b="0" i="0" u="none" strike="noStrike" cap="none" dirty="0">
              <a:solidFill>
                <a:schemeClr val="tx1"/>
              </a:solidFill>
              <a:latin typeface="+mj-lt"/>
              <a:ea typeface="Calibri"/>
              <a:cs typeface="Calibri"/>
              <a:sym typeface="Calibri"/>
            </a:endParaRPr>
          </a:p>
        </p:txBody>
      </p:sp>
      <p:sp>
        <p:nvSpPr>
          <p:cNvPr id="98" name="Google Shape;98;p1"/>
          <p:cNvSpPr txBox="1"/>
          <p:nvPr/>
        </p:nvSpPr>
        <p:spPr>
          <a:xfrm>
            <a:off x="3047996" y="3734215"/>
            <a:ext cx="6096000" cy="83095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1800"/>
              <a:buFont typeface="Arial"/>
              <a:buNone/>
            </a:pPr>
            <a:r>
              <a:rPr lang="en-US" sz="2400" b="1" dirty="0">
                <a:solidFill>
                  <a:srgbClr val="FFFFFF"/>
                </a:solidFill>
              </a:rPr>
              <a:t>S</a:t>
            </a:r>
            <a:r>
              <a:rPr lang="es-CO" sz="2400" b="1" dirty="0">
                <a:solidFill>
                  <a:srgbClr val="FFFFFF"/>
                </a:solidFill>
              </a:rPr>
              <a:t>elección, preprocesamiento y transformación</a:t>
            </a:r>
            <a:endParaRPr lang="es-CO" sz="1800" dirty="0"/>
          </a:p>
        </p:txBody>
      </p:sp>
      <p:sp>
        <p:nvSpPr>
          <p:cNvPr id="3" name="Google Shape;98;p1">
            <a:extLst>
              <a:ext uri="{FF2B5EF4-FFF2-40B4-BE49-F238E27FC236}">
                <a16:creationId xmlns:a16="http://schemas.microsoft.com/office/drawing/2014/main" id="{F6E5FE4C-F0A4-04D9-BDF6-552D3C5B8C83}"/>
              </a:ext>
            </a:extLst>
          </p:cNvPr>
          <p:cNvSpPr txBox="1"/>
          <p:nvPr/>
        </p:nvSpPr>
        <p:spPr>
          <a:xfrm>
            <a:off x="3816479" y="4850945"/>
            <a:ext cx="4559033" cy="47701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1800"/>
              <a:buFont typeface="Arial"/>
              <a:buNone/>
            </a:pPr>
            <a:r>
              <a:rPr lang="es-CO" dirty="0">
                <a:solidFill>
                  <a:srgbClr val="FFFFFF"/>
                </a:solidFill>
              </a:rPr>
              <a:t>Norbey Danilo Muñoz Cañón</a:t>
            </a:r>
          </a:p>
          <a:p>
            <a:pPr marL="0" marR="0" lvl="0" indent="0" algn="ctr" rtl="0">
              <a:lnSpc>
                <a:spcPct val="100000"/>
              </a:lnSpc>
              <a:spcBef>
                <a:spcPts val="0"/>
              </a:spcBef>
              <a:spcAft>
                <a:spcPts val="0"/>
              </a:spcAft>
              <a:buClr>
                <a:srgbClr val="FFFFFF"/>
              </a:buClr>
              <a:buSzPts val="1800"/>
              <a:buFont typeface="Arial"/>
              <a:buNone/>
            </a:pPr>
            <a:r>
              <a:rPr lang="es-CO" sz="1100" dirty="0">
                <a:solidFill>
                  <a:srgbClr val="FFFFFF"/>
                </a:solidFill>
              </a:rPr>
              <a:t>2026</a:t>
            </a:r>
            <a:endParaRPr lang="es-CO"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Procesamiento de Datos</a:t>
            </a:r>
            <a:endParaRPr sz="2400" dirty="0">
              <a:solidFill>
                <a:srgbClr val="08287C"/>
              </a:solidFill>
              <a:latin typeface="Arial"/>
              <a:ea typeface="Arial"/>
              <a:cs typeface="Arial"/>
              <a:sym typeface="Arial"/>
            </a:endParaRPr>
          </a:p>
        </p:txBody>
      </p:sp>
      <p:sp>
        <p:nvSpPr>
          <p:cNvPr id="3" name="CuadroTexto 2">
            <a:extLst>
              <a:ext uri="{FF2B5EF4-FFF2-40B4-BE49-F238E27FC236}">
                <a16:creationId xmlns:a16="http://schemas.microsoft.com/office/drawing/2014/main" id="{02927E72-96C8-066F-9023-5BEF8F916658}"/>
              </a:ext>
            </a:extLst>
          </p:cNvPr>
          <p:cNvSpPr txBox="1"/>
          <p:nvPr/>
        </p:nvSpPr>
        <p:spPr>
          <a:xfrm>
            <a:off x="999516" y="1525277"/>
            <a:ext cx="10206747" cy="4401205"/>
          </a:xfrm>
          <a:prstGeom prst="rect">
            <a:avLst/>
          </a:prstGeom>
          <a:noFill/>
        </p:spPr>
        <p:txBody>
          <a:bodyPr wrap="square">
            <a:spAutoFit/>
          </a:bodyPr>
          <a:lstStyle/>
          <a:p>
            <a:pPr marL="0" lvl="0" indent="0" algn="just" rtl="0">
              <a:lnSpc>
                <a:spcPct val="100000"/>
              </a:lnSpc>
              <a:spcBef>
                <a:spcPts val="0"/>
              </a:spcBef>
              <a:spcAft>
                <a:spcPts val="0"/>
              </a:spcAft>
              <a:buNone/>
            </a:pPr>
            <a:r>
              <a:rPr lang="es-ES" sz="2000" dirty="0"/>
              <a:t>Hemos de ser conscientes de que en muchos casos se tiene que trabajar con los datos de una forma más extensa para poder disponerlos en un formato y estructura adecuados.</a:t>
            </a:r>
          </a:p>
          <a:p>
            <a:pPr marL="0" lvl="0" indent="0" algn="just" rtl="0">
              <a:lnSpc>
                <a:spcPct val="100000"/>
              </a:lnSpc>
              <a:spcBef>
                <a:spcPts val="0"/>
              </a:spcBef>
              <a:spcAft>
                <a:spcPts val="0"/>
              </a:spcAft>
              <a:buNone/>
            </a:pPr>
            <a:endParaRPr lang="es-ES" sz="2000" dirty="0"/>
          </a:p>
          <a:p>
            <a:pPr marL="0" lvl="0" indent="0" algn="just" rtl="0">
              <a:lnSpc>
                <a:spcPct val="100000"/>
              </a:lnSpc>
              <a:spcBef>
                <a:spcPts val="0"/>
              </a:spcBef>
              <a:spcAft>
                <a:spcPts val="0"/>
              </a:spcAft>
              <a:buNone/>
            </a:pPr>
            <a:r>
              <a:rPr lang="es-ES" sz="2000" dirty="0"/>
              <a:t>A menudo se dice que la información son datos puestos en contexto o datos organizados y estructurados.</a:t>
            </a:r>
          </a:p>
          <a:p>
            <a:pPr marL="0" lvl="0" indent="0" algn="just" rtl="0">
              <a:lnSpc>
                <a:spcPct val="100000"/>
              </a:lnSpc>
              <a:spcBef>
                <a:spcPts val="0"/>
              </a:spcBef>
              <a:spcAft>
                <a:spcPts val="0"/>
              </a:spcAft>
              <a:buNone/>
            </a:pPr>
            <a:endParaRPr lang="es-ES" sz="2000" dirty="0"/>
          </a:p>
          <a:p>
            <a:pPr marL="0" lvl="0" indent="0" algn="just" rtl="0">
              <a:lnSpc>
                <a:spcPct val="100000"/>
              </a:lnSpc>
              <a:spcBef>
                <a:spcPts val="0"/>
              </a:spcBef>
              <a:spcAft>
                <a:spcPts val="0"/>
              </a:spcAft>
              <a:buNone/>
            </a:pPr>
            <a:r>
              <a:rPr lang="es-ES" sz="2000" dirty="0"/>
              <a:t>Los pasos que debe tenerse en cuenta:</a:t>
            </a:r>
          </a:p>
          <a:p>
            <a:pPr marL="0" lvl="0" indent="0" algn="just" rtl="0">
              <a:lnSpc>
                <a:spcPct val="100000"/>
              </a:lnSpc>
              <a:spcBef>
                <a:spcPts val="0"/>
              </a:spcBef>
              <a:spcAft>
                <a:spcPts val="0"/>
              </a:spcAft>
              <a:buNone/>
            </a:pPr>
            <a:endParaRPr lang="es-ES" sz="2000" dirty="0"/>
          </a:p>
          <a:p>
            <a:pPr marL="342900" lvl="0" indent="-342900" algn="just" rtl="0">
              <a:lnSpc>
                <a:spcPct val="100000"/>
              </a:lnSpc>
              <a:spcBef>
                <a:spcPts val="0"/>
              </a:spcBef>
              <a:spcAft>
                <a:spcPts val="0"/>
              </a:spcAft>
              <a:buFont typeface="Arial" panose="020B0604020202020204" pitchFamily="34" charset="0"/>
              <a:buChar char="•"/>
            </a:pPr>
            <a:r>
              <a:rPr lang="es-ES" sz="2000" dirty="0"/>
              <a:t>Obtención (fuentes) y Selección.</a:t>
            </a:r>
          </a:p>
          <a:p>
            <a:pPr marL="342900" lvl="0" indent="-342900" algn="just">
              <a:buFont typeface="Arial" panose="020B0604020202020204" pitchFamily="34" charset="0"/>
              <a:buChar char="•"/>
            </a:pPr>
            <a:r>
              <a:rPr lang="es-ES" sz="2000" dirty="0"/>
              <a:t>Preprocesamiento y transformación:</a:t>
            </a:r>
          </a:p>
          <a:p>
            <a:pPr lvl="0" algn="just"/>
            <a:endParaRPr lang="es-ES" sz="2000" dirty="0"/>
          </a:p>
          <a:p>
            <a:pPr marL="342900" lvl="4" indent="-342900" algn="just">
              <a:buFont typeface="Arial" panose="020B0604020202020204" pitchFamily="34" charset="0"/>
              <a:buChar char="•"/>
            </a:pPr>
            <a:r>
              <a:rPr lang="es-ES" sz="2000" dirty="0"/>
              <a:t>	Formateo y limpieza (erróneos o inconsistentes e irrelevantes).</a:t>
            </a:r>
          </a:p>
          <a:p>
            <a:pPr marL="0" lvl="0" indent="0" algn="just" rtl="0">
              <a:lnSpc>
                <a:spcPct val="100000"/>
              </a:lnSpc>
              <a:spcBef>
                <a:spcPts val="0"/>
              </a:spcBef>
              <a:spcAft>
                <a:spcPts val="0"/>
              </a:spcAft>
              <a:buNone/>
            </a:pPr>
            <a:endParaRPr lang="es-ES" sz="2000" dirty="0"/>
          </a:p>
        </p:txBody>
      </p:sp>
    </p:spTree>
    <p:extLst>
      <p:ext uri="{BB962C8B-B14F-4D97-AF65-F5344CB8AC3E}">
        <p14:creationId xmlns:p14="http://schemas.microsoft.com/office/powerpoint/2010/main" val="216095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427" rIns="0" bIns="0" rtlCol="0">
            <a:spAutoFit/>
          </a:bodyPr>
          <a:lstStyle/>
          <a:p>
            <a:pPr marL="678815">
              <a:lnSpc>
                <a:spcPct val="100000"/>
              </a:lnSpc>
              <a:spcBef>
                <a:spcPts val="105"/>
              </a:spcBef>
            </a:pPr>
            <a:r>
              <a:rPr lang="es-CO" spc="-275" noProof="0" dirty="0"/>
              <a:t>Extracción</a:t>
            </a:r>
            <a:r>
              <a:rPr lang="es-CO" spc="-254" noProof="0" dirty="0"/>
              <a:t> </a:t>
            </a:r>
            <a:r>
              <a:rPr lang="es-CO" noProof="0" dirty="0"/>
              <a:t>de</a:t>
            </a:r>
            <a:r>
              <a:rPr lang="es-CO" spc="-130" noProof="0" dirty="0"/>
              <a:t> </a:t>
            </a:r>
            <a:r>
              <a:rPr lang="es-CO" spc="-305" noProof="0" dirty="0"/>
              <a:t>Conocimiento</a:t>
            </a:r>
            <a:r>
              <a:rPr lang="es-CO" spc="-340" noProof="0" dirty="0"/>
              <a:t> </a:t>
            </a:r>
            <a:r>
              <a:rPr lang="es-CO" spc="-270" noProof="0" dirty="0"/>
              <a:t>(proceso</a:t>
            </a:r>
            <a:r>
              <a:rPr lang="es-CO" spc="-300" noProof="0" dirty="0"/>
              <a:t> </a:t>
            </a:r>
            <a:r>
              <a:rPr lang="es-CO" spc="-365" noProof="0" dirty="0"/>
              <a:t>KDD)</a:t>
            </a:r>
          </a:p>
        </p:txBody>
      </p:sp>
      <p:pic>
        <p:nvPicPr>
          <p:cNvPr id="3" name="object 3"/>
          <p:cNvPicPr/>
          <p:nvPr/>
        </p:nvPicPr>
        <p:blipFill>
          <a:blip r:embed="rId2" cstate="print"/>
          <a:stretch>
            <a:fillRect/>
          </a:stretch>
        </p:blipFill>
        <p:spPr>
          <a:xfrm>
            <a:off x="824483" y="2080260"/>
            <a:ext cx="10754868" cy="1732788"/>
          </a:xfrm>
          <a:prstGeom prst="rect">
            <a:avLst/>
          </a:prstGeom>
        </p:spPr>
      </p:pic>
      <p:sp>
        <p:nvSpPr>
          <p:cNvPr id="4" name="object 4"/>
          <p:cNvSpPr txBox="1"/>
          <p:nvPr/>
        </p:nvSpPr>
        <p:spPr>
          <a:xfrm>
            <a:off x="10202671" y="3701288"/>
            <a:ext cx="1185545" cy="239395"/>
          </a:xfrm>
          <a:prstGeom prst="rect">
            <a:avLst/>
          </a:prstGeom>
        </p:spPr>
        <p:txBody>
          <a:bodyPr vert="horz" wrap="square" lIns="0" tIns="12700" rIns="0" bIns="0" rtlCol="0">
            <a:spAutoFit/>
          </a:bodyPr>
          <a:lstStyle/>
          <a:p>
            <a:pPr marL="12700">
              <a:lnSpc>
                <a:spcPct val="100000"/>
              </a:lnSpc>
              <a:spcBef>
                <a:spcPts val="100"/>
              </a:spcBef>
            </a:pPr>
            <a:r>
              <a:rPr lang="es-CO" sz="1400" b="1" spc="-20" noProof="0" dirty="0">
                <a:latin typeface="Arial"/>
                <a:cs typeface="Arial"/>
              </a:rPr>
              <a:t>Fayyad</a:t>
            </a:r>
            <a:r>
              <a:rPr lang="es-CO" sz="1400" b="1" spc="-45" noProof="0" dirty="0">
                <a:latin typeface="Arial"/>
                <a:cs typeface="Arial"/>
              </a:rPr>
              <a:t> </a:t>
            </a:r>
            <a:r>
              <a:rPr lang="es-CO" sz="1400" b="1" spc="-10" noProof="0" dirty="0">
                <a:latin typeface="Arial"/>
                <a:cs typeface="Arial"/>
              </a:rPr>
              <a:t>(1996)</a:t>
            </a:r>
            <a:endParaRPr lang="es-CO" sz="1400" noProof="0" dirty="0">
              <a:latin typeface="Arial"/>
              <a:cs typeface="Arial"/>
            </a:endParaRPr>
          </a:p>
        </p:txBody>
      </p:sp>
      <p:grpSp>
        <p:nvGrpSpPr>
          <p:cNvPr id="5" name="object 5"/>
          <p:cNvGrpSpPr/>
          <p:nvPr/>
        </p:nvGrpSpPr>
        <p:grpSpPr>
          <a:xfrm>
            <a:off x="3206876" y="1701164"/>
            <a:ext cx="366395" cy="331470"/>
            <a:chOff x="3206876" y="1701164"/>
            <a:chExt cx="366395" cy="331470"/>
          </a:xfrm>
        </p:grpSpPr>
        <p:sp>
          <p:nvSpPr>
            <p:cNvPr id="6" name="object 6"/>
            <p:cNvSpPr/>
            <p:nvPr/>
          </p:nvSpPr>
          <p:spPr>
            <a:xfrm>
              <a:off x="3215639" y="1709927"/>
              <a:ext cx="347345" cy="312420"/>
            </a:xfrm>
            <a:custGeom>
              <a:avLst/>
              <a:gdLst/>
              <a:ahLst/>
              <a:cxnLst/>
              <a:rect l="l" t="t" r="r" b="b"/>
              <a:pathLst>
                <a:path w="347345" h="312419">
                  <a:moveTo>
                    <a:pt x="260476" y="0"/>
                  </a:moveTo>
                  <a:lnTo>
                    <a:pt x="86868" y="0"/>
                  </a:lnTo>
                  <a:lnTo>
                    <a:pt x="86868" y="156210"/>
                  </a:lnTo>
                  <a:lnTo>
                    <a:pt x="0" y="156210"/>
                  </a:lnTo>
                  <a:lnTo>
                    <a:pt x="173609" y="312420"/>
                  </a:lnTo>
                  <a:lnTo>
                    <a:pt x="347345" y="156210"/>
                  </a:lnTo>
                  <a:lnTo>
                    <a:pt x="260476" y="156210"/>
                  </a:lnTo>
                  <a:lnTo>
                    <a:pt x="260476" y="0"/>
                  </a:lnTo>
                  <a:close/>
                </a:path>
              </a:pathLst>
            </a:custGeom>
            <a:solidFill>
              <a:srgbClr val="FF0000"/>
            </a:solidFill>
          </p:spPr>
          <p:txBody>
            <a:bodyPr wrap="square" lIns="0" tIns="0" rIns="0" bIns="0" rtlCol="0"/>
            <a:lstStyle/>
            <a:p>
              <a:endParaRPr lang="es-CO" noProof="0" dirty="0"/>
            </a:p>
          </p:txBody>
        </p:sp>
        <p:sp>
          <p:nvSpPr>
            <p:cNvPr id="7" name="object 7"/>
            <p:cNvSpPr/>
            <p:nvPr/>
          </p:nvSpPr>
          <p:spPr>
            <a:xfrm>
              <a:off x="3216401" y="1710689"/>
              <a:ext cx="347345" cy="312420"/>
            </a:xfrm>
            <a:custGeom>
              <a:avLst/>
              <a:gdLst/>
              <a:ahLst/>
              <a:cxnLst/>
              <a:rect l="l" t="t" r="r" b="b"/>
              <a:pathLst>
                <a:path w="347345" h="312419">
                  <a:moveTo>
                    <a:pt x="347345" y="156210"/>
                  </a:moveTo>
                  <a:lnTo>
                    <a:pt x="173609" y="312420"/>
                  </a:lnTo>
                  <a:lnTo>
                    <a:pt x="0" y="156210"/>
                  </a:lnTo>
                  <a:lnTo>
                    <a:pt x="86868" y="156210"/>
                  </a:lnTo>
                  <a:lnTo>
                    <a:pt x="86868" y="0"/>
                  </a:lnTo>
                  <a:lnTo>
                    <a:pt x="260476" y="0"/>
                  </a:lnTo>
                  <a:lnTo>
                    <a:pt x="260476" y="156210"/>
                  </a:lnTo>
                  <a:lnTo>
                    <a:pt x="347345" y="156210"/>
                  </a:lnTo>
                  <a:close/>
                </a:path>
              </a:pathLst>
            </a:custGeom>
            <a:ln w="19050">
              <a:solidFill>
                <a:srgbClr val="6B859A"/>
              </a:solidFill>
            </a:ln>
          </p:spPr>
          <p:txBody>
            <a:bodyPr wrap="square" lIns="0" tIns="0" rIns="0" bIns="0" rtlCol="0"/>
            <a:lstStyle/>
            <a:p>
              <a:endParaRPr lang="es-CO" noProof="0" dirty="0"/>
            </a:p>
          </p:txBody>
        </p:sp>
      </p:grpSp>
      <p:sp>
        <p:nvSpPr>
          <p:cNvPr id="8" name="object 8"/>
          <p:cNvSpPr txBox="1"/>
          <p:nvPr/>
        </p:nvSpPr>
        <p:spPr>
          <a:xfrm>
            <a:off x="2358388" y="4269914"/>
            <a:ext cx="4728211" cy="932307"/>
          </a:xfrm>
          <a:prstGeom prst="rect">
            <a:avLst/>
          </a:prstGeom>
        </p:spPr>
        <p:txBody>
          <a:bodyPr vert="horz" wrap="square" lIns="0" tIns="102870" rIns="0" bIns="0" rtlCol="0">
            <a:spAutoFit/>
          </a:bodyPr>
          <a:lstStyle/>
          <a:p>
            <a:pPr marL="332105" indent="-319405">
              <a:lnSpc>
                <a:spcPct val="100000"/>
              </a:lnSpc>
              <a:spcBef>
                <a:spcPts val="810"/>
              </a:spcBef>
              <a:buClr>
                <a:srgbClr val="DD8046"/>
              </a:buClr>
              <a:buSzPct val="60416"/>
              <a:buFont typeface="Wingdings"/>
              <a:buChar char=""/>
              <a:tabLst>
                <a:tab pos="332105" algn="l"/>
              </a:tabLst>
            </a:pPr>
            <a:r>
              <a:rPr lang="es-CO" sz="2400" spc="-160" noProof="0" dirty="0">
                <a:latin typeface="Microsoft Sans Serif"/>
                <a:cs typeface="Microsoft Sans Serif"/>
              </a:rPr>
              <a:t>Elegidos</a:t>
            </a:r>
            <a:r>
              <a:rPr lang="es-CO" sz="2400" spc="-105" noProof="0" dirty="0">
                <a:latin typeface="Microsoft Sans Serif"/>
                <a:cs typeface="Microsoft Sans Serif"/>
              </a:rPr>
              <a:t> </a:t>
            </a:r>
            <a:r>
              <a:rPr lang="es-CO" sz="2400" spc="-135" noProof="0" dirty="0">
                <a:latin typeface="Microsoft Sans Serif"/>
                <a:cs typeface="Microsoft Sans Serif"/>
              </a:rPr>
              <a:t>con</a:t>
            </a:r>
            <a:r>
              <a:rPr lang="es-CO" sz="2400" spc="-190" noProof="0" dirty="0">
                <a:latin typeface="Microsoft Sans Serif"/>
                <a:cs typeface="Microsoft Sans Serif"/>
              </a:rPr>
              <a:t> </a:t>
            </a:r>
            <a:r>
              <a:rPr lang="es-CO" sz="2400" spc="-100" noProof="0" dirty="0">
                <a:latin typeface="Microsoft Sans Serif"/>
                <a:cs typeface="Microsoft Sans Serif"/>
              </a:rPr>
              <a:t>base</a:t>
            </a:r>
            <a:r>
              <a:rPr lang="es-CO" sz="2400" spc="-235" noProof="0" dirty="0">
                <a:latin typeface="Microsoft Sans Serif"/>
                <a:cs typeface="Microsoft Sans Serif"/>
              </a:rPr>
              <a:t> </a:t>
            </a:r>
            <a:r>
              <a:rPr lang="es-CO" sz="2400" noProof="0" dirty="0">
                <a:latin typeface="Microsoft Sans Serif"/>
                <a:cs typeface="Microsoft Sans Serif"/>
              </a:rPr>
              <a:t>al</a:t>
            </a:r>
            <a:r>
              <a:rPr lang="es-CO" sz="2400" spc="25" noProof="0" dirty="0">
                <a:latin typeface="Microsoft Sans Serif"/>
                <a:cs typeface="Microsoft Sans Serif"/>
              </a:rPr>
              <a:t> </a:t>
            </a:r>
            <a:r>
              <a:rPr lang="es-CO" sz="2400" spc="-10" noProof="0" dirty="0">
                <a:latin typeface="Microsoft Sans Serif"/>
                <a:cs typeface="Microsoft Sans Serif"/>
              </a:rPr>
              <a:t>problema</a:t>
            </a:r>
            <a:endParaRPr lang="es-CO" sz="2400" noProof="0" dirty="0">
              <a:latin typeface="Microsoft Sans Serif"/>
              <a:cs typeface="Microsoft Sans Serif"/>
            </a:endParaRPr>
          </a:p>
          <a:p>
            <a:pPr marL="332105" indent="-319405">
              <a:lnSpc>
                <a:spcPct val="100000"/>
              </a:lnSpc>
              <a:spcBef>
                <a:spcPts val="715"/>
              </a:spcBef>
              <a:buClr>
                <a:srgbClr val="DD8046"/>
              </a:buClr>
              <a:buSzPct val="60416"/>
              <a:buFont typeface="Wingdings"/>
              <a:buChar char=""/>
              <a:tabLst>
                <a:tab pos="332105" algn="l"/>
              </a:tabLst>
            </a:pPr>
            <a:r>
              <a:rPr lang="es-CO" sz="2400" spc="-80" noProof="0" dirty="0">
                <a:latin typeface="Microsoft Sans Serif"/>
                <a:cs typeface="Microsoft Sans Serif"/>
              </a:rPr>
              <a:t>Medidas</a:t>
            </a:r>
            <a:r>
              <a:rPr lang="es-CO" sz="2400" spc="-290" noProof="0" dirty="0">
                <a:latin typeface="Microsoft Sans Serif"/>
                <a:cs typeface="Microsoft Sans Serif"/>
              </a:rPr>
              <a:t> </a:t>
            </a:r>
            <a:r>
              <a:rPr lang="es-CO" sz="2400" spc="-150" noProof="0" dirty="0">
                <a:latin typeface="Microsoft Sans Serif"/>
                <a:cs typeface="Microsoft Sans Serif"/>
              </a:rPr>
              <a:t>subjetivas</a:t>
            </a:r>
            <a:r>
              <a:rPr lang="es-CO" sz="2400" spc="-110" noProof="0" dirty="0">
                <a:latin typeface="Microsoft Sans Serif"/>
                <a:cs typeface="Microsoft Sans Serif"/>
              </a:rPr>
              <a:t> </a:t>
            </a:r>
            <a:r>
              <a:rPr lang="es-CO" sz="2400" noProof="0" dirty="0">
                <a:latin typeface="Microsoft Sans Serif"/>
                <a:cs typeface="Microsoft Sans Serif"/>
              </a:rPr>
              <a:t>y</a:t>
            </a:r>
            <a:r>
              <a:rPr lang="es-CO" sz="2400" spc="65" noProof="0" dirty="0">
                <a:latin typeface="Microsoft Sans Serif"/>
                <a:cs typeface="Microsoft Sans Serif"/>
              </a:rPr>
              <a:t> </a:t>
            </a:r>
            <a:r>
              <a:rPr lang="es-CO" sz="2400" spc="-90" noProof="0" dirty="0">
                <a:latin typeface="Microsoft Sans Serif"/>
                <a:cs typeface="Microsoft Sans Serif"/>
              </a:rPr>
              <a:t>objetivas</a:t>
            </a:r>
            <a:endParaRPr lang="es-CO" sz="2400" noProof="0" dirty="0">
              <a:latin typeface="Microsoft Sans Serif"/>
              <a:cs typeface="Microsoft Sans Serif"/>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427" rIns="0" bIns="0" rtlCol="0">
            <a:spAutoFit/>
          </a:bodyPr>
          <a:lstStyle/>
          <a:p>
            <a:pPr marL="678815">
              <a:lnSpc>
                <a:spcPct val="100000"/>
              </a:lnSpc>
              <a:spcBef>
                <a:spcPts val="105"/>
              </a:spcBef>
            </a:pPr>
            <a:r>
              <a:rPr lang="es-CO" spc="-275" noProof="0" dirty="0"/>
              <a:t>Extracción</a:t>
            </a:r>
            <a:r>
              <a:rPr lang="es-CO" spc="-254" noProof="0" dirty="0"/>
              <a:t> </a:t>
            </a:r>
            <a:r>
              <a:rPr lang="es-CO" noProof="0" dirty="0"/>
              <a:t>de</a:t>
            </a:r>
            <a:r>
              <a:rPr lang="es-CO" spc="-130" noProof="0" dirty="0"/>
              <a:t> </a:t>
            </a:r>
            <a:r>
              <a:rPr lang="es-CO" spc="-305" noProof="0" dirty="0"/>
              <a:t>Conocimiento</a:t>
            </a:r>
            <a:r>
              <a:rPr lang="es-CO" spc="-340" noProof="0" dirty="0"/>
              <a:t> </a:t>
            </a:r>
            <a:r>
              <a:rPr lang="es-CO" spc="-270" noProof="0" dirty="0"/>
              <a:t>(proceso</a:t>
            </a:r>
            <a:r>
              <a:rPr lang="es-CO" spc="-300" noProof="0" dirty="0"/>
              <a:t> </a:t>
            </a:r>
            <a:r>
              <a:rPr lang="es-CO" spc="-365" noProof="0" dirty="0"/>
              <a:t>KDD)</a:t>
            </a:r>
          </a:p>
        </p:txBody>
      </p:sp>
      <p:pic>
        <p:nvPicPr>
          <p:cNvPr id="3" name="object 3"/>
          <p:cNvPicPr/>
          <p:nvPr/>
        </p:nvPicPr>
        <p:blipFill>
          <a:blip r:embed="rId2" cstate="print"/>
          <a:stretch>
            <a:fillRect/>
          </a:stretch>
        </p:blipFill>
        <p:spPr>
          <a:xfrm>
            <a:off x="824483" y="2080260"/>
            <a:ext cx="10754868" cy="1732788"/>
          </a:xfrm>
          <a:prstGeom prst="rect">
            <a:avLst/>
          </a:prstGeom>
        </p:spPr>
      </p:pic>
      <p:sp>
        <p:nvSpPr>
          <p:cNvPr id="4" name="object 4"/>
          <p:cNvSpPr txBox="1"/>
          <p:nvPr/>
        </p:nvSpPr>
        <p:spPr>
          <a:xfrm>
            <a:off x="10202671" y="3701288"/>
            <a:ext cx="1185545" cy="239395"/>
          </a:xfrm>
          <a:prstGeom prst="rect">
            <a:avLst/>
          </a:prstGeom>
        </p:spPr>
        <p:txBody>
          <a:bodyPr vert="horz" wrap="square" lIns="0" tIns="12700" rIns="0" bIns="0" rtlCol="0">
            <a:spAutoFit/>
          </a:bodyPr>
          <a:lstStyle/>
          <a:p>
            <a:pPr marL="12700">
              <a:lnSpc>
                <a:spcPct val="100000"/>
              </a:lnSpc>
              <a:spcBef>
                <a:spcPts val="100"/>
              </a:spcBef>
            </a:pPr>
            <a:r>
              <a:rPr lang="es-CO" sz="1400" b="1" spc="-20" noProof="0" dirty="0">
                <a:latin typeface="Arial"/>
                <a:cs typeface="Arial"/>
              </a:rPr>
              <a:t>Fayyad</a:t>
            </a:r>
            <a:r>
              <a:rPr lang="es-CO" sz="1400" b="1" spc="-45" noProof="0" dirty="0">
                <a:latin typeface="Arial"/>
                <a:cs typeface="Arial"/>
              </a:rPr>
              <a:t> </a:t>
            </a:r>
            <a:r>
              <a:rPr lang="es-CO" sz="1400" b="1" spc="-10" noProof="0" dirty="0">
                <a:latin typeface="Arial"/>
                <a:cs typeface="Arial"/>
              </a:rPr>
              <a:t>(1996)</a:t>
            </a:r>
            <a:endParaRPr lang="es-CO" sz="1400" noProof="0" dirty="0">
              <a:latin typeface="Arial"/>
              <a:cs typeface="Arial"/>
            </a:endParaRPr>
          </a:p>
        </p:txBody>
      </p:sp>
      <p:grpSp>
        <p:nvGrpSpPr>
          <p:cNvPr id="5" name="object 5"/>
          <p:cNvGrpSpPr/>
          <p:nvPr/>
        </p:nvGrpSpPr>
        <p:grpSpPr>
          <a:xfrm>
            <a:off x="3884929" y="1644776"/>
            <a:ext cx="3378200" cy="565150"/>
            <a:chOff x="3884929" y="1644776"/>
            <a:chExt cx="3378200" cy="565150"/>
          </a:xfrm>
        </p:grpSpPr>
        <p:sp>
          <p:nvSpPr>
            <p:cNvPr id="6" name="object 6"/>
            <p:cNvSpPr/>
            <p:nvPr/>
          </p:nvSpPr>
          <p:spPr>
            <a:xfrm>
              <a:off x="5519927" y="1653539"/>
              <a:ext cx="347345" cy="312420"/>
            </a:xfrm>
            <a:custGeom>
              <a:avLst/>
              <a:gdLst/>
              <a:ahLst/>
              <a:cxnLst/>
              <a:rect l="l" t="t" r="r" b="b"/>
              <a:pathLst>
                <a:path w="347345" h="312419">
                  <a:moveTo>
                    <a:pt x="260476" y="0"/>
                  </a:moveTo>
                  <a:lnTo>
                    <a:pt x="86868" y="0"/>
                  </a:lnTo>
                  <a:lnTo>
                    <a:pt x="86868" y="156083"/>
                  </a:lnTo>
                  <a:lnTo>
                    <a:pt x="0" y="156083"/>
                  </a:lnTo>
                  <a:lnTo>
                    <a:pt x="173609" y="312165"/>
                  </a:lnTo>
                  <a:lnTo>
                    <a:pt x="347345" y="156083"/>
                  </a:lnTo>
                  <a:lnTo>
                    <a:pt x="260476" y="156083"/>
                  </a:lnTo>
                  <a:lnTo>
                    <a:pt x="260476" y="0"/>
                  </a:lnTo>
                  <a:close/>
                </a:path>
              </a:pathLst>
            </a:custGeom>
            <a:solidFill>
              <a:srgbClr val="FF0000"/>
            </a:solidFill>
          </p:spPr>
          <p:txBody>
            <a:bodyPr wrap="square" lIns="0" tIns="0" rIns="0" bIns="0" rtlCol="0"/>
            <a:lstStyle/>
            <a:p>
              <a:endParaRPr lang="es-CO" noProof="0" dirty="0"/>
            </a:p>
          </p:txBody>
        </p:sp>
        <p:sp>
          <p:nvSpPr>
            <p:cNvPr id="7" name="object 7"/>
            <p:cNvSpPr/>
            <p:nvPr/>
          </p:nvSpPr>
          <p:spPr>
            <a:xfrm>
              <a:off x="5520689" y="1654301"/>
              <a:ext cx="347345" cy="312420"/>
            </a:xfrm>
            <a:custGeom>
              <a:avLst/>
              <a:gdLst/>
              <a:ahLst/>
              <a:cxnLst/>
              <a:rect l="l" t="t" r="r" b="b"/>
              <a:pathLst>
                <a:path w="347345" h="312419">
                  <a:moveTo>
                    <a:pt x="347345" y="156083"/>
                  </a:moveTo>
                  <a:lnTo>
                    <a:pt x="173609" y="312165"/>
                  </a:lnTo>
                  <a:lnTo>
                    <a:pt x="0" y="156083"/>
                  </a:lnTo>
                  <a:lnTo>
                    <a:pt x="86868" y="156083"/>
                  </a:lnTo>
                  <a:lnTo>
                    <a:pt x="86868" y="0"/>
                  </a:lnTo>
                  <a:lnTo>
                    <a:pt x="260476" y="0"/>
                  </a:lnTo>
                  <a:lnTo>
                    <a:pt x="260476" y="156083"/>
                  </a:lnTo>
                  <a:lnTo>
                    <a:pt x="347345" y="156083"/>
                  </a:lnTo>
                  <a:close/>
                </a:path>
              </a:pathLst>
            </a:custGeom>
            <a:ln w="19050">
              <a:solidFill>
                <a:srgbClr val="6B859A"/>
              </a:solidFill>
            </a:ln>
          </p:spPr>
          <p:txBody>
            <a:bodyPr wrap="square" lIns="0" tIns="0" rIns="0" bIns="0" rtlCol="0"/>
            <a:lstStyle/>
            <a:p>
              <a:endParaRPr lang="es-CO" noProof="0" dirty="0"/>
            </a:p>
          </p:txBody>
        </p:sp>
        <p:sp>
          <p:nvSpPr>
            <p:cNvPr id="8" name="object 8"/>
            <p:cNvSpPr/>
            <p:nvPr/>
          </p:nvSpPr>
          <p:spPr>
            <a:xfrm>
              <a:off x="3897629" y="2021585"/>
              <a:ext cx="3352800" cy="175260"/>
            </a:xfrm>
            <a:custGeom>
              <a:avLst/>
              <a:gdLst/>
              <a:ahLst/>
              <a:cxnLst/>
              <a:rect l="l" t="t" r="r" b="b"/>
              <a:pathLst>
                <a:path w="3352800" h="175260">
                  <a:moveTo>
                    <a:pt x="0" y="175260"/>
                  </a:moveTo>
                  <a:lnTo>
                    <a:pt x="1143" y="107061"/>
                  </a:lnTo>
                  <a:lnTo>
                    <a:pt x="4318" y="51308"/>
                  </a:lnTo>
                  <a:lnTo>
                    <a:pt x="8890" y="13715"/>
                  </a:lnTo>
                  <a:lnTo>
                    <a:pt x="14605" y="0"/>
                  </a:lnTo>
                  <a:lnTo>
                    <a:pt x="3337941" y="0"/>
                  </a:lnTo>
                  <a:lnTo>
                    <a:pt x="3343655" y="13715"/>
                  </a:lnTo>
                  <a:lnTo>
                    <a:pt x="3348228" y="51308"/>
                  </a:lnTo>
                  <a:lnTo>
                    <a:pt x="3351403" y="107061"/>
                  </a:lnTo>
                  <a:lnTo>
                    <a:pt x="3352546" y="175260"/>
                  </a:lnTo>
                </a:path>
              </a:pathLst>
            </a:custGeom>
            <a:ln w="25400">
              <a:solidFill>
                <a:srgbClr val="FF0000"/>
              </a:solidFill>
            </a:ln>
          </p:spPr>
          <p:txBody>
            <a:bodyPr wrap="square" lIns="0" tIns="0" rIns="0" bIns="0" rtlCol="0"/>
            <a:lstStyle/>
            <a:p>
              <a:endParaRPr lang="es-CO" noProof="0" dirty="0"/>
            </a:p>
          </p:txBody>
        </p:sp>
      </p:grpSp>
      <p:sp>
        <p:nvSpPr>
          <p:cNvPr id="9" name="object 9"/>
          <p:cNvSpPr txBox="1"/>
          <p:nvPr/>
        </p:nvSpPr>
        <p:spPr>
          <a:xfrm>
            <a:off x="4303014" y="4137325"/>
            <a:ext cx="5602986" cy="1391407"/>
          </a:xfrm>
          <a:prstGeom prst="rect">
            <a:avLst/>
          </a:prstGeom>
        </p:spPr>
        <p:txBody>
          <a:bodyPr vert="horz" wrap="square" lIns="0" tIns="102870" rIns="0" bIns="0" rtlCol="0">
            <a:spAutoFit/>
          </a:bodyPr>
          <a:lstStyle/>
          <a:p>
            <a:pPr marL="332105" indent="-319405">
              <a:lnSpc>
                <a:spcPct val="100000"/>
              </a:lnSpc>
              <a:spcBef>
                <a:spcPts val="810"/>
              </a:spcBef>
              <a:buClr>
                <a:srgbClr val="DD8046"/>
              </a:buClr>
              <a:buSzPct val="60416"/>
              <a:buFont typeface="Wingdings"/>
              <a:buChar char=""/>
              <a:tabLst>
                <a:tab pos="332105" algn="l"/>
              </a:tabLst>
            </a:pPr>
            <a:r>
              <a:rPr lang="es-CO" sz="2400" spc="-114" noProof="0" dirty="0">
                <a:latin typeface="Microsoft Sans Serif"/>
                <a:cs typeface="Microsoft Sans Serif"/>
              </a:rPr>
              <a:t>Uniformar</a:t>
            </a:r>
            <a:r>
              <a:rPr lang="es-CO" sz="2400" spc="-140" noProof="0" dirty="0">
                <a:latin typeface="Microsoft Sans Serif"/>
                <a:cs typeface="Microsoft Sans Serif"/>
              </a:rPr>
              <a:t> </a:t>
            </a:r>
            <a:r>
              <a:rPr lang="es-CO" sz="2400" noProof="0" dirty="0">
                <a:latin typeface="Microsoft Sans Serif"/>
                <a:cs typeface="Microsoft Sans Serif"/>
              </a:rPr>
              <a:t>la</a:t>
            </a:r>
            <a:r>
              <a:rPr lang="es-CO" sz="2400" spc="15" noProof="0" dirty="0">
                <a:latin typeface="Microsoft Sans Serif"/>
                <a:cs typeface="Microsoft Sans Serif"/>
              </a:rPr>
              <a:t> </a:t>
            </a:r>
            <a:r>
              <a:rPr lang="es-CO" sz="2400" spc="-35" noProof="0" dirty="0">
                <a:latin typeface="Microsoft Sans Serif"/>
                <a:cs typeface="Microsoft Sans Serif"/>
              </a:rPr>
              <a:t>notación.</a:t>
            </a:r>
            <a:endParaRPr lang="es-CO" sz="2400" noProof="0" dirty="0">
              <a:latin typeface="Microsoft Sans Serif"/>
              <a:cs typeface="Microsoft Sans Serif"/>
            </a:endParaRPr>
          </a:p>
          <a:p>
            <a:pPr marL="332105" indent="-319405">
              <a:lnSpc>
                <a:spcPct val="100000"/>
              </a:lnSpc>
              <a:spcBef>
                <a:spcPts val="715"/>
              </a:spcBef>
              <a:buClr>
                <a:srgbClr val="DD8046"/>
              </a:buClr>
              <a:buSzPct val="60416"/>
              <a:buFont typeface="Wingdings"/>
              <a:buChar char=""/>
              <a:tabLst>
                <a:tab pos="332105" algn="l"/>
              </a:tabLst>
            </a:pPr>
            <a:r>
              <a:rPr lang="es-CO" sz="2400" spc="-150" noProof="0" dirty="0">
                <a:latin typeface="Microsoft Sans Serif"/>
                <a:cs typeface="Microsoft Sans Serif"/>
              </a:rPr>
              <a:t>Datos</a:t>
            </a:r>
            <a:r>
              <a:rPr lang="es-CO" sz="2400" spc="-130" noProof="0" dirty="0">
                <a:latin typeface="Microsoft Sans Serif"/>
                <a:cs typeface="Microsoft Sans Serif"/>
              </a:rPr>
              <a:t> </a:t>
            </a:r>
            <a:r>
              <a:rPr lang="es-CO" sz="2400" spc="-10" noProof="0" dirty="0">
                <a:latin typeface="Microsoft Sans Serif"/>
                <a:cs typeface="Microsoft Sans Serif"/>
              </a:rPr>
              <a:t>faltantes</a:t>
            </a:r>
            <a:r>
              <a:rPr lang="es-CO" sz="2400" spc="-10" dirty="0">
                <a:latin typeface="Microsoft Sans Serif"/>
                <a:cs typeface="Microsoft Sans Serif"/>
              </a:rPr>
              <a:t>.</a:t>
            </a:r>
            <a:endParaRPr lang="es-CO" sz="2400" noProof="0" dirty="0">
              <a:latin typeface="Microsoft Sans Serif"/>
              <a:cs typeface="Microsoft Sans Serif"/>
            </a:endParaRPr>
          </a:p>
          <a:p>
            <a:pPr marL="332105" indent="-319405">
              <a:lnSpc>
                <a:spcPct val="100000"/>
              </a:lnSpc>
              <a:spcBef>
                <a:spcPts val="695"/>
              </a:spcBef>
              <a:buClr>
                <a:srgbClr val="DD8046"/>
              </a:buClr>
              <a:buSzPct val="60416"/>
              <a:buFont typeface="Wingdings"/>
              <a:buChar char=""/>
              <a:tabLst>
                <a:tab pos="332105" algn="l"/>
              </a:tabLst>
            </a:pPr>
            <a:r>
              <a:rPr lang="es-CO" sz="2400" spc="-185" noProof="0" dirty="0">
                <a:latin typeface="Microsoft Sans Serif"/>
                <a:cs typeface="Microsoft Sans Serif"/>
              </a:rPr>
              <a:t>Fuera</a:t>
            </a:r>
            <a:r>
              <a:rPr lang="es-CO" sz="2400" spc="10" noProof="0" dirty="0">
                <a:latin typeface="Microsoft Sans Serif"/>
                <a:cs typeface="Microsoft Sans Serif"/>
              </a:rPr>
              <a:t> </a:t>
            </a:r>
            <a:r>
              <a:rPr lang="es-CO" sz="2400" noProof="0" dirty="0">
                <a:latin typeface="Microsoft Sans Serif"/>
                <a:cs typeface="Microsoft Sans Serif"/>
              </a:rPr>
              <a:t>de</a:t>
            </a:r>
            <a:r>
              <a:rPr lang="es-CO" sz="2400" spc="-25" noProof="0" dirty="0">
                <a:latin typeface="Microsoft Sans Serif"/>
                <a:cs typeface="Microsoft Sans Serif"/>
              </a:rPr>
              <a:t> </a:t>
            </a:r>
            <a:r>
              <a:rPr lang="es-CO" sz="2400" spc="-140" noProof="0" dirty="0">
                <a:latin typeface="Microsoft Sans Serif"/>
                <a:cs typeface="Microsoft Sans Serif"/>
              </a:rPr>
              <a:t>los</a:t>
            </a:r>
            <a:r>
              <a:rPr lang="es-CO" sz="2400" spc="-160" noProof="0" dirty="0">
                <a:latin typeface="Microsoft Sans Serif"/>
                <a:cs typeface="Microsoft Sans Serif"/>
              </a:rPr>
              <a:t> </a:t>
            </a:r>
            <a:r>
              <a:rPr lang="es-CO" sz="2400" spc="-125" noProof="0" dirty="0">
                <a:latin typeface="Microsoft Sans Serif"/>
                <a:cs typeface="Microsoft Sans Serif"/>
              </a:rPr>
              <a:t>rangos</a:t>
            </a:r>
            <a:r>
              <a:rPr lang="es-CO" sz="2400" spc="-204" noProof="0" dirty="0">
                <a:latin typeface="Microsoft Sans Serif"/>
                <a:cs typeface="Microsoft Sans Serif"/>
              </a:rPr>
              <a:t> </a:t>
            </a:r>
            <a:r>
              <a:rPr lang="es-CO" sz="2400" spc="-140" noProof="0" dirty="0">
                <a:latin typeface="Microsoft Sans Serif"/>
                <a:cs typeface="Microsoft Sans Serif"/>
              </a:rPr>
              <a:t>esperados</a:t>
            </a:r>
            <a:r>
              <a:rPr lang="es-CO" sz="2400" spc="-185" noProof="0" dirty="0">
                <a:latin typeface="Microsoft Sans Serif"/>
                <a:cs typeface="Microsoft Sans Serif"/>
              </a:rPr>
              <a:t> </a:t>
            </a:r>
            <a:r>
              <a:rPr lang="es-CO" sz="2400" spc="-105" noProof="0" dirty="0">
                <a:latin typeface="Microsoft Sans Serif"/>
                <a:cs typeface="Microsoft Sans Serif"/>
              </a:rPr>
              <a:t>(</a:t>
            </a:r>
            <a:r>
              <a:rPr lang="es-CO" sz="2400" spc="-105" noProof="0" dirty="0" err="1">
                <a:latin typeface="Microsoft Sans Serif"/>
                <a:cs typeface="Microsoft Sans Serif"/>
              </a:rPr>
              <a:t>outliers</a:t>
            </a:r>
            <a:r>
              <a:rPr lang="es-CO" sz="2400" spc="-105" noProof="0" dirty="0">
                <a:latin typeface="Microsoft Sans Serif"/>
                <a:cs typeface="Microsoft Sans Serif"/>
              </a:rPr>
              <a:t>).</a:t>
            </a:r>
            <a:endParaRPr lang="es-CO" sz="2400" noProof="0" dirty="0">
              <a:latin typeface="Microsoft Sans Serif"/>
              <a:cs typeface="Microsoft Sans Serif"/>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08B3CEA-A7A5-6102-3B44-2E4064A6B6E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5594999-15C0-7BC2-AEBF-2A7BA85C0BD4}"/>
              </a:ext>
            </a:extLst>
          </p:cNvPr>
          <p:cNvSpPr txBox="1">
            <a:spLocks noGrp="1"/>
          </p:cNvSpPr>
          <p:nvPr>
            <p:ph type="title"/>
          </p:nvPr>
        </p:nvSpPr>
        <p:spPr>
          <a:prstGeom prst="rect">
            <a:avLst/>
          </a:prstGeom>
        </p:spPr>
        <p:txBody>
          <a:bodyPr vert="horz" wrap="square" lIns="0" tIns="114427" rIns="0" bIns="0" rtlCol="0">
            <a:spAutoFit/>
          </a:bodyPr>
          <a:lstStyle/>
          <a:p>
            <a:pPr marL="678815">
              <a:lnSpc>
                <a:spcPct val="100000"/>
              </a:lnSpc>
              <a:spcBef>
                <a:spcPts val="105"/>
              </a:spcBef>
            </a:pPr>
            <a:r>
              <a:rPr lang="es-CO" spc="-275" noProof="0" dirty="0"/>
              <a:t>Extracción</a:t>
            </a:r>
            <a:r>
              <a:rPr lang="es-CO" spc="-254" noProof="0" dirty="0"/>
              <a:t> </a:t>
            </a:r>
            <a:r>
              <a:rPr lang="es-CO" noProof="0" dirty="0"/>
              <a:t>de</a:t>
            </a:r>
            <a:r>
              <a:rPr lang="es-CO" spc="-130" noProof="0" dirty="0"/>
              <a:t> </a:t>
            </a:r>
            <a:r>
              <a:rPr lang="es-CO" spc="-305" noProof="0" dirty="0"/>
              <a:t>Conocimiento</a:t>
            </a:r>
            <a:r>
              <a:rPr lang="es-CO" spc="-340" noProof="0" dirty="0"/>
              <a:t> </a:t>
            </a:r>
            <a:r>
              <a:rPr lang="es-CO" spc="-270" noProof="0" dirty="0"/>
              <a:t>(proceso</a:t>
            </a:r>
            <a:r>
              <a:rPr lang="es-CO" spc="-300" noProof="0" dirty="0"/>
              <a:t> </a:t>
            </a:r>
            <a:r>
              <a:rPr lang="es-CO" spc="-365" noProof="0" dirty="0"/>
              <a:t>KDD)</a:t>
            </a:r>
          </a:p>
        </p:txBody>
      </p:sp>
      <p:pic>
        <p:nvPicPr>
          <p:cNvPr id="3" name="object 3">
            <a:extLst>
              <a:ext uri="{FF2B5EF4-FFF2-40B4-BE49-F238E27FC236}">
                <a16:creationId xmlns:a16="http://schemas.microsoft.com/office/drawing/2014/main" id="{6CC2B965-D137-B86F-901B-4F2394242D4A}"/>
              </a:ext>
            </a:extLst>
          </p:cNvPr>
          <p:cNvPicPr/>
          <p:nvPr/>
        </p:nvPicPr>
        <p:blipFill>
          <a:blip r:embed="rId2" cstate="print"/>
          <a:stretch>
            <a:fillRect/>
          </a:stretch>
        </p:blipFill>
        <p:spPr>
          <a:xfrm>
            <a:off x="824483" y="2080260"/>
            <a:ext cx="10754868" cy="1732788"/>
          </a:xfrm>
          <a:prstGeom prst="rect">
            <a:avLst/>
          </a:prstGeom>
        </p:spPr>
      </p:pic>
      <p:sp>
        <p:nvSpPr>
          <p:cNvPr id="4" name="object 4">
            <a:extLst>
              <a:ext uri="{FF2B5EF4-FFF2-40B4-BE49-F238E27FC236}">
                <a16:creationId xmlns:a16="http://schemas.microsoft.com/office/drawing/2014/main" id="{B0D77F31-DC5D-F37E-BBBF-ED41DBA8301C}"/>
              </a:ext>
            </a:extLst>
          </p:cNvPr>
          <p:cNvSpPr txBox="1"/>
          <p:nvPr/>
        </p:nvSpPr>
        <p:spPr>
          <a:xfrm>
            <a:off x="10202671" y="3701288"/>
            <a:ext cx="1185545" cy="239395"/>
          </a:xfrm>
          <a:prstGeom prst="rect">
            <a:avLst/>
          </a:prstGeom>
        </p:spPr>
        <p:txBody>
          <a:bodyPr vert="horz" wrap="square" lIns="0" tIns="12700" rIns="0" bIns="0" rtlCol="0">
            <a:spAutoFit/>
          </a:bodyPr>
          <a:lstStyle/>
          <a:p>
            <a:pPr marL="12700">
              <a:lnSpc>
                <a:spcPct val="100000"/>
              </a:lnSpc>
              <a:spcBef>
                <a:spcPts val="100"/>
              </a:spcBef>
            </a:pPr>
            <a:r>
              <a:rPr lang="es-CO" sz="1400" b="1" spc="-20" noProof="0" dirty="0">
                <a:latin typeface="Arial"/>
                <a:cs typeface="Arial"/>
              </a:rPr>
              <a:t>Fayyad</a:t>
            </a:r>
            <a:r>
              <a:rPr lang="es-CO" sz="1400" b="1" spc="-45" noProof="0" dirty="0">
                <a:latin typeface="Arial"/>
                <a:cs typeface="Arial"/>
              </a:rPr>
              <a:t> </a:t>
            </a:r>
            <a:r>
              <a:rPr lang="es-CO" sz="1400" b="1" spc="-10" noProof="0" dirty="0">
                <a:latin typeface="Arial"/>
                <a:cs typeface="Arial"/>
              </a:rPr>
              <a:t>(1996)</a:t>
            </a:r>
            <a:endParaRPr lang="es-CO" sz="1400" noProof="0" dirty="0">
              <a:latin typeface="Arial"/>
              <a:cs typeface="Arial"/>
            </a:endParaRPr>
          </a:p>
        </p:txBody>
      </p:sp>
      <p:grpSp>
        <p:nvGrpSpPr>
          <p:cNvPr id="5" name="object 5">
            <a:extLst>
              <a:ext uri="{FF2B5EF4-FFF2-40B4-BE49-F238E27FC236}">
                <a16:creationId xmlns:a16="http://schemas.microsoft.com/office/drawing/2014/main" id="{242604F4-2211-0BB6-ABAF-C9D010B3750E}"/>
              </a:ext>
            </a:extLst>
          </p:cNvPr>
          <p:cNvGrpSpPr/>
          <p:nvPr/>
        </p:nvGrpSpPr>
        <p:grpSpPr>
          <a:xfrm>
            <a:off x="3206876" y="1701164"/>
            <a:ext cx="366395" cy="331470"/>
            <a:chOff x="3206876" y="1701164"/>
            <a:chExt cx="366395" cy="331470"/>
          </a:xfrm>
        </p:grpSpPr>
        <p:sp>
          <p:nvSpPr>
            <p:cNvPr id="6" name="object 6">
              <a:extLst>
                <a:ext uri="{FF2B5EF4-FFF2-40B4-BE49-F238E27FC236}">
                  <a16:creationId xmlns:a16="http://schemas.microsoft.com/office/drawing/2014/main" id="{9F8F2CD3-E30D-7C20-E840-CCBDCC0B36A0}"/>
                </a:ext>
              </a:extLst>
            </p:cNvPr>
            <p:cNvSpPr/>
            <p:nvPr/>
          </p:nvSpPr>
          <p:spPr>
            <a:xfrm>
              <a:off x="3215639" y="1709927"/>
              <a:ext cx="347345" cy="312420"/>
            </a:xfrm>
            <a:custGeom>
              <a:avLst/>
              <a:gdLst/>
              <a:ahLst/>
              <a:cxnLst/>
              <a:rect l="l" t="t" r="r" b="b"/>
              <a:pathLst>
                <a:path w="347345" h="312419">
                  <a:moveTo>
                    <a:pt x="260476" y="0"/>
                  </a:moveTo>
                  <a:lnTo>
                    <a:pt x="86868" y="0"/>
                  </a:lnTo>
                  <a:lnTo>
                    <a:pt x="86868" y="156210"/>
                  </a:lnTo>
                  <a:lnTo>
                    <a:pt x="0" y="156210"/>
                  </a:lnTo>
                  <a:lnTo>
                    <a:pt x="173609" y="312420"/>
                  </a:lnTo>
                  <a:lnTo>
                    <a:pt x="347345" y="156210"/>
                  </a:lnTo>
                  <a:lnTo>
                    <a:pt x="260476" y="156210"/>
                  </a:lnTo>
                  <a:lnTo>
                    <a:pt x="260476" y="0"/>
                  </a:lnTo>
                  <a:close/>
                </a:path>
              </a:pathLst>
            </a:custGeom>
            <a:solidFill>
              <a:srgbClr val="FF0000"/>
            </a:solidFill>
          </p:spPr>
          <p:txBody>
            <a:bodyPr wrap="square" lIns="0" tIns="0" rIns="0" bIns="0" rtlCol="0"/>
            <a:lstStyle/>
            <a:p>
              <a:endParaRPr lang="es-CO" noProof="0" dirty="0"/>
            </a:p>
          </p:txBody>
        </p:sp>
        <p:sp>
          <p:nvSpPr>
            <p:cNvPr id="7" name="object 7">
              <a:extLst>
                <a:ext uri="{FF2B5EF4-FFF2-40B4-BE49-F238E27FC236}">
                  <a16:creationId xmlns:a16="http://schemas.microsoft.com/office/drawing/2014/main" id="{27D06834-792F-4FBD-4CAF-41978C6F3EE0}"/>
                </a:ext>
              </a:extLst>
            </p:cNvPr>
            <p:cNvSpPr/>
            <p:nvPr/>
          </p:nvSpPr>
          <p:spPr>
            <a:xfrm>
              <a:off x="3216401" y="1710689"/>
              <a:ext cx="347345" cy="312420"/>
            </a:xfrm>
            <a:custGeom>
              <a:avLst/>
              <a:gdLst/>
              <a:ahLst/>
              <a:cxnLst/>
              <a:rect l="l" t="t" r="r" b="b"/>
              <a:pathLst>
                <a:path w="347345" h="312419">
                  <a:moveTo>
                    <a:pt x="347345" y="156210"/>
                  </a:moveTo>
                  <a:lnTo>
                    <a:pt x="173609" y="312420"/>
                  </a:lnTo>
                  <a:lnTo>
                    <a:pt x="0" y="156210"/>
                  </a:lnTo>
                  <a:lnTo>
                    <a:pt x="86868" y="156210"/>
                  </a:lnTo>
                  <a:lnTo>
                    <a:pt x="86868" y="0"/>
                  </a:lnTo>
                  <a:lnTo>
                    <a:pt x="260476" y="0"/>
                  </a:lnTo>
                  <a:lnTo>
                    <a:pt x="260476" y="156210"/>
                  </a:lnTo>
                  <a:lnTo>
                    <a:pt x="347345" y="156210"/>
                  </a:lnTo>
                  <a:close/>
                </a:path>
              </a:pathLst>
            </a:custGeom>
            <a:ln w="19050">
              <a:solidFill>
                <a:srgbClr val="6B859A"/>
              </a:solidFill>
            </a:ln>
          </p:spPr>
          <p:txBody>
            <a:bodyPr wrap="square" lIns="0" tIns="0" rIns="0" bIns="0" rtlCol="0"/>
            <a:lstStyle/>
            <a:p>
              <a:endParaRPr lang="es-CO" noProof="0" dirty="0"/>
            </a:p>
          </p:txBody>
        </p:sp>
      </p:grpSp>
      <p:sp>
        <p:nvSpPr>
          <p:cNvPr id="8" name="object 8">
            <a:extLst>
              <a:ext uri="{FF2B5EF4-FFF2-40B4-BE49-F238E27FC236}">
                <a16:creationId xmlns:a16="http://schemas.microsoft.com/office/drawing/2014/main" id="{5466FB66-02D5-1F6B-6B83-F6C244114C44}"/>
              </a:ext>
            </a:extLst>
          </p:cNvPr>
          <p:cNvSpPr txBox="1"/>
          <p:nvPr/>
        </p:nvSpPr>
        <p:spPr>
          <a:xfrm>
            <a:off x="2358388" y="4269914"/>
            <a:ext cx="4728211" cy="932307"/>
          </a:xfrm>
          <a:prstGeom prst="rect">
            <a:avLst/>
          </a:prstGeom>
        </p:spPr>
        <p:txBody>
          <a:bodyPr vert="horz" wrap="square" lIns="0" tIns="102870" rIns="0" bIns="0" rtlCol="0">
            <a:spAutoFit/>
          </a:bodyPr>
          <a:lstStyle/>
          <a:p>
            <a:pPr marL="332105" indent="-319405">
              <a:lnSpc>
                <a:spcPct val="100000"/>
              </a:lnSpc>
              <a:spcBef>
                <a:spcPts val="810"/>
              </a:spcBef>
              <a:buClr>
                <a:srgbClr val="DD8046"/>
              </a:buClr>
              <a:buSzPct val="60416"/>
              <a:buFont typeface="Wingdings"/>
              <a:buChar char=""/>
              <a:tabLst>
                <a:tab pos="332105" algn="l"/>
              </a:tabLst>
            </a:pPr>
            <a:r>
              <a:rPr lang="es-CO" sz="2400" spc="-160" noProof="0" dirty="0">
                <a:latin typeface="Microsoft Sans Serif"/>
                <a:cs typeface="Microsoft Sans Serif"/>
              </a:rPr>
              <a:t>Elegidos</a:t>
            </a:r>
            <a:r>
              <a:rPr lang="es-CO" sz="2400" spc="-105" noProof="0" dirty="0">
                <a:latin typeface="Microsoft Sans Serif"/>
                <a:cs typeface="Microsoft Sans Serif"/>
              </a:rPr>
              <a:t> </a:t>
            </a:r>
            <a:r>
              <a:rPr lang="es-CO" sz="2400" spc="-135" noProof="0" dirty="0">
                <a:latin typeface="Microsoft Sans Serif"/>
                <a:cs typeface="Microsoft Sans Serif"/>
              </a:rPr>
              <a:t>con</a:t>
            </a:r>
            <a:r>
              <a:rPr lang="es-CO" sz="2400" spc="-190" noProof="0" dirty="0">
                <a:latin typeface="Microsoft Sans Serif"/>
                <a:cs typeface="Microsoft Sans Serif"/>
              </a:rPr>
              <a:t> </a:t>
            </a:r>
            <a:r>
              <a:rPr lang="es-CO" sz="2400" spc="-100" noProof="0" dirty="0">
                <a:latin typeface="Microsoft Sans Serif"/>
                <a:cs typeface="Microsoft Sans Serif"/>
              </a:rPr>
              <a:t>base</a:t>
            </a:r>
            <a:r>
              <a:rPr lang="es-CO" sz="2400" spc="-235" noProof="0" dirty="0">
                <a:latin typeface="Microsoft Sans Serif"/>
                <a:cs typeface="Microsoft Sans Serif"/>
              </a:rPr>
              <a:t> </a:t>
            </a:r>
            <a:r>
              <a:rPr lang="es-CO" sz="2400" noProof="0" dirty="0">
                <a:latin typeface="Microsoft Sans Serif"/>
                <a:cs typeface="Microsoft Sans Serif"/>
              </a:rPr>
              <a:t>al</a:t>
            </a:r>
            <a:r>
              <a:rPr lang="es-CO" sz="2400" spc="25" noProof="0" dirty="0">
                <a:latin typeface="Microsoft Sans Serif"/>
                <a:cs typeface="Microsoft Sans Serif"/>
              </a:rPr>
              <a:t> </a:t>
            </a:r>
            <a:r>
              <a:rPr lang="es-CO" sz="2400" spc="-10" noProof="0" dirty="0">
                <a:latin typeface="Microsoft Sans Serif"/>
                <a:cs typeface="Microsoft Sans Serif"/>
              </a:rPr>
              <a:t>problema</a:t>
            </a:r>
            <a:endParaRPr lang="es-CO" sz="2400" noProof="0" dirty="0">
              <a:latin typeface="Microsoft Sans Serif"/>
              <a:cs typeface="Microsoft Sans Serif"/>
            </a:endParaRPr>
          </a:p>
          <a:p>
            <a:pPr marL="332105" indent="-319405">
              <a:lnSpc>
                <a:spcPct val="100000"/>
              </a:lnSpc>
              <a:spcBef>
                <a:spcPts val="715"/>
              </a:spcBef>
              <a:buClr>
                <a:srgbClr val="DD8046"/>
              </a:buClr>
              <a:buSzPct val="60416"/>
              <a:buFont typeface="Wingdings"/>
              <a:buChar char=""/>
              <a:tabLst>
                <a:tab pos="332105" algn="l"/>
              </a:tabLst>
            </a:pPr>
            <a:r>
              <a:rPr lang="es-CO" sz="2400" spc="-80" noProof="0" dirty="0">
                <a:latin typeface="Microsoft Sans Serif"/>
                <a:cs typeface="Microsoft Sans Serif"/>
              </a:rPr>
              <a:t>Medidas</a:t>
            </a:r>
            <a:r>
              <a:rPr lang="es-CO" sz="2400" spc="-290" noProof="0" dirty="0">
                <a:latin typeface="Microsoft Sans Serif"/>
                <a:cs typeface="Microsoft Sans Serif"/>
              </a:rPr>
              <a:t> </a:t>
            </a:r>
            <a:r>
              <a:rPr lang="es-CO" sz="2400" spc="-150" noProof="0" dirty="0">
                <a:latin typeface="Microsoft Sans Serif"/>
                <a:cs typeface="Microsoft Sans Serif"/>
              </a:rPr>
              <a:t>subjetivas</a:t>
            </a:r>
            <a:r>
              <a:rPr lang="es-CO" sz="2400" spc="-110" noProof="0" dirty="0">
                <a:latin typeface="Microsoft Sans Serif"/>
                <a:cs typeface="Microsoft Sans Serif"/>
              </a:rPr>
              <a:t> </a:t>
            </a:r>
            <a:r>
              <a:rPr lang="es-CO" sz="2400" noProof="0" dirty="0">
                <a:latin typeface="Microsoft Sans Serif"/>
                <a:cs typeface="Microsoft Sans Serif"/>
              </a:rPr>
              <a:t>y</a:t>
            </a:r>
            <a:r>
              <a:rPr lang="es-CO" sz="2400" spc="65" noProof="0" dirty="0">
                <a:latin typeface="Microsoft Sans Serif"/>
                <a:cs typeface="Microsoft Sans Serif"/>
              </a:rPr>
              <a:t> </a:t>
            </a:r>
            <a:r>
              <a:rPr lang="es-CO" sz="2400" spc="-90" noProof="0" dirty="0">
                <a:latin typeface="Microsoft Sans Serif"/>
                <a:cs typeface="Microsoft Sans Serif"/>
              </a:rPr>
              <a:t>objetivas</a:t>
            </a:r>
            <a:endParaRPr lang="es-CO" sz="2400" noProof="0" dirty="0">
              <a:latin typeface="Microsoft Sans Serif"/>
              <a:cs typeface="Microsoft Sans Serif"/>
            </a:endParaRPr>
          </a:p>
        </p:txBody>
      </p:sp>
    </p:spTree>
    <p:extLst>
      <p:ext uri="{BB962C8B-B14F-4D97-AF65-F5344CB8AC3E}">
        <p14:creationId xmlns:p14="http://schemas.microsoft.com/office/powerpoint/2010/main" val="3242832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268224"/>
            <a:ext cx="10972800" cy="755904"/>
          </a:xfrm>
          <a:prstGeom prst="rect">
            <a:avLst/>
          </a:prstGeom>
          <a:noFill/>
          <a:ln/>
        </p:spPr>
        <p:txBody>
          <a:bodyPr wrap="square" lIns="0" tIns="0" rIns="0" bIns="0" rtlCol="0" anchor="ctr"/>
          <a:lstStyle/>
          <a:p>
            <a:r>
              <a:rPr lang="en-US" sz="4533" b="1" dirty="0">
                <a:solidFill>
                  <a:schemeClr val="accent1">
                    <a:lumMod val="50000"/>
                  </a:schemeClr>
                </a:solidFill>
                <a:latin typeface="Calibri" pitchFamily="34" charset="0"/>
                <a:ea typeface="Calibri" pitchFamily="34" charset="-122"/>
                <a:cs typeface="Calibri" pitchFamily="34" charset="-120"/>
              </a:rPr>
              <a:t>Selección de Datos</a:t>
            </a:r>
            <a:endParaRPr lang="en-US" sz="4533" dirty="0">
              <a:solidFill>
                <a:schemeClr val="accent1">
                  <a:lumMod val="50000"/>
                </a:schemeClr>
              </a:solidFill>
            </a:endParaRPr>
          </a:p>
        </p:txBody>
      </p:sp>
      <p:sp>
        <p:nvSpPr>
          <p:cNvPr id="4" name="Text 2"/>
          <p:cNvSpPr/>
          <p:nvPr/>
        </p:nvSpPr>
        <p:spPr>
          <a:xfrm>
            <a:off x="609600" y="1731264"/>
            <a:ext cx="5364480" cy="316992"/>
          </a:xfrm>
          <a:prstGeom prst="rect">
            <a:avLst/>
          </a:prstGeom>
          <a:noFill/>
          <a:ln/>
        </p:spPr>
        <p:txBody>
          <a:bodyPr wrap="square" lIns="0" tIns="0" rIns="0" bIns="0" rtlCol="0" anchor="ctr"/>
          <a:lstStyle/>
          <a:p>
            <a:r>
              <a:rPr lang="en-US" sz="1267" b="1" spc="200" dirty="0">
                <a:solidFill>
                  <a:schemeClr val="accent5">
                    <a:lumMod val="75000"/>
                  </a:schemeClr>
                </a:solidFill>
                <a:latin typeface="Calibri" pitchFamily="34" charset="0"/>
                <a:ea typeface="Calibri" pitchFamily="34" charset="-122"/>
                <a:cs typeface="Calibri" pitchFamily="34" charset="-120"/>
              </a:rPr>
              <a:t>DIMENSIONES DE SELECCIÓN</a:t>
            </a:r>
            <a:endParaRPr lang="en-US" sz="1267" dirty="0">
              <a:solidFill>
                <a:schemeClr val="accent5">
                  <a:lumMod val="75000"/>
                </a:schemeClr>
              </a:solidFill>
            </a:endParaRPr>
          </a:p>
        </p:txBody>
      </p:sp>
      <p:sp>
        <p:nvSpPr>
          <p:cNvPr id="5" name="Text 3"/>
          <p:cNvSpPr/>
          <p:nvPr/>
        </p:nvSpPr>
        <p:spPr>
          <a:xfrm>
            <a:off x="6339840" y="1731264"/>
            <a:ext cx="5547360" cy="316992"/>
          </a:xfrm>
          <a:prstGeom prst="rect">
            <a:avLst/>
          </a:prstGeom>
          <a:noFill/>
          <a:ln/>
        </p:spPr>
        <p:txBody>
          <a:bodyPr wrap="square" lIns="0" tIns="0" rIns="0" bIns="0" rtlCol="0" anchor="ctr"/>
          <a:lstStyle/>
          <a:p>
            <a:r>
              <a:rPr lang="en-US" sz="1267" b="1" spc="200" dirty="0">
                <a:solidFill>
                  <a:schemeClr val="accent5">
                    <a:lumMod val="75000"/>
                  </a:schemeClr>
                </a:solidFill>
                <a:latin typeface="Calibri" pitchFamily="34" charset="0"/>
                <a:ea typeface="Calibri" pitchFamily="34" charset="-122"/>
                <a:cs typeface="Calibri" pitchFamily="34" charset="-120"/>
              </a:rPr>
              <a:t>CRITERIOS DE SELECCIÓN</a:t>
            </a:r>
            <a:endParaRPr lang="en-US" sz="1267" dirty="0">
              <a:solidFill>
                <a:schemeClr val="accent5">
                  <a:lumMod val="75000"/>
                </a:schemeClr>
              </a:solidFill>
            </a:endParaRPr>
          </a:p>
        </p:txBody>
      </p:sp>
      <p:sp>
        <p:nvSpPr>
          <p:cNvPr id="6" name="Shape 4"/>
          <p:cNvSpPr/>
          <p:nvPr/>
        </p:nvSpPr>
        <p:spPr>
          <a:xfrm>
            <a:off x="609600" y="2121408"/>
            <a:ext cx="5364480" cy="1487424"/>
          </a:xfrm>
          <a:prstGeom prst="roundRect">
            <a:avLst>
              <a:gd name="adj" fmla="val 8197"/>
            </a:avLst>
          </a:prstGeom>
          <a:solidFill>
            <a:srgbClr val="0D4A6E"/>
          </a:solidFill>
          <a:ln/>
          <a:effectLst>
            <a:outerShdw blurRad="101600" dist="38100" dir="2700000" algn="bl" rotWithShape="0">
              <a:srgbClr val="000000">
                <a:alpha val="20000"/>
              </a:srgbClr>
            </a:outerShdw>
          </a:effectLst>
        </p:spPr>
        <p:txBody>
          <a:bodyPr/>
          <a:lstStyle/>
          <a:p>
            <a:endParaRPr lang="es-CO" sz="1867"/>
          </a:p>
        </p:txBody>
      </p:sp>
      <p:sp>
        <p:nvSpPr>
          <p:cNvPr id="7" name="Text 5"/>
          <p:cNvSpPr/>
          <p:nvPr/>
        </p:nvSpPr>
        <p:spPr>
          <a:xfrm>
            <a:off x="829056" y="2182368"/>
            <a:ext cx="4925568" cy="390144"/>
          </a:xfrm>
          <a:prstGeom prst="rect">
            <a:avLst/>
          </a:prstGeom>
          <a:noFill/>
          <a:ln/>
        </p:spPr>
        <p:txBody>
          <a:bodyPr wrap="square" rtlCol="0" anchor="ctr"/>
          <a:lstStyle/>
          <a:p>
            <a:r>
              <a:rPr lang="en-US" sz="1733" b="1" dirty="0">
                <a:solidFill>
                  <a:srgbClr val="7ECEF0"/>
                </a:solidFill>
                <a:latin typeface="Calibri" pitchFamily="34" charset="0"/>
                <a:ea typeface="Calibri" pitchFamily="34" charset="-122"/>
                <a:cs typeface="Calibri" pitchFamily="34" charset="-120"/>
              </a:rPr>
              <a:t>Selección de instancias (filas)</a:t>
            </a:r>
            <a:endParaRPr lang="en-US" sz="1733" dirty="0"/>
          </a:p>
        </p:txBody>
      </p:sp>
      <p:sp>
        <p:nvSpPr>
          <p:cNvPr id="8" name="Text 6"/>
          <p:cNvSpPr/>
          <p:nvPr/>
        </p:nvSpPr>
        <p:spPr>
          <a:xfrm>
            <a:off x="829056" y="2596896"/>
            <a:ext cx="4925568" cy="914400"/>
          </a:xfrm>
          <a:prstGeom prst="rect">
            <a:avLst/>
          </a:prstGeom>
          <a:noFill/>
          <a:ln/>
        </p:spPr>
        <p:txBody>
          <a:bodyPr wrap="square" rtlCol="0" anchor="ctr"/>
          <a:lstStyle/>
          <a:p>
            <a:r>
              <a:rPr lang="en-US" sz="1533" dirty="0">
                <a:solidFill>
                  <a:srgbClr val="CDEAF7"/>
                </a:solidFill>
                <a:latin typeface="Calibri" pitchFamily="34" charset="0"/>
                <a:ea typeface="Calibri" pitchFamily="34" charset="-122"/>
                <a:cs typeface="Calibri" pitchFamily="34" charset="-120"/>
              </a:rPr>
              <a:t>Filtrar los registros relevantes al problema: período de tiempo, región geográfica, segmento de clientes, etc.</a:t>
            </a:r>
            <a:endParaRPr lang="en-US" sz="1533" dirty="0"/>
          </a:p>
        </p:txBody>
      </p:sp>
      <p:sp>
        <p:nvSpPr>
          <p:cNvPr id="9" name="Shape 7"/>
          <p:cNvSpPr/>
          <p:nvPr/>
        </p:nvSpPr>
        <p:spPr>
          <a:xfrm>
            <a:off x="609600" y="3718560"/>
            <a:ext cx="5364480" cy="1487424"/>
          </a:xfrm>
          <a:prstGeom prst="roundRect">
            <a:avLst>
              <a:gd name="adj" fmla="val 8197"/>
            </a:avLst>
          </a:prstGeom>
          <a:solidFill>
            <a:srgbClr val="0D4A6E"/>
          </a:solidFill>
          <a:ln/>
          <a:effectLst>
            <a:outerShdw blurRad="101600" dist="38100" dir="2700000" algn="bl" rotWithShape="0">
              <a:srgbClr val="000000">
                <a:alpha val="20000"/>
              </a:srgbClr>
            </a:outerShdw>
          </a:effectLst>
        </p:spPr>
        <p:txBody>
          <a:bodyPr/>
          <a:lstStyle/>
          <a:p>
            <a:endParaRPr lang="es-CO" sz="1867"/>
          </a:p>
        </p:txBody>
      </p:sp>
      <p:sp>
        <p:nvSpPr>
          <p:cNvPr id="10" name="Text 8"/>
          <p:cNvSpPr/>
          <p:nvPr/>
        </p:nvSpPr>
        <p:spPr>
          <a:xfrm>
            <a:off x="829056" y="3779520"/>
            <a:ext cx="4925568" cy="390144"/>
          </a:xfrm>
          <a:prstGeom prst="rect">
            <a:avLst/>
          </a:prstGeom>
          <a:noFill/>
          <a:ln/>
        </p:spPr>
        <p:txBody>
          <a:bodyPr wrap="square" rtlCol="0" anchor="ctr"/>
          <a:lstStyle/>
          <a:p>
            <a:r>
              <a:rPr lang="en-US" sz="1733" b="1" dirty="0">
                <a:solidFill>
                  <a:srgbClr val="7ECEF0"/>
                </a:solidFill>
                <a:latin typeface="Calibri" pitchFamily="34" charset="0"/>
                <a:ea typeface="Calibri" pitchFamily="34" charset="-122"/>
                <a:cs typeface="Calibri" pitchFamily="34" charset="-120"/>
              </a:rPr>
              <a:t>Selección de atributos (columnas)</a:t>
            </a:r>
            <a:endParaRPr lang="en-US" sz="1733" dirty="0"/>
          </a:p>
        </p:txBody>
      </p:sp>
      <p:sp>
        <p:nvSpPr>
          <p:cNvPr id="11" name="Text 9"/>
          <p:cNvSpPr/>
          <p:nvPr/>
        </p:nvSpPr>
        <p:spPr>
          <a:xfrm>
            <a:off x="829056" y="4194048"/>
            <a:ext cx="4925568" cy="914400"/>
          </a:xfrm>
          <a:prstGeom prst="rect">
            <a:avLst/>
          </a:prstGeom>
          <a:noFill/>
          <a:ln/>
        </p:spPr>
        <p:txBody>
          <a:bodyPr wrap="square" rtlCol="0" anchor="ctr"/>
          <a:lstStyle/>
          <a:p>
            <a:r>
              <a:rPr lang="en-US" sz="1533" dirty="0">
                <a:solidFill>
                  <a:srgbClr val="CDEAF7"/>
                </a:solidFill>
                <a:latin typeface="Calibri" pitchFamily="34" charset="0"/>
                <a:ea typeface="Calibri" pitchFamily="34" charset="-122"/>
                <a:cs typeface="Calibri" pitchFamily="34" charset="-120"/>
              </a:rPr>
              <a:t>Elegir las variables pertinentes al problema. Descartar identificadores, variables con muchos nulos o sin poder explicativo.</a:t>
            </a:r>
            <a:endParaRPr lang="en-US" sz="1533" dirty="0"/>
          </a:p>
        </p:txBody>
      </p:sp>
      <p:sp>
        <p:nvSpPr>
          <p:cNvPr id="12" name="Shape 10"/>
          <p:cNvSpPr/>
          <p:nvPr/>
        </p:nvSpPr>
        <p:spPr>
          <a:xfrm>
            <a:off x="6339840" y="2121408"/>
            <a:ext cx="5547360" cy="1487424"/>
          </a:xfrm>
          <a:prstGeom prst="roundRect">
            <a:avLst>
              <a:gd name="adj" fmla="val 8197"/>
            </a:avLst>
          </a:prstGeom>
          <a:solidFill>
            <a:srgbClr val="14532D"/>
          </a:solidFill>
          <a:ln/>
          <a:effectLst>
            <a:outerShdw blurRad="101600" dist="38100" dir="2700000" algn="bl" rotWithShape="0">
              <a:srgbClr val="000000">
                <a:alpha val="20000"/>
              </a:srgbClr>
            </a:outerShdw>
          </a:effectLst>
        </p:spPr>
        <p:txBody>
          <a:bodyPr/>
          <a:lstStyle/>
          <a:p>
            <a:endParaRPr lang="es-CO" sz="1867"/>
          </a:p>
        </p:txBody>
      </p:sp>
      <p:sp>
        <p:nvSpPr>
          <p:cNvPr id="13" name="Text 11"/>
          <p:cNvSpPr/>
          <p:nvPr/>
        </p:nvSpPr>
        <p:spPr>
          <a:xfrm>
            <a:off x="6559296" y="2182368"/>
            <a:ext cx="5096256" cy="390144"/>
          </a:xfrm>
          <a:prstGeom prst="rect">
            <a:avLst/>
          </a:prstGeom>
          <a:noFill/>
          <a:ln/>
        </p:spPr>
        <p:txBody>
          <a:bodyPr wrap="square" rtlCol="0" anchor="ctr"/>
          <a:lstStyle/>
          <a:p>
            <a:r>
              <a:rPr lang="en-US" sz="1733" b="1" dirty="0">
                <a:solidFill>
                  <a:srgbClr val="6EE7B7"/>
                </a:solidFill>
                <a:latin typeface="Calibri" pitchFamily="34" charset="0"/>
                <a:ea typeface="Calibri" pitchFamily="34" charset="-122"/>
                <a:cs typeface="Calibri" pitchFamily="34" charset="-120"/>
              </a:rPr>
              <a:t>Medida Subjetiva</a:t>
            </a:r>
            <a:endParaRPr lang="en-US" sz="1733" dirty="0"/>
          </a:p>
        </p:txBody>
      </p:sp>
      <p:sp>
        <p:nvSpPr>
          <p:cNvPr id="14" name="Text 12"/>
          <p:cNvSpPr/>
          <p:nvPr/>
        </p:nvSpPr>
        <p:spPr>
          <a:xfrm>
            <a:off x="6559296" y="2596896"/>
            <a:ext cx="5096256" cy="341376"/>
          </a:xfrm>
          <a:prstGeom prst="rect">
            <a:avLst/>
          </a:prstGeom>
          <a:noFill/>
          <a:ln/>
        </p:spPr>
        <p:txBody>
          <a:bodyPr wrap="square" rtlCol="0" anchor="ctr"/>
          <a:lstStyle/>
          <a:p>
            <a:r>
              <a:rPr lang="en-US" sz="1533" dirty="0">
                <a:solidFill>
                  <a:srgbClr val="D1FAE5"/>
                </a:solidFill>
                <a:latin typeface="Calibri" pitchFamily="34" charset="0"/>
                <a:ea typeface="Calibri" pitchFamily="34" charset="-122"/>
                <a:cs typeface="Calibri" pitchFamily="34" charset="-120"/>
              </a:rPr>
              <a:t>Basada en el conocimiento del experto del dominio.</a:t>
            </a:r>
            <a:endParaRPr lang="en-US" sz="1533" dirty="0"/>
          </a:p>
        </p:txBody>
      </p:sp>
      <p:sp>
        <p:nvSpPr>
          <p:cNvPr id="15" name="Text 13"/>
          <p:cNvSpPr/>
          <p:nvPr/>
        </p:nvSpPr>
        <p:spPr>
          <a:xfrm>
            <a:off x="6559296" y="2962656"/>
            <a:ext cx="5096256" cy="548640"/>
          </a:xfrm>
          <a:prstGeom prst="rect">
            <a:avLst/>
          </a:prstGeom>
          <a:noFill/>
          <a:ln/>
        </p:spPr>
        <p:txBody>
          <a:bodyPr wrap="square" rtlCol="0" anchor="ctr"/>
          <a:lstStyle/>
          <a:p>
            <a:r>
              <a:rPr lang="en-US" sz="1467" i="1" dirty="0">
                <a:solidFill>
                  <a:srgbClr val="A7F3D0"/>
                </a:solidFill>
                <a:latin typeface="Calibri" pitchFamily="34" charset="0"/>
                <a:ea typeface="Calibri" pitchFamily="34" charset="-122"/>
                <a:cs typeface="Calibri" pitchFamily="34" charset="-120"/>
              </a:rPr>
              <a:t>Ej.: Un médico decide qué síntomas son clínicamente relevantes para el diagnóstico.</a:t>
            </a:r>
            <a:endParaRPr lang="en-US" sz="1467" dirty="0"/>
          </a:p>
        </p:txBody>
      </p:sp>
      <p:sp>
        <p:nvSpPr>
          <p:cNvPr id="16" name="Shape 14"/>
          <p:cNvSpPr/>
          <p:nvPr/>
        </p:nvSpPr>
        <p:spPr>
          <a:xfrm>
            <a:off x="6339840" y="3718560"/>
            <a:ext cx="5547360" cy="1487424"/>
          </a:xfrm>
          <a:prstGeom prst="roundRect">
            <a:avLst>
              <a:gd name="adj" fmla="val 8197"/>
            </a:avLst>
          </a:prstGeom>
          <a:solidFill>
            <a:srgbClr val="1E3A5F"/>
          </a:solidFill>
          <a:ln/>
          <a:effectLst>
            <a:outerShdw blurRad="101600" dist="38100" dir="2700000" algn="bl" rotWithShape="0">
              <a:srgbClr val="000000">
                <a:alpha val="20000"/>
              </a:srgbClr>
            </a:outerShdw>
          </a:effectLst>
        </p:spPr>
        <p:txBody>
          <a:bodyPr/>
          <a:lstStyle/>
          <a:p>
            <a:endParaRPr lang="es-CO" sz="1867"/>
          </a:p>
        </p:txBody>
      </p:sp>
      <p:sp>
        <p:nvSpPr>
          <p:cNvPr id="17" name="Text 15"/>
          <p:cNvSpPr/>
          <p:nvPr/>
        </p:nvSpPr>
        <p:spPr>
          <a:xfrm>
            <a:off x="6559296" y="3779520"/>
            <a:ext cx="5096256" cy="390144"/>
          </a:xfrm>
          <a:prstGeom prst="rect">
            <a:avLst/>
          </a:prstGeom>
          <a:noFill/>
          <a:ln/>
        </p:spPr>
        <p:txBody>
          <a:bodyPr wrap="square" rtlCol="0" anchor="ctr"/>
          <a:lstStyle/>
          <a:p>
            <a:r>
              <a:rPr lang="en-US" sz="1733" b="1" dirty="0">
                <a:solidFill>
                  <a:srgbClr val="93C5FD"/>
                </a:solidFill>
                <a:latin typeface="Calibri" pitchFamily="34" charset="0"/>
                <a:ea typeface="Calibri" pitchFamily="34" charset="-122"/>
                <a:cs typeface="Calibri" pitchFamily="34" charset="-120"/>
              </a:rPr>
              <a:t>Medida Objetiva</a:t>
            </a:r>
            <a:endParaRPr lang="en-US" sz="1733" dirty="0"/>
          </a:p>
        </p:txBody>
      </p:sp>
      <p:sp>
        <p:nvSpPr>
          <p:cNvPr id="18" name="Text 16"/>
          <p:cNvSpPr/>
          <p:nvPr/>
        </p:nvSpPr>
        <p:spPr>
          <a:xfrm>
            <a:off x="6559296" y="4194048"/>
            <a:ext cx="5096256" cy="341376"/>
          </a:xfrm>
          <a:prstGeom prst="rect">
            <a:avLst/>
          </a:prstGeom>
          <a:noFill/>
          <a:ln/>
        </p:spPr>
        <p:txBody>
          <a:bodyPr wrap="square" rtlCol="0" anchor="ctr"/>
          <a:lstStyle/>
          <a:p>
            <a:r>
              <a:rPr lang="en-US" sz="1533" dirty="0">
                <a:solidFill>
                  <a:srgbClr val="DBEAFE"/>
                </a:solidFill>
                <a:latin typeface="Calibri" pitchFamily="34" charset="0"/>
                <a:ea typeface="Calibri" pitchFamily="34" charset="-122"/>
                <a:cs typeface="Calibri" pitchFamily="34" charset="-120"/>
              </a:rPr>
              <a:t>Basada en métodos estadísticos y computacionales.</a:t>
            </a:r>
            <a:endParaRPr lang="en-US" sz="1533" dirty="0"/>
          </a:p>
        </p:txBody>
      </p:sp>
      <p:sp>
        <p:nvSpPr>
          <p:cNvPr id="19" name="Text 17"/>
          <p:cNvSpPr/>
          <p:nvPr/>
        </p:nvSpPr>
        <p:spPr>
          <a:xfrm>
            <a:off x="6559296" y="4559808"/>
            <a:ext cx="5096256" cy="548640"/>
          </a:xfrm>
          <a:prstGeom prst="rect">
            <a:avLst/>
          </a:prstGeom>
          <a:noFill/>
          <a:ln/>
        </p:spPr>
        <p:txBody>
          <a:bodyPr wrap="square" rtlCol="0" anchor="ctr"/>
          <a:lstStyle/>
          <a:p>
            <a:r>
              <a:rPr lang="en-US" sz="1467" i="1" dirty="0">
                <a:solidFill>
                  <a:srgbClr val="BFDBFE"/>
                </a:solidFill>
                <a:latin typeface="Calibri" pitchFamily="34" charset="0"/>
                <a:ea typeface="Calibri" pitchFamily="34" charset="-122"/>
                <a:cs typeface="Calibri" pitchFamily="34" charset="-120"/>
              </a:rPr>
              <a:t>Ej.: Correlación, varianza, ganancia de información, Chi-cuadrado.</a:t>
            </a:r>
            <a:endParaRPr lang="en-US" sz="1467" dirty="0"/>
          </a:p>
        </p:txBody>
      </p:sp>
      <p:sp>
        <p:nvSpPr>
          <p:cNvPr id="20" name="Shape 18"/>
          <p:cNvSpPr/>
          <p:nvPr/>
        </p:nvSpPr>
        <p:spPr>
          <a:xfrm>
            <a:off x="251791" y="5916566"/>
            <a:ext cx="11732945" cy="755904"/>
          </a:xfrm>
          <a:prstGeom prst="roundRect">
            <a:avLst>
              <a:gd name="adj" fmla="val 12903"/>
            </a:avLst>
          </a:prstGeom>
          <a:solidFill>
            <a:srgbClr val="4C1D95"/>
          </a:solidFill>
          <a:ln/>
        </p:spPr>
        <p:txBody>
          <a:bodyPr/>
          <a:lstStyle/>
          <a:p>
            <a:endParaRPr lang="es-CO" sz="1867"/>
          </a:p>
        </p:txBody>
      </p:sp>
      <p:sp>
        <p:nvSpPr>
          <p:cNvPr id="21" name="Text 19"/>
          <p:cNvSpPr/>
          <p:nvPr/>
        </p:nvSpPr>
        <p:spPr>
          <a:xfrm>
            <a:off x="490173" y="6001910"/>
            <a:ext cx="11348259" cy="585216"/>
          </a:xfrm>
          <a:prstGeom prst="rect">
            <a:avLst/>
          </a:prstGeom>
          <a:noFill/>
          <a:ln/>
        </p:spPr>
        <p:txBody>
          <a:bodyPr wrap="square" rtlCol="0" anchor="ctr"/>
          <a:lstStyle/>
          <a:p>
            <a:pPr algn="ctr"/>
            <a:r>
              <a:rPr lang="en-US" sz="1533" i="1" dirty="0">
                <a:solidFill>
                  <a:srgbClr val="DDD6FE"/>
                </a:solidFill>
                <a:latin typeface="Calibri" pitchFamily="34" charset="0"/>
                <a:ea typeface="Calibri" pitchFamily="34" charset="-122"/>
                <a:cs typeface="Calibri" pitchFamily="34" charset="-120"/>
              </a:rPr>
              <a:t>Una selección incorrecta de variables es una de las causas más frecuentes de modelos de baja calidad en minería de datos.</a:t>
            </a:r>
            <a:endParaRPr lang="en-US" sz="1533"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548640" y="274320"/>
            <a:ext cx="11216640" cy="670560"/>
          </a:xfrm>
          <a:prstGeom prst="roundRect">
            <a:avLst>
              <a:gd name="adj" fmla="val 12727"/>
            </a:avLst>
          </a:prstGeom>
          <a:solidFill>
            <a:srgbClr val="EBF5FB"/>
          </a:solidFill>
          <a:ln/>
        </p:spPr>
        <p:txBody>
          <a:bodyPr/>
          <a:lstStyle/>
          <a:p>
            <a:endParaRPr lang="es-CO" sz="1867"/>
          </a:p>
        </p:txBody>
      </p:sp>
      <p:sp>
        <p:nvSpPr>
          <p:cNvPr id="4" name="Text 2"/>
          <p:cNvSpPr/>
          <p:nvPr/>
        </p:nvSpPr>
        <p:spPr>
          <a:xfrm>
            <a:off x="670560" y="304800"/>
            <a:ext cx="10972800" cy="304800"/>
          </a:xfrm>
          <a:prstGeom prst="rect">
            <a:avLst/>
          </a:prstGeom>
          <a:noFill/>
          <a:ln/>
        </p:spPr>
        <p:txBody>
          <a:bodyPr wrap="square" rtlCol="0" anchor="ctr"/>
          <a:lstStyle/>
          <a:p>
            <a:r>
              <a:rPr lang="en-US" sz="1440" b="1" dirty="0">
                <a:solidFill>
                  <a:srgbClr val="1E293B"/>
                </a:solidFill>
                <a:latin typeface="Calibri" pitchFamily="34" charset="0"/>
                <a:ea typeface="Calibri" pitchFamily="34" charset="-122"/>
                <a:cs typeface="Calibri" pitchFamily="34" charset="-120"/>
              </a:rPr>
              <a:t>Dataset Titanic  </a:t>
            </a:r>
            <a:r>
              <a:rPr lang="en-US" sz="1440" dirty="0">
                <a:solidFill>
                  <a:srgbClr val="1C7293"/>
                </a:solidFill>
                <a:latin typeface="Calibri" pitchFamily="34" charset="0"/>
                <a:ea typeface="Calibri" pitchFamily="34" charset="-122"/>
                <a:cs typeface="Calibri" pitchFamily="34" charset="-120"/>
              </a:rPr>
              <a:t>·  12 variables  ·  1,309 pasajeros     </a:t>
            </a:r>
            <a:r>
              <a:rPr lang="en-US" sz="1440" b="1" dirty="0">
                <a:solidFill>
                  <a:srgbClr val="065A82"/>
                </a:solidFill>
                <a:latin typeface="Calibri" pitchFamily="34" charset="0"/>
                <a:ea typeface="Calibri" pitchFamily="34" charset="-122"/>
                <a:cs typeface="Calibri" pitchFamily="34" charset="-120"/>
              </a:rPr>
              <a:t>Prob. A:</a:t>
            </a:r>
            <a:r>
              <a:rPr lang="en-US" sz="1440" dirty="0">
                <a:solidFill>
                  <a:srgbClr val="1C7293"/>
                </a:solidFill>
                <a:latin typeface="Calibri" pitchFamily="34" charset="0"/>
                <a:ea typeface="Calibri" pitchFamily="34" charset="-122"/>
                <a:cs typeface="Calibri" pitchFamily="34" charset="-120"/>
              </a:rPr>
              <a:t> Predecir supervivencia     </a:t>
            </a:r>
            <a:r>
              <a:rPr lang="en-US" sz="1440" b="1" dirty="0">
                <a:solidFill>
                  <a:srgbClr val="065A82"/>
                </a:solidFill>
                <a:latin typeface="Calibri" pitchFamily="34" charset="0"/>
                <a:ea typeface="Calibri" pitchFamily="34" charset="-122"/>
                <a:cs typeface="Calibri" pitchFamily="34" charset="-120"/>
              </a:rPr>
              <a:t>Prob. B:</a:t>
            </a:r>
            <a:r>
              <a:rPr lang="en-US" sz="1440" dirty="0">
                <a:solidFill>
                  <a:srgbClr val="1C7293"/>
                </a:solidFill>
                <a:latin typeface="Calibri" pitchFamily="34" charset="0"/>
                <a:ea typeface="Calibri" pitchFamily="34" charset="-122"/>
                <a:cs typeface="Calibri" pitchFamily="34" charset="-120"/>
              </a:rPr>
              <a:t> Análisis de tarifa por clase y puerto</a:t>
            </a:r>
            <a:endParaRPr lang="en-US" sz="1440" dirty="0"/>
          </a:p>
        </p:txBody>
      </p:sp>
      <p:sp>
        <p:nvSpPr>
          <p:cNvPr id="5" name="Text 3"/>
          <p:cNvSpPr/>
          <p:nvPr/>
        </p:nvSpPr>
        <p:spPr>
          <a:xfrm>
            <a:off x="670560" y="621792"/>
            <a:ext cx="10972800" cy="268224"/>
          </a:xfrm>
          <a:prstGeom prst="rect">
            <a:avLst/>
          </a:prstGeom>
          <a:noFill/>
          <a:ln/>
        </p:spPr>
        <p:txBody>
          <a:bodyPr wrap="square" rtlCol="0" anchor="ctr"/>
          <a:lstStyle/>
          <a:p>
            <a:r>
              <a:rPr lang="en-US" sz="1333" b="1" dirty="0">
                <a:solidFill>
                  <a:srgbClr val="15803D"/>
                </a:solidFill>
                <a:latin typeface="Calibri" pitchFamily="34" charset="0"/>
                <a:ea typeface="Calibri" pitchFamily="34" charset="-122"/>
                <a:cs typeface="Calibri" pitchFamily="34" charset="-120"/>
              </a:rPr>
              <a:t>✓</a:t>
            </a:r>
            <a:r>
              <a:rPr lang="en-US" sz="1333" dirty="0">
                <a:solidFill>
                  <a:srgbClr val="15803D"/>
                </a:solidFill>
                <a:latin typeface="Calibri" pitchFamily="34" charset="0"/>
                <a:ea typeface="Calibri" pitchFamily="34" charset="-122"/>
                <a:cs typeface="Calibri" pitchFamily="34" charset="-120"/>
              </a:rPr>
              <a:t> Seleccionada   </a:t>
            </a:r>
            <a:r>
              <a:rPr lang="en-US" sz="1333" b="1" dirty="0">
                <a:solidFill>
                  <a:srgbClr val="1D4ED8"/>
                </a:solidFill>
                <a:latin typeface="Calibri" pitchFamily="34" charset="0"/>
                <a:ea typeface="Calibri" pitchFamily="34" charset="-122"/>
                <a:cs typeface="Calibri" pitchFamily="34" charset="-120"/>
              </a:rPr>
              <a:t>   Objetivo</a:t>
            </a:r>
            <a:r>
              <a:rPr lang="en-US" sz="1333" dirty="0">
                <a:solidFill>
                  <a:srgbClr val="1D4ED8"/>
                </a:solidFill>
                <a:latin typeface="Calibri" pitchFamily="34" charset="0"/>
                <a:ea typeface="Calibri" pitchFamily="34" charset="-122"/>
                <a:cs typeface="Calibri" pitchFamily="34" charset="-120"/>
              </a:rPr>
              <a:t> Variable a predecir   </a:t>
            </a:r>
            <a:r>
              <a:rPr lang="en-US" sz="1333" b="1" dirty="0">
                <a:solidFill>
                  <a:srgbClr val="94A3B8"/>
                </a:solidFill>
                <a:latin typeface="Calibri" pitchFamily="34" charset="0"/>
                <a:ea typeface="Calibri" pitchFamily="34" charset="-122"/>
                <a:cs typeface="Calibri" pitchFamily="34" charset="-120"/>
              </a:rPr>
              <a:t>   ✗</a:t>
            </a:r>
            <a:r>
              <a:rPr lang="en-US" sz="1333" dirty="0">
                <a:solidFill>
                  <a:srgbClr val="94A3B8"/>
                </a:solidFill>
                <a:latin typeface="Calibri" pitchFamily="34" charset="0"/>
                <a:ea typeface="Calibri" pitchFamily="34" charset="-122"/>
                <a:cs typeface="Calibri" pitchFamily="34" charset="-120"/>
              </a:rPr>
              <a:t> Descartada para ese problema</a:t>
            </a:r>
            <a:endParaRPr lang="en-US" sz="1333" dirty="0"/>
          </a:p>
        </p:txBody>
      </p:sp>
      <p:graphicFrame>
        <p:nvGraphicFramePr>
          <p:cNvPr id="6" name="Table 0"/>
          <p:cNvGraphicFramePr>
            <a:graphicFrameLocks noGrp="1"/>
          </p:cNvGraphicFramePr>
          <p:nvPr>
            <p:extLst>
              <p:ext uri="{D42A27DB-BD31-4B8C-83A1-F6EECF244321}">
                <p14:modId xmlns:p14="http://schemas.microsoft.com/office/powerpoint/2010/main" val="2907108362"/>
              </p:ext>
            </p:extLst>
          </p:nvPr>
        </p:nvGraphicFramePr>
        <p:xfrm>
          <a:off x="487680" y="1173480"/>
          <a:ext cx="11525417" cy="5505616"/>
        </p:xfrm>
        <a:graphic>
          <a:graphicData uri="http://schemas.openxmlformats.org/drawingml/2006/table">
            <a:tbl>
              <a:tblPr/>
              <a:tblGrid>
                <a:gridCol w="1941782">
                  <a:extLst>
                    <a:ext uri="{9D8B030D-6E8A-4147-A177-3AD203B41FA5}">
                      <a16:colId xmlns:a16="http://schemas.microsoft.com/office/drawing/2014/main" val="20000"/>
                    </a:ext>
                  </a:extLst>
                </a:gridCol>
                <a:gridCol w="4196755">
                  <a:extLst>
                    <a:ext uri="{9D8B030D-6E8A-4147-A177-3AD203B41FA5}">
                      <a16:colId xmlns:a16="http://schemas.microsoft.com/office/drawing/2014/main" val="20001"/>
                    </a:ext>
                  </a:extLst>
                </a:gridCol>
                <a:gridCol w="1691230">
                  <a:extLst>
                    <a:ext uri="{9D8B030D-6E8A-4147-A177-3AD203B41FA5}">
                      <a16:colId xmlns:a16="http://schemas.microsoft.com/office/drawing/2014/main" val="20002"/>
                    </a:ext>
                  </a:extLst>
                </a:gridCol>
                <a:gridCol w="1841561">
                  <a:extLst>
                    <a:ext uri="{9D8B030D-6E8A-4147-A177-3AD203B41FA5}">
                      <a16:colId xmlns:a16="http://schemas.microsoft.com/office/drawing/2014/main" val="20003"/>
                    </a:ext>
                  </a:extLst>
                </a:gridCol>
                <a:gridCol w="1854089">
                  <a:extLst>
                    <a:ext uri="{9D8B030D-6E8A-4147-A177-3AD203B41FA5}">
                      <a16:colId xmlns:a16="http://schemas.microsoft.com/office/drawing/2014/main" val="20004"/>
                    </a:ext>
                  </a:extLst>
                </a:gridCol>
              </a:tblGrid>
              <a:tr h="350068">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Variable</a:t>
                      </a:r>
                      <a:endParaRPr lang="en-US" sz="14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065A82"/>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Descripción</a:t>
                      </a:r>
                      <a:endParaRPr lang="en-US" sz="14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065A82"/>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Tipo</a:t>
                      </a:r>
                      <a:endParaRPr lang="en-US" sz="14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065A8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Prob. A</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065A82"/>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Prob. B</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429629">
                <a:tc>
                  <a:txBody>
                    <a:bodyPr/>
                    <a:lstStyle/>
                    <a:p>
                      <a:pPr marL="0" indent="0" algn="l">
                        <a:buNone/>
                      </a:pPr>
                      <a:r>
                        <a:rPr lang="en-US" sz="1300" b="1" dirty="0">
                          <a:solidFill>
                            <a:srgbClr val="94A3B8"/>
                          </a:solidFill>
                          <a:latin typeface="Calibri" pitchFamily="34" charset="0"/>
                          <a:ea typeface="Calibri" pitchFamily="34" charset="-122"/>
                          <a:cs typeface="Calibri" pitchFamily="34" charset="-120"/>
                        </a:rPr>
                        <a:t>PassengerId</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475569"/>
                          </a:solidFill>
                          <a:latin typeface="Calibri" pitchFamily="34" charset="0"/>
                          <a:ea typeface="Calibri" pitchFamily="34" charset="-122"/>
                          <a:cs typeface="Calibri" pitchFamily="34" charset="-120"/>
                        </a:rPr>
                        <a:t>Identificador único del pasajero</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475569"/>
                          </a:solidFill>
                          <a:latin typeface="Calibri" pitchFamily="34" charset="0"/>
                          <a:ea typeface="Calibri" pitchFamily="34" charset="-122"/>
                          <a:cs typeface="Calibri" pitchFamily="34" charset="-120"/>
                        </a:rPr>
                        <a:t>Numérica</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900" dirty="0">
                          <a:solidFill>
                            <a:srgbClr val="94A3B8"/>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900" dirty="0">
                          <a:solidFill>
                            <a:srgbClr val="94A3B8"/>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629">
                <a:tc>
                  <a:txBody>
                    <a:bodyPr/>
                    <a:lstStyle/>
                    <a:p>
                      <a:pPr marL="0" indent="0" algn="l">
                        <a:buNone/>
                      </a:pPr>
                      <a:r>
                        <a:rPr lang="en-US" sz="1300" b="1" dirty="0">
                          <a:solidFill>
                            <a:srgbClr val="065A82"/>
                          </a:solidFill>
                          <a:latin typeface="Calibri" pitchFamily="34" charset="0"/>
                          <a:ea typeface="Calibri" pitchFamily="34" charset="-122"/>
                          <a:cs typeface="Calibri" pitchFamily="34" charset="-120"/>
                        </a:rPr>
                        <a:t>Survived</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0F8FF"/>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¿Sobrevivió? (0 = No, 1 = Sí)</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0F8FF"/>
                    </a:solidFill>
                  </a:tcPr>
                </a:tc>
                <a:tc>
                  <a:txBody>
                    <a:bodyPr/>
                    <a:lstStyle/>
                    <a:p>
                      <a:pPr marL="0" indent="0" algn="ctr">
                        <a:buNone/>
                      </a:pPr>
                      <a:r>
                        <a:rPr lang="en-US" sz="1300" dirty="0">
                          <a:solidFill>
                            <a:srgbClr val="475569"/>
                          </a:solidFill>
                          <a:latin typeface="Calibri" pitchFamily="34" charset="0"/>
                          <a:ea typeface="Calibri" pitchFamily="34" charset="-122"/>
                          <a:cs typeface="Calibri" pitchFamily="34" charset="-120"/>
                        </a:rPr>
                        <a:t>Binaria</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0F8FF"/>
                    </a:solidFill>
                  </a:tcPr>
                </a:tc>
                <a:tc>
                  <a:txBody>
                    <a:bodyPr/>
                    <a:lstStyle/>
                    <a:p>
                      <a:pPr marL="0" indent="0" algn="ctr">
                        <a:buNone/>
                      </a:pPr>
                      <a:r>
                        <a:rPr lang="en-US" sz="1200" b="1" dirty="0">
                          <a:solidFill>
                            <a:srgbClr val="1D4ED8"/>
                          </a:solidFill>
                          <a:latin typeface="Calibri" pitchFamily="34" charset="0"/>
                          <a:ea typeface="Calibri" pitchFamily="34" charset="-122"/>
                          <a:cs typeface="Calibri" pitchFamily="34" charset="-120"/>
                        </a:rPr>
                        <a:t>Objetivo</a:t>
                      </a:r>
                      <a:endParaRPr lang="en-US" sz="12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DBEAFE"/>
                    </a:solidFill>
                  </a:tcPr>
                </a:tc>
                <a:tc>
                  <a:txBody>
                    <a:bodyPr/>
                    <a:lstStyle/>
                    <a:p>
                      <a:pPr marL="0" indent="0" algn="ctr">
                        <a:buNone/>
                      </a:pPr>
                      <a:r>
                        <a:rPr lang="en-US" sz="1900" dirty="0">
                          <a:solidFill>
                            <a:srgbClr val="94A3B8"/>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0F8FF"/>
                    </a:solidFill>
                  </a:tcPr>
                </a:tc>
                <a:extLst>
                  <a:ext uri="{0D108BD9-81ED-4DB2-BD59-A6C34878D82A}">
                    <a16:rowId xmlns:a16="http://schemas.microsoft.com/office/drawing/2014/main" val="10002"/>
                  </a:ext>
                </a:extLst>
              </a:tr>
              <a:tr h="429629">
                <a:tc>
                  <a:txBody>
                    <a:bodyPr/>
                    <a:lstStyle/>
                    <a:p>
                      <a:pPr marL="0" indent="0" algn="l">
                        <a:buNone/>
                      </a:pPr>
                      <a:r>
                        <a:rPr lang="en-US" sz="1300" b="1" dirty="0">
                          <a:solidFill>
                            <a:srgbClr val="065A82"/>
                          </a:solidFill>
                          <a:latin typeface="Calibri" pitchFamily="34" charset="0"/>
                          <a:ea typeface="Calibri" pitchFamily="34" charset="-122"/>
                          <a:cs typeface="Calibri" pitchFamily="34" charset="-120"/>
                        </a:rPr>
                        <a:t>Pclass</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Clase del pasajero (1, 2 ó 3)</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475569"/>
                          </a:solidFill>
                          <a:latin typeface="Calibri" pitchFamily="34" charset="0"/>
                          <a:ea typeface="Calibri" pitchFamily="34" charset="-122"/>
                          <a:cs typeface="Calibri" pitchFamily="34" charset="-120"/>
                        </a:rPr>
                        <a:t>Ordinal</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900" b="1" dirty="0">
                          <a:solidFill>
                            <a:srgbClr val="15803D"/>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DCFCE7"/>
                    </a:solidFill>
                  </a:tcPr>
                </a:tc>
                <a:tc>
                  <a:txBody>
                    <a:bodyPr/>
                    <a:lstStyle/>
                    <a:p>
                      <a:pPr marL="0" indent="0" algn="ctr">
                        <a:buNone/>
                      </a:pPr>
                      <a:r>
                        <a:rPr lang="en-US" sz="1900" b="1" dirty="0">
                          <a:solidFill>
                            <a:srgbClr val="15803D"/>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DCFCE7"/>
                    </a:solidFill>
                  </a:tcPr>
                </a:tc>
                <a:extLst>
                  <a:ext uri="{0D108BD9-81ED-4DB2-BD59-A6C34878D82A}">
                    <a16:rowId xmlns:a16="http://schemas.microsoft.com/office/drawing/2014/main" val="10003"/>
                  </a:ext>
                </a:extLst>
              </a:tr>
              <a:tr h="429629">
                <a:tc>
                  <a:txBody>
                    <a:bodyPr/>
                    <a:lstStyle/>
                    <a:p>
                      <a:pPr marL="0" indent="0" algn="l">
                        <a:buNone/>
                      </a:pPr>
                      <a:r>
                        <a:rPr lang="en-US" sz="1300" b="1" dirty="0">
                          <a:solidFill>
                            <a:srgbClr val="94A3B8"/>
                          </a:solidFill>
                          <a:latin typeface="Calibri" pitchFamily="34" charset="0"/>
                          <a:ea typeface="Calibri" pitchFamily="34" charset="-122"/>
                          <a:cs typeface="Calibri" pitchFamily="34" charset="-120"/>
                        </a:rPr>
                        <a:t>Name</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0F8FF"/>
                    </a:solidFill>
                  </a:tcPr>
                </a:tc>
                <a:tc>
                  <a:txBody>
                    <a:bodyPr/>
                    <a:lstStyle/>
                    <a:p>
                      <a:pPr marL="0" indent="0">
                        <a:buNone/>
                      </a:pPr>
                      <a:r>
                        <a:rPr lang="en-US" sz="1300" dirty="0">
                          <a:solidFill>
                            <a:srgbClr val="475569"/>
                          </a:solidFill>
                          <a:latin typeface="Calibri" pitchFamily="34" charset="0"/>
                          <a:ea typeface="Calibri" pitchFamily="34" charset="-122"/>
                          <a:cs typeface="Calibri" pitchFamily="34" charset="-120"/>
                        </a:rPr>
                        <a:t>Nombre completo del pasajero</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0F8FF"/>
                    </a:solidFill>
                  </a:tcPr>
                </a:tc>
                <a:tc>
                  <a:txBody>
                    <a:bodyPr/>
                    <a:lstStyle/>
                    <a:p>
                      <a:pPr marL="0" indent="0" algn="ctr">
                        <a:buNone/>
                      </a:pPr>
                      <a:r>
                        <a:rPr lang="en-US" sz="1300" dirty="0">
                          <a:solidFill>
                            <a:srgbClr val="475569"/>
                          </a:solidFill>
                          <a:latin typeface="Calibri" pitchFamily="34" charset="0"/>
                          <a:ea typeface="Calibri" pitchFamily="34" charset="-122"/>
                          <a:cs typeface="Calibri" pitchFamily="34" charset="-120"/>
                        </a:rPr>
                        <a:t>Nominal</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0F8FF"/>
                    </a:solidFill>
                  </a:tcPr>
                </a:tc>
                <a:tc>
                  <a:txBody>
                    <a:bodyPr/>
                    <a:lstStyle/>
                    <a:p>
                      <a:pPr marL="0" indent="0" algn="ctr">
                        <a:buNone/>
                      </a:pPr>
                      <a:r>
                        <a:rPr lang="en-US" sz="1900" dirty="0">
                          <a:solidFill>
                            <a:srgbClr val="94A3B8"/>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0F8FF"/>
                    </a:solidFill>
                  </a:tcPr>
                </a:tc>
                <a:tc>
                  <a:txBody>
                    <a:bodyPr/>
                    <a:lstStyle/>
                    <a:p>
                      <a:pPr marL="0" indent="0" algn="ctr">
                        <a:buNone/>
                      </a:pPr>
                      <a:r>
                        <a:rPr lang="en-US" sz="1900" dirty="0">
                          <a:solidFill>
                            <a:srgbClr val="94A3B8"/>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0F8FF"/>
                    </a:solidFill>
                  </a:tcPr>
                </a:tc>
                <a:extLst>
                  <a:ext uri="{0D108BD9-81ED-4DB2-BD59-A6C34878D82A}">
                    <a16:rowId xmlns:a16="http://schemas.microsoft.com/office/drawing/2014/main" val="10004"/>
                  </a:ext>
                </a:extLst>
              </a:tr>
              <a:tr h="429629">
                <a:tc>
                  <a:txBody>
                    <a:bodyPr/>
                    <a:lstStyle/>
                    <a:p>
                      <a:pPr marL="0" indent="0" algn="l">
                        <a:buNone/>
                      </a:pPr>
                      <a:r>
                        <a:rPr lang="en-US" sz="1300" b="1" dirty="0">
                          <a:solidFill>
                            <a:srgbClr val="065A82"/>
                          </a:solidFill>
                          <a:latin typeface="Calibri" pitchFamily="34" charset="0"/>
                          <a:ea typeface="Calibri" pitchFamily="34" charset="-122"/>
                          <a:cs typeface="Calibri" pitchFamily="34" charset="-120"/>
                        </a:rPr>
                        <a:t>Sex</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Sexo del pasajero</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475569"/>
                          </a:solidFill>
                          <a:latin typeface="Calibri" pitchFamily="34" charset="0"/>
                          <a:ea typeface="Calibri" pitchFamily="34" charset="-122"/>
                          <a:cs typeface="Calibri" pitchFamily="34" charset="-120"/>
                        </a:rPr>
                        <a:t>Binaria</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900" b="1" dirty="0">
                          <a:solidFill>
                            <a:srgbClr val="15803D"/>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DCFCE7"/>
                    </a:solidFill>
                  </a:tcPr>
                </a:tc>
                <a:tc>
                  <a:txBody>
                    <a:bodyPr/>
                    <a:lstStyle/>
                    <a:p>
                      <a:pPr marL="0" indent="0" algn="ctr">
                        <a:buNone/>
                      </a:pPr>
                      <a:r>
                        <a:rPr lang="en-US" sz="1900" dirty="0">
                          <a:solidFill>
                            <a:srgbClr val="94A3B8"/>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9629">
                <a:tc>
                  <a:txBody>
                    <a:bodyPr/>
                    <a:lstStyle/>
                    <a:p>
                      <a:pPr marL="0" indent="0" algn="l">
                        <a:buNone/>
                      </a:pPr>
                      <a:r>
                        <a:rPr lang="en-US" sz="1300" b="1" dirty="0">
                          <a:solidFill>
                            <a:srgbClr val="065A82"/>
                          </a:solidFill>
                          <a:latin typeface="Calibri" pitchFamily="34" charset="0"/>
                          <a:ea typeface="Calibri" pitchFamily="34" charset="-122"/>
                          <a:cs typeface="Calibri" pitchFamily="34" charset="-120"/>
                        </a:rPr>
                        <a:t>Age</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0F8FF"/>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Edad en años</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0F8FF"/>
                    </a:solidFill>
                  </a:tcPr>
                </a:tc>
                <a:tc>
                  <a:txBody>
                    <a:bodyPr/>
                    <a:lstStyle/>
                    <a:p>
                      <a:pPr marL="0" indent="0" algn="ctr">
                        <a:buNone/>
                      </a:pPr>
                      <a:r>
                        <a:rPr lang="en-US" sz="1300" dirty="0">
                          <a:solidFill>
                            <a:srgbClr val="475569"/>
                          </a:solidFill>
                          <a:latin typeface="Calibri" pitchFamily="34" charset="0"/>
                          <a:ea typeface="Calibri" pitchFamily="34" charset="-122"/>
                          <a:cs typeface="Calibri" pitchFamily="34" charset="-120"/>
                        </a:rPr>
                        <a:t>Continua</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0F8FF"/>
                    </a:solidFill>
                  </a:tcPr>
                </a:tc>
                <a:tc>
                  <a:txBody>
                    <a:bodyPr/>
                    <a:lstStyle/>
                    <a:p>
                      <a:pPr marL="0" indent="0" algn="ctr">
                        <a:buNone/>
                      </a:pPr>
                      <a:r>
                        <a:rPr lang="en-US" sz="1900" b="1" dirty="0">
                          <a:solidFill>
                            <a:srgbClr val="15803D"/>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DCFCE7"/>
                    </a:solidFill>
                  </a:tcPr>
                </a:tc>
                <a:tc>
                  <a:txBody>
                    <a:bodyPr/>
                    <a:lstStyle/>
                    <a:p>
                      <a:pPr marL="0" indent="0" algn="ctr">
                        <a:buNone/>
                      </a:pPr>
                      <a:r>
                        <a:rPr lang="en-US" sz="1900" dirty="0">
                          <a:solidFill>
                            <a:srgbClr val="94A3B8"/>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0F8FF"/>
                    </a:solidFill>
                  </a:tcPr>
                </a:tc>
                <a:extLst>
                  <a:ext uri="{0D108BD9-81ED-4DB2-BD59-A6C34878D82A}">
                    <a16:rowId xmlns:a16="http://schemas.microsoft.com/office/drawing/2014/main" val="10006"/>
                  </a:ext>
                </a:extLst>
              </a:tr>
              <a:tr h="429629">
                <a:tc>
                  <a:txBody>
                    <a:bodyPr/>
                    <a:lstStyle/>
                    <a:p>
                      <a:pPr marL="0" indent="0" algn="l">
                        <a:buNone/>
                      </a:pPr>
                      <a:r>
                        <a:rPr lang="en-US" sz="1300" b="1" dirty="0">
                          <a:solidFill>
                            <a:srgbClr val="065A82"/>
                          </a:solidFill>
                          <a:latin typeface="Calibri" pitchFamily="34" charset="0"/>
                          <a:ea typeface="Calibri" pitchFamily="34" charset="-122"/>
                          <a:cs typeface="Calibri" pitchFamily="34" charset="-120"/>
                        </a:rPr>
                        <a:t>SibSp</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Hermanos o cónyuge a bordo</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475569"/>
                          </a:solidFill>
                          <a:latin typeface="Calibri" pitchFamily="34" charset="0"/>
                          <a:ea typeface="Calibri" pitchFamily="34" charset="-122"/>
                          <a:cs typeface="Calibri" pitchFamily="34" charset="-120"/>
                        </a:rPr>
                        <a:t>Conteo</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900" b="1" dirty="0">
                          <a:solidFill>
                            <a:srgbClr val="15803D"/>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DCFCE7"/>
                    </a:solidFill>
                  </a:tcPr>
                </a:tc>
                <a:tc>
                  <a:txBody>
                    <a:bodyPr/>
                    <a:lstStyle/>
                    <a:p>
                      <a:pPr marL="0" indent="0" algn="ctr">
                        <a:buNone/>
                      </a:pPr>
                      <a:r>
                        <a:rPr lang="en-US" sz="1900" dirty="0">
                          <a:solidFill>
                            <a:srgbClr val="94A3B8"/>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29629">
                <a:tc>
                  <a:txBody>
                    <a:bodyPr/>
                    <a:lstStyle/>
                    <a:p>
                      <a:pPr marL="0" indent="0" algn="l">
                        <a:buNone/>
                      </a:pPr>
                      <a:r>
                        <a:rPr lang="en-US" sz="1300" b="1" dirty="0">
                          <a:solidFill>
                            <a:srgbClr val="065A82"/>
                          </a:solidFill>
                          <a:latin typeface="Calibri" pitchFamily="34" charset="0"/>
                          <a:ea typeface="Calibri" pitchFamily="34" charset="-122"/>
                          <a:cs typeface="Calibri" pitchFamily="34" charset="-120"/>
                        </a:rPr>
                        <a:t>Parch</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0F8FF"/>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Padres o hijos a bordo</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0F8FF"/>
                    </a:solidFill>
                  </a:tcPr>
                </a:tc>
                <a:tc>
                  <a:txBody>
                    <a:bodyPr/>
                    <a:lstStyle/>
                    <a:p>
                      <a:pPr marL="0" indent="0" algn="ctr">
                        <a:buNone/>
                      </a:pPr>
                      <a:r>
                        <a:rPr lang="en-US" sz="1300" dirty="0">
                          <a:solidFill>
                            <a:srgbClr val="475569"/>
                          </a:solidFill>
                          <a:latin typeface="Calibri" pitchFamily="34" charset="0"/>
                          <a:ea typeface="Calibri" pitchFamily="34" charset="-122"/>
                          <a:cs typeface="Calibri" pitchFamily="34" charset="-120"/>
                        </a:rPr>
                        <a:t>Conteo</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0F8FF"/>
                    </a:solidFill>
                  </a:tcPr>
                </a:tc>
                <a:tc>
                  <a:txBody>
                    <a:bodyPr/>
                    <a:lstStyle/>
                    <a:p>
                      <a:pPr marL="0" indent="0" algn="ctr">
                        <a:buNone/>
                      </a:pPr>
                      <a:r>
                        <a:rPr lang="en-US" sz="1900" b="1" dirty="0">
                          <a:solidFill>
                            <a:srgbClr val="15803D"/>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DCFCE7"/>
                    </a:solidFill>
                  </a:tcPr>
                </a:tc>
                <a:tc>
                  <a:txBody>
                    <a:bodyPr/>
                    <a:lstStyle/>
                    <a:p>
                      <a:pPr marL="0" indent="0" algn="ctr">
                        <a:buNone/>
                      </a:pPr>
                      <a:r>
                        <a:rPr lang="en-US" sz="1900" dirty="0">
                          <a:solidFill>
                            <a:srgbClr val="94A3B8"/>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0F8FF"/>
                    </a:solidFill>
                  </a:tcPr>
                </a:tc>
                <a:extLst>
                  <a:ext uri="{0D108BD9-81ED-4DB2-BD59-A6C34878D82A}">
                    <a16:rowId xmlns:a16="http://schemas.microsoft.com/office/drawing/2014/main" val="10008"/>
                  </a:ext>
                </a:extLst>
              </a:tr>
              <a:tr h="429629">
                <a:tc>
                  <a:txBody>
                    <a:bodyPr/>
                    <a:lstStyle/>
                    <a:p>
                      <a:pPr marL="0" indent="0" algn="l">
                        <a:buNone/>
                      </a:pPr>
                      <a:r>
                        <a:rPr lang="en-US" sz="1300" b="1" dirty="0">
                          <a:solidFill>
                            <a:srgbClr val="94A3B8"/>
                          </a:solidFill>
                          <a:latin typeface="Calibri" pitchFamily="34" charset="0"/>
                          <a:ea typeface="Calibri" pitchFamily="34" charset="-122"/>
                          <a:cs typeface="Calibri" pitchFamily="34" charset="-120"/>
                        </a:rPr>
                        <a:t>Ticket</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475569"/>
                          </a:solidFill>
                          <a:latin typeface="Calibri" pitchFamily="34" charset="0"/>
                          <a:ea typeface="Calibri" pitchFamily="34" charset="-122"/>
                          <a:cs typeface="Calibri" pitchFamily="34" charset="-120"/>
                        </a:rPr>
                        <a:t>Número de ticket (código arbitrario)</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475569"/>
                          </a:solidFill>
                          <a:latin typeface="Calibri" pitchFamily="34" charset="0"/>
                          <a:ea typeface="Calibri" pitchFamily="34" charset="-122"/>
                          <a:cs typeface="Calibri" pitchFamily="34" charset="-120"/>
                        </a:rPr>
                        <a:t>Nominal</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900" dirty="0">
                          <a:solidFill>
                            <a:srgbClr val="94A3B8"/>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900" dirty="0">
                          <a:solidFill>
                            <a:srgbClr val="94A3B8"/>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29629">
                <a:tc>
                  <a:txBody>
                    <a:bodyPr/>
                    <a:lstStyle/>
                    <a:p>
                      <a:pPr marL="0" indent="0" algn="l">
                        <a:buNone/>
                      </a:pPr>
                      <a:r>
                        <a:rPr lang="en-US" sz="1300" b="1" dirty="0">
                          <a:solidFill>
                            <a:srgbClr val="065A82"/>
                          </a:solidFill>
                          <a:latin typeface="Calibri" pitchFamily="34" charset="0"/>
                          <a:ea typeface="Calibri" pitchFamily="34" charset="-122"/>
                          <a:cs typeface="Calibri" pitchFamily="34" charset="-120"/>
                        </a:rPr>
                        <a:t>Fare</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0F8FF"/>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Tarifa pagada (en libras esterlinas)</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0F8FF"/>
                    </a:solidFill>
                  </a:tcPr>
                </a:tc>
                <a:tc>
                  <a:txBody>
                    <a:bodyPr/>
                    <a:lstStyle/>
                    <a:p>
                      <a:pPr marL="0" indent="0" algn="ctr">
                        <a:buNone/>
                      </a:pPr>
                      <a:r>
                        <a:rPr lang="en-US" sz="1300" dirty="0">
                          <a:solidFill>
                            <a:srgbClr val="475569"/>
                          </a:solidFill>
                          <a:latin typeface="Calibri" pitchFamily="34" charset="0"/>
                          <a:ea typeface="Calibri" pitchFamily="34" charset="-122"/>
                          <a:cs typeface="Calibri" pitchFamily="34" charset="-120"/>
                        </a:rPr>
                        <a:t>Continua</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0F8FF"/>
                    </a:solidFill>
                  </a:tcPr>
                </a:tc>
                <a:tc>
                  <a:txBody>
                    <a:bodyPr/>
                    <a:lstStyle/>
                    <a:p>
                      <a:pPr marL="0" indent="0" algn="ctr">
                        <a:buNone/>
                      </a:pPr>
                      <a:r>
                        <a:rPr lang="en-US" sz="1900" b="1" dirty="0">
                          <a:solidFill>
                            <a:srgbClr val="15803D"/>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DCFCE7"/>
                    </a:solidFill>
                  </a:tcPr>
                </a:tc>
                <a:tc>
                  <a:txBody>
                    <a:bodyPr/>
                    <a:lstStyle/>
                    <a:p>
                      <a:pPr marL="0" indent="0" algn="ctr">
                        <a:buNone/>
                      </a:pPr>
                      <a:r>
                        <a:rPr lang="en-US" sz="1900" b="1" dirty="0">
                          <a:solidFill>
                            <a:srgbClr val="15803D"/>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DCFCE7"/>
                    </a:solidFill>
                  </a:tcPr>
                </a:tc>
                <a:extLst>
                  <a:ext uri="{0D108BD9-81ED-4DB2-BD59-A6C34878D82A}">
                    <a16:rowId xmlns:a16="http://schemas.microsoft.com/office/drawing/2014/main" val="10010"/>
                  </a:ext>
                </a:extLst>
              </a:tr>
              <a:tr h="429629">
                <a:tc>
                  <a:txBody>
                    <a:bodyPr/>
                    <a:lstStyle/>
                    <a:p>
                      <a:pPr marL="0" indent="0" algn="l">
                        <a:buNone/>
                      </a:pPr>
                      <a:r>
                        <a:rPr lang="en-US" sz="1300" b="1" dirty="0">
                          <a:solidFill>
                            <a:srgbClr val="94A3B8"/>
                          </a:solidFill>
                          <a:latin typeface="Calibri" pitchFamily="34" charset="0"/>
                          <a:ea typeface="Calibri" pitchFamily="34" charset="-122"/>
                          <a:cs typeface="Calibri" pitchFamily="34" charset="-120"/>
                        </a:rPr>
                        <a:t>Cabin</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475569"/>
                          </a:solidFill>
                          <a:latin typeface="Calibri" pitchFamily="34" charset="0"/>
                          <a:ea typeface="Calibri" pitchFamily="34" charset="-122"/>
                          <a:cs typeface="Calibri" pitchFamily="34" charset="-120"/>
                        </a:rPr>
                        <a:t>N° de cabina (77% son nulos)</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475569"/>
                          </a:solidFill>
                          <a:latin typeface="Calibri" pitchFamily="34" charset="0"/>
                          <a:ea typeface="Calibri" pitchFamily="34" charset="-122"/>
                          <a:cs typeface="Calibri" pitchFamily="34" charset="-120"/>
                        </a:rPr>
                        <a:t>Nominal</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900" dirty="0">
                          <a:solidFill>
                            <a:srgbClr val="94A3B8"/>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900" dirty="0">
                          <a:solidFill>
                            <a:srgbClr val="94A3B8"/>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429629">
                <a:tc>
                  <a:txBody>
                    <a:bodyPr/>
                    <a:lstStyle/>
                    <a:p>
                      <a:pPr marL="0" indent="0" algn="l">
                        <a:buNone/>
                      </a:pPr>
                      <a:r>
                        <a:rPr lang="en-US" sz="1300" b="1" dirty="0">
                          <a:solidFill>
                            <a:srgbClr val="065A82"/>
                          </a:solidFill>
                          <a:latin typeface="Calibri" pitchFamily="34" charset="0"/>
                          <a:ea typeface="Calibri" pitchFamily="34" charset="-122"/>
                          <a:cs typeface="Calibri" pitchFamily="34" charset="-120"/>
                        </a:rPr>
                        <a:t>Embarked</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0F8FF"/>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Puerto de embarque (C / Q / S)</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0F8FF"/>
                    </a:solidFill>
                  </a:tcPr>
                </a:tc>
                <a:tc>
                  <a:txBody>
                    <a:bodyPr/>
                    <a:lstStyle/>
                    <a:p>
                      <a:pPr marL="0" indent="0" algn="ctr">
                        <a:buNone/>
                      </a:pPr>
                      <a:r>
                        <a:rPr lang="en-US" sz="1300" dirty="0">
                          <a:solidFill>
                            <a:srgbClr val="475569"/>
                          </a:solidFill>
                          <a:latin typeface="Calibri" pitchFamily="34" charset="0"/>
                          <a:ea typeface="Calibri" pitchFamily="34" charset="-122"/>
                          <a:cs typeface="Calibri" pitchFamily="34" charset="-120"/>
                        </a:rPr>
                        <a:t>Categórica</a:t>
                      </a:r>
                      <a:endParaRPr lang="en-US" sz="13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F0F8FF"/>
                    </a:solidFill>
                  </a:tcPr>
                </a:tc>
                <a:tc>
                  <a:txBody>
                    <a:bodyPr/>
                    <a:lstStyle/>
                    <a:p>
                      <a:pPr marL="0" indent="0" algn="ctr">
                        <a:buNone/>
                      </a:pPr>
                      <a:r>
                        <a:rPr lang="en-US" sz="1900" b="1" dirty="0">
                          <a:solidFill>
                            <a:srgbClr val="15803D"/>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DCFCE7"/>
                    </a:solidFill>
                  </a:tcPr>
                </a:tc>
                <a:tc>
                  <a:txBody>
                    <a:bodyPr/>
                    <a:lstStyle/>
                    <a:p>
                      <a:pPr marL="0" indent="0" algn="ctr">
                        <a:buNone/>
                      </a:pPr>
                      <a:r>
                        <a:rPr lang="en-US" sz="1900" b="1" dirty="0">
                          <a:solidFill>
                            <a:srgbClr val="15803D"/>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121920" marR="121920" marT="60960" marB="60960" anchor="ctr">
                    <a:lnL w="3810" cap="flat" cmpd="sng" algn="ctr">
                      <a:solidFill>
                        <a:srgbClr val="CBD5E1"/>
                      </a:solidFill>
                      <a:prstDash val="solid"/>
                      <a:round/>
                      <a:headEnd type="none" w="med" len="med"/>
                      <a:tailEnd type="none" w="med" len="med"/>
                    </a:lnL>
                    <a:lnR w="3810" cap="flat" cmpd="sng" algn="ctr">
                      <a:solidFill>
                        <a:srgbClr val="CBD5E1"/>
                      </a:solidFill>
                      <a:prstDash val="solid"/>
                      <a:round/>
                      <a:headEnd type="none" w="med" len="med"/>
                      <a:tailEnd type="none" w="med" len="med"/>
                    </a:lnR>
                    <a:lnT w="3810" cap="flat" cmpd="sng" algn="ctr">
                      <a:solidFill>
                        <a:srgbClr val="CBD5E1"/>
                      </a:solidFill>
                      <a:prstDash val="solid"/>
                      <a:round/>
                      <a:headEnd type="none" w="med" len="med"/>
                      <a:tailEnd type="none" w="med" len="med"/>
                    </a:lnT>
                    <a:lnB w="3810" cap="flat" cmpd="sng" algn="ctr">
                      <a:solidFill>
                        <a:srgbClr val="CBD5E1"/>
                      </a:solidFill>
                      <a:prstDash val="solid"/>
                      <a:round/>
                      <a:headEnd type="none" w="med" len="med"/>
                      <a:tailEnd type="none" w="med" len="med"/>
                    </a:lnB>
                    <a:solidFill>
                      <a:srgbClr val="DCFCE7"/>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4C0A9D-AFF9-D81E-6ED4-1DBC8494B76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A154F2E-56CC-C7D7-26DB-F78BB7A4908E}"/>
              </a:ext>
            </a:extLst>
          </p:cNvPr>
          <p:cNvSpPr txBox="1">
            <a:spLocks noGrp="1"/>
          </p:cNvSpPr>
          <p:nvPr>
            <p:ph type="title"/>
          </p:nvPr>
        </p:nvSpPr>
        <p:spPr>
          <a:prstGeom prst="rect">
            <a:avLst/>
          </a:prstGeom>
        </p:spPr>
        <p:txBody>
          <a:bodyPr vert="horz" wrap="square" lIns="0" tIns="114427" rIns="0" bIns="0" rtlCol="0">
            <a:spAutoFit/>
          </a:bodyPr>
          <a:lstStyle/>
          <a:p>
            <a:pPr marL="678815">
              <a:lnSpc>
                <a:spcPct val="100000"/>
              </a:lnSpc>
              <a:spcBef>
                <a:spcPts val="105"/>
              </a:spcBef>
            </a:pPr>
            <a:r>
              <a:rPr lang="es-CO" spc="-275" noProof="0" dirty="0"/>
              <a:t>Extracción</a:t>
            </a:r>
            <a:r>
              <a:rPr lang="es-CO" spc="-254" noProof="0" dirty="0"/>
              <a:t> </a:t>
            </a:r>
            <a:r>
              <a:rPr lang="es-CO" noProof="0" dirty="0"/>
              <a:t>de</a:t>
            </a:r>
            <a:r>
              <a:rPr lang="es-CO" spc="-130" noProof="0" dirty="0"/>
              <a:t> </a:t>
            </a:r>
            <a:r>
              <a:rPr lang="es-CO" spc="-305" noProof="0" dirty="0"/>
              <a:t>Conocimiento</a:t>
            </a:r>
            <a:r>
              <a:rPr lang="es-CO" spc="-340" noProof="0" dirty="0"/>
              <a:t> </a:t>
            </a:r>
            <a:r>
              <a:rPr lang="es-CO" spc="-270" noProof="0" dirty="0"/>
              <a:t>(proceso</a:t>
            </a:r>
            <a:r>
              <a:rPr lang="es-CO" spc="-300" noProof="0" dirty="0"/>
              <a:t> </a:t>
            </a:r>
            <a:r>
              <a:rPr lang="es-CO" spc="-365" noProof="0" dirty="0"/>
              <a:t>KDD)</a:t>
            </a:r>
          </a:p>
        </p:txBody>
      </p:sp>
      <p:pic>
        <p:nvPicPr>
          <p:cNvPr id="3" name="object 3">
            <a:extLst>
              <a:ext uri="{FF2B5EF4-FFF2-40B4-BE49-F238E27FC236}">
                <a16:creationId xmlns:a16="http://schemas.microsoft.com/office/drawing/2014/main" id="{2FC9803B-219A-A994-14EF-CB35E8448F79}"/>
              </a:ext>
            </a:extLst>
          </p:cNvPr>
          <p:cNvPicPr/>
          <p:nvPr/>
        </p:nvPicPr>
        <p:blipFill>
          <a:blip r:embed="rId2" cstate="print"/>
          <a:stretch>
            <a:fillRect/>
          </a:stretch>
        </p:blipFill>
        <p:spPr>
          <a:xfrm>
            <a:off x="824483" y="2080260"/>
            <a:ext cx="10754868" cy="1732788"/>
          </a:xfrm>
          <a:prstGeom prst="rect">
            <a:avLst/>
          </a:prstGeom>
        </p:spPr>
      </p:pic>
      <p:sp>
        <p:nvSpPr>
          <p:cNvPr id="4" name="object 4">
            <a:extLst>
              <a:ext uri="{FF2B5EF4-FFF2-40B4-BE49-F238E27FC236}">
                <a16:creationId xmlns:a16="http://schemas.microsoft.com/office/drawing/2014/main" id="{EC009049-5723-4C08-F968-2ADDB7E4CFDC}"/>
              </a:ext>
            </a:extLst>
          </p:cNvPr>
          <p:cNvSpPr txBox="1"/>
          <p:nvPr/>
        </p:nvSpPr>
        <p:spPr>
          <a:xfrm>
            <a:off x="10202671" y="3701288"/>
            <a:ext cx="1185545" cy="239395"/>
          </a:xfrm>
          <a:prstGeom prst="rect">
            <a:avLst/>
          </a:prstGeom>
        </p:spPr>
        <p:txBody>
          <a:bodyPr vert="horz" wrap="square" lIns="0" tIns="12700" rIns="0" bIns="0" rtlCol="0">
            <a:spAutoFit/>
          </a:bodyPr>
          <a:lstStyle/>
          <a:p>
            <a:pPr marL="12700">
              <a:lnSpc>
                <a:spcPct val="100000"/>
              </a:lnSpc>
              <a:spcBef>
                <a:spcPts val="100"/>
              </a:spcBef>
            </a:pPr>
            <a:r>
              <a:rPr lang="es-CO" sz="1400" b="1" spc="-20" noProof="0" dirty="0">
                <a:latin typeface="Arial"/>
                <a:cs typeface="Arial"/>
              </a:rPr>
              <a:t>Fayyad</a:t>
            </a:r>
            <a:r>
              <a:rPr lang="es-CO" sz="1400" b="1" spc="-45" noProof="0" dirty="0">
                <a:latin typeface="Arial"/>
                <a:cs typeface="Arial"/>
              </a:rPr>
              <a:t> </a:t>
            </a:r>
            <a:r>
              <a:rPr lang="es-CO" sz="1400" b="1" spc="-10" noProof="0" dirty="0">
                <a:latin typeface="Arial"/>
                <a:cs typeface="Arial"/>
              </a:rPr>
              <a:t>(1996)</a:t>
            </a:r>
            <a:endParaRPr lang="es-CO" sz="1400" noProof="0" dirty="0">
              <a:latin typeface="Arial"/>
              <a:cs typeface="Arial"/>
            </a:endParaRPr>
          </a:p>
        </p:txBody>
      </p:sp>
      <p:grpSp>
        <p:nvGrpSpPr>
          <p:cNvPr id="5" name="object 5">
            <a:extLst>
              <a:ext uri="{FF2B5EF4-FFF2-40B4-BE49-F238E27FC236}">
                <a16:creationId xmlns:a16="http://schemas.microsoft.com/office/drawing/2014/main" id="{C6D46825-A10C-04C3-D1D6-8542AD3381AB}"/>
              </a:ext>
            </a:extLst>
          </p:cNvPr>
          <p:cNvGrpSpPr/>
          <p:nvPr/>
        </p:nvGrpSpPr>
        <p:grpSpPr>
          <a:xfrm>
            <a:off x="3884929" y="1644776"/>
            <a:ext cx="3378200" cy="565150"/>
            <a:chOff x="3884929" y="1644776"/>
            <a:chExt cx="3378200" cy="565150"/>
          </a:xfrm>
        </p:grpSpPr>
        <p:sp>
          <p:nvSpPr>
            <p:cNvPr id="6" name="object 6">
              <a:extLst>
                <a:ext uri="{FF2B5EF4-FFF2-40B4-BE49-F238E27FC236}">
                  <a16:creationId xmlns:a16="http://schemas.microsoft.com/office/drawing/2014/main" id="{B97BA513-72D8-B322-C3B6-653650BB3273}"/>
                </a:ext>
              </a:extLst>
            </p:cNvPr>
            <p:cNvSpPr/>
            <p:nvPr/>
          </p:nvSpPr>
          <p:spPr>
            <a:xfrm>
              <a:off x="5519927" y="1653539"/>
              <a:ext cx="347345" cy="312420"/>
            </a:xfrm>
            <a:custGeom>
              <a:avLst/>
              <a:gdLst/>
              <a:ahLst/>
              <a:cxnLst/>
              <a:rect l="l" t="t" r="r" b="b"/>
              <a:pathLst>
                <a:path w="347345" h="312419">
                  <a:moveTo>
                    <a:pt x="260476" y="0"/>
                  </a:moveTo>
                  <a:lnTo>
                    <a:pt x="86868" y="0"/>
                  </a:lnTo>
                  <a:lnTo>
                    <a:pt x="86868" y="156083"/>
                  </a:lnTo>
                  <a:lnTo>
                    <a:pt x="0" y="156083"/>
                  </a:lnTo>
                  <a:lnTo>
                    <a:pt x="173609" y="312165"/>
                  </a:lnTo>
                  <a:lnTo>
                    <a:pt x="347345" y="156083"/>
                  </a:lnTo>
                  <a:lnTo>
                    <a:pt x="260476" y="156083"/>
                  </a:lnTo>
                  <a:lnTo>
                    <a:pt x="260476" y="0"/>
                  </a:lnTo>
                  <a:close/>
                </a:path>
              </a:pathLst>
            </a:custGeom>
            <a:solidFill>
              <a:srgbClr val="FF0000"/>
            </a:solidFill>
          </p:spPr>
          <p:txBody>
            <a:bodyPr wrap="square" lIns="0" tIns="0" rIns="0" bIns="0" rtlCol="0"/>
            <a:lstStyle/>
            <a:p>
              <a:endParaRPr lang="es-CO" noProof="0" dirty="0"/>
            </a:p>
          </p:txBody>
        </p:sp>
        <p:sp>
          <p:nvSpPr>
            <p:cNvPr id="7" name="object 7">
              <a:extLst>
                <a:ext uri="{FF2B5EF4-FFF2-40B4-BE49-F238E27FC236}">
                  <a16:creationId xmlns:a16="http://schemas.microsoft.com/office/drawing/2014/main" id="{6ED4EBDA-CA97-7424-A4E5-EDFDAAD91ECF}"/>
                </a:ext>
              </a:extLst>
            </p:cNvPr>
            <p:cNvSpPr/>
            <p:nvPr/>
          </p:nvSpPr>
          <p:spPr>
            <a:xfrm>
              <a:off x="5520689" y="1654301"/>
              <a:ext cx="347345" cy="312420"/>
            </a:xfrm>
            <a:custGeom>
              <a:avLst/>
              <a:gdLst/>
              <a:ahLst/>
              <a:cxnLst/>
              <a:rect l="l" t="t" r="r" b="b"/>
              <a:pathLst>
                <a:path w="347345" h="312419">
                  <a:moveTo>
                    <a:pt x="347345" y="156083"/>
                  </a:moveTo>
                  <a:lnTo>
                    <a:pt x="173609" y="312165"/>
                  </a:lnTo>
                  <a:lnTo>
                    <a:pt x="0" y="156083"/>
                  </a:lnTo>
                  <a:lnTo>
                    <a:pt x="86868" y="156083"/>
                  </a:lnTo>
                  <a:lnTo>
                    <a:pt x="86868" y="0"/>
                  </a:lnTo>
                  <a:lnTo>
                    <a:pt x="260476" y="0"/>
                  </a:lnTo>
                  <a:lnTo>
                    <a:pt x="260476" y="156083"/>
                  </a:lnTo>
                  <a:lnTo>
                    <a:pt x="347345" y="156083"/>
                  </a:lnTo>
                  <a:close/>
                </a:path>
              </a:pathLst>
            </a:custGeom>
            <a:ln w="19050">
              <a:solidFill>
                <a:srgbClr val="6B859A"/>
              </a:solidFill>
            </a:ln>
          </p:spPr>
          <p:txBody>
            <a:bodyPr wrap="square" lIns="0" tIns="0" rIns="0" bIns="0" rtlCol="0"/>
            <a:lstStyle/>
            <a:p>
              <a:endParaRPr lang="es-CO" noProof="0" dirty="0"/>
            </a:p>
          </p:txBody>
        </p:sp>
        <p:sp>
          <p:nvSpPr>
            <p:cNvPr id="8" name="object 8">
              <a:extLst>
                <a:ext uri="{FF2B5EF4-FFF2-40B4-BE49-F238E27FC236}">
                  <a16:creationId xmlns:a16="http://schemas.microsoft.com/office/drawing/2014/main" id="{EF0CCBFE-0E73-7E1A-6076-F269B9029170}"/>
                </a:ext>
              </a:extLst>
            </p:cNvPr>
            <p:cNvSpPr/>
            <p:nvPr/>
          </p:nvSpPr>
          <p:spPr>
            <a:xfrm>
              <a:off x="3897629" y="2021585"/>
              <a:ext cx="3352800" cy="175260"/>
            </a:xfrm>
            <a:custGeom>
              <a:avLst/>
              <a:gdLst/>
              <a:ahLst/>
              <a:cxnLst/>
              <a:rect l="l" t="t" r="r" b="b"/>
              <a:pathLst>
                <a:path w="3352800" h="175260">
                  <a:moveTo>
                    <a:pt x="0" y="175260"/>
                  </a:moveTo>
                  <a:lnTo>
                    <a:pt x="1143" y="107061"/>
                  </a:lnTo>
                  <a:lnTo>
                    <a:pt x="4318" y="51308"/>
                  </a:lnTo>
                  <a:lnTo>
                    <a:pt x="8890" y="13715"/>
                  </a:lnTo>
                  <a:lnTo>
                    <a:pt x="14605" y="0"/>
                  </a:lnTo>
                  <a:lnTo>
                    <a:pt x="3337941" y="0"/>
                  </a:lnTo>
                  <a:lnTo>
                    <a:pt x="3343655" y="13715"/>
                  </a:lnTo>
                  <a:lnTo>
                    <a:pt x="3348228" y="51308"/>
                  </a:lnTo>
                  <a:lnTo>
                    <a:pt x="3351403" y="107061"/>
                  </a:lnTo>
                  <a:lnTo>
                    <a:pt x="3352546" y="175260"/>
                  </a:lnTo>
                </a:path>
              </a:pathLst>
            </a:custGeom>
            <a:ln w="25400">
              <a:solidFill>
                <a:srgbClr val="FF0000"/>
              </a:solidFill>
            </a:ln>
          </p:spPr>
          <p:txBody>
            <a:bodyPr wrap="square" lIns="0" tIns="0" rIns="0" bIns="0" rtlCol="0"/>
            <a:lstStyle/>
            <a:p>
              <a:endParaRPr lang="es-CO" noProof="0" dirty="0"/>
            </a:p>
          </p:txBody>
        </p:sp>
      </p:grpSp>
      <p:sp>
        <p:nvSpPr>
          <p:cNvPr id="9" name="object 9">
            <a:extLst>
              <a:ext uri="{FF2B5EF4-FFF2-40B4-BE49-F238E27FC236}">
                <a16:creationId xmlns:a16="http://schemas.microsoft.com/office/drawing/2014/main" id="{3F574690-4913-9956-1A7F-BDE7AD4E192D}"/>
              </a:ext>
            </a:extLst>
          </p:cNvPr>
          <p:cNvSpPr txBox="1"/>
          <p:nvPr/>
        </p:nvSpPr>
        <p:spPr>
          <a:xfrm>
            <a:off x="4303014" y="4137325"/>
            <a:ext cx="5602986" cy="1391407"/>
          </a:xfrm>
          <a:prstGeom prst="rect">
            <a:avLst/>
          </a:prstGeom>
        </p:spPr>
        <p:txBody>
          <a:bodyPr vert="horz" wrap="square" lIns="0" tIns="102870" rIns="0" bIns="0" rtlCol="0">
            <a:spAutoFit/>
          </a:bodyPr>
          <a:lstStyle/>
          <a:p>
            <a:pPr marL="332105" indent="-319405">
              <a:lnSpc>
                <a:spcPct val="100000"/>
              </a:lnSpc>
              <a:spcBef>
                <a:spcPts val="810"/>
              </a:spcBef>
              <a:buClr>
                <a:srgbClr val="DD8046"/>
              </a:buClr>
              <a:buSzPct val="60416"/>
              <a:buFont typeface="Wingdings"/>
              <a:buChar char=""/>
              <a:tabLst>
                <a:tab pos="332105" algn="l"/>
              </a:tabLst>
            </a:pPr>
            <a:r>
              <a:rPr lang="es-CO" sz="2400" spc="-114" noProof="0" dirty="0">
                <a:latin typeface="Microsoft Sans Serif"/>
                <a:cs typeface="Microsoft Sans Serif"/>
              </a:rPr>
              <a:t>Uniformar</a:t>
            </a:r>
            <a:r>
              <a:rPr lang="es-CO" sz="2400" spc="-140" noProof="0" dirty="0">
                <a:latin typeface="Microsoft Sans Serif"/>
                <a:cs typeface="Microsoft Sans Serif"/>
              </a:rPr>
              <a:t> </a:t>
            </a:r>
            <a:r>
              <a:rPr lang="es-CO" sz="2400" noProof="0" dirty="0">
                <a:latin typeface="Microsoft Sans Serif"/>
                <a:cs typeface="Microsoft Sans Serif"/>
              </a:rPr>
              <a:t>la</a:t>
            </a:r>
            <a:r>
              <a:rPr lang="es-CO" sz="2400" spc="15" noProof="0" dirty="0">
                <a:latin typeface="Microsoft Sans Serif"/>
                <a:cs typeface="Microsoft Sans Serif"/>
              </a:rPr>
              <a:t> </a:t>
            </a:r>
            <a:r>
              <a:rPr lang="es-CO" sz="2400" spc="-35" noProof="0" dirty="0">
                <a:latin typeface="Microsoft Sans Serif"/>
                <a:cs typeface="Microsoft Sans Serif"/>
              </a:rPr>
              <a:t>notación.</a:t>
            </a:r>
            <a:endParaRPr lang="es-CO" sz="2400" noProof="0" dirty="0">
              <a:latin typeface="Microsoft Sans Serif"/>
              <a:cs typeface="Microsoft Sans Serif"/>
            </a:endParaRPr>
          </a:p>
          <a:p>
            <a:pPr marL="332105" indent="-319405">
              <a:lnSpc>
                <a:spcPct val="100000"/>
              </a:lnSpc>
              <a:spcBef>
                <a:spcPts val="715"/>
              </a:spcBef>
              <a:buClr>
                <a:srgbClr val="DD8046"/>
              </a:buClr>
              <a:buSzPct val="60416"/>
              <a:buFont typeface="Wingdings"/>
              <a:buChar char=""/>
              <a:tabLst>
                <a:tab pos="332105" algn="l"/>
              </a:tabLst>
            </a:pPr>
            <a:r>
              <a:rPr lang="es-CO" sz="2400" spc="-150" noProof="0" dirty="0">
                <a:latin typeface="Microsoft Sans Serif"/>
                <a:cs typeface="Microsoft Sans Serif"/>
              </a:rPr>
              <a:t>Datos</a:t>
            </a:r>
            <a:r>
              <a:rPr lang="es-CO" sz="2400" spc="-130" noProof="0" dirty="0">
                <a:latin typeface="Microsoft Sans Serif"/>
                <a:cs typeface="Microsoft Sans Serif"/>
              </a:rPr>
              <a:t> </a:t>
            </a:r>
            <a:r>
              <a:rPr lang="es-CO" sz="2400" spc="-10" noProof="0" dirty="0">
                <a:latin typeface="Microsoft Sans Serif"/>
                <a:cs typeface="Microsoft Sans Serif"/>
              </a:rPr>
              <a:t>faltantes</a:t>
            </a:r>
            <a:r>
              <a:rPr lang="es-CO" sz="2400" spc="-10" dirty="0">
                <a:latin typeface="Microsoft Sans Serif"/>
                <a:cs typeface="Microsoft Sans Serif"/>
              </a:rPr>
              <a:t>.</a:t>
            </a:r>
            <a:endParaRPr lang="es-CO" sz="2400" noProof="0" dirty="0">
              <a:latin typeface="Microsoft Sans Serif"/>
              <a:cs typeface="Microsoft Sans Serif"/>
            </a:endParaRPr>
          </a:p>
          <a:p>
            <a:pPr marL="332105" indent="-319405">
              <a:lnSpc>
                <a:spcPct val="100000"/>
              </a:lnSpc>
              <a:spcBef>
                <a:spcPts val="695"/>
              </a:spcBef>
              <a:buClr>
                <a:srgbClr val="DD8046"/>
              </a:buClr>
              <a:buSzPct val="60416"/>
              <a:buFont typeface="Wingdings"/>
              <a:buChar char=""/>
              <a:tabLst>
                <a:tab pos="332105" algn="l"/>
              </a:tabLst>
            </a:pPr>
            <a:r>
              <a:rPr lang="es-CO" sz="2400" spc="-185" noProof="0" dirty="0">
                <a:latin typeface="Microsoft Sans Serif"/>
                <a:cs typeface="Microsoft Sans Serif"/>
              </a:rPr>
              <a:t>Fuera</a:t>
            </a:r>
            <a:r>
              <a:rPr lang="es-CO" sz="2400" spc="10" noProof="0" dirty="0">
                <a:latin typeface="Microsoft Sans Serif"/>
                <a:cs typeface="Microsoft Sans Serif"/>
              </a:rPr>
              <a:t> </a:t>
            </a:r>
            <a:r>
              <a:rPr lang="es-CO" sz="2400" noProof="0" dirty="0">
                <a:latin typeface="Microsoft Sans Serif"/>
                <a:cs typeface="Microsoft Sans Serif"/>
              </a:rPr>
              <a:t>de</a:t>
            </a:r>
            <a:r>
              <a:rPr lang="es-CO" sz="2400" spc="-25" noProof="0" dirty="0">
                <a:latin typeface="Microsoft Sans Serif"/>
                <a:cs typeface="Microsoft Sans Serif"/>
              </a:rPr>
              <a:t> </a:t>
            </a:r>
            <a:r>
              <a:rPr lang="es-CO" sz="2400" spc="-140" noProof="0" dirty="0">
                <a:latin typeface="Microsoft Sans Serif"/>
                <a:cs typeface="Microsoft Sans Serif"/>
              </a:rPr>
              <a:t>los</a:t>
            </a:r>
            <a:r>
              <a:rPr lang="es-CO" sz="2400" spc="-160" noProof="0" dirty="0">
                <a:latin typeface="Microsoft Sans Serif"/>
                <a:cs typeface="Microsoft Sans Serif"/>
              </a:rPr>
              <a:t> </a:t>
            </a:r>
            <a:r>
              <a:rPr lang="es-CO" sz="2400" spc="-125" noProof="0" dirty="0">
                <a:latin typeface="Microsoft Sans Serif"/>
                <a:cs typeface="Microsoft Sans Serif"/>
              </a:rPr>
              <a:t>rangos</a:t>
            </a:r>
            <a:r>
              <a:rPr lang="es-CO" sz="2400" spc="-204" noProof="0" dirty="0">
                <a:latin typeface="Microsoft Sans Serif"/>
                <a:cs typeface="Microsoft Sans Serif"/>
              </a:rPr>
              <a:t> </a:t>
            </a:r>
            <a:r>
              <a:rPr lang="es-CO" sz="2400" spc="-140" noProof="0" dirty="0">
                <a:latin typeface="Microsoft Sans Serif"/>
                <a:cs typeface="Microsoft Sans Serif"/>
              </a:rPr>
              <a:t>esperados</a:t>
            </a:r>
            <a:r>
              <a:rPr lang="es-CO" sz="2400" spc="-185" noProof="0" dirty="0">
                <a:latin typeface="Microsoft Sans Serif"/>
                <a:cs typeface="Microsoft Sans Serif"/>
              </a:rPr>
              <a:t> </a:t>
            </a:r>
            <a:r>
              <a:rPr lang="es-CO" sz="2400" spc="-105" noProof="0" dirty="0">
                <a:latin typeface="Microsoft Sans Serif"/>
                <a:cs typeface="Microsoft Sans Serif"/>
              </a:rPr>
              <a:t>(</a:t>
            </a:r>
            <a:r>
              <a:rPr lang="es-CO" sz="2400" spc="-105" noProof="0" dirty="0" err="1">
                <a:latin typeface="Microsoft Sans Serif"/>
                <a:cs typeface="Microsoft Sans Serif"/>
              </a:rPr>
              <a:t>outliers</a:t>
            </a:r>
            <a:r>
              <a:rPr lang="es-CO" sz="2400" spc="-105" noProof="0" dirty="0">
                <a:latin typeface="Microsoft Sans Serif"/>
                <a:cs typeface="Microsoft Sans Serif"/>
              </a:rPr>
              <a:t>).</a:t>
            </a:r>
            <a:endParaRPr lang="es-CO" sz="2400" noProof="0" dirty="0">
              <a:latin typeface="Microsoft Sans Serif"/>
              <a:cs typeface="Microsoft Sans Serif"/>
            </a:endParaRPr>
          </a:p>
        </p:txBody>
      </p:sp>
    </p:spTree>
    <p:extLst>
      <p:ext uri="{BB962C8B-B14F-4D97-AF65-F5344CB8AC3E}">
        <p14:creationId xmlns:p14="http://schemas.microsoft.com/office/powerpoint/2010/main" val="27183148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6917578"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 Formato: uniformar la notación</a:t>
            </a:r>
            <a:endParaRPr sz="2400" dirty="0">
              <a:solidFill>
                <a:srgbClr val="08287C"/>
              </a:solidFill>
              <a:latin typeface="Arial"/>
              <a:ea typeface="Arial"/>
              <a:cs typeface="Arial"/>
              <a:sym typeface="Arial"/>
            </a:endParaRPr>
          </a:p>
        </p:txBody>
      </p:sp>
      <p:sp>
        <p:nvSpPr>
          <p:cNvPr id="3" name="CuadroTexto 2">
            <a:extLst>
              <a:ext uri="{FF2B5EF4-FFF2-40B4-BE49-F238E27FC236}">
                <a16:creationId xmlns:a16="http://schemas.microsoft.com/office/drawing/2014/main" id="{02927E72-96C8-066F-9023-5BEF8F916658}"/>
              </a:ext>
            </a:extLst>
          </p:cNvPr>
          <p:cNvSpPr txBox="1"/>
          <p:nvPr/>
        </p:nvSpPr>
        <p:spPr>
          <a:xfrm>
            <a:off x="999516" y="1525277"/>
            <a:ext cx="10206747" cy="2554545"/>
          </a:xfrm>
          <a:prstGeom prst="rect">
            <a:avLst/>
          </a:prstGeom>
          <a:noFill/>
        </p:spPr>
        <p:txBody>
          <a:bodyPr wrap="square">
            <a:spAutoFit/>
          </a:bodyPr>
          <a:lstStyle/>
          <a:p>
            <a:pPr marL="0" lvl="0" indent="0" algn="just" rtl="0">
              <a:lnSpc>
                <a:spcPct val="100000"/>
              </a:lnSpc>
              <a:spcBef>
                <a:spcPts val="0"/>
              </a:spcBef>
              <a:spcAft>
                <a:spcPts val="0"/>
              </a:spcAft>
              <a:buNone/>
            </a:pPr>
            <a:r>
              <a:rPr lang="es-ES" sz="2000" dirty="0"/>
              <a:t>Una vez que se dispone de los datos, debe validarse el contenido, asegurarse de que no contienen errores y que el formato es adecuado y consistente para su uso. A menudo contienen errores o valores poco coherentes que conviene revisar. Los valores decimales expresados con comas y al mismo tiempo con puntos son un ejemplo típico. Será necesario, pues, en la medida de lo posible, repasar cada uno de los registros de nuestros datos para validar que todos los valores están bien escritos y tienen sentido.</a:t>
            </a:r>
          </a:p>
          <a:p>
            <a:pPr marL="0" lvl="0" indent="0" algn="just" rtl="0">
              <a:lnSpc>
                <a:spcPct val="100000"/>
              </a:lnSpc>
              <a:spcBef>
                <a:spcPts val="0"/>
              </a:spcBef>
              <a:spcAft>
                <a:spcPts val="0"/>
              </a:spcAft>
              <a:buNone/>
            </a:pPr>
            <a:endParaRPr lang="es-ES" sz="2000" dirty="0"/>
          </a:p>
          <a:p>
            <a:pPr marL="0" lvl="0" indent="0" algn="just" rtl="0">
              <a:lnSpc>
                <a:spcPct val="100000"/>
              </a:lnSpc>
              <a:spcBef>
                <a:spcPts val="0"/>
              </a:spcBef>
              <a:spcAft>
                <a:spcPts val="0"/>
              </a:spcAft>
              <a:buNone/>
            </a:pPr>
            <a:r>
              <a:rPr lang="es-ES" sz="2000" dirty="0"/>
              <a:t>Se puede hablar de dos tipos de formatos:</a:t>
            </a:r>
          </a:p>
        </p:txBody>
      </p:sp>
    </p:spTree>
    <p:extLst>
      <p:ext uri="{BB962C8B-B14F-4D97-AF65-F5344CB8AC3E}">
        <p14:creationId xmlns:p14="http://schemas.microsoft.com/office/powerpoint/2010/main" val="2546194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3" name="CuadroTexto 2">
            <a:extLst>
              <a:ext uri="{FF2B5EF4-FFF2-40B4-BE49-F238E27FC236}">
                <a16:creationId xmlns:a16="http://schemas.microsoft.com/office/drawing/2014/main" id="{02927E72-96C8-066F-9023-5BEF8F916658}"/>
              </a:ext>
            </a:extLst>
          </p:cNvPr>
          <p:cNvSpPr txBox="1"/>
          <p:nvPr/>
        </p:nvSpPr>
        <p:spPr>
          <a:xfrm>
            <a:off x="999516" y="1525277"/>
            <a:ext cx="10206747" cy="2246769"/>
          </a:xfrm>
          <a:prstGeom prst="rect">
            <a:avLst/>
          </a:prstGeom>
          <a:noFill/>
        </p:spPr>
        <p:txBody>
          <a:bodyPr wrap="square">
            <a:spAutoFit/>
          </a:bodyPr>
          <a:lstStyle/>
          <a:p>
            <a:pPr marL="0" lvl="0" indent="0" algn="just" rtl="0">
              <a:lnSpc>
                <a:spcPct val="100000"/>
              </a:lnSpc>
              <a:spcBef>
                <a:spcPts val="0"/>
              </a:spcBef>
              <a:spcAft>
                <a:spcPts val="0"/>
              </a:spcAft>
              <a:buNone/>
            </a:pPr>
            <a:r>
              <a:rPr lang="es-ES" sz="2000" b="1" dirty="0"/>
              <a:t>Formato general de los datos:</a:t>
            </a:r>
            <a:r>
              <a:rPr lang="es-ES" sz="2000" dirty="0"/>
              <a:t> hay una infinidad de formatos que expresan datos de manera estructurada. Las hojas de cálculo, que contienen filas y columnas, son un ejemplo de organización de datos que se pueden expresar en diferentes formatos (XLS, CSV, etc.). Otro formato bastante utilizado, pero al mismo tiempo más avanzado, es el formato JSON. Se escoge el formato de los datos en función de los que se dispone y en función de las opciones de importación de las que disponga el software que se utilice para trabajar.</a:t>
            </a:r>
          </a:p>
        </p:txBody>
      </p:sp>
      <p:sp>
        <p:nvSpPr>
          <p:cNvPr id="2" name="Google Shape;108;p2">
            <a:extLst>
              <a:ext uri="{FF2B5EF4-FFF2-40B4-BE49-F238E27FC236}">
                <a16:creationId xmlns:a16="http://schemas.microsoft.com/office/drawing/2014/main" id="{354FC5E6-3E3A-0906-6402-5B197A890C91}"/>
              </a:ext>
            </a:extLst>
          </p:cNvPr>
          <p:cNvSpPr/>
          <p:nvPr/>
        </p:nvSpPr>
        <p:spPr>
          <a:xfrm>
            <a:off x="629535" y="622999"/>
            <a:ext cx="6917578"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 Formato: uniformar la notación</a:t>
            </a:r>
            <a:endParaRPr sz="2400" dirty="0">
              <a:solidFill>
                <a:srgbClr val="08287C"/>
              </a:solidFill>
              <a:latin typeface="Arial"/>
              <a:ea typeface="Arial"/>
              <a:cs typeface="Arial"/>
              <a:sym typeface="Arial"/>
            </a:endParaRPr>
          </a:p>
        </p:txBody>
      </p:sp>
    </p:spTree>
    <p:extLst>
      <p:ext uri="{BB962C8B-B14F-4D97-AF65-F5344CB8AC3E}">
        <p14:creationId xmlns:p14="http://schemas.microsoft.com/office/powerpoint/2010/main" val="3279597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3" name="CuadroTexto 2">
            <a:extLst>
              <a:ext uri="{FF2B5EF4-FFF2-40B4-BE49-F238E27FC236}">
                <a16:creationId xmlns:a16="http://schemas.microsoft.com/office/drawing/2014/main" id="{02927E72-96C8-066F-9023-5BEF8F916658}"/>
              </a:ext>
            </a:extLst>
          </p:cNvPr>
          <p:cNvSpPr txBox="1"/>
          <p:nvPr/>
        </p:nvSpPr>
        <p:spPr>
          <a:xfrm>
            <a:off x="999516" y="1525277"/>
            <a:ext cx="10206747" cy="1938992"/>
          </a:xfrm>
          <a:prstGeom prst="rect">
            <a:avLst/>
          </a:prstGeom>
          <a:noFill/>
        </p:spPr>
        <p:txBody>
          <a:bodyPr wrap="square">
            <a:spAutoFit/>
          </a:bodyPr>
          <a:lstStyle/>
          <a:p>
            <a:pPr marL="0" lvl="0" indent="0" algn="just" rtl="0">
              <a:lnSpc>
                <a:spcPct val="100000"/>
              </a:lnSpc>
              <a:spcBef>
                <a:spcPts val="0"/>
              </a:spcBef>
              <a:spcAft>
                <a:spcPts val="0"/>
              </a:spcAft>
              <a:buNone/>
            </a:pPr>
            <a:r>
              <a:rPr lang="es-ES" sz="2000" b="1" dirty="0"/>
              <a:t>Formato de cada una de las dimensiones: </a:t>
            </a:r>
            <a:r>
              <a:rPr lang="es-ES" sz="2000" dirty="0"/>
              <a:t>es importante comprobar que cada una de las dimensiones sigue un formato consistente y, preferiblemente, estándar. Por ejemplo, si hay una columna que expresa una fecha, es importante que todos los valores de esta sigan el mismo formato. Por ejemplo, día/mes/año (15/10/1981). En este caso, lo más importante es que haya consistencia, de modo que todos los valores de la columna estén expresados de la misma forma.</a:t>
            </a:r>
          </a:p>
        </p:txBody>
      </p:sp>
      <p:sp>
        <p:nvSpPr>
          <p:cNvPr id="2" name="Google Shape;108;p2">
            <a:extLst>
              <a:ext uri="{FF2B5EF4-FFF2-40B4-BE49-F238E27FC236}">
                <a16:creationId xmlns:a16="http://schemas.microsoft.com/office/drawing/2014/main" id="{6AB5FFE6-019C-BF69-737C-8B8AAD664190}"/>
              </a:ext>
            </a:extLst>
          </p:cNvPr>
          <p:cNvSpPr/>
          <p:nvPr/>
        </p:nvSpPr>
        <p:spPr>
          <a:xfrm>
            <a:off x="629535" y="622999"/>
            <a:ext cx="6917578"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 Formato: uniformar la notación</a:t>
            </a:r>
            <a:endParaRPr sz="2400" dirty="0">
              <a:solidFill>
                <a:srgbClr val="08287C"/>
              </a:solidFill>
              <a:latin typeface="Arial"/>
              <a:ea typeface="Arial"/>
              <a:cs typeface="Arial"/>
              <a:sym typeface="Arial"/>
            </a:endParaRPr>
          </a:p>
        </p:txBody>
      </p:sp>
    </p:spTree>
    <p:extLst>
      <p:ext uri="{BB962C8B-B14F-4D97-AF65-F5344CB8AC3E}">
        <p14:creationId xmlns:p14="http://schemas.microsoft.com/office/powerpoint/2010/main" val="18788349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4AEF2-A40C-461C-A3D5-32DABC5692AD}"/>
              </a:ext>
            </a:extLst>
          </p:cNvPr>
          <p:cNvSpPr>
            <a:spLocks noGrp="1"/>
          </p:cNvSpPr>
          <p:nvPr>
            <p:ph type="title"/>
          </p:nvPr>
        </p:nvSpPr>
        <p:spPr>
          <a:xfrm>
            <a:off x="354563" y="557189"/>
            <a:ext cx="4208106" cy="5567891"/>
          </a:xfrm>
        </p:spPr>
        <p:txBody>
          <a:bodyPr>
            <a:normAutofit/>
          </a:bodyPr>
          <a:lstStyle/>
          <a:p>
            <a:r>
              <a:rPr lang="es-CO" sz="3600" dirty="0"/>
              <a:t>Data </a:t>
            </a:r>
            <a:r>
              <a:rPr lang="en-US" sz="3600" dirty="0"/>
              <a:t>Cleaning</a:t>
            </a:r>
            <a:r>
              <a:rPr lang="es-CO" sz="3600" dirty="0"/>
              <a:t> (calidad de datos para análisis)</a:t>
            </a:r>
          </a:p>
        </p:txBody>
      </p:sp>
      <p:graphicFrame>
        <p:nvGraphicFramePr>
          <p:cNvPr id="5" name="Content Placeholder 2">
            <a:extLst>
              <a:ext uri="{FF2B5EF4-FFF2-40B4-BE49-F238E27FC236}">
                <a16:creationId xmlns:a16="http://schemas.microsoft.com/office/drawing/2014/main" id="{4D5D7B2B-2E53-4F72-BD79-3718A88A4E0B}"/>
              </a:ext>
            </a:extLst>
          </p:cNvPr>
          <p:cNvGraphicFramePr>
            <a:graphicFrameLocks noGrp="1"/>
          </p:cNvGraphicFramePr>
          <p:nvPr>
            <p:ph idx="1"/>
            <p:extLst>
              <p:ext uri="{D42A27DB-BD31-4B8C-83A1-F6EECF244321}">
                <p14:modId xmlns:p14="http://schemas.microsoft.com/office/powerpoint/2010/main" val="1965241764"/>
              </p:ext>
            </p:extLst>
          </p:nvPr>
        </p:nvGraphicFramePr>
        <p:xfrm>
          <a:off x="4292081" y="326571"/>
          <a:ext cx="7545355" cy="62235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070050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8348813"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 Preprocesamiento y transformación</a:t>
            </a:r>
            <a:endParaRPr sz="2400" dirty="0">
              <a:solidFill>
                <a:srgbClr val="08287C"/>
              </a:solidFill>
              <a:latin typeface="Arial"/>
              <a:ea typeface="Arial"/>
              <a:cs typeface="Arial"/>
              <a:sym typeface="Arial"/>
            </a:endParaRPr>
          </a:p>
        </p:txBody>
      </p:sp>
      <p:pic>
        <p:nvPicPr>
          <p:cNvPr id="2" name="Imagen 1">
            <a:extLst>
              <a:ext uri="{FF2B5EF4-FFF2-40B4-BE49-F238E27FC236}">
                <a16:creationId xmlns:a16="http://schemas.microsoft.com/office/drawing/2014/main" id="{F714BCA7-DEE4-1FA5-B45F-DBC859E51C6A}"/>
              </a:ext>
            </a:extLst>
          </p:cNvPr>
          <p:cNvPicPr>
            <a:picLocks noChangeAspect="1"/>
          </p:cNvPicPr>
          <p:nvPr/>
        </p:nvPicPr>
        <p:blipFill>
          <a:blip r:embed="rId3"/>
          <a:stretch>
            <a:fillRect/>
          </a:stretch>
        </p:blipFill>
        <p:spPr>
          <a:xfrm>
            <a:off x="643467" y="1602401"/>
            <a:ext cx="10905066" cy="3653197"/>
          </a:xfrm>
          <a:prstGeom prst="rect">
            <a:avLst/>
          </a:prstGeom>
        </p:spPr>
      </p:pic>
    </p:spTree>
    <p:extLst>
      <p:ext uri="{BB962C8B-B14F-4D97-AF65-F5344CB8AC3E}">
        <p14:creationId xmlns:p14="http://schemas.microsoft.com/office/powerpoint/2010/main" val="42341870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E24DC8-C861-4C48-BBD3-A259A489BE1E}"/>
              </a:ext>
            </a:extLst>
          </p:cNvPr>
          <p:cNvSpPr>
            <a:spLocks noGrp="1"/>
          </p:cNvSpPr>
          <p:nvPr>
            <p:ph type="title"/>
          </p:nvPr>
        </p:nvSpPr>
        <p:spPr>
          <a:xfrm>
            <a:off x="1094448" y="349125"/>
            <a:ext cx="7474172" cy="1325563"/>
          </a:xfrm>
        </p:spPr>
        <p:txBody>
          <a:bodyPr>
            <a:normAutofit/>
          </a:bodyPr>
          <a:lstStyle/>
          <a:p>
            <a:r>
              <a:rPr lang="es-CO" dirty="0"/>
              <a:t>Tipos de errores en los datos</a:t>
            </a:r>
          </a:p>
        </p:txBody>
      </p:sp>
      <p:sp>
        <p:nvSpPr>
          <p:cNvPr id="3" name="Marcador de contenido 2">
            <a:extLst>
              <a:ext uri="{FF2B5EF4-FFF2-40B4-BE49-F238E27FC236}">
                <a16:creationId xmlns:a16="http://schemas.microsoft.com/office/drawing/2014/main" id="{DC667E33-7369-42ED-8003-35E5DB8CC692}"/>
              </a:ext>
            </a:extLst>
          </p:cNvPr>
          <p:cNvSpPr>
            <a:spLocks noGrp="1"/>
          </p:cNvSpPr>
          <p:nvPr>
            <p:ph idx="1"/>
          </p:nvPr>
        </p:nvSpPr>
        <p:spPr>
          <a:xfrm>
            <a:off x="297951" y="1674688"/>
            <a:ext cx="8743307" cy="4828853"/>
          </a:xfrm>
        </p:spPr>
        <p:txBody>
          <a:bodyPr anchor="ctr">
            <a:normAutofit/>
          </a:bodyPr>
          <a:lstStyle/>
          <a:p>
            <a:pPr algn="just"/>
            <a:r>
              <a:rPr lang="es-CO" sz="2000" b="0"/>
              <a:t>Valores atípicos: los valores atípicos son los números en una columna que están fuera de rango. De hecho, un valor atípico se encuentra fuera de la mayoría de los otros valores en un conjunto de datos (glóbulos rojos en la figura).</a:t>
            </a:r>
          </a:p>
          <a:p>
            <a:pPr algn="just"/>
            <a:r>
              <a:rPr lang="es-CO" sz="2000" b="0"/>
              <a:t>Duplicados: un conjunto de datos puede contener filas o registros repetitivos (filas moradas en la figura).</a:t>
            </a:r>
          </a:p>
          <a:p>
            <a:pPr algn="just"/>
            <a:r>
              <a:rPr lang="es-CO" sz="2000" b="0"/>
              <a:t>Valores perdidos: podríamos perder datos como resultado de un error humano o información faltante (celdas naranjas en la figura).</a:t>
            </a:r>
          </a:p>
          <a:p>
            <a:pPr algn="just"/>
            <a:r>
              <a:rPr lang="es-CO" sz="2000" b="0"/>
              <a:t>Carácter incorrecto o valores NULL: algunos valores pueden contener caracteres incorrectos como ₮ o valores NULL . A veces, los datos nulos se pueden especificar con diferentes valores como N / A o NA o NAN (celdas claras u oscuras en la figura).</a:t>
            </a:r>
          </a:p>
        </p:txBody>
      </p:sp>
      <p:pic>
        <p:nvPicPr>
          <p:cNvPr id="7" name="Graphic 6">
            <a:extLst>
              <a:ext uri="{FF2B5EF4-FFF2-40B4-BE49-F238E27FC236}">
                <a16:creationId xmlns:a16="http://schemas.microsoft.com/office/drawing/2014/main" id="{779AF13D-CDF9-4CB2-AC62-B208B4AF907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413987" y="2857501"/>
            <a:ext cx="1142998" cy="1142998"/>
          </a:xfrm>
          <a:prstGeom prst="rect">
            <a:avLst/>
          </a:prstGeom>
        </p:spPr>
      </p:pic>
    </p:spTree>
    <p:extLst>
      <p:ext uri="{BB962C8B-B14F-4D97-AF65-F5344CB8AC3E}">
        <p14:creationId xmlns:p14="http://schemas.microsoft.com/office/powerpoint/2010/main" val="31903200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690CC-A78C-4839-BCD3-CA7E969AC3C6}"/>
              </a:ext>
            </a:extLst>
          </p:cNvPr>
          <p:cNvSpPr>
            <a:spLocks noGrp="1"/>
          </p:cNvSpPr>
          <p:nvPr>
            <p:ph type="title"/>
          </p:nvPr>
        </p:nvSpPr>
        <p:spPr>
          <a:xfrm>
            <a:off x="829781" y="2745736"/>
            <a:ext cx="3698803" cy="1366528"/>
          </a:xfrm>
          <a:solidFill>
            <a:srgbClr val="FFFFFF"/>
          </a:solidFill>
          <a:ln w="25400" cap="sq">
            <a:solidFill>
              <a:srgbClr val="404040"/>
            </a:solidFill>
            <a:miter lim="800000"/>
          </a:ln>
        </p:spPr>
        <p:txBody>
          <a:bodyPr>
            <a:normAutofit/>
          </a:bodyPr>
          <a:lstStyle/>
          <a:p>
            <a:pPr algn="ctr"/>
            <a:r>
              <a:rPr lang="es-CO" sz="3000">
                <a:solidFill>
                  <a:srgbClr val="262626"/>
                </a:solidFill>
              </a:rPr>
              <a:t>6 formas diferentes de compensar los valores faltantes</a:t>
            </a:r>
          </a:p>
        </p:txBody>
      </p:sp>
      <p:sp>
        <p:nvSpPr>
          <p:cNvPr id="3" name="Content Placeholder 2">
            <a:extLst>
              <a:ext uri="{FF2B5EF4-FFF2-40B4-BE49-F238E27FC236}">
                <a16:creationId xmlns:a16="http://schemas.microsoft.com/office/drawing/2014/main" id="{1C749C98-BC61-46E2-9E05-41255883B950}"/>
              </a:ext>
            </a:extLst>
          </p:cNvPr>
          <p:cNvSpPr>
            <a:spLocks noGrp="1"/>
          </p:cNvSpPr>
          <p:nvPr>
            <p:ph idx="1"/>
          </p:nvPr>
        </p:nvSpPr>
        <p:spPr>
          <a:xfrm>
            <a:off x="5628640" y="121920"/>
            <a:ext cx="6217920" cy="6543040"/>
          </a:xfrm>
        </p:spPr>
        <p:txBody>
          <a:bodyPr anchor="ctr">
            <a:normAutofit/>
          </a:bodyPr>
          <a:lstStyle/>
          <a:p>
            <a:pPr algn="just"/>
            <a:r>
              <a:rPr lang="es-CO" sz="2000" b="0" dirty="0"/>
              <a:t>No hacer nada</a:t>
            </a:r>
          </a:p>
          <a:p>
            <a:pPr lvl="1" algn="just"/>
            <a:r>
              <a:rPr lang="es-CO" sz="2000" b="0" dirty="0"/>
              <a:t>Dejar que las técnicas manejen los datos faltantes</a:t>
            </a:r>
            <a:endParaRPr lang="es-CO" sz="2000" b="0" dirty="0">
              <a:ea typeface="Calibri"/>
              <a:cs typeface="Calibri"/>
            </a:endParaRPr>
          </a:p>
          <a:p>
            <a:pPr algn="just"/>
            <a:r>
              <a:rPr lang="es-CO" sz="2000" b="0" dirty="0"/>
              <a:t>Imputación usando valores (media/mediana)</a:t>
            </a:r>
            <a:endParaRPr lang="es-CO" sz="2000" b="0" dirty="0">
              <a:ea typeface="Calibri"/>
              <a:cs typeface="Calibri"/>
            </a:endParaRPr>
          </a:p>
          <a:p>
            <a:pPr lvl="1" algn="just"/>
            <a:r>
              <a:rPr lang="es-CO" sz="2000" b="0" dirty="0"/>
              <a:t>Solo se puede utilizar con datos numéricos</a:t>
            </a:r>
            <a:endParaRPr lang="es-CO" sz="2000" b="0" dirty="0">
              <a:ea typeface="Calibri"/>
              <a:cs typeface="Calibri"/>
            </a:endParaRPr>
          </a:p>
          <a:p>
            <a:pPr algn="just"/>
            <a:r>
              <a:rPr lang="es-CO" sz="2000" b="0" dirty="0"/>
              <a:t>Imputación usando los valores (más frecuentes) o (cero/constante)</a:t>
            </a:r>
            <a:endParaRPr lang="es-CO" sz="2000" b="0" dirty="0">
              <a:ea typeface="Calibri"/>
              <a:cs typeface="Calibri"/>
            </a:endParaRPr>
          </a:p>
          <a:p>
            <a:pPr lvl="1" algn="just"/>
            <a:r>
              <a:rPr lang="es-CO" sz="2000" b="0" dirty="0"/>
              <a:t>Solo se puede utilizar con datos categóricos</a:t>
            </a:r>
            <a:endParaRPr lang="es-CO" sz="2000" b="0" dirty="0">
              <a:ea typeface="Calibri"/>
              <a:cs typeface="Calibri"/>
            </a:endParaRPr>
          </a:p>
          <a:p>
            <a:pPr algn="just"/>
            <a:r>
              <a:rPr lang="es-CO" sz="2000" b="0" dirty="0"/>
              <a:t>Imputación utilizando alguna técnica de predicción, dependiendo del tipo de variable. Por ejemplo, técnicas sencillas como: k-</a:t>
            </a:r>
            <a:r>
              <a:rPr lang="es-CO" sz="2000" b="0" dirty="0" err="1"/>
              <a:t>nn</a:t>
            </a:r>
            <a:r>
              <a:rPr lang="es-CO" sz="2000" b="0" dirty="0"/>
              <a:t> o </a:t>
            </a:r>
            <a:r>
              <a:rPr lang="es-CO" sz="2000" b="0" dirty="0" err="1"/>
              <a:t>Naive</a:t>
            </a:r>
            <a:endParaRPr lang="es-CO" sz="2000" b="0" dirty="0"/>
          </a:p>
          <a:p>
            <a:pPr algn="just"/>
            <a:r>
              <a:rPr lang="es-CO" sz="2000" b="0" dirty="0"/>
              <a:t>Imputación usando la imputación multivariable por ecuación encadenada (MICE)</a:t>
            </a:r>
            <a:endParaRPr lang="es-CO" sz="2000" b="0" dirty="0">
              <a:ea typeface="Calibri" panose="020F0502020204030204"/>
              <a:cs typeface="Calibri" panose="020F0502020204030204"/>
            </a:endParaRPr>
          </a:p>
          <a:p>
            <a:pPr lvl="1" algn="just"/>
            <a:r>
              <a:rPr lang="es-CO" sz="2000" b="0" dirty="0"/>
              <a:t>Este tipo de imputación funciona al completar los datos faltantes varias veces</a:t>
            </a:r>
            <a:endParaRPr lang="es-CO" sz="2000" b="0" dirty="0">
              <a:ea typeface="Calibri" panose="020F0502020204030204"/>
              <a:cs typeface="Calibri" panose="020F0502020204030204"/>
            </a:endParaRPr>
          </a:p>
          <a:p>
            <a:pPr algn="just"/>
            <a:r>
              <a:rPr lang="es-CO" sz="2000" b="0" dirty="0"/>
              <a:t>Imputación utilizando Deep </a:t>
            </a:r>
            <a:r>
              <a:rPr lang="es-CO" sz="2000" b="0" dirty="0" err="1"/>
              <a:t>Learning</a:t>
            </a:r>
            <a:endParaRPr lang="es-CO" sz="2000" b="0" dirty="0">
              <a:ea typeface="Calibri"/>
              <a:cs typeface="Calibri"/>
            </a:endParaRPr>
          </a:p>
          <a:p>
            <a:pPr lvl="1" algn="just"/>
            <a:endParaRPr lang="es-CO" sz="1900" b="0" dirty="0"/>
          </a:p>
        </p:txBody>
      </p:sp>
    </p:spTree>
    <p:extLst>
      <p:ext uri="{BB962C8B-B14F-4D97-AF65-F5344CB8AC3E}">
        <p14:creationId xmlns:p14="http://schemas.microsoft.com/office/powerpoint/2010/main" val="14729185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2E649-D4AA-4A14-A594-CF0B97F058CB}"/>
              </a:ext>
            </a:extLst>
          </p:cNvPr>
          <p:cNvSpPr>
            <a:spLocks noGrp="1"/>
          </p:cNvSpPr>
          <p:nvPr>
            <p:ph type="title"/>
          </p:nvPr>
        </p:nvSpPr>
        <p:spPr>
          <a:xfrm>
            <a:off x="904877" y="2415322"/>
            <a:ext cx="3451730" cy="2399869"/>
          </a:xfrm>
        </p:spPr>
        <p:txBody>
          <a:bodyPr>
            <a:normAutofit/>
          </a:bodyPr>
          <a:lstStyle/>
          <a:p>
            <a:pPr algn="ctr"/>
            <a:r>
              <a:rPr lang="es-CO" sz="4000" dirty="0">
                <a:solidFill>
                  <a:schemeClr val="tx1"/>
                </a:solidFill>
              </a:rPr>
              <a:t>Análisis Exploratorio de Datos - EDA</a:t>
            </a:r>
          </a:p>
        </p:txBody>
      </p:sp>
      <p:sp>
        <p:nvSpPr>
          <p:cNvPr id="3" name="Content Placeholder 2">
            <a:extLst>
              <a:ext uri="{FF2B5EF4-FFF2-40B4-BE49-F238E27FC236}">
                <a16:creationId xmlns:a16="http://schemas.microsoft.com/office/drawing/2014/main" id="{AFA0E3FD-1646-4589-8431-0062AA12362C}"/>
              </a:ext>
            </a:extLst>
          </p:cNvPr>
          <p:cNvSpPr>
            <a:spLocks noGrp="1"/>
          </p:cNvSpPr>
          <p:nvPr>
            <p:ph idx="1"/>
          </p:nvPr>
        </p:nvSpPr>
        <p:spPr>
          <a:xfrm>
            <a:off x="5119323" y="804672"/>
            <a:ext cx="6283245" cy="5615178"/>
          </a:xfrm>
        </p:spPr>
        <p:txBody>
          <a:bodyPr anchor="ctr">
            <a:normAutofit lnSpcReduction="10000"/>
          </a:bodyPr>
          <a:lstStyle/>
          <a:p>
            <a:pPr algn="just"/>
            <a:r>
              <a:rPr lang="es-CO" sz="2400" b="0" dirty="0"/>
              <a:t>Permite visualizar posibles relaciones entre variables.</a:t>
            </a:r>
          </a:p>
          <a:p>
            <a:pPr algn="just"/>
            <a:r>
              <a:rPr lang="es-CO" sz="2400" b="0" dirty="0"/>
              <a:t>Se refiere al proceso de realizar las investigaciones iniciales sobre los datos para:</a:t>
            </a:r>
          </a:p>
          <a:p>
            <a:pPr lvl="1" algn="just"/>
            <a:r>
              <a:rPr lang="es-CO" b="0" dirty="0">
                <a:solidFill>
                  <a:schemeClr val="accent1"/>
                </a:solidFill>
              </a:rPr>
              <a:t>Identificar valores inexistentes (NA)</a:t>
            </a:r>
          </a:p>
          <a:p>
            <a:pPr lvl="1" algn="just"/>
            <a:r>
              <a:rPr lang="es-CO" b="0" dirty="0">
                <a:solidFill>
                  <a:schemeClr val="accent1"/>
                </a:solidFill>
              </a:rPr>
              <a:t>Identificar las variables importantes</a:t>
            </a:r>
          </a:p>
          <a:p>
            <a:pPr lvl="1" algn="just"/>
            <a:r>
              <a:rPr lang="es-CO" b="0" dirty="0">
                <a:solidFill>
                  <a:schemeClr val="accent1"/>
                </a:solidFill>
              </a:rPr>
              <a:t>Detectar valores atípicos y anomalías en los datos (calidad de datos)</a:t>
            </a:r>
          </a:p>
          <a:p>
            <a:pPr lvl="1" algn="just"/>
            <a:r>
              <a:rPr lang="es-CO" b="0" dirty="0">
                <a:solidFill>
                  <a:srgbClr val="FF0000"/>
                </a:solidFill>
              </a:rPr>
              <a:t>Descubrir patrones</a:t>
            </a:r>
          </a:p>
          <a:p>
            <a:pPr lvl="1" algn="just"/>
            <a:r>
              <a:rPr lang="es-CO" b="0" dirty="0">
                <a:solidFill>
                  <a:srgbClr val="FF0000"/>
                </a:solidFill>
              </a:rPr>
              <a:t>Empezar a proponer hipótesis</a:t>
            </a:r>
          </a:p>
          <a:p>
            <a:pPr lvl="1" algn="just"/>
            <a:r>
              <a:rPr lang="es-CO" b="0" dirty="0">
                <a:solidFill>
                  <a:srgbClr val="FF0000"/>
                </a:solidFill>
              </a:rPr>
              <a:t>Verificar suposiciones </a:t>
            </a:r>
          </a:p>
          <a:p>
            <a:pPr algn="just"/>
            <a:r>
              <a:rPr lang="es-CO" sz="2400" b="0" dirty="0"/>
              <a:t>Se realiza principalmente con la ayuda de estadísticas descriptiva y análisis gráficos.</a:t>
            </a:r>
          </a:p>
        </p:txBody>
      </p:sp>
    </p:spTree>
    <p:extLst>
      <p:ext uri="{BB962C8B-B14F-4D97-AF65-F5344CB8AC3E}">
        <p14:creationId xmlns:p14="http://schemas.microsoft.com/office/powerpoint/2010/main" val="24260437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 Razones</a:t>
            </a:r>
            <a:endParaRPr sz="2400" dirty="0">
              <a:solidFill>
                <a:srgbClr val="08287C"/>
              </a:solidFill>
              <a:latin typeface="Arial"/>
              <a:ea typeface="Arial"/>
              <a:cs typeface="Arial"/>
              <a:sym typeface="Arial"/>
            </a:endParaRPr>
          </a:p>
        </p:txBody>
      </p:sp>
      <p:sp>
        <p:nvSpPr>
          <p:cNvPr id="3" name="CuadroTexto 2">
            <a:extLst>
              <a:ext uri="{FF2B5EF4-FFF2-40B4-BE49-F238E27FC236}">
                <a16:creationId xmlns:a16="http://schemas.microsoft.com/office/drawing/2014/main" id="{02927E72-96C8-066F-9023-5BEF8F916658}"/>
              </a:ext>
            </a:extLst>
          </p:cNvPr>
          <p:cNvSpPr txBox="1"/>
          <p:nvPr/>
        </p:nvSpPr>
        <p:spPr>
          <a:xfrm>
            <a:off x="999516" y="1525277"/>
            <a:ext cx="10206747" cy="2862322"/>
          </a:xfrm>
          <a:prstGeom prst="rect">
            <a:avLst/>
          </a:prstGeom>
          <a:noFill/>
        </p:spPr>
        <p:txBody>
          <a:bodyPr wrap="square">
            <a:spAutoFit/>
          </a:bodyPr>
          <a:lstStyle/>
          <a:p>
            <a:pPr marL="0" lvl="0" indent="0" algn="just" rtl="0">
              <a:lnSpc>
                <a:spcPct val="100000"/>
              </a:lnSpc>
              <a:spcBef>
                <a:spcPts val="0"/>
              </a:spcBef>
              <a:spcAft>
                <a:spcPts val="0"/>
              </a:spcAft>
              <a:buNone/>
            </a:pPr>
            <a:r>
              <a:rPr lang="es-ES" sz="2000" dirty="0"/>
              <a:t>Este proceso involucra detectar, eliminar, corregir o transformar cualquier anomalía, perturbación o irrelevancia de los datos.</a:t>
            </a:r>
          </a:p>
          <a:p>
            <a:pPr marL="0" lvl="0" indent="0" algn="just" rtl="0">
              <a:lnSpc>
                <a:spcPct val="100000"/>
              </a:lnSpc>
              <a:spcBef>
                <a:spcPts val="0"/>
              </a:spcBef>
              <a:spcAft>
                <a:spcPts val="0"/>
              </a:spcAft>
              <a:buNone/>
            </a:pPr>
            <a:endParaRPr lang="es-ES" sz="2000" dirty="0"/>
          </a:p>
          <a:p>
            <a:pPr marL="0" lvl="0" indent="0" algn="just" rtl="0">
              <a:lnSpc>
                <a:spcPct val="100000"/>
              </a:lnSpc>
              <a:spcBef>
                <a:spcPts val="0"/>
              </a:spcBef>
              <a:spcAft>
                <a:spcPts val="0"/>
              </a:spcAft>
              <a:buNone/>
            </a:pPr>
            <a:r>
              <a:rPr lang="es-ES" sz="2000" dirty="0"/>
              <a:t>Este proceso ayuda a obtener resultados confiables, un error peligroso a la hora de realizar un análisis es abstraerse en exceso en el modelo a implementar, y no empezar por lo más simple. Tu fuente de información y su tratamiento. Los datos en el mundo real rara vez son homogéneos y directamente intuitivos. Asimismo, realizar este proceso puede reducir posibles sesgos en el análisis. He aquí varias de las razones más comunes:</a:t>
            </a:r>
          </a:p>
        </p:txBody>
      </p:sp>
    </p:spTree>
    <p:extLst>
      <p:ext uri="{BB962C8B-B14F-4D97-AF65-F5344CB8AC3E}">
        <p14:creationId xmlns:p14="http://schemas.microsoft.com/office/powerpoint/2010/main" val="8394683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 Remover </a:t>
            </a:r>
            <a:r>
              <a:rPr lang="es-ES" sz="3200" b="1" dirty="0" err="1">
                <a:solidFill>
                  <a:srgbClr val="08287C"/>
                </a:solidFill>
              </a:rPr>
              <a:t>outliers</a:t>
            </a:r>
            <a:endParaRPr sz="2400" dirty="0">
              <a:solidFill>
                <a:srgbClr val="08287C"/>
              </a:solidFill>
              <a:latin typeface="Arial"/>
              <a:ea typeface="Arial"/>
              <a:cs typeface="Arial"/>
              <a:sym typeface="Arial"/>
            </a:endParaRPr>
          </a:p>
        </p:txBody>
      </p:sp>
      <p:sp>
        <p:nvSpPr>
          <p:cNvPr id="3" name="CuadroTexto 2">
            <a:extLst>
              <a:ext uri="{FF2B5EF4-FFF2-40B4-BE49-F238E27FC236}">
                <a16:creationId xmlns:a16="http://schemas.microsoft.com/office/drawing/2014/main" id="{02927E72-96C8-066F-9023-5BEF8F916658}"/>
              </a:ext>
            </a:extLst>
          </p:cNvPr>
          <p:cNvSpPr txBox="1"/>
          <p:nvPr/>
        </p:nvSpPr>
        <p:spPr>
          <a:xfrm>
            <a:off x="999516" y="1525277"/>
            <a:ext cx="10206747" cy="1938992"/>
          </a:xfrm>
          <a:prstGeom prst="rect">
            <a:avLst/>
          </a:prstGeom>
          <a:noFill/>
        </p:spPr>
        <p:txBody>
          <a:bodyPr wrap="square">
            <a:spAutoFit/>
          </a:bodyPr>
          <a:lstStyle/>
          <a:p>
            <a:pPr marL="0" lvl="0" indent="0" algn="just" rtl="0">
              <a:lnSpc>
                <a:spcPct val="100000"/>
              </a:lnSpc>
              <a:spcBef>
                <a:spcPts val="0"/>
              </a:spcBef>
              <a:spcAft>
                <a:spcPts val="0"/>
              </a:spcAft>
              <a:buNone/>
            </a:pPr>
            <a:r>
              <a:rPr lang="es-ES" sz="2000" dirty="0"/>
              <a:t>Por </a:t>
            </a:r>
            <a:r>
              <a:rPr lang="es-ES" sz="2000" dirty="0" err="1"/>
              <a:t>outlier</a:t>
            </a:r>
            <a:r>
              <a:rPr lang="es-ES" sz="2000" dirty="0"/>
              <a:t> nos referimos a cualquier dato que difiere significativamente del promedio o rango observado del resto de nuestros datos. Aunque los </a:t>
            </a:r>
            <a:r>
              <a:rPr lang="es-ES" sz="2000" dirty="0" err="1"/>
              <a:t>outliers</a:t>
            </a:r>
            <a:r>
              <a:rPr lang="es-ES" sz="2000" dirty="0"/>
              <a:t> son mucho más fáciles de apreciar gráficamente, también pueden detectarse a primera vista en un conjunto de datos, por ejemplo, encontrar la variable edad de una persona en 480. Inmediatamente nos indica que es un error de entrada de datos, conocido en inglés como "data </a:t>
            </a:r>
            <a:r>
              <a:rPr lang="es-ES" sz="2000" dirty="0" err="1"/>
              <a:t>entry</a:t>
            </a:r>
            <a:r>
              <a:rPr lang="es-ES" sz="2000" dirty="0"/>
              <a:t> error", probablemente la edad sea 48.</a:t>
            </a:r>
          </a:p>
        </p:txBody>
      </p:sp>
      <p:pic>
        <p:nvPicPr>
          <p:cNvPr id="1026" name="Picture 2" descr="image-28">
            <a:extLst>
              <a:ext uri="{FF2B5EF4-FFF2-40B4-BE49-F238E27FC236}">
                <a16:creationId xmlns:a16="http://schemas.microsoft.com/office/drawing/2014/main" id="{81F25464-5167-F57D-DA54-BB1F5F3785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5816" y="3468947"/>
            <a:ext cx="5400368" cy="32459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1221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 Trabajar datos nulos</a:t>
            </a:r>
            <a:endParaRPr sz="2400" dirty="0">
              <a:solidFill>
                <a:srgbClr val="08287C"/>
              </a:solidFill>
              <a:latin typeface="Arial"/>
              <a:ea typeface="Arial"/>
              <a:cs typeface="Arial"/>
              <a:sym typeface="Arial"/>
            </a:endParaRPr>
          </a:p>
        </p:txBody>
      </p:sp>
      <p:sp>
        <p:nvSpPr>
          <p:cNvPr id="3" name="CuadroTexto 2">
            <a:extLst>
              <a:ext uri="{FF2B5EF4-FFF2-40B4-BE49-F238E27FC236}">
                <a16:creationId xmlns:a16="http://schemas.microsoft.com/office/drawing/2014/main" id="{02927E72-96C8-066F-9023-5BEF8F916658}"/>
              </a:ext>
            </a:extLst>
          </p:cNvPr>
          <p:cNvSpPr txBox="1"/>
          <p:nvPr/>
        </p:nvSpPr>
        <p:spPr>
          <a:xfrm>
            <a:off x="999516" y="1525277"/>
            <a:ext cx="10206747" cy="3170099"/>
          </a:xfrm>
          <a:prstGeom prst="rect">
            <a:avLst/>
          </a:prstGeom>
          <a:noFill/>
        </p:spPr>
        <p:txBody>
          <a:bodyPr wrap="square">
            <a:spAutoFit/>
          </a:bodyPr>
          <a:lstStyle/>
          <a:p>
            <a:pPr marL="0" lvl="0" indent="0" algn="just" rtl="0">
              <a:lnSpc>
                <a:spcPct val="100000"/>
              </a:lnSpc>
              <a:spcBef>
                <a:spcPts val="0"/>
              </a:spcBef>
              <a:spcAft>
                <a:spcPts val="0"/>
              </a:spcAft>
              <a:buNone/>
            </a:pPr>
            <a:r>
              <a:rPr lang="es-ES" sz="2000" dirty="0"/>
              <a:t>No se ha introducido información alguna en alguno de los elementos de la variable. </a:t>
            </a:r>
          </a:p>
          <a:p>
            <a:pPr marL="0" lvl="0" indent="0" algn="just" rtl="0">
              <a:lnSpc>
                <a:spcPct val="100000"/>
              </a:lnSpc>
              <a:spcBef>
                <a:spcPts val="0"/>
              </a:spcBef>
              <a:spcAft>
                <a:spcPts val="0"/>
              </a:spcAft>
              <a:buNone/>
            </a:pPr>
            <a:endParaRPr lang="es-ES" sz="2000" dirty="0"/>
          </a:p>
          <a:p>
            <a:pPr marL="0" lvl="0" indent="0" algn="just" rtl="0">
              <a:lnSpc>
                <a:spcPct val="100000"/>
              </a:lnSpc>
              <a:spcBef>
                <a:spcPts val="0"/>
              </a:spcBef>
              <a:spcAft>
                <a:spcPts val="0"/>
              </a:spcAft>
              <a:buNone/>
            </a:pPr>
            <a:r>
              <a:rPr lang="es-ES" sz="2000" dirty="0"/>
              <a:t>Estos pueden deberse a falta de información o bien a no haber podido estimar la variable, un error de entrada, o bien hubo un fenómeno externo que impidió la recolección de datos. </a:t>
            </a:r>
          </a:p>
          <a:p>
            <a:pPr marL="0" lvl="0" indent="0" algn="just" rtl="0">
              <a:lnSpc>
                <a:spcPct val="100000"/>
              </a:lnSpc>
              <a:spcBef>
                <a:spcPts val="0"/>
              </a:spcBef>
              <a:spcAft>
                <a:spcPts val="0"/>
              </a:spcAft>
              <a:buNone/>
            </a:pPr>
            <a:endParaRPr lang="es-ES" sz="2000" dirty="0"/>
          </a:p>
          <a:p>
            <a:pPr marL="0" lvl="0" indent="0" algn="just" rtl="0">
              <a:lnSpc>
                <a:spcPct val="100000"/>
              </a:lnSpc>
              <a:spcBef>
                <a:spcPts val="0"/>
              </a:spcBef>
              <a:spcAft>
                <a:spcPts val="0"/>
              </a:spcAft>
              <a:buNone/>
            </a:pPr>
            <a:r>
              <a:rPr lang="es-ES" sz="2000" dirty="0"/>
              <a:t>Cualquiera sea la razón es importante estar consciente de esta situación, puesto que conociendo la localización y el tipo de datos que se encuentran nulos, podremos extrapolarlos, efectuar una transformación o bien, al menos conocer las limitaciones de nuestra información. Este fenómeno también puede ser conocido como "</a:t>
            </a:r>
            <a:r>
              <a:rPr lang="es-ES" sz="2000" dirty="0" err="1"/>
              <a:t>Missing</a:t>
            </a:r>
            <a:r>
              <a:rPr lang="es-ES" sz="2000" dirty="0"/>
              <a:t> Data".</a:t>
            </a:r>
          </a:p>
        </p:txBody>
      </p:sp>
    </p:spTree>
    <p:extLst>
      <p:ext uri="{BB962C8B-B14F-4D97-AF65-F5344CB8AC3E}">
        <p14:creationId xmlns:p14="http://schemas.microsoft.com/office/powerpoint/2010/main" val="16763966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11218336"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 Eliminar o transformar datos erróneos e irrelevantes</a:t>
            </a:r>
            <a:endParaRPr sz="2400" dirty="0">
              <a:solidFill>
                <a:srgbClr val="08287C"/>
              </a:solidFill>
              <a:latin typeface="Arial"/>
              <a:ea typeface="Arial"/>
              <a:cs typeface="Arial"/>
              <a:sym typeface="Arial"/>
            </a:endParaRPr>
          </a:p>
        </p:txBody>
      </p:sp>
      <p:sp>
        <p:nvSpPr>
          <p:cNvPr id="3" name="CuadroTexto 2">
            <a:extLst>
              <a:ext uri="{FF2B5EF4-FFF2-40B4-BE49-F238E27FC236}">
                <a16:creationId xmlns:a16="http://schemas.microsoft.com/office/drawing/2014/main" id="{02927E72-96C8-066F-9023-5BEF8F916658}"/>
              </a:ext>
            </a:extLst>
          </p:cNvPr>
          <p:cNvSpPr txBox="1"/>
          <p:nvPr/>
        </p:nvSpPr>
        <p:spPr>
          <a:xfrm>
            <a:off x="999516" y="1525277"/>
            <a:ext cx="10206747" cy="707886"/>
          </a:xfrm>
          <a:prstGeom prst="rect">
            <a:avLst/>
          </a:prstGeom>
          <a:noFill/>
        </p:spPr>
        <p:txBody>
          <a:bodyPr wrap="square">
            <a:spAutoFit/>
          </a:bodyPr>
          <a:lstStyle/>
          <a:p>
            <a:pPr marL="0" lvl="0" indent="0" algn="just" rtl="0">
              <a:lnSpc>
                <a:spcPct val="100000"/>
              </a:lnSpc>
              <a:spcBef>
                <a:spcPts val="0"/>
              </a:spcBef>
              <a:spcAft>
                <a:spcPts val="0"/>
              </a:spcAft>
              <a:buNone/>
            </a:pPr>
            <a:r>
              <a:rPr lang="es-ES" sz="2000" dirty="0"/>
              <a:t>Estos representan información fuera de contexto en nuestra base de datos, por ejemplo, tener la variable precio de venta en números negativos.</a:t>
            </a:r>
          </a:p>
        </p:txBody>
      </p:sp>
      <p:pic>
        <p:nvPicPr>
          <p:cNvPr id="2050" name="Picture 2" descr="pexels-photo-2255903">
            <a:extLst>
              <a:ext uri="{FF2B5EF4-FFF2-40B4-BE49-F238E27FC236}">
                <a16:creationId xmlns:a16="http://schemas.microsoft.com/office/drawing/2014/main" id="{E7459167-E41F-DE57-994B-873D61CCF4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2566" y="2548430"/>
            <a:ext cx="5626868" cy="3750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24123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 Pasos para la limpieza</a:t>
            </a:r>
            <a:endParaRPr sz="2400" dirty="0">
              <a:solidFill>
                <a:srgbClr val="08287C"/>
              </a:solidFill>
              <a:latin typeface="Arial"/>
              <a:ea typeface="Arial"/>
              <a:cs typeface="Arial"/>
              <a:sym typeface="Arial"/>
            </a:endParaRPr>
          </a:p>
        </p:txBody>
      </p:sp>
      <p:sp>
        <p:nvSpPr>
          <p:cNvPr id="3" name="CuadroTexto 2">
            <a:extLst>
              <a:ext uri="{FF2B5EF4-FFF2-40B4-BE49-F238E27FC236}">
                <a16:creationId xmlns:a16="http://schemas.microsoft.com/office/drawing/2014/main" id="{02927E72-96C8-066F-9023-5BEF8F916658}"/>
              </a:ext>
            </a:extLst>
          </p:cNvPr>
          <p:cNvSpPr txBox="1"/>
          <p:nvPr/>
        </p:nvSpPr>
        <p:spPr>
          <a:xfrm>
            <a:off x="999516" y="1525277"/>
            <a:ext cx="10206747" cy="1938992"/>
          </a:xfrm>
          <a:prstGeom prst="rect">
            <a:avLst/>
          </a:prstGeom>
          <a:noFill/>
        </p:spPr>
        <p:txBody>
          <a:bodyPr wrap="square">
            <a:spAutoFit/>
          </a:bodyPr>
          <a:lstStyle/>
          <a:p>
            <a:pPr marL="342900" lvl="0" indent="-342900" algn="just" rtl="0">
              <a:lnSpc>
                <a:spcPct val="100000"/>
              </a:lnSpc>
              <a:spcBef>
                <a:spcPts val="0"/>
              </a:spcBef>
              <a:spcAft>
                <a:spcPts val="0"/>
              </a:spcAft>
              <a:buFont typeface="Arial" panose="020B0604020202020204" pitchFamily="34" charset="0"/>
              <a:buChar char="•"/>
            </a:pPr>
            <a:r>
              <a:rPr lang="es-ES" sz="2000" dirty="0"/>
              <a:t>Identificar y eliminar valores atípicos o valores faltantes</a:t>
            </a:r>
          </a:p>
          <a:p>
            <a:pPr marL="342900" lvl="0" indent="-342900" algn="just" rtl="0">
              <a:lnSpc>
                <a:spcPct val="100000"/>
              </a:lnSpc>
              <a:spcBef>
                <a:spcPts val="0"/>
              </a:spcBef>
              <a:spcAft>
                <a:spcPts val="0"/>
              </a:spcAft>
              <a:buFont typeface="Arial" panose="020B0604020202020204" pitchFamily="34" charset="0"/>
              <a:buChar char="•"/>
            </a:pPr>
            <a:r>
              <a:rPr lang="es-ES" sz="2000" dirty="0"/>
              <a:t>Eliminar datos duplicados</a:t>
            </a:r>
          </a:p>
          <a:p>
            <a:pPr marL="342900" lvl="0" indent="-342900" algn="just" rtl="0">
              <a:lnSpc>
                <a:spcPct val="100000"/>
              </a:lnSpc>
              <a:spcBef>
                <a:spcPts val="0"/>
              </a:spcBef>
              <a:spcAft>
                <a:spcPts val="0"/>
              </a:spcAft>
              <a:buFont typeface="Arial" panose="020B0604020202020204" pitchFamily="34" charset="0"/>
              <a:buChar char="•"/>
            </a:pPr>
            <a:r>
              <a:rPr lang="es-ES" sz="2000" dirty="0"/>
              <a:t>Convertir los datos en el formato adecuado</a:t>
            </a:r>
          </a:p>
          <a:p>
            <a:pPr marL="342900" lvl="0" indent="-342900" algn="just" rtl="0">
              <a:lnSpc>
                <a:spcPct val="100000"/>
              </a:lnSpc>
              <a:spcBef>
                <a:spcPts val="0"/>
              </a:spcBef>
              <a:spcAft>
                <a:spcPts val="0"/>
              </a:spcAft>
              <a:buFont typeface="Arial" panose="020B0604020202020204" pitchFamily="34" charset="0"/>
              <a:buChar char="•"/>
            </a:pPr>
            <a:r>
              <a:rPr lang="es-ES" sz="2000" dirty="0"/>
              <a:t>Normalizar los datos</a:t>
            </a:r>
          </a:p>
          <a:p>
            <a:pPr marL="342900" lvl="0" indent="-342900" algn="just" rtl="0">
              <a:lnSpc>
                <a:spcPct val="100000"/>
              </a:lnSpc>
              <a:spcBef>
                <a:spcPts val="0"/>
              </a:spcBef>
              <a:spcAft>
                <a:spcPts val="0"/>
              </a:spcAft>
              <a:buFont typeface="Arial" panose="020B0604020202020204" pitchFamily="34" charset="0"/>
              <a:buChar char="•"/>
            </a:pPr>
            <a:r>
              <a:rPr lang="es-ES" sz="2000" dirty="0"/>
              <a:t>Verificar la consistencia de los datos</a:t>
            </a:r>
          </a:p>
          <a:p>
            <a:pPr marL="342900" lvl="0" indent="-342900" algn="just" rtl="0">
              <a:lnSpc>
                <a:spcPct val="100000"/>
              </a:lnSpc>
              <a:spcBef>
                <a:spcPts val="0"/>
              </a:spcBef>
              <a:spcAft>
                <a:spcPts val="0"/>
              </a:spcAft>
              <a:buFont typeface="Arial" panose="020B0604020202020204" pitchFamily="34" charset="0"/>
              <a:buChar char="•"/>
            </a:pPr>
            <a:r>
              <a:rPr lang="es-ES" sz="2000" dirty="0"/>
              <a:t>Verificar la validez de los datos</a:t>
            </a:r>
          </a:p>
        </p:txBody>
      </p:sp>
    </p:spTree>
    <p:extLst>
      <p:ext uri="{BB962C8B-B14F-4D97-AF65-F5344CB8AC3E}">
        <p14:creationId xmlns:p14="http://schemas.microsoft.com/office/powerpoint/2010/main" val="7038200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9851652"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 Algoritmo de limpieza de datos con Python</a:t>
            </a:r>
            <a:endParaRPr sz="2400" dirty="0">
              <a:solidFill>
                <a:srgbClr val="08287C"/>
              </a:solidFill>
              <a:latin typeface="Arial"/>
              <a:ea typeface="Arial"/>
              <a:cs typeface="Arial"/>
              <a:sym typeface="Arial"/>
            </a:endParaRPr>
          </a:p>
        </p:txBody>
      </p:sp>
      <p:sp>
        <p:nvSpPr>
          <p:cNvPr id="3" name="CuadroTexto 2">
            <a:extLst>
              <a:ext uri="{FF2B5EF4-FFF2-40B4-BE49-F238E27FC236}">
                <a16:creationId xmlns:a16="http://schemas.microsoft.com/office/drawing/2014/main" id="{02927E72-96C8-066F-9023-5BEF8F916658}"/>
              </a:ext>
            </a:extLst>
          </p:cNvPr>
          <p:cNvSpPr txBox="1"/>
          <p:nvPr/>
        </p:nvSpPr>
        <p:spPr>
          <a:xfrm>
            <a:off x="999516" y="1525277"/>
            <a:ext cx="10206747" cy="2246769"/>
          </a:xfrm>
          <a:prstGeom prst="rect">
            <a:avLst/>
          </a:prstGeom>
          <a:noFill/>
        </p:spPr>
        <p:txBody>
          <a:bodyPr wrap="square">
            <a:spAutoFit/>
          </a:bodyPr>
          <a:lstStyle/>
          <a:p>
            <a:pPr marL="342900" lvl="0" indent="-342900" algn="just" rtl="0">
              <a:lnSpc>
                <a:spcPct val="100000"/>
              </a:lnSpc>
              <a:spcBef>
                <a:spcPts val="0"/>
              </a:spcBef>
              <a:spcAft>
                <a:spcPts val="0"/>
              </a:spcAft>
              <a:buFont typeface="Arial" panose="020B0604020202020204" pitchFamily="34" charset="0"/>
              <a:buChar char="•"/>
            </a:pPr>
            <a:r>
              <a:rPr lang="es-ES" sz="2000" dirty="0"/>
              <a:t>Importar el conjunto de datos en Python</a:t>
            </a:r>
          </a:p>
          <a:p>
            <a:pPr marL="342900" lvl="0" indent="-342900" algn="just" rtl="0">
              <a:lnSpc>
                <a:spcPct val="100000"/>
              </a:lnSpc>
              <a:spcBef>
                <a:spcPts val="0"/>
              </a:spcBef>
              <a:spcAft>
                <a:spcPts val="0"/>
              </a:spcAft>
              <a:buFont typeface="Arial" panose="020B0604020202020204" pitchFamily="34" charset="0"/>
              <a:buChar char="•"/>
            </a:pPr>
            <a:r>
              <a:rPr lang="es-ES" sz="2000" dirty="0"/>
              <a:t>Analizar los valores atípicos y faltantes</a:t>
            </a:r>
          </a:p>
          <a:p>
            <a:pPr marL="342900" lvl="0" indent="-342900" algn="just" rtl="0">
              <a:lnSpc>
                <a:spcPct val="100000"/>
              </a:lnSpc>
              <a:spcBef>
                <a:spcPts val="0"/>
              </a:spcBef>
              <a:spcAft>
                <a:spcPts val="0"/>
              </a:spcAft>
              <a:buFont typeface="Arial" panose="020B0604020202020204" pitchFamily="34" charset="0"/>
              <a:buChar char="•"/>
            </a:pPr>
            <a:r>
              <a:rPr lang="es-ES" sz="2000" dirty="0"/>
              <a:t>Analizar datos duplicados</a:t>
            </a:r>
          </a:p>
          <a:p>
            <a:pPr marL="342900" lvl="0" indent="-342900" algn="just" rtl="0">
              <a:lnSpc>
                <a:spcPct val="100000"/>
              </a:lnSpc>
              <a:spcBef>
                <a:spcPts val="0"/>
              </a:spcBef>
              <a:spcAft>
                <a:spcPts val="0"/>
              </a:spcAft>
              <a:buFont typeface="Arial" panose="020B0604020202020204" pitchFamily="34" charset="0"/>
              <a:buChar char="•"/>
            </a:pPr>
            <a:r>
              <a:rPr lang="es-ES" sz="2000" dirty="0"/>
              <a:t>Convertir los datos al formato adecuado</a:t>
            </a:r>
          </a:p>
          <a:p>
            <a:pPr marL="342900" lvl="0" indent="-342900" algn="just" rtl="0">
              <a:lnSpc>
                <a:spcPct val="100000"/>
              </a:lnSpc>
              <a:spcBef>
                <a:spcPts val="0"/>
              </a:spcBef>
              <a:spcAft>
                <a:spcPts val="0"/>
              </a:spcAft>
              <a:buFont typeface="Arial" panose="020B0604020202020204" pitchFamily="34" charset="0"/>
              <a:buChar char="•"/>
            </a:pPr>
            <a:r>
              <a:rPr lang="es-ES" sz="2000" dirty="0"/>
              <a:t>Normalizar los datos</a:t>
            </a:r>
          </a:p>
          <a:p>
            <a:pPr marL="342900" lvl="0" indent="-342900" algn="just" rtl="0">
              <a:lnSpc>
                <a:spcPct val="100000"/>
              </a:lnSpc>
              <a:spcBef>
                <a:spcPts val="0"/>
              </a:spcBef>
              <a:spcAft>
                <a:spcPts val="0"/>
              </a:spcAft>
              <a:buFont typeface="Arial" panose="020B0604020202020204" pitchFamily="34" charset="0"/>
              <a:buChar char="•"/>
            </a:pPr>
            <a:r>
              <a:rPr lang="es-ES" sz="2000" dirty="0"/>
              <a:t>Verificar la consistencia y validez de los datos</a:t>
            </a:r>
          </a:p>
          <a:p>
            <a:pPr marL="342900" lvl="0" indent="-342900" algn="just" rtl="0">
              <a:lnSpc>
                <a:spcPct val="100000"/>
              </a:lnSpc>
              <a:spcBef>
                <a:spcPts val="0"/>
              </a:spcBef>
              <a:spcAft>
                <a:spcPts val="0"/>
              </a:spcAft>
              <a:buFont typeface="Arial" panose="020B0604020202020204" pitchFamily="34" charset="0"/>
              <a:buChar char="•"/>
            </a:pPr>
            <a:r>
              <a:rPr lang="es-ES" sz="2000" dirty="0"/>
              <a:t>Exportar el conjunto de datos limpio en un archivo</a:t>
            </a:r>
          </a:p>
        </p:txBody>
      </p:sp>
    </p:spTree>
    <p:extLst>
      <p:ext uri="{BB962C8B-B14F-4D97-AF65-F5344CB8AC3E}">
        <p14:creationId xmlns:p14="http://schemas.microsoft.com/office/powerpoint/2010/main" val="5954595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cxnSp>
        <p:nvCxnSpPr>
          <p:cNvPr id="107" name="Google Shape;107;p2"/>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 Procesamiento</a:t>
            </a:r>
            <a:endParaRPr sz="2400" dirty="0">
              <a:solidFill>
                <a:srgbClr val="08287C"/>
              </a:solidFill>
              <a:latin typeface="Arial"/>
              <a:ea typeface="Arial"/>
              <a:cs typeface="Arial"/>
              <a:sym typeface="Arial"/>
            </a:endParaRPr>
          </a:p>
        </p:txBody>
      </p:sp>
      <p:sp>
        <p:nvSpPr>
          <p:cNvPr id="3" name="CuadroTexto 2">
            <a:extLst>
              <a:ext uri="{FF2B5EF4-FFF2-40B4-BE49-F238E27FC236}">
                <a16:creationId xmlns:a16="http://schemas.microsoft.com/office/drawing/2014/main" id="{02927E72-96C8-066F-9023-5BEF8F916658}"/>
              </a:ext>
            </a:extLst>
          </p:cNvPr>
          <p:cNvSpPr txBox="1"/>
          <p:nvPr/>
        </p:nvSpPr>
        <p:spPr>
          <a:xfrm>
            <a:off x="999516" y="1525277"/>
            <a:ext cx="10206747" cy="3170099"/>
          </a:xfrm>
          <a:prstGeom prst="rect">
            <a:avLst/>
          </a:prstGeom>
          <a:noFill/>
        </p:spPr>
        <p:txBody>
          <a:bodyPr wrap="square">
            <a:spAutoFit/>
          </a:bodyPr>
          <a:lstStyle/>
          <a:p>
            <a:pPr marL="0" lvl="0" indent="0" algn="just" rtl="0">
              <a:lnSpc>
                <a:spcPct val="100000"/>
              </a:lnSpc>
              <a:spcBef>
                <a:spcPts val="0"/>
              </a:spcBef>
              <a:spcAft>
                <a:spcPts val="0"/>
              </a:spcAft>
              <a:buNone/>
            </a:pPr>
            <a:r>
              <a:rPr lang="es-ES" sz="2000" dirty="0"/>
              <a:t>El procesamiento de los datos es, por sí mismo, una disciplina propia. En función del volumen y de lo que se quiera analizar, se podrán ejecutar algoritmos muy complejos que podrán dar mucho más valor a los datos. No obstante, normalmente conviene disponer de grandes conocimientos de matemáticas, estadística y programación para poder implementarlos y utilizar.</a:t>
            </a:r>
          </a:p>
          <a:p>
            <a:pPr marL="0" lvl="0" indent="0" algn="just" rtl="0">
              <a:lnSpc>
                <a:spcPct val="100000"/>
              </a:lnSpc>
              <a:spcBef>
                <a:spcPts val="0"/>
              </a:spcBef>
              <a:spcAft>
                <a:spcPts val="0"/>
              </a:spcAft>
              <a:buNone/>
            </a:pPr>
            <a:endParaRPr lang="es-ES" sz="2000" dirty="0"/>
          </a:p>
          <a:p>
            <a:pPr marL="342900" lvl="0" indent="-342900" algn="just" rtl="0">
              <a:lnSpc>
                <a:spcPct val="100000"/>
              </a:lnSpc>
              <a:spcBef>
                <a:spcPts val="0"/>
              </a:spcBef>
              <a:spcAft>
                <a:spcPts val="0"/>
              </a:spcAft>
              <a:buFont typeface="Arial" panose="020B0604020202020204" pitchFamily="34" charset="0"/>
              <a:buChar char="•"/>
            </a:pPr>
            <a:r>
              <a:rPr lang="es-ES" sz="2000" dirty="0"/>
              <a:t>Agregación</a:t>
            </a:r>
          </a:p>
          <a:p>
            <a:pPr marL="342900" lvl="0" indent="-342900" algn="just" rtl="0">
              <a:lnSpc>
                <a:spcPct val="100000"/>
              </a:lnSpc>
              <a:spcBef>
                <a:spcPts val="0"/>
              </a:spcBef>
              <a:spcAft>
                <a:spcPts val="0"/>
              </a:spcAft>
              <a:buFont typeface="Arial" panose="020B0604020202020204" pitchFamily="34" charset="0"/>
              <a:buChar char="•"/>
            </a:pPr>
            <a:r>
              <a:rPr lang="es-ES" sz="2000" dirty="0"/>
              <a:t>Normalización</a:t>
            </a:r>
          </a:p>
          <a:p>
            <a:pPr marL="342900" lvl="0" indent="-342900" algn="just" rtl="0">
              <a:lnSpc>
                <a:spcPct val="100000"/>
              </a:lnSpc>
              <a:spcBef>
                <a:spcPts val="0"/>
              </a:spcBef>
              <a:spcAft>
                <a:spcPts val="0"/>
              </a:spcAft>
              <a:buFont typeface="Arial" panose="020B0604020202020204" pitchFamily="34" charset="0"/>
              <a:buChar char="•"/>
            </a:pPr>
            <a:r>
              <a:rPr lang="es-ES" sz="2000" dirty="0"/>
              <a:t>Discretización y binarización</a:t>
            </a:r>
          </a:p>
          <a:p>
            <a:pPr marL="342900" lvl="0" indent="-342900" algn="just" rtl="0">
              <a:lnSpc>
                <a:spcPct val="100000"/>
              </a:lnSpc>
              <a:spcBef>
                <a:spcPts val="0"/>
              </a:spcBef>
              <a:spcAft>
                <a:spcPts val="0"/>
              </a:spcAft>
              <a:buFont typeface="Arial" panose="020B0604020202020204" pitchFamily="34" charset="0"/>
              <a:buChar char="•"/>
            </a:pPr>
            <a:r>
              <a:rPr lang="es-ES" sz="2000" dirty="0"/>
              <a:t>Transformación</a:t>
            </a:r>
          </a:p>
        </p:txBody>
      </p:sp>
    </p:spTree>
    <p:extLst>
      <p:ext uri="{BB962C8B-B14F-4D97-AF65-F5344CB8AC3E}">
        <p14:creationId xmlns:p14="http://schemas.microsoft.com/office/powerpoint/2010/main" val="4261108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5">
          <a:extLst>
            <a:ext uri="{FF2B5EF4-FFF2-40B4-BE49-F238E27FC236}">
              <a16:creationId xmlns:a16="http://schemas.microsoft.com/office/drawing/2014/main" id="{849595A3-FB8A-D206-8133-6633DEC6E8DE}"/>
            </a:ext>
          </a:extLst>
        </p:cNvPr>
        <p:cNvGrpSpPr/>
        <p:nvPr/>
      </p:nvGrpSpPr>
      <p:grpSpPr>
        <a:xfrm>
          <a:off x="0" y="0"/>
          <a:ext cx="0" cy="0"/>
          <a:chOff x="0" y="0"/>
          <a:chExt cx="0" cy="0"/>
        </a:xfrm>
      </p:grpSpPr>
      <p:cxnSp>
        <p:nvCxnSpPr>
          <p:cNvPr id="107" name="Google Shape;107;p2">
            <a:extLst>
              <a:ext uri="{FF2B5EF4-FFF2-40B4-BE49-F238E27FC236}">
                <a16:creationId xmlns:a16="http://schemas.microsoft.com/office/drawing/2014/main" id="{42CFE95E-7718-B527-E7F5-BFAA15BE5E11}"/>
              </a:ext>
            </a:extLst>
          </p:cNvPr>
          <p:cNvCxnSpPr/>
          <p:nvPr/>
        </p:nvCxnSpPr>
        <p:spPr>
          <a:xfrm>
            <a:off x="-15224" y="1210009"/>
            <a:ext cx="4572000" cy="0"/>
          </a:xfrm>
          <a:prstGeom prst="straightConnector1">
            <a:avLst/>
          </a:prstGeom>
          <a:noFill/>
          <a:ln w="9525" cap="flat" cmpd="sng">
            <a:solidFill>
              <a:srgbClr val="FF6C1B"/>
            </a:solidFill>
            <a:prstDash val="solid"/>
            <a:miter lim="800000"/>
            <a:headEnd type="none" w="sm" len="sm"/>
            <a:tailEnd type="oval" w="med" len="med"/>
          </a:ln>
        </p:spPr>
      </p:cxnSp>
      <p:sp>
        <p:nvSpPr>
          <p:cNvPr id="108" name="Google Shape;108;p2">
            <a:extLst>
              <a:ext uri="{FF2B5EF4-FFF2-40B4-BE49-F238E27FC236}">
                <a16:creationId xmlns:a16="http://schemas.microsoft.com/office/drawing/2014/main" id="{38226AC4-8280-DD74-7D84-BA1065B2B4EA}"/>
              </a:ext>
            </a:extLst>
          </p:cNvPr>
          <p:cNvSpPr/>
          <p:nvPr/>
        </p:nvSpPr>
        <p:spPr>
          <a:xfrm>
            <a:off x="629535" y="622999"/>
            <a:ext cx="504265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3200" b="1" dirty="0">
                <a:solidFill>
                  <a:srgbClr val="08287C"/>
                </a:solidFill>
              </a:rPr>
              <a:t>Resumen</a:t>
            </a:r>
            <a:endParaRPr sz="2400" dirty="0">
              <a:solidFill>
                <a:srgbClr val="08287C"/>
              </a:solidFill>
              <a:latin typeface="Arial"/>
              <a:ea typeface="Arial"/>
              <a:cs typeface="Arial"/>
              <a:sym typeface="Arial"/>
            </a:endParaRPr>
          </a:p>
        </p:txBody>
      </p:sp>
      <p:sp>
        <p:nvSpPr>
          <p:cNvPr id="3" name="CuadroTexto 2">
            <a:extLst>
              <a:ext uri="{FF2B5EF4-FFF2-40B4-BE49-F238E27FC236}">
                <a16:creationId xmlns:a16="http://schemas.microsoft.com/office/drawing/2014/main" id="{982A2860-8F75-4A78-5ABC-A62D6F59CDB3}"/>
              </a:ext>
            </a:extLst>
          </p:cNvPr>
          <p:cNvSpPr txBox="1"/>
          <p:nvPr/>
        </p:nvSpPr>
        <p:spPr>
          <a:xfrm>
            <a:off x="999516" y="1525277"/>
            <a:ext cx="10206747" cy="2246769"/>
          </a:xfrm>
          <a:prstGeom prst="rect">
            <a:avLst/>
          </a:prstGeom>
          <a:noFill/>
        </p:spPr>
        <p:txBody>
          <a:bodyPr wrap="square">
            <a:spAutoFit/>
          </a:bodyPr>
          <a:lstStyle/>
          <a:p>
            <a:pPr marL="342900" lvl="0" indent="-342900" algn="just" rtl="0">
              <a:lnSpc>
                <a:spcPct val="100000"/>
              </a:lnSpc>
              <a:spcBef>
                <a:spcPts val="0"/>
              </a:spcBef>
              <a:spcAft>
                <a:spcPts val="0"/>
              </a:spcAft>
              <a:buFontTx/>
              <a:buChar char="-"/>
            </a:pPr>
            <a:r>
              <a:rPr lang="es-ES" sz="2000" dirty="0"/>
              <a:t>Selección: filas/columnas y subjetiva/objetiva.</a:t>
            </a:r>
          </a:p>
          <a:p>
            <a:pPr marL="342900" lvl="0" indent="-342900" algn="just" rtl="0">
              <a:lnSpc>
                <a:spcPct val="100000"/>
              </a:lnSpc>
              <a:spcBef>
                <a:spcPts val="0"/>
              </a:spcBef>
              <a:spcAft>
                <a:spcPts val="0"/>
              </a:spcAft>
              <a:buFontTx/>
              <a:buChar char="-"/>
            </a:pPr>
            <a:endParaRPr lang="es-ES" sz="2000" dirty="0"/>
          </a:p>
          <a:p>
            <a:pPr marL="342900" lvl="0" indent="-342900" algn="just" rtl="0">
              <a:lnSpc>
                <a:spcPct val="100000"/>
              </a:lnSpc>
              <a:spcBef>
                <a:spcPts val="0"/>
              </a:spcBef>
              <a:spcAft>
                <a:spcPts val="0"/>
              </a:spcAft>
              <a:buFontTx/>
              <a:buChar char="-"/>
            </a:pPr>
            <a:r>
              <a:rPr lang="es-ES" sz="2000" dirty="0"/>
              <a:t>Preprocesamiento: datos faltantes, valores atípicos, duplicados.</a:t>
            </a:r>
          </a:p>
          <a:p>
            <a:pPr marL="342900" lvl="0" indent="-342900" algn="just" rtl="0">
              <a:lnSpc>
                <a:spcPct val="100000"/>
              </a:lnSpc>
              <a:spcBef>
                <a:spcPts val="0"/>
              </a:spcBef>
              <a:spcAft>
                <a:spcPts val="0"/>
              </a:spcAft>
              <a:buFontTx/>
              <a:buChar char="-"/>
            </a:pPr>
            <a:endParaRPr lang="es-ES" sz="2000" dirty="0"/>
          </a:p>
          <a:p>
            <a:pPr marL="342900" lvl="0" indent="-342900" algn="just" rtl="0">
              <a:lnSpc>
                <a:spcPct val="100000"/>
              </a:lnSpc>
              <a:spcBef>
                <a:spcPts val="0"/>
              </a:spcBef>
              <a:spcAft>
                <a:spcPts val="0"/>
              </a:spcAft>
              <a:buFontTx/>
              <a:buChar char="-"/>
            </a:pPr>
            <a:r>
              <a:rPr lang="es-ES" sz="2000" dirty="0"/>
              <a:t>Transformación: normalización/estandarización, binarización, discretización, codificación, agregación, transformación matemática, ingeniería de características, reducción de dimensionalidad.</a:t>
            </a:r>
          </a:p>
        </p:txBody>
      </p:sp>
    </p:spTree>
    <p:extLst>
      <p:ext uri="{BB962C8B-B14F-4D97-AF65-F5344CB8AC3E}">
        <p14:creationId xmlns:p14="http://schemas.microsoft.com/office/powerpoint/2010/main" val="1924188671"/>
      </p:ext>
    </p:extLst>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1964</TotalTime>
  <Words>1749</Words>
  <Application>Microsoft Office PowerPoint</Application>
  <PresentationFormat>Widescreen</PresentationFormat>
  <Paragraphs>210</Paragraphs>
  <Slides>24</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Wingdings</vt:lpstr>
      <vt:lpstr>Microsoft Sans Serif</vt:lpstr>
      <vt:lpstr>Tema de Office</vt:lpstr>
      <vt:lpstr>PowerPoint Presentation</vt:lpstr>
      <vt:lpstr>PowerPoint Presentation</vt:lpstr>
      <vt:lpstr>Extracción de Conocimiento (proceso KDD)</vt:lpstr>
      <vt:lpstr>Extracción de Conocimiento (proceso KDD)</vt:lpstr>
      <vt:lpstr>Extracción de Conocimiento (proceso KDD)</vt:lpstr>
      <vt:lpstr>PowerPoint Presentation</vt:lpstr>
      <vt:lpstr>PowerPoint Presentation</vt:lpstr>
      <vt:lpstr>Extracción de Conocimiento (proceso KDD)</vt:lpstr>
      <vt:lpstr>PowerPoint Presentation</vt:lpstr>
      <vt:lpstr>PowerPoint Presentation</vt:lpstr>
      <vt:lpstr>PowerPoint Presentation</vt:lpstr>
      <vt:lpstr>Data Cleaning (calidad de datos para análisis)</vt:lpstr>
      <vt:lpstr>PowerPoint Presentation</vt:lpstr>
      <vt:lpstr>Tipos de errores en los datos</vt:lpstr>
      <vt:lpstr>6 formas diferentes de compensar los valores faltantes</vt:lpstr>
      <vt:lpstr>Análisis Exploratorio de Datos - EDA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User</dc:creator>
  <cp:lastModifiedBy>Norbey Muñoz</cp:lastModifiedBy>
  <cp:revision>17</cp:revision>
  <dcterms:created xsi:type="dcterms:W3CDTF">2021-11-22T19:41:18Z</dcterms:created>
  <dcterms:modified xsi:type="dcterms:W3CDTF">2026-07-08T04:19:49Z</dcterms:modified>
</cp:coreProperties>
</file>