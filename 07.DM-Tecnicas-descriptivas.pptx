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Lst>
  <p:notesMasterIdLst>
    <p:notesMasterId r:id="rId39"/>
  </p:notesMasterIdLst>
  <p:sldIdLst>
    <p:sldId id="256" r:id="rId3"/>
    <p:sldId id="261" r:id="rId4"/>
    <p:sldId id="262" r:id="rId5"/>
    <p:sldId id="263" r:id="rId6"/>
    <p:sldId id="264" r:id="rId7"/>
    <p:sldId id="413" r:id="rId8"/>
    <p:sldId id="438" r:id="rId9"/>
    <p:sldId id="414" r:id="rId10"/>
    <p:sldId id="408" r:id="rId11"/>
    <p:sldId id="437" r:id="rId12"/>
    <p:sldId id="407" r:id="rId13"/>
    <p:sldId id="409" r:id="rId14"/>
    <p:sldId id="410" r:id="rId15"/>
    <p:sldId id="411" r:id="rId16"/>
    <p:sldId id="280" r:id="rId17"/>
    <p:sldId id="412" r:id="rId18"/>
    <p:sldId id="281" r:id="rId19"/>
    <p:sldId id="451" r:id="rId20"/>
    <p:sldId id="343" r:id="rId21"/>
    <p:sldId id="344" r:id="rId22"/>
    <p:sldId id="345" r:id="rId23"/>
    <p:sldId id="346" r:id="rId24"/>
    <p:sldId id="457" r:id="rId25"/>
    <p:sldId id="458" r:id="rId26"/>
    <p:sldId id="459" r:id="rId27"/>
    <p:sldId id="460" r:id="rId28"/>
    <p:sldId id="461" r:id="rId29"/>
    <p:sldId id="462" r:id="rId30"/>
    <p:sldId id="463" r:id="rId31"/>
    <p:sldId id="464" r:id="rId32"/>
    <p:sldId id="347" r:id="rId33"/>
    <p:sldId id="348" r:id="rId34"/>
    <p:sldId id="349" r:id="rId35"/>
    <p:sldId id="350" r:id="rId36"/>
    <p:sldId id="351" r:id="rId37"/>
    <p:sldId id="352"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0A3BD8-67F5-4BE5-AED6-6CC28BD8657B}" v="5" dt="2026-08-19T03:20:52.814"/>
  </p1510:revLst>
</p1510:revInfo>
</file>

<file path=ppt/tableStyles.xml><?xml version="1.0" encoding="utf-8"?>
<a:tblStyleLst xmlns:a="http://schemas.openxmlformats.org/drawingml/2006/main" def="{E6878529-A949-4DF4-9186-1BFBCB69A4A8}">
  <a:tblStyle styleId="{E6878529-A949-4DF4-9186-1BFBCB69A4A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87731FB4-1BDE-4EA7-989F-CBBAA418A010}"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3842722-9637-43C7-ABF7-37E919D41B8C}"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699" autoAdjust="0"/>
  </p:normalViewPr>
  <p:slideViewPr>
    <p:cSldViewPr snapToGrid="0">
      <p:cViewPr varScale="1">
        <p:scale>
          <a:sx n="99" d="100"/>
          <a:sy n="99" d="100"/>
        </p:scale>
        <p:origin x="134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pc:chgData name="Norbey Muñoz" userId="b7e811e8891ccd42" providerId="LiveId" clId="{2482167B-ADD3-4E68-AB8B-ADE9CECE27D0}" dt="2026-08-19T03:20:52.807" v="219"/>
      <pc:docMkLst>
        <pc:docMk/>
      </pc:docMkLst>
      <pc:sldChg chg="modSp mod">
        <pc:chgData name="Norbey Muñoz" userId="b7e811e8891ccd42" providerId="LiveId" clId="{2482167B-ADD3-4E68-AB8B-ADE9CECE27D0}" dt="2026-08-11T21:21:16.822" v="23" actId="20577"/>
        <pc:sldMkLst>
          <pc:docMk/>
          <pc:sldMk cId="0" sldId="256"/>
        </pc:sldMkLst>
        <pc:spChg chg="mod">
          <ac:chgData name="Norbey Muñoz" userId="b7e811e8891ccd42" providerId="LiveId" clId="{2482167B-ADD3-4E68-AB8B-ADE9CECE27D0}" dt="2026-08-11T21:21:16.822" v="23" actId="20577"/>
          <ac:spMkLst>
            <pc:docMk/>
            <pc:sldMk cId="0" sldId="256"/>
            <ac:spMk id="105" creationId="{00000000-0000-0000-0000-000000000000}"/>
          </ac:spMkLst>
        </pc:spChg>
      </pc:sldChg>
      <pc:sldChg chg="add del">
        <pc:chgData name="Norbey Muñoz" userId="b7e811e8891ccd42" providerId="LiveId" clId="{2482167B-ADD3-4E68-AB8B-ADE9CECE27D0}" dt="2026-08-19T03:20:52.807" v="219"/>
        <pc:sldMkLst>
          <pc:docMk/>
          <pc:sldMk cId="0" sldId="261"/>
        </pc:sldMkLst>
      </pc:sldChg>
      <pc:sldChg chg="add del">
        <pc:chgData name="Norbey Muñoz" userId="b7e811e8891ccd42" providerId="LiveId" clId="{2482167B-ADD3-4E68-AB8B-ADE9CECE27D0}" dt="2026-08-19T03:20:52.807" v="219"/>
        <pc:sldMkLst>
          <pc:docMk/>
          <pc:sldMk cId="0" sldId="262"/>
        </pc:sldMkLst>
      </pc:sldChg>
      <pc:sldChg chg="add del">
        <pc:chgData name="Norbey Muñoz" userId="b7e811e8891ccd42" providerId="LiveId" clId="{2482167B-ADD3-4E68-AB8B-ADE9CECE27D0}" dt="2026-08-19T03:20:52.807" v="219"/>
        <pc:sldMkLst>
          <pc:docMk/>
          <pc:sldMk cId="0" sldId="263"/>
        </pc:sldMkLst>
      </pc:sldChg>
      <pc:sldChg chg="add del">
        <pc:chgData name="Norbey Muñoz" userId="b7e811e8891ccd42" providerId="LiveId" clId="{2482167B-ADD3-4E68-AB8B-ADE9CECE27D0}" dt="2026-08-19T03:20:52.807" v="219"/>
        <pc:sldMkLst>
          <pc:docMk/>
          <pc:sldMk cId="0" sldId="264"/>
        </pc:sldMkLst>
      </pc:sldChg>
      <pc:sldChg chg="add del">
        <pc:chgData name="Norbey Muñoz" userId="b7e811e8891ccd42" providerId="LiveId" clId="{2482167B-ADD3-4E68-AB8B-ADE9CECE27D0}" dt="2026-08-11T21:21:28.387" v="59" actId="47"/>
        <pc:sldMkLst>
          <pc:docMk/>
          <pc:sldMk cId="0" sldId="280"/>
        </pc:sldMkLst>
      </pc:sldChg>
      <pc:sldChg chg="add del">
        <pc:chgData name="Norbey Muñoz" userId="b7e811e8891ccd42" providerId="LiveId" clId="{2482167B-ADD3-4E68-AB8B-ADE9CECE27D0}" dt="2026-08-11T21:21:33.438" v="63" actId="47"/>
        <pc:sldMkLst>
          <pc:docMk/>
          <pc:sldMk cId="0" sldId="407"/>
        </pc:sldMkLst>
      </pc:sldChg>
      <pc:sldChg chg="add del">
        <pc:chgData name="Norbey Muñoz" userId="b7e811e8891ccd42" providerId="LiveId" clId="{2482167B-ADD3-4E68-AB8B-ADE9CECE27D0}" dt="2026-08-11T21:21:34.749" v="65" actId="47"/>
        <pc:sldMkLst>
          <pc:docMk/>
          <pc:sldMk cId="735410757" sldId="408"/>
        </pc:sldMkLst>
      </pc:sldChg>
      <pc:sldChg chg="add del">
        <pc:chgData name="Norbey Muñoz" userId="b7e811e8891ccd42" providerId="LiveId" clId="{2482167B-ADD3-4E68-AB8B-ADE9CECE27D0}" dt="2026-08-11T21:21:32.990" v="62" actId="47"/>
        <pc:sldMkLst>
          <pc:docMk/>
          <pc:sldMk cId="0" sldId="409"/>
        </pc:sldMkLst>
      </pc:sldChg>
      <pc:sldChg chg="add del">
        <pc:chgData name="Norbey Muñoz" userId="b7e811e8891ccd42" providerId="LiveId" clId="{2482167B-ADD3-4E68-AB8B-ADE9CECE27D0}" dt="2026-08-11T21:21:32.401" v="61" actId="47"/>
        <pc:sldMkLst>
          <pc:docMk/>
          <pc:sldMk cId="0" sldId="410"/>
        </pc:sldMkLst>
      </pc:sldChg>
      <pc:sldChg chg="add del">
        <pc:chgData name="Norbey Muñoz" userId="b7e811e8891ccd42" providerId="LiveId" clId="{2482167B-ADD3-4E68-AB8B-ADE9CECE27D0}" dt="2026-08-11T21:21:31.308" v="60" actId="47"/>
        <pc:sldMkLst>
          <pc:docMk/>
          <pc:sldMk cId="0" sldId="411"/>
        </pc:sldMkLst>
      </pc:sldChg>
      <pc:sldChg chg="add del">
        <pc:chgData name="Norbey Muñoz" userId="b7e811e8891ccd42" providerId="LiveId" clId="{2482167B-ADD3-4E68-AB8B-ADE9CECE27D0}" dt="2026-08-19T03:20:52.807" v="219"/>
        <pc:sldMkLst>
          <pc:docMk/>
          <pc:sldMk cId="0" sldId="413"/>
        </pc:sldMkLst>
      </pc:sldChg>
      <pc:sldChg chg="add del">
        <pc:chgData name="Norbey Muñoz" userId="b7e811e8891ccd42" providerId="LiveId" clId="{2482167B-ADD3-4E68-AB8B-ADE9CECE27D0}" dt="2026-08-19T03:20:52.807" v="219"/>
        <pc:sldMkLst>
          <pc:docMk/>
          <pc:sldMk cId="0" sldId="414"/>
        </pc:sldMkLst>
      </pc:sldChg>
      <pc:sldChg chg="add del">
        <pc:chgData name="Norbey Muñoz" userId="b7e811e8891ccd42" providerId="LiveId" clId="{2482167B-ADD3-4E68-AB8B-ADE9CECE27D0}" dt="2026-08-11T21:21:33.887" v="64" actId="47"/>
        <pc:sldMkLst>
          <pc:docMk/>
          <pc:sldMk cId="3116154227" sldId="437"/>
        </pc:sldMkLst>
      </pc:sldChg>
      <pc:sldChg chg="add del setBg">
        <pc:chgData name="Norbey Muñoz" userId="b7e811e8891ccd42" providerId="LiveId" clId="{2482167B-ADD3-4E68-AB8B-ADE9CECE27D0}" dt="2026-08-19T03:20:52.807" v="219"/>
        <pc:sldMkLst>
          <pc:docMk/>
          <pc:sldMk cId="1546668214" sldId="438"/>
        </pc:sldMkLst>
      </pc:sldChg>
      <pc:sldMasterChg chg="delSldLayout">
        <pc:chgData name="Norbey Muñoz" userId="b7e811e8891ccd42" providerId="LiveId" clId="{2482167B-ADD3-4E68-AB8B-ADE9CECE27D0}" dt="2026-08-11T21:22:20.509" v="155" actId="47"/>
        <pc:sldMasterMkLst>
          <pc:docMk/>
          <pc:sldMasterMk cId="0" sldId="2147483661"/>
        </pc:sldMasterMkLst>
      </pc:sldMasterChg>
      <pc:sldMasterChg chg="delSldLayout">
        <pc:chgData name="Norbey Muñoz" userId="b7e811e8891ccd42" providerId="LiveId" clId="{2482167B-ADD3-4E68-AB8B-ADE9CECE27D0}" dt="2026-08-11T21:23:40.156" v="214" actId="47"/>
        <pc:sldMasterMkLst>
          <pc:docMk/>
          <pc:sldMasterMk cId="0" sldId="2147483662"/>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750e5b5dc8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g750e5b5dc8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57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750e5b5dc8_2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750e5b5dc8_2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47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04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ea299deb27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ea299deb27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ea299deb2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ea299deb2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ea299deb27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1ea299deb27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ea299deb27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ea299deb27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ea299deb27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ea299deb27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0521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3" name="Google Shape;943;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1" name="Google Shape;951;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1" name="Google Shape;961;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11b87d28de3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0" name="Google Shape;970;g11b87d28de3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5A89EA2E-370B-B574-5CB6-3615D2EB1457}"/>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0411EFBF-8D7B-FB03-9FE5-BE718768DB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7571A708-AE52-C3DD-231D-C2AD1AE6CD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4268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9784C687-2F39-DBFB-37DC-CCC2C289A02D}"/>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C4134475-8378-BD02-CB55-CF30530014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BAED3A62-CB44-D3C5-1CB6-A9345F6DE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62743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7E965239-AC1B-EA21-D47B-D553B950A630}"/>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F311D8FB-8A11-788A-1CFA-238EABAFD3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4D2B254B-B148-1BFC-8079-B9362F5D73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47845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FE425090-B841-5C96-9F2F-948E7720660E}"/>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9D9E4E33-1FF0-73B7-9082-1A8351C4A8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F5091ECE-C525-9A77-AF62-FC8969DD93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31414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19827340-5A4A-6EB8-EEC1-46876AF920E3}"/>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787DA76A-1903-FE9B-C021-F8F43EA299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0665E696-79C9-A80F-19EB-3BFE15AA12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4323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700AD6D4-5A4F-5BA6-9FB2-27B22F42738D}"/>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97D9DE6E-A377-9C7D-6C6E-E5B655EEE2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8A55335B-CDAF-99CF-58C1-CA338463D4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65887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B6827E69-F254-4269-8DA3-303E2B23E102}"/>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A1DD8BD3-E53A-8777-41D2-1101DB39BD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E2DB434E-8FA8-C49B-9916-2CA445FB28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38970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F0AE9927-A665-2CD7-411C-72FA34046AE5}"/>
            </a:ext>
          </a:extLst>
        </p:cNvPr>
        <p:cNvGrpSpPr/>
        <p:nvPr/>
      </p:nvGrpSpPr>
      <p:grpSpPr>
        <a:xfrm>
          <a:off x="0" y="0"/>
          <a:ext cx="0" cy="0"/>
          <a:chOff x="0" y="0"/>
          <a:chExt cx="0" cy="0"/>
        </a:xfrm>
      </p:grpSpPr>
      <p:sp>
        <p:nvSpPr>
          <p:cNvPr id="900" name="Google Shape;900;p68:notes">
            <a:extLst>
              <a:ext uri="{FF2B5EF4-FFF2-40B4-BE49-F238E27FC236}">
                <a16:creationId xmlns:a16="http://schemas.microsoft.com/office/drawing/2014/main" id="{F134E7E2-A20A-92D9-D22C-1D75118FE6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1" name="Google Shape;901;p68:notes">
            <a:extLst>
              <a:ext uri="{FF2B5EF4-FFF2-40B4-BE49-F238E27FC236}">
                <a16:creationId xmlns:a16="http://schemas.microsoft.com/office/drawing/2014/main" id="{13BD0401-965F-6495-DB98-7CD62A1FFD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8170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6" name="Google Shape;976;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4" name="Google Shape;984;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7" name="Google Shape;1017;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5" name="Google Shape;1025;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3" name="Google Shape;1033;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6" name="Google Shape;1066;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8" name="Google Shape;4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61" name="Google Shape;6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4"/>
        <p:cNvGrpSpPr/>
        <p:nvPr/>
      </p:nvGrpSpPr>
      <p:grpSpPr>
        <a:xfrm>
          <a:off x="0" y="0"/>
          <a:ext cx="0" cy="0"/>
          <a:chOff x="0" y="0"/>
          <a:chExt cx="0" cy="0"/>
        </a:xfrm>
      </p:grpSpPr>
      <p:sp>
        <p:nvSpPr>
          <p:cNvPr id="65" name="Google Shape;65;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9" name="Google Shape;69;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3"/>
        <p:cNvGrpSpPr/>
        <p:nvPr/>
      </p:nvGrpSpPr>
      <p:grpSpPr>
        <a:xfrm>
          <a:off x="0" y="0"/>
          <a:ext cx="0" cy="0"/>
          <a:chOff x="0" y="0"/>
          <a:chExt cx="0" cy="0"/>
        </a:xfrm>
      </p:grpSpPr>
      <p:sp>
        <p:nvSpPr>
          <p:cNvPr id="74" name="Google Shape;74;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6" name="Google Shape;76;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3"/>
          <p:cNvSpPr>
            <a:spLocks noGrp="1"/>
          </p:cNvSpPr>
          <p:nvPr>
            <p:ph type="pic" idx="2"/>
          </p:nvPr>
        </p:nvSpPr>
        <p:spPr>
          <a:xfrm>
            <a:off x="5183188" y="987425"/>
            <a:ext cx="6172200" cy="4873625"/>
          </a:xfrm>
          <a:prstGeom prst="rect">
            <a:avLst/>
          </a:prstGeom>
          <a:noFill/>
          <a:ln>
            <a:noFill/>
          </a:ln>
        </p:spPr>
      </p:sp>
      <p:sp>
        <p:nvSpPr>
          <p:cNvPr id="83" name="Google Shape;83;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4" name="Google Shape;8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p:nvPr/>
        </p:nvSpPr>
        <p:spPr>
          <a:xfrm>
            <a:off x="-100" y="6727600"/>
            <a:ext cx="12192000" cy="1304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7" name="Google Shape;27;p4"/>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203516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2" name="Google Shape;3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3" name="Google Shape;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CO"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885947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3" r:id="rId11"/>
    <p:sldLayoutId id="214748366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cikit-learn.org/stable/user_guide.html"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3.g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hyperlink" Target="https://dzone.com/articles/what-your-customers-may-like-most-apriori-algorith?edition=71942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16"/>
          <p:cNvSpPr/>
          <p:nvPr/>
        </p:nvSpPr>
        <p:spPr>
          <a:xfrm>
            <a:off x="0" y="-3324"/>
            <a:ext cx="12192000" cy="68613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6"/>
          <p:cNvSpPr/>
          <p:nvPr/>
        </p:nvSpPr>
        <p:spPr>
          <a:xfrm>
            <a:off x="321734" y="321733"/>
            <a:ext cx="11573488" cy="6214534"/>
          </a:xfrm>
          <a:prstGeom prst="rect">
            <a:avLst/>
          </a:prstGeom>
          <a:solidFill>
            <a:srgbClr val="3F3F3F"/>
          </a:solidFill>
          <a:ln w="127000" cap="sq" cmpd="thinThick">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6"/>
          <p:cNvSpPr txBox="1">
            <a:spLocks noGrp="1"/>
          </p:cNvSpPr>
          <p:nvPr>
            <p:ph type="ctrTitle"/>
          </p:nvPr>
        </p:nvSpPr>
        <p:spPr>
          <a:xfrm>
            <a:off x="1524000" y="1771653"/>
            <a:ext cx="9144000" cy="219074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5800"/>
              <a:buFont typeface="Calibri"/>
              <a:buNone/>
            </a:pPr>
            <a:r>
              <a:rPr lang="es-CO" sz="5800" dirty="0"/>
              <a:t>Tarea Descriptiva</a:t>
            </a:r>
            <a:br>
              <a:rPr lang="es-CO" sz="5800" dirty="0"/>
            </a:br>
            <a:r>
              <a:rPr lang="es-CO" sz="5800" dirty="0"/>
              <a:t>Machine Learning</a:t>
            </a:r>
            <a:endParaRPr sz="5800" dirty="0"/>
          </a:p>
        </p:txBody>
      </p:sp>
      <p:cxnSp>
        <p:nvCxnSpPr>
          <p:cNvPr id="106" name="Google Shape;106;p16"/>
          <p:cNvCxnSpPr/>
          <p:nvPr/>
        </p:nvCxnSpPr>
        <p:spPr>
          <a:xfrm>
            <a:off x="4724400" y="4109417"/>
            <a:ext cx="2743200" cy="0"/>
          </a:xfrm>
          <a:prstGeom prst="straightConnector1">
            <a:avLst/>
          </a:prstGeom>
          <a:noFill/>
          <a:ln w="12700" cap="flat" cmpd="sng">
            <a:solidFill>
              <a:srgbClr val="D8D8D8"/>
            </a:solidFill>
            <a:prstDash val="solid"/>
            <a:miter lim="800000"/>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grpSp>
        <p:nvGrpSpPr>
          <p:cNvPr id="163" name="Google Shape;163;p21"/>
          <p:cNvGrpSpPr/>
          <p:nvPr/>
        </p:nvGrpSpPr>
        <p:grpSpPr>
          <a:xfrm>
            <a:off x="1029968" y="428040"/>
            <a:ext cx="10162543" cy="6084519"/>
            <a:chOff x="461008" y="1320"/>
            <a:chExt cx="10162543" cy="6084519"/>
          </a:xfrm>
        </p:grpSpPr>
        <p:sp>
          <p:nvSpPr>
            <p:cNvPr id="164" name="Google Shape;164;p21"/>
            <p:cNvSpPr/>
            <p:nvPr/>
          </p:nvSpPr>
          <p:spPr>
            <a:xfrm>
              <a:off x="4933876" y="2348602"/>
              <a:ext cx="3422888" cy="1204366"/>
            </a:xfrm>
            <a:custGeom>
              <a:avLst/>
              <a:gdLst/>
              <a:ahLst/>
              <a:cxnLst/>
              <a:rect l="l" t="t" r="r" b="b"/>
              <a:pathLst>
                <a:path w="120000" h="120000" extrusionOk="0">
                  <a:moveTo>
                    <a:pt x="0" y="0"/>
                  </a:moveTo>
                  <a:lnTo>
                    <a:pt x="0" y="65429"/>
                  </a:lnTo>
                  <a:lnTo>
                    <a:pt x="120000" y="65429"/>
                  </a:lnTo>
                  <a:lnTo>
                    <a:pt x="120000" y="120000"/>
                  </a:lnTo>
                </a:path>
              </a:pathLst>
            </a:custGeom>
            <a:noFill/>
            <a:ln w="12700" cap="flat" cmpd="sng">
              <a:solidFill>
                <a:schemeClr val="accent6"/>
              </a:solidFill>
              <a:prstDash val="solid"/>
              <a:miter lim="800000"/>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165;p21"/>
            <p:cNvSpPr/>
            <p:nvPr/>
          </p:nvSpPr>
          <p:spPr>
            <a:xfrm>
              <a:off x="2727794" y="2348602"/>
              <a:ext cx="2206082" cy="1204366"/>
            </a:xfrm>
            <a:custGeom>
              <a:avLst/>
              <a:gdLst/>
              <a:ahLst/>
              <a:cxnLst/>
              <a:rect l="l" t="t" r="r" b="b"/>
              <a:pathLst>
                <a:path w="120000" h="120000" extrusionOk="0">
                  <a:moveTo>
                    <a:pt x="120000" y="0"/>
                  </a:moveTo>
                  <a:lnTo>
                    <a:pt x="120000" y="65429"/>
                  </a:lnTo>
                  <a:lnTo>
                    <a:pt x="0" y="65429"/>
                  </a:lnTo>
                  <a:lnTo>
                    <a:pt x="0" y="120000"/>
                  </a:lnTo>
                </a:path>
              </a:pathLst>
            </a:custGeom>
            <a:noFill/>
            <a:ln w="12700" cap="flat" cmpd="sng">
              <a:solidFill>
                <a:schemeClr val="accent6"/>
              </a:solidFill>
              <a:prstDash val="solid"/>
              <a:miter lim="800000"/>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166;p21"/>
            <p:cNvSpPr/>
            <p:nvPr/>
          </p:nvSpPr>
          <p:spPr>
            <a:xfrm>
              <a:off x="2667090" y="1320"/>
              <a:ext cx="4533572" cy="2347282"/>
            </a:xfrm>
            <a:prstGeom prst="rect">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167;p21"/>
            <p:cNvSpPr txBox="1"/>
            <p:nvPr/>
          </p:nvSpPr>
          <p:spPr>
            <a:xfrm>
              <a:off x="2667090" y="1320"/>
              <a:ext cx="4533572" cy="2347282"/>
            </a:xfrm>
            <a:prstGeom prst="rect">
              <a:avLst/>
            </a:prstGeom>
            <a:noFill/>
            <a:ln>
              <a:noFill/>
            </a:ln>
          </p:spPr>
          <p:txBody>
            <a:bodyPr spcFirstLastPara="1" wrap="square" lIns="27925" tIns="27925" rIns="27925" bIns="3312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4400"/>
                <a:buFont typeface="Calibri"/>
                <a:buNone/>
                <a:tabLst/>
                <a:defRPr/>
              </a:pPr>
              <a:r>
                <a:rPr kumimoji="0" lang="es-CO" sz="4400" b="0" i="0" u="none" strike="noStrike" kern="0" cap="none" spc="0" normalizeH="0" baseline="0" noProof="0">
                  <a:ln>
                    <a:noFill/>
                  </a:ln>
                  <a:solidFill>
                    <a:srgbClr val="FFFFFF"/>
                  </a:solidFill>
                  <a:effectLst/>
                  <a:uLnTx/>
                  <a:uFillTx/>
                  <a:latin typeface="Calibri"/>
                  <a:ea typeface="Calibri"/>
                  <a:cs typeface="Calibri"/>
                  <a:sym typeface="Calibri"/>
                </a:rPr>
                <a:t>Software (Programa)</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90000"/>
                </a:lnSpc>
                <a:spcBef>
                  <a:spcPts val="1540"/>
                </a:spcBef>
                <a:spcAft>
                  <a:spcPts val="0"/>
                </a:spcAft>
                <a:buClr>
                  <a:srgbClr val="FFFFFF"/>
                </a:buClr>
                <a:buSzPts val="2400"/>
                <a:buFont typeface="Calibri"/>
                <a:buNone/>
                <a:tabLst/>
                <a:defRPr/>
              </a:pPr>
              <a:r>
                <a:rPr kumimoji="0" lang="es-CO" sz="2400" b="0" i="0" u="none" strike="noStrike" kern="0" cap="none" spc="0" normalizeH="0" baseline="0" noProof="0">
                  <a:ln>
                    <a:noFill/>
                  </a:ln>
                  <a:solidFill>
                    <a:srgbClr val="FFFFFF"/>
                  </a:solidFill>
                  <a:effectLst/>
                  <a:uLnTx/>
                  <a:uFillTx/>
                  <a:latin typeface="Calibri"/>
                  <a:ea typeface="Calibri"/>
                  <a:cs typeface="Calibri"/>
                  <a:sym typeface="Calibri"/>
                </a:rPr>
                <a:t>(Instrucciones + Datos)</a:t>
              </a: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68" name="Google Shape;168;p21"/>
            <p:cNvSpPr/>
            <p:nvPr/>
          </p:nvSpPr>
          <p:spPr>
            <a:xfrm>
              <a:off x="2075060" y="1978826"/>
              <a:ext cx="5607113" cy="478743"/>
            </a:xfrm>
            <a:prstGeom prst="rect">
              <a:avLst/>
            </a:prstGeom>
            <a:solidFill>
              <a:schemeClr val="lt1">
                <a:alpha val="89803"/>
              </a:schemeClr>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169;p21"/>
            <p:cNvSpPr txBox="1"/>
            <p:nvPr/>
          </p:nvSpPr>
          <p:spPr>
            <a:xfrm>
              <a:off x="2075060" y="1978826"/>
              <a:ext cx="5607113" cy="478743"/>
            </a:xfrm>
            <a:prstGeom prst="rect">
              <a:avLst/>
            </a:prstGeom>
            <a:noFill/>
            <a:ln>
              <a:noFill/>
            </a:ln>
          </p:spPr>
          <p:txBody>
            <a:bodyPr spcFirstLastPara="1" wrap="square" lIns="76200" tIns="19050" rIns="76200" bIns="19050" anchor="ctr" anchorCtr="0">
              <a:noAutofit/>
            </a:bodyPr>
            <a:lstStyle/>
            <a:p>
              <a:pPr marL="0" marR="0" lvl="0" indent="0" algn="r" defTabSz="914400" rtl="0" eaLnBrk="1" fontAlgn="auto" latinLnBrk="0" hangingPunct="1">
                <a:lnSpc>
                  <a:spcPct val="90000"/>
                </a:lnSpc>
                <a:spcBef>
                  <a:spcPts val="0"/>
                </a:spcBef>
                <a:spcAft>
                  <a:spcPts val="0"/>
                </a:spcAft>
                <a:buClr>
                  <a:srgbClr val="000000"/>
                </a:buClr>
                <a:buSzPts val="3000"/>
                <a:buFont typeface="Calibri"/>
                <a:buNone/>
                <a:tabLst/>
                <a:defRPr/>
              </a:pPr>
              <a:r>
                <a:rPr kumimoji="0" lang="es-CO" sz="3000" b="0" i="0" u="none" strike="noStrike" kern="0" cap="none" spc="0" normalizeH="0" baseline="0" noProof="0">
                  <a:ln>
                    <a:noFill/>
                  </a:ln>
                  <a:solidFill>
                    <a:srgbClr val="000000"/>
                  </a:solidFill>
                  <a:effectLst/>
                  <a:uLnTx/>
                  <a:uFillTx/>
                  <a:latin typeface="Calibri"/>
                  <a:ea typeface="Calibri"/>
                  <a:cs typeface="Calibri"/>
                  <a:sym typeface="Calibri"/>
                </a:rPr>
                <a:t>Ayudan en la ejecución de tareas</a:t>
              </a:r>
              <a:endParaRPr kumimoji="0" sz="30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0" name="Google Shape;170;p21"/>
            <p:cNvSpPr/>
            <p:nvPr/>
          </p:nvSpPr>
          <p:spPr>
            <a:xfrm>
              <a:off x="461008" y="3552968"/>
              <a:ext cx="4533572" cy="2347282"/>
            </a:xfrm>
            <a:prstGeom prst="rect">
              <a:avLst/>
            </a:prstGeom>
            <a:solidFill>
              <a:srgbClr val="599BD5"/>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171;p21"/>
            <p:cNvSpPr txBox="1"/>
            <p:nvPr/>
          </p:nvSpPr>
          <p:spPr>
            <a:xfrm>
              <a:off x="461008" y="3552968"/>
              <a:ext cx="4533572" cy="2347282"/>
            </a:xfrm>
            <a:prstGeom prst="rect">
              <a:avLst/>
            </a:prstGeom>
            <a:noFill/>
            <a:ln>
              <a:noFill/>
            </a:ln>
          </p:spPr>
          <p:txBody>
            <a:bodyPr spcFirstLastPara="1" wrap="square" lIns="41275" tIns="41275" rIns="41275" bIns="3312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6500"/>
                <a:buFont typeface="Calibri"/>
                <a:buNone/>
                <a:tabLst/>
                <a:defRPr/>
              </a:pPr>
              <a:r>
                <a:rPr kumimoji="0" lang="es-CO" sz="6500" b="0" i="0" u="none" strike="noStrike" kern="0" cap="none" spc="0" normalizeH="0" baseline="0" noProof="0" dirty="0">
                  <a:ln>
                    <a:noFill/>
                  </a:ln>
                  <a:solidFill>
                    <a:srgbClr val="FFFFFF"/>
                  </a:solidFill>
                  <a:effectLst/>
                  <a:uLnTx/>
                  <a:uFillTx/>
                  <a:latin typeface="Calibri"/>
                  <a:ea typeface="Calibri"/>
                  <a:cs typeface="Calibri"/>
                  <a:sym typeface="Calibri"/>
                </a:rPr>
                <a:t>No Machine Learning</a:t>
              </a:r>
              <a:endParaRPr kumimoji="0" sz="65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172" name="Google Shape;172;p21"/>
            <p:cNvSpPr/>
            <p:nvPr/>
          </p:nvSpPr>
          <p:spPr>
            <a:xfrm flipH="1">
              <a:off x="1889011" y="5456494"/>
              <a:ext cx="1800272" cy="629345"/>
            </a:xfrm>
            <a:prstGeom prst="rect">
              <a:avLst/>
            </a:prstGeom>
            <a:solidFill>
              <a:schemeClr val="lt1">
                <a:alpha val="89803"/>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173;p21"/>
            <p:cNvSpPr txBox="1"/>
            <p:nvPr/>
          </p:nvSpPr>
          <p:spPr>
            <a:xfrm>
              <a:off x="1889011" y="5456494"/>
              <a:ext cx="1800272" cy="629345"/>
            </a:xfrm>
            <a:prstGeom prst="rect">
              <a:avLst/>
            </a:prstGeom>
            <a:noFill/>
            <a:ln>
              <a:noFill/>
            </a:ln>
          </p:spPr>
          <p:txBody>
            <a:bodyPr spcFirstLastPara="1" wrap="square" lIns="50800" tIns="12700" rIns="50800" bIns="12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000"/>
                <a:buFont typeface="Calibri"/>
                <a:buNone/>
                <a:tabLst/>
                <a:defRPr/>
              </a:pPr>
              <a:r>
                <a:rPr kumimoji="0" lang="es-CO" sz="2000" b="0" i="0" u="none" strike="noStrike" kern="0" cap="none" spc="0" normalizeH="0" baseline="0" noProof="0">
                  <a:ln>
                    <a:noFill/>
                  </a:ln>
                  <a:solidFill>
                    <a:srgbClr val="000000"/>
                  </a:solidFill>
                  <a:effectLst/>
                  <a:uLnTx/>
                  <a:uFillTx/>
                  <a:latin typeface="Calibri"/>
                  <a:ea typeface="Calibri"/>
                  <a:cs typeface="Calibri"/>
                  <a:sym typeface="Calibri"/>
                </a:rPr>
                <a:t>Reglas Fijas</a:t>
              </a:r>
              <a:endParaRPr kumimoji="0" sz="2000" b="1" i="0" u="none" strike="noStrike" kern="0" cap="none" spc="0" normalizeH="0" baseline="0" noProof="0">
                <a:ln>
                  <a:noFill/>
                </a:ln>
                <a:solidFill>
                  <a:srgbClr val="FF0000"/>
                </a:solidFill>
                <a:effectLst/>
                <a:uLnTx/>
                <a:uFillTx/>
                <a:latin typeface="Calibri"/>
                <a:ea typeface="Calibri"/>
                <a:cs typeface="Calibri"/>
                <a:sym typeface="Calibri"/>
              </a:endParaRPr>
            </a:p>
          </p:txBody>
        </p:sp>
        <p:sp>
          <p:nvSpPr>
            <p:cNvPr id="174" name="Google Shape;174;p21"/>
            <p:cNvSpPr/>
            <p:nvPr/>
          </p:nvSpPr>
          <p:spPr>
            <a:xfrm>
              <a:off x="6089979" y="3552968"/>
              <a:ext cx="4533572" cy="2347282"/>
            </a:xfrm>
            <a:prstGeom prst="rect">
              <a:avLst/>
            </a:prstGeom>
            <a:solidFill>
              <a:srgbClr val="6FAB46"/>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175;p21"/>
            <p:cNvSpPr txBox="1"/>
            <p:nvPr/>
          </p:nvSpPr>
          <p:spPr>
            <a:xfrm>
              <a:off x="6089979" y="3552968"/>
              <a:ext cx="4533572" cy="2347282"/>
            </a:xfrm>
            <a:prstGeom prst="rect">
              <a:avLst/>
            </a:prstGeom>
            <a:noFill/>
            <a:ln>
              <a:noFill/>
            </a:ln>
          </p:spPr>
          <p:txBody>
            <a:bodyPr spcFirstLastPara="1" wrap="square" lIns="41275" tIns="41275" rIns="41275" bIns="331225" anchor="ctr" anchorCtr="0">
              <a:noAutofit/>
            </a:bodyPr>
            <a:lstStyle/>
            <a:p>
              <a:pPr marL="0" marR="0" lvl="0" indent="0" algn="ctr" defTabSz="914400" rtl="0" eaLnBrk="1" fontAlgn="auto" latinLnBrk="0" hangingPunct="1">
                <a:lnSpc>
                  <a:spcPct val="90000"/>
                </a:lnSpc>
                <a:spcBef>
                  <a:spcPts val="0"/>
                </a:spcBef>
                <a:spcAft>
                  <a:spcPts val="0"/>
                </a:spcAft>
                <a:buClr>
                  <a:srgbClr val="FFFFFF"/>
                </a:buClr>
                <a:buSzPts val="6500"/>
                <a:buFont typeface="Calibri"/>
                <a:buNone/>
                <a:tabLst/>
                <a:defRPr/>
              </a:pPr>
              <a:r>
                <a:rPr kumimoji="0" lang="es-CO" sz="6500" b="0" i="0" u="none" strike="noStrike" kern="0" cap="none" spc="0" normalizeH="0" baseline="0" noProof="0" dirty="0">
                  <a:ln>
                    <a:noFill/>
                  </a:ln>
                  <a:solidFill>
                    <a:srgbClr val="FFFFFF"/>
                  </a:solidFill>
                  <a:effectLst/>
                  <a:uLnTx/>
                  <a:uFillTx/>
                  <a:latin typeface="Calibri"/>
                  <a:ea typeface="Calibri"/>
                  <a:cs typeface="Calibri"/>
                  <a:sym typeface="Calibri"/>
                </a:rPr>
                <a:t>Machine Learning</a:t>
              </a:r>
              <a:endParaRPr kumimoji="0" sz="65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176" name="Google Shape;176;p21"/>
            <p:cNvSpPr/>
            <p:nvPr/>
          </p:nvSpPr>
          <p:spPr>
            <a:xfrm>
              <a:off x="7106981" y="5465717"/>
              <a:ext cx="2666012" cy="570953"/>
            </a:xfrm>
            <a:prstGeom prst="rect">
              <a:avLst/>
            </a:prstGeom>
            <a:solidFill>
              <a:schemeClr val="lt1">
                <a:alpha val="89803"/>
              </a:schemeClr>
            </a:solidFill>
            <a:ln w="12700" cap="flat" cmpd="sng">
              <a:solidFill>
                <a:srgbClr val="6FAB46"/>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177;p21"/>
            <p:cNvSpPr txBox="1"/>
            <p:nvPr/>
          </p:nvSpPr>
          <p:spPr>
            <a:xfrm>
              <a:off x="7106981" y="5465717"/>
              <a:ext cx="2666012" cy="570953"/>
            </a:xfrm>
            <a:prstGeom prst="rect">
              <a:avLst/>
            </a:prstGeom>
            <a:noFill/>
            <a:ln>
              <a:noFill/>
            </a:ln>
          </p:spPr>
          <p:txBody>
            <a:bodyPr spcFirstLastPara="1" wrap="square" lIns="50800" tIns="12700" rIns="50800" bIns="1270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2000"/>
                <a:buFont typeface="Calibri"/>
                <a:buNone/>
                <a:tabLst/>
                <a:defRPr/>
              </a:pPr>
              <a:r>
                <a:rPr kumimoji="0" lang="es-CO" sz="2000" b="0" i="0" u="none" strike="noStrike" kern="0" cap="none" spc="0" normalizeH="0" baseline="0" noProof="0">
                  <a:ln>
                    <a:noFill/>
                  </a:ln>
                  <a:solidFill>
                    <a:srgbClr val="000000"/>
                  </a:solidFill>
                  <a:effectLst/>
                  <a:uLnTx/>
                  <a:uFillTx/>
                  <a:latin typeface="Calibri"/>
                  <a:ea typeface="Calibri"/>
                  <a:cs typeface="Calibri"/>
                  <a:sym typeface="Calibri"/>
                </a:rPr>
                <a:t>Aprende con los datos</a:t>
              </a:r>
              <a:endParaRPr kumimoji="0" sz="2000" b="1" i="0" u="none" strike="noStrike" kern="0" cap="none" spc="0" normalizeH="0" baseline="0" noProof="0">
                <a:ln>
                  <a:noFill/>
                </a:ln>
                <a:solidFill>
                  <a:srgbClr val="FF0000"/>
                </a:solidFill>
                <a:effectLst/>
                <a:uLnTx/>
                <a:uFillTx/>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dirty="0"/>
              <a:t>No Machine Learning Software</a:t>
            </a:r>
            <a:endParaRPr dirty="0"/>
          </a:p>
        </p:txBody>
      </p:sp>
      <p:sp>
        <p:nvSpPr>
          <p:cNvPr id="183" name="Google Shape;183;p22"/>
          <p:cNvSpPr/>
          <p:nvPr/>
        </p:nvSpPr>
        <p:spPr>
          <a:xfrm>
            <a:off x="1131181" y="4754823"/>
            <a:ext cx="2143125" cy="1447800"/>
          </a:xfrm>
          <a:prstGeom prst="can">
            <a:avLst>
              <a:gd name="adj" fmla="val 25000"/>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DATA</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84" name="Google Shape;184;p22"/>
          <p:cNvSpPr txBox="1"/>
          <p:nvPr/>
        </p:nvSpPr>
        <p:spPr>
          <a:xfrm>
            <a:off x="4772504" y="4740059"/>
            <a:ext cx="3906839" cy="1477328"/>
          </a:xfrm>
          <a:prstGeom prst="rect">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1800" b="0" i="0" u="none" strike="noStrike" kern="0" cap="none" spc="0" normalizeH="0" baseline="0" noProof="0">
                <a:ln>
                  <a:noFill/>
                </a:ln>
                <a:solidFill>
                  <a:srgbClr val="000000"/>
                </a:solidFill>
                <a:effectLst/>
                <a:uLnTx/>
                <a:uFillTx/>
                <a:latin typeface="Courier New"/>
                <a:ea typeface="Courier New"/>
                <a:cs typeface="Courier New"/>
                <a:sym typeface="Courier New"/>
              </a:rPr>
              <a:t>calcPE(stock){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1800" b="0" i="0" u="none" strike="noStrike" kern="0" cap="none" spc="0" normalizeH="0" baseline="0" noProof="0">
                <a:ln>
                  <a:noFill/>
                </a:ln>
                <a:solidFill>
                  <a:srgbClr val="000000"/>
                </a:solidFill>
                <a:effectLst/>
                <a:uLnTx/>
                <a:uFillTx/>
                <a:latin typeface="Courier New"/>
                <a:ea typeface="Courier New"/>
                <a:cs typeface="Courier New"/>
                <a:sym typeface="Courier New"/>
              </a:rPr>
              <a:t>    price = readPrice()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1800" b="0" i="0" u="none" strike="noStrike" kern="0" cap="none" spc="0" normalizeH="0" baseline="0" noProof="0">
                <a:ln>
                  <a:noFill/>
                </a:ln>
                <a:solidFill>
                  <a:srgbClr val="000000"/>
                </a:solidFill>
                <a:effectLst/>
                <a:uLnTx/>
                <a:uFillTx/>
                <a:latin typeface="Courier New"/>
                <a:ea typeface="Courier New"/>
                <a:cs typeface="Courier New"/>
                <a:sym typeface="Courier New"/>
              </a:rPr>
              <a:t>    earning = readEarning()</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1800" b="0" i="0" u="none" strike="noStrike" kern="0" cap="none" spc="0" normalizeH="0" baseline="0" noProof="0">
                <a:ln>
                  <a:noFill/>
                </a:ln>
                <a:solidFill>
                  <a:srgbClr val="000000"/>
                </a:solidFill>
                <a:effectLst/>
                <a:uLnTx/>
                <a:uFillTx/>
                <a:latin typeface="Courier New"/>
                <a:ea typeface="Courier New"/>
                <a:cs typeface="Courier New"/>
                <a:sym typeface="Courier New"/>
              </a:rPr>
              <a:t>    return (price/earning)</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1800" b="0" i="0" u="none" strike="noStrike" kern="0" cap="none" spc="0" normalizeH="0" baseline="0" noProof="0">
                <a:ln>
                  <a:noFill/>
                </a:ln>
                <a:solidFill>
                  <a:srgbClr val="000000"/>
                </a:solidFill>
                <a:effectLst/>
                <a:uLnTx/>
                <a:uFillTx/>
                <a:latin typeface="Courier New"/>
                <a:ea typeface="Courier New"/>
                <a:cs typeface="Courier New"/>
                <a:sym typeface="Courier New"/>
              </a:rPr>
              <a:t>}</a:t>
            </a:r>
            <a:endParaRPr kumimoji="0" sz="1800" b="0" i="0" u="none" strike="noStrike" kern="0" cap="none" spc="0" normalizeH="0" baseline="0" noProof="0">
              <a:ln>
                <a:noFill/>
              </a:ln>
              <a:solidFill>
                <a:srgbClr val="000000"/>
              </a:solidFill>
              <a:effectLst/>
              <a:uLnTx/>
              <a:uFillTx/>
              <a:latin typeface="Courier New"/>
              <a:ea typeface="Courier New"/>
              <a:cs typeface="Courier New"/>
              <a:sym typeface="Courier New"/>
            </a:endParaRPr>
          </a:p>
        </p:txBody>
      </p:sp>
      <p:cxnSp>
        <p:nvCxnSpPr>
          <p:cNvPr id="185" name="Google Shape;185;p22"/>
          <p:cNvCxnSpPr>
            <a:stCxn id="183" idx="4"/>
          </p:cNvCxnSpPr>
          <p:nvPr/>
        </p:nvCxnSpPr>
        <p:spPr>
          <a:xfrm rot="10800000" flipH="1">
            <a:off x="3274306" y="5245923"/>
            <a:ext cx="1942200" cy="2328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6" name="Google Shape;186;p22"/>
          <p:cNvCxnSpPr>
            <a:stCxn id="183" idx="4"/>
          </p:cNvCxnSpPr>
          <p:nvPr/>
        </p:nvCxnSpPr>
        <p:spPr>
          <a:xfrm>
            <a:off x="3274306" y="5478723"/>
            <a:ext cx="2075100" cy="0"/>
          </a:xfrm>
          <a:prstGeom prst="straightConnector1">
            <a:avLst/>
          </a:prstGeom>
          <a:noFill/>
          <a:ln w="9525" cap="flat" cmpd="sng">
            <a:solidFill>
              <a:schemeClr val="accent1"/>
            </a:solidFill>
            <a:prstDash val="solid"/>
            <a:miter lim="800000"/>
            <a:headEnd type="none" w="sm" len="sm"/>
            <a:tailEnd type="triangle" w="med" len="med"/>
          </a:ln>
        </p:spPr>
      </p:cxnSp>
      <p:sp>
        <p:nvSpPr>
          <p:cNvPr id="187" name="Google Shape;187;p22"/>
          <p:cNvSpPr txBox="1"/>
          <p:nvPr/>
        </p:nvSpPr>
        <p:spPr>
          <a:xfrm>
            <a:off x="5147157" y="3144412"/>
            <a:ext cx="3157531" cy="830997"/>
          </a:xfrm>
          <a:prstGeom prst="rect">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400" b="0" i="0" u="none" strike="noStrike" kern="0" cap="none" spc="0" normalizeH="0" baseline="0" noProof="0">
                <a:ln>
                  <a:noFill/>
                </a:ln>
                <a:solidFill>
                  <a:srgbClr val="FFFFFF"/>
                </a:solidFill>
                <a:effectLst/>
                <a:uLnTx/>
                <a:uFillTx/>
                <a:latin typeface="Calibri"/>
                <a:ea typeface="Calibri"/>
                <a:cs typeface="Calibri"/>
                <a:sym typeface="Calibri"/>
              </a:rPr>
              <a:t>Reglas Fijas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400" b="0" i="0" u="none" strike="noStrike" kern="0" cap="none" spc="0" normalizeH="0" baseline="0" noProof="0">
                <a:ln>
                  <a:noFill/>
                </a:ln>
                <a:solidFill>
                  <a:srgbClr val="FFFFFF"/>
                </a:solidFill>
                <a:effectLst/>
                <a:uLnTx/>
                <a:uFillTx/>
                <a:latin typeface="Calibri"/>
                <a:ea typeface="Calibri"/>
                <a:cs typeface="Calibri"/>
                <a:sym typeface="Calibri"/>
              </a:rPr>
              <a:t>Expresadas en el código</a:t>
            </a: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88" name="Google Shape;188;p22"/>
          <p:cNvCxnSpPr>
            <a:stCxn id="187" idx="2"/>
            <a:endCxn id="184" idx="0"/>
          </p:cNvCxnSpPr>
          <p:nvPr/>
        </p:nvCxnSpPr>
        <p:spPr>
          <a:xfrm>
            <a:off x="6725923" y="3975409"/>
            <a:ext cx="0" cy="764700"/>
          </a:xfrm>
          <a:prstGeom prst="straightConnector1">
            <a:avLst/>
          </a:prstGeom>
          <a:noFill/>
          <a:ln w="25400" cap="flat" cmpd="sng">
            <a:solidFill>
              <a:schemeClr val="dk1"/>
            </a:solidFill>
            <a:prstDash val="solid"/>
            <a:miter lim="800000"/>
            <a:headEnd type="none" w="sm" len="sm"/>
            <a:tailEnd type="triangle" w="med" len="med"/>
          </a:ln>
        </p:spPr>
      </p:cxnSp>
      <p:sp>
        <p:nvSpPr>
          <p:cNvPr id="189" name="Google Shape;189;p22"/>
          <p:cNvSpPr txBox="1"/>
          <p:nvPr/>
        </p:nvSpPr>
        <p:spPr>
          <a:xfrm>
            <a:off x="9745266" y="5063224"/>
            <a:ext cx="1464632" cy="830997"/>
          </a:xfrm>
          <a:prstGeom prst="rect">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400" b="0" i="0" u="none" strike="noStrike" kern="0" cap="none" spc="0" normalizeH="0" baseline="0" noProof="0">
                <a:ln>
                  <a:noFill/>
                </a:ln>
                <a:solidFill>
                  <a:srgbClr val="FFFFFF"/>
                </a:solidFill>
                <a:effectLst/>
                <a:uLnTx/>
                <a:uFillTx/>
                <a:latin typeface="Calibri"/>
                <a:ea typeface="Calibri"/>
                <a:cs typeface="Calibri"/>
                <a:sym typeface="Calibri"/>
              </a:rPr>
              <a:t>Respuesta</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400" b="0" i="0" u="none" strike="noStrike" kern="0" cap="none" spc="0" normalizeH="0" baseline="0" noProof="0">
                <a:ln>
                  <a:noFill/>
                </a:ln>
                <a:solidFill>
                  <a:srgbClr val="FFFFFF"/>
                </a:solidFill>
                <a:effectLst/>
                <a:uLnTx/>
                <a:uFillTx/>
                <a:latin typeface="Calibri"/>
                <a:ea typeface="Calibri"/>
                <a:cs typeface="Calibri"/>
                <a:sym typeface="Calibri"/>
              </a:rPr>
              <a:t>10.34</a:t>
            </a: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90" name="Google Shape;190;p22"/>
          <p:cNvCxnSpPr>
            <a:stCxn id="184" idx="3"/>
            <a:endCxn id="189" idx="1"/>
          </p:cNvCxnSpPr>
          <p:nvPr/>
        </p:nvCxnSpPr>
        <p:spPr>
          <a:xfrm>
            <a:off x="8679343" y="5478723"/>
            <a:ext cx="1065900" cy="0"/>
          </a:xfrm>
          <a:prstGeom prst="straightConnector1">
            <a:avLst/>
          </a:prstGeom>
          <a:noFill/>
          <a:ln w="25400" cap="flat" cmpd="sng">
            <a:solidFill>
              <a:schemeClr val="dk1"/>
            </a:solidFill>
            <a:prstDash val="solid"/>
            <a:miter lim="800000"/>
            <a:headEnd type="none" w="sm" len="sm"/>
            <a:tailEnd type="triangle" w="med" len="med"/>
          </a:ln>
        </p:spPr>
      </p:cxnSp>
      <p:sp>
        <p:nvSpPr>
          <p:cNvPr id="191" name="Google Shape;191;p22"/>
          <p:cNvSpPr txBox="1"/>
          <p:nvPr/>
        </p:nvSpPr>
        <p:spPr>
          <a:xfrm>
            <a:off x="2130641" y="3906175"/>
            <a:ext cx="428322"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x</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92" name="Google Shape;192;p22"/>
          <p:cNvSpPr txBox="1"/>
          <p:nvPr/>
        </p:nvSpPr>
        <p:spPr>
          <a:xfrm>
            <a:off x="6309064" y="2113360"/>
            <a:ext cx="699230"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f()</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93" name="Google Shape;193;p22"/>
          <p:cNvSpPr txBox="1"/>
          <p:nvPr/>
        </p:nvSpPr>
        <p:spPr>
          <a:xfrm>
            <a:off x="10137872" y="4022428"/>
            <a:ext cx="942887"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f(x)</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3"/>
          <p:cNvSpPr/>
          <p:nvPr/>
        </p:nvSpPr>
        <p:spPr>
          <a:xfrm>
            <a:off x="3826727" y="1204331"/>
            <a:ext cx="4538546" cy="1773044"/>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0" i="0" u="none" strike="noStrike" kern="0" cap="none" spc="0" normalizeH="0" baseline="0" noProof="0" dirty="0">
                <a:ln>
                  <a:noFill/>
                </a:ln>
                <a:solidFill>
                  <a:srgbClr val="FFFFFF"/>
                </a:solidFill>
                <a:effectLst/>
                <a:uLnTx/>
                <a:uFillTx/>
                <a:latin typeface="Calibri"/>
                <a:ea typeface="Calibri"/>
                <a:cs typeface="Calibri"/>
                <a:sym typeface="Calibri"/>
              </a:rPr>
              <a:t>No Machine Learning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0" i="0" u="none" strike="noStrike" kern="0" cap="none" spc="0" normalizeH="0" baseline="0" noProof="0" dirty="0">
                <a:ln>
                  <a:noFill/>
                </a:ln>
                <a:solidFill>
                  <a:srgbClr val="FFFFFF"/>
                </a:solidFill>
                <a:effectLst/>
                <a:uLnTx/>
                <a:uFillTx/>
                <a:latin typeface="Calibri"/>
                <a:ea typeface="Calibri"/>
                <a:cs typeface="Calibri"/>
                <a:sym typeface="Calibri"/>
              </a:rPr>
              <a:t>Programación Tradicional</a:t>
            </a:r>
            <a:endParaRPr kumimoji="0" sz="28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199" name="Google Shape;199;p23"/>
          <p:cNvSpPr/>
          <p:nvPr/>
        </p:nvSpPr>
        <p:spPr>
          <a:xfrm>
            <a:off x="8487937" y="1583472"/>
            <a:ext cx="2542478" cy="1014762"/>
          </a:xfrm>
          <a:prstGeom prst="right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1" i="0" u="none" strike="noStrike" kern="0" cap="none" spc="0" normalizeH="0" baseline="0" noProof="0">
                <a:ln>
                  <a:noFill/>
                </a:ln>
                <a:solidFill>
                  <a:srgbClr val="000000"/>
                </a:solidFill>
                <a:effectLst/>
                <a:uLnTx/>
                <a:uFillTx/>
                <a:latin typeface="Calibri"/>
                <a:ea typeface="Calibri"/>
                <a:cs typeface="Calibri"/>
                <a:sym typeface="Calibri"/>
              </a:rPr>
              <a:t>Respuesta</a:t>
            </a:r>
            <a:endParaRPr kumimoji="0" sz="28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0" name="Google Shape;200;p23"/>
          <p:cNvSpPr/>
          <p:nvPr/>
        </p:nvSpPr>
        <p:spPr>
          <a:xfrm>
            <a:off x="1161585" y="2154042"/>
            <a:ext cx="2542478" cy="1014762"/>
          </a:xfrm>
          <a:prstGeom prst="right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1" i="0" u="none" strike="noStrike" kern="0" cap="none" spc="0" normalizeH="0" baseline="0" noProof="0">
                <a:ln>
                  <a:noFill/>
                </a:ln>
                <a:solidFill>
                  <a:srgbClr val="000000"/>
                </a:solidFill>
                <a:effectLst/>
                <a:uLnTx/>
                <a:uFillTx/>
                <a:latin typeface="Calibri"/>
                <a:ea typeface="Calibri"/>
                <a:cs typeface="Calibri"/>
                <a:sym typeface="Calibri"/>
              </a:rPr>
              <a:t>Reglas</a:t>
            </a:r>
            <a:endParaRPr kumimoji="0" sz="28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1" name="Google Shape;201;p23"/>
          <p:cNvSpPr/>
          <p:nvPr/>
        </p:nvSpPr>
        <p:spPr>
          <a:xfrm>
            <a:off x="1161585" y="1204331"/>
            <a:ext cx="2542478" cy="1014762"/>
          </a:xfrm>
          <a:prstGeom prst="right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1" i="0" u="none" strike="noStrike" kern="0" cap="none" spc="0" normalizeH="0" baseline="0" noProof="0">
                <a:ln>
                  <a:noFill/>
                </a:ln>
                <a:solidFill>
                  <a:srgbClr val="000000"/>
                </a:solidFill>
                <a:effectLst/>
                <a:uLnTx/>
                <a:uFillTx/>
                <a:latin typeface="Calibri"/>
                <a:ea typeface="Calibri"/>
                <a:cs typeface="Calibri"/>
                <a:sym typeface="Calibri"/>
              </a:rPr>
              <a:t>Datos</a:t>
            </a:r>
            <a:endParaRPr kumimoji="0" sz="28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2" name="Google Shape;202;p23"/>
          <p:cNvSpPr txBox="1"/>
          <p:nvPr/>
        </p:nvSpPr>
        <p:spPr>
          <a:xfrm>
            <a:off x="1992665" y="3844490"/>
            <a:ext cx="8206670" cy="2246769"/>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0" i="0" u="none" strike="noStrike" kern="0" cap="none" spc="0" normalizeH="0" baseline="0" noProof="0">
                <a:ln>
                  <a:noFill/>
                </a:ln>
                <a:solidFill>
                  <a:srgbClr val="000000"/>
                </a:solidFill>
                <a:effectLst/>
                <a:uLnTx/>
                <a:uFillTx/>
                <a:latin typeface="Calibri"/>
                <a:ea typeface="Calibri"/>
                <a:cs typeface="Calibri"/>
                <a:sym typeface="Calibri"/>
              </a:rPr>
              <a:t>Que tareas puedo hacer con este tipo de programación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just" defTabSz="914400" rtl="0" eaLnBrk="1" fontAlgn="auto" latinLnBrk="0" hangingPunct="1">
              <a:lnSpc>
                <a:spcPct val="100000"/>
              </a:lnSpc>
              <a:spcBef>
                <a:spcPts val="0"/>
              </a:spcBef>
              <a:spcAft>
                <a:spcPts val="0"/>
              </a:spcAft>
              <a:buClr>
                <a:srgbClr val="000000"/>
              </a:buClr>
              <a:buSzPts val="2800"/>
              <a:buFont typeface="Arial"/>
              <a:buChar char="•"/>
              <a:tabLst/>
              <a:defRPr/>
            </a:pPr>
            <a:r>
              <a:rPr kumimoji="0" lang="es-CO" sz="2800" b="0" i="0" u="none" strike="noStrike" kern="0" cap="none" spc="0" normalizeH="0" baseline="0" noProof="0">
                <a:ln>
                  <a:noFill/>
                </a:ln>
                <a:solidFill>
                  <a:srgbClr val="000000"/>
                </a:solidFill>
                <a:effectLst/>
                <a:uLnTx/>
                <a:uFillTx/>
                <a:latin typeface="Calibri"/>
                <a:ea typeface="Calibri"/>
                <a:cs typeface="Calibri"/>
                <a:sym typeface="Calibri"/>
              </a:rPr>
              <a:t>Guardar y recuperar datos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just" defTabSz="914400" rtl="0" eaLnBrk="1" fontAlgn="auto" latinLnBrk="0" hangingPunct="1">
              <a:lnSpc>
                <a:spcPct val="100000"/>
              </a:lnSpc>
              <a:spcBef>
                <a:spcPts val="0"/>
              </a:spcBef>
              <a:spcAft>
                <a:spcPts val="0"/>
              </a:spcAft>
              <a:buClr>
                <a:srgbClr val="000000"/>
              </a:buClr>
              <a:buSzPts val="2800"/>
              <a:buFont typeface="Arial"/>
              <a:buChar char="•"/>
              <a:tabLst/>
              <a:defRPr/>
            </a:pPr>
            <a:r>
              <a:rPr kumimoji="0" lang="es-CO" sz="2800" b="0" i="0" u="none" strike="noStrike" kern="0" cap="none" spc="0" normalizeH="0" baseline="0" noProof="0">
                <a:ln>
                  <a:noFill/>
                </a:ln>
                <a:solidFill>
                  <a:srgbClr val="000000"/>
                </a:solidFill>
                <a:effectLst/>
                <a:uLnTx/>
                <a:uFillTx/>
                <a:latin typeface="Calibri"/>
                <a:ea typeface="Calibri"/>
                <a:cs typeface="Calibri"/>
                <a:sym typeface="Calibri"/>
              </a:rPr>
              <a:t>Comunicar y presentar datos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just" defTabSz="914400" rtl="0" eaLnBrk="1" fontAlgn="auto" latinLnBrk="0" hangingPunct="1">
              <a:lnSpc>
                <a:spcPct val="100000"/>
              </a:lnSpc>
              <a:spcBef>
                <a:spcPts val="0"/>
              </a:spcBef>
              <a:spcAft>
                <a:spcPts val="0"/>
              </a:spcAft>
              <a:buClr>
                <a:srgbClr val="000000"/>
              </a:buClr>
              <a:buSzPts val="2800"/>
              <a:buFont typeface="Arial"/>
              <a:buChar char="•"/>
              <a:tabLst/>
              <a:defRPr/>
            </a:pPr>
            <a:r>
              <a:rPr kumimoji="0" lang="es-CO" sz="2800" b="0" i="0" u="none" strike="noStrike" kern="0" cap="none" spc="0" normalizeH="0" baseline="0" noProof="0">
                <a:ln>
                  <a:noFill/>
                </a:ln>
                <a:solidFill>
                  <a:srgbClr val="000000"/>
                </a:solidFill>
                <a:effectLst/>
                <a:uLnTx/>
                <a:uFillTx/>
                <a:latin typeface="Calibri"/>
                <a:ea typeface="Calibri"/>
                <a:cs typeface="Calibri"/>
                <a:sym typeface="Calibri"/>
              </a:rPr>
              <a:t>Realizar cálculos fijos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just" defTabSz="914400" rtl="0" eaLnBrk="1" fontAlgn="auto" latinLnBrk="0" hangingPunct="1">
              <a:lnSpc>
                <a:spcPct val="100000"/>
              </a:lnSpc>
              <a:spcBef>
                <a:spcPts val="0"/>
              </a:spcBef>
              <a:spcAft>
                <a:spcPts val="0"/>
              </a:spcAft>
              <a:buClr>
                <a:srgbClr val="000000"/>
              </a:buClr>
              <a:buSzPts val="2800"/>
              <a:buFont typeface="Arial"/>
              <a:buChar char="•"/>
              <a:tabLst/>
              <a:defRPr/>
            </a:pPr>
            <a:r>
              <a:rPr kumimoji="0" lang="es-CO" sz="2800" b="0" i="0" u="none" strike="noStrike" kern="0" cap="none" spc="0" normalizeH="0" baseline="0" noProof="0">
                <a:ln>
                  <a:noFill/>
                </a:ln>
                <a:solidFill>
                  <a:srgbClr val="000000"/>
                </a:solidFill>
                <a:effectLst/>
                <a:uLnTx/>
                <a:uFillTx/>
                <a:latin typeface="Calibri"/>
                <a:ea typeface="Calibri"/>
                <a:cs typeface="Calibri"/>
                <a:sym typeface="Calibri"/>
              </a:rPr>
              <a:t>Juegos con reglas fijas</a:t>
            </a: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3" name="Google Shape;203;p23"/>
          <p:cNvSpPr txBox="1"/>
          <p:nvPr/>
        </p:nvSpPr>
        <p:spPr>
          <a:xfrm>
            <a:off x="457770" y="1204331"/>
            <a:ext cx="428322"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x</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4" name="Google Shape;204;p23"/>
          <p:cNvSpPr txBox="1"/>
          <p:nvPr/>
        </p:nvSpPr>
        <p:spPr>
          <a:xfrm>
            <a:off x="322316" y="2219093"/>
            <a:ext cx="699230"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f()</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5" name="Google Shape;205;p23"/>
          <p:cNvSpPr txBox="1"/>
          <p:nvPr/>
        </p:nvSpPr>
        <p:spPr>
          <a:xfrm>
            <a:off x="9173359" y="898597"/>
            <a:ext cx="1734770"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f(x) = y</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dirty="0"/>
              <a:t>Machine Learning</a:t>
            </a:r>
            <a:endParaRPr dirty="0"/>
          </a:p>
        </p:txBody>
      </p:sp>
      <p:sp>
        <p:nvSpPr>
          <p:cNvPr id="211" name="Google Shape;211;p24"/>
          <p:cNvSpPr/>
          <p:nvPr/>
        </p:nvSpPr>
        <p:spPr>
          <a:xfrm>
            <a:off x="3826727" y="1817648"/>
            <a:ext cx="4538546" cy="1773044"/>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000" b="0" i="0" u="none" strike="noStrike" kern="0" cap="none" spc="0" normalizeH="0" baseline="0" noProof="0" dirty="0">
                <a:ln>
                  <a:noFill/>
                </a:ln>
                <a:solidFill>
                  <a:srgbClr val="FFFFFF"/>
                </a:solidFill>
                <a:effectLst/>
                <a:uLnTx/>
                <a:uFillTx/>
                <a:latin typeface="Calibri"/>
                <a:ea typeface="Calibri"/>
                <a:cs typeface="Calibri"/>
                <a:sym typeface="Calibri"/>
              </a:rPr>
              <a:t>Machine Learning</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2" name="Google Shape;212;p24"/>
          <p:cNvSpPr/>
          <p:nvPr/>
        </p:nvSpPr>
        <p:spPr>
          <a:xfrm>
            <a:off x="8487937" y="2196789"/>
            <a:ext cx="2542478" cy="1014762"/>
          </a:xfrm>
          <a:prstGeom prst="right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1" i="0" u="none" strike="noStrike" kern="0" cap="none" spc="0" normalizeH="0" baseline="0" noProof="0">
                <a:ln>
                  <a:noFill/>
                </a:ln>
                <a:solidFill>
                  <a:srgbClr val="000000"/>
                </a:solidFill>
                <a:effectLst/>
                <a:uLnTx/>
                <a:uFillTx/>
                <a:latin typeface="Calibri"/>
                <a:ea typeface="Calibri"/>
                <a:cs typeface="Calibri"/>
                <a:sym typeface="Calibri"/>
              </a:rPr>
              <a:t>Reglas</a:t>
            </a:r>
            <a:endParaRPr kumimoji="0" sz="28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3" name="Google Shape;213;p24"/>
          <p:cNvSpPr/>
          <p:nvPr/>
        </p:nvSpPr>
        <p:spPr>
          <a:xfrm>
            <a:off x="1161585" y="2767359"/>
            <a:ext cx="2542478" cy="1014762"/>
          </a:xfrm>
          <a:prstGeom prst="right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1" i="0" u="none" strike="noStrike" kern="0" cap="none" spc="0" normalizeH="0" baseline="0" noProof="0">
                <a:ln>
                  <a:noFill/>
                </a:ln>
                <a:solidFill>
                  <a:srgbClr val="000000"/>
                </a:solidFill>
                <a:effectLst/>
                <a:uLnTx/>
                <a:uFillTx/>
                <a:latin typeface="Calibri"/>
                <a:ea typeface="Calibri"/>
                <a:cs typeface="Calibri"/>
                <a:sym typeface="Calibri"/>
              </a:rPr>
              <a:t>Respuestas</a:t>
            </a:r>
            <a:endParaRPr kumimoji="0" sz="28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4" name="Google Shape;214;p24"/>
          <p:cNvSpPr/>
          <p:nvPr/>
        </p:nvSpPr>
        <p:spPr>
          <a:xfrm>
            <a:off x="1161585" y="1817648"/>
            <a:ext cx="2542478" cy="1014762"/>
          </a:xfrm>
          <a:prstGeom prst="right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1" i="0" u="none" strike="noStrike" kern="0" cap="none" spc="0" normalizeH="0" baseline="0" noProof="0">
                <a:ln>
                  <a:noFill/>
                </a:ln>
                <a:solidFill>
                  <a:srgbClr val="000000"/>
                </a:solidFill>
                <a:effectLst/>
                <a:uLnTx/>
                <a:uFillTx/>
                <a:latin typeface="Calibri"/>
                <a:ea typeface="Calibri"/>
                <a:cs typeface="Calibri"/>
                <a:sym typeface="Calibri"/>
              </a:rPr>
              <a:t>Datos</a:t>
            </a:r>
            <a:endParaRPr kumimoji="0" sz="28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5" name="Google Shape;215;p24"/>
          <p:cNvSpPr txBox="1"/>
          <p:nvPr/>
        </p:nvSpPr>
        <p:spPr>
          <a:xfrm>
            <a:off x="1381957" y="4246106"/>
            <a:ext cx="9428085" cy="2246769"/>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2800" b="0" i="0" u="none" strike="noStrike" kern="0" cap="none" spc="0" normalizeH="0" baseline="0" noProof="0" dirty="0">
                <a:ln>
                  <a:noFill/>
                </a:ln>
                <a:solidFill>
                  <a:srgbClr val="000000"/>
                </a:solidFill>
                <a:effectLst/>
                <a:uLnTx/>
                <a:uFillTx/>
                <a:latin typeface="Calibri"/>
                <a:ea typeface="Calibri"/>
                <a:cs typeface="Calibri"/>
                <a:sym typeface="Calibri"/>
              </a:rPr>
              <a:t>Que tareas puedo hacer con este tipo de programación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just" defTabSz="914400" rtl="0" eaLnBrk="1" fontAlgn="auto" latinLnBrk="0" hangingPunct="1">
              <a:lnSpc>
                <a:spcPct val="100000"/>
              </a:lnSpc>
              <a:spcBef>
                <a:spcPts val="0"/>
              </a:spcBef>
              <a:spcAft>
                <a:spcPts val="0"/>
              </a:spcAft>
              <a:buClr>
                <a:srgbClr val="000000"/>
              </a:buClr>
              <a:buSzPts val="2800"/>
              <a:buFont typeface="Arial"/>
              <a:buChar char="•"/>
              <a:tabLst/>
              <a:defRPr/>
            </a:pPr>
            <a:r>
              <a:rPr kumimoji="0" lang="es-CO" sz="2800" b="0" i="0" u="none" strike="noStrike" kern="0" cap="none" spc="0" normalizeH="0" baseline="0" noProof="0" dirty="0">
                <a:ln>
                  <a:noFill/>
                </a:ln>
                <a:solidFill>
                  <a:srgbClr val="000000"/>
                </a:solidFill>
                <a:effectLst/>
                <a:uLnTx/>
                <a:uFillTx/>
                <a:latin typeface="Calibri"/>
                <a:ea typeface="Calibri"/>
                <a:cs typeface="Calibri"/>
                <a:sym typeface="Calibri"/>
              </a:rPr>
              <a:t>Encontrar patrones (reglas) en los datos y a esto se le llama aprendizaje y está en algo que se denomina </a:t>
            </a:r>
            <a:r>
              <a:rPr kumimoji="0" lang="es-CO" sz="2800" b="1" i="0" u="none" strike="noStrike" kern="0" cap="none" spc="0" normalizeH="0" baseline="0" noProof="0" dirty="0">
                <a:ln>
                  <a:noFill/>
                </a:ln>
                <a:solidFill>
                  <a:srgbClr val="FF0000"/>
                </a:solidFill>
                <a:effectLst/>
                <a:uLnTx/>
                <a:uFillTx/>
                <a:latin typeface="Calibri"/>
                <a:ea typeface="Calibri"/>
                <a:cs typeface="Calibri"/>
                <a:sym typeface="Calibri"/>
              </a:rPr>
              <a:t>parámetros.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just" defTabSz="914400" rtl="0" eaLnBrk="1" fontAlgn="auto" latinLnBrk="0" hangingPunct="1">
              <a:lnSpc>
                <a:spcPct val="100000"/>
              </a:lnSpc>
              <a:spcBef>
                <a:spcPts val="0"/>
              </a:spcBef>
              <a:spcAft>
                <a:spcPts val="0"/>
              </a:spcAft>
              <a:buClr>
                <a:srgbClr val="000000"/>
              </a:buClr>
              <a:buSzPts val="2800"/>
              <a:buFont typeface="Arial"/>
              <a:buChar char="•"/>
              <a:tabLst/>
              <a:defRPr/>
            </a:pPr>
            <a:r>
              <a:rPr kumimoji="0" lang="es-CO" sz="2800" b="0" i="0" u="none" strike="noStrike" kern="0" cap="none" spc="0" normalizeH="0" baseline="0" noProof="0" dirty="0">
                <a:ln>
                  <a:noFill/>
                </a:ln>
                <a:solidFill>
                  <a:srgbClr val="000000"/>
                </a:solidFill>
                <a:effectLst/>
                <a:uLnTx/>
                <a:uFillTx/>
                <a:latin typeface="Calibri"/>
                <a:ea typeface="Calibri"/>
                <a:cs typeface="Calibri"/>
                <a:sym typeface="Calibri"/>
              </a:rPr>
              <a:t>Puedo averiguar nuevos datos con las reglas o patrones encontrados.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6" name="Google Shape;216;p24"/>
          <p:cNvSpPr txBox="1"/>
          <p:nvPr/>
        </p:nvSpPr>
        <p:spPr>
          <a:xfrm>
            <a:off x="328474" y="1934729"/>
            <a:ext cx="428322"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x</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7" name="Google Shape;217;p24"/>
          <p:cNvSpPr txBox="1"/>
          <p:nvPr/>
        </p:nvSpPr>
        <p:spPr>
          <a:xfrm>
            <a:off x="9229818" y="1459582"/>
            <a:ext cx="699230"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f()</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8" name="Google Shape;218;p24"/>
          <p:cNvSpPr txBox="1"/>
          <p:nvPr/>
        </p:nvSpPr>
        <p:spPr>
          <a:xfrm>
            <a:off x="328474" y="2826830"/>
            <a:ext cx="439544" cy="769441"/>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O" sz="4400" b="0" i="0" u="none" strike="noStrike" kern="0" cap="none" spc="0" normalizeH="0" baseline="0" noProof="0">
                <a:ln>
                  <a:noFill/>
                </a:ln>
                <a:solidFill>
                  <a:srgbClr val="000000"/>
                </a:solidFill>
                <a:effectLst/>
                <a:uLnTx/>
                <a:uFillTx/>
                <a:latin typeface="Calibri"/>
                <a:ea typeface="Calibri"/>
                <a:cs typeface="Calibri"/>
                <a:sym typeface="Calibri"/>
              </a:rPr>
              <a:t>y</a:t>
            </a:r>
            <a:endParaRPr kumimoji="0" sz="4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21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1"/>
                                          </p:stCondLst>
                                        </p:cTn>
                                        <p:tgtEl>
                                          <p:spTgt spid="2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7"/>
          <p:cNvSpPr/>
          <p:nvPr/>
        </p:nvSpPr>
        <p:spPr>
          <a:xfrm>
            <a:off x="0" y="856779"/>
            <a:ext cx="12192000" cy="432048"/>
          </a:xfrm>
          <a:prstGeom prst="rect">
            <a:avLst/>
          </a:prstGeom>
          <a:solidFill>
            <a:srgbClr val="30B2AF"/>
          </a:solidFill>
          <a:ln>
            <a:noFill/>
          </a:ln>
        </p:spPr>
        <p:txBody>
          <a:bodyPr spcFirstLastPara="1" wrap="square" lIns="91433" tIns="45700" rIns="91433"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52" name="Google Shape;152;p27"/>
          <p:cNvSpPr/>
          <p:nvPr/>
        </p:nvSpPr>
        <p:spPr>
          <a:xfrm>
            <a:off x="690713" y="2671199"/>
            <a:ext cx="10978521" cy="3539431"/>
          </a:xfrm>
          <a:prstGeom prst="rect">
            <a:avLst/>
          </a:prstGeom>
          <a:noFill/>
          <a:ln>
            <a:noFill/>
          </a:ln>
        </p:spPr>
        <p:txBody>
          <a:bodyPr spcFirstLastPara="1" wrap="square" lIns="91433" tIns="45700" rIns="91433"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 sz="2800" b="0" i="0" u="none" strike="noStrike" kern="0" cap="none" spc="0" normalizeH="0" baseline="0" noProof="0" dirty="0">
                <a:ln>
                  <a:noFill/>
                </a:ln>
                <a:solidFill>
                  <a:srgbClr val="000000"/>
                </a:solidFill>
                <a:effectLst/>
                <a:uLnTx/>
                <a:uFillTx/>
                <a:latin typeface="Arial"/>
                <a:cs typeface="Arial"/>
                <a:sym typeface="Arial"/>
              </a:rPr>
              <a:t>Clasificación de las técnicas de Machine Learning según el </a:t>
            </a:r>
            <a:endParaRPr kumimoji="0" sz="1467"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 sz="2800" b="0" i="0" u="none" strike="noStrike" kern="0" cap="none" spc="0" normalizeH="0" baseline="0" noProof="0" dirty="0">
                <a:ln>
                  <a:noFill/>
                </a:ln>
                <a:solidFill>
                  <a:srgbClr val="0070C0"/>
                </a:solidFill>
                <a:effectLst/>
                <a:uLnTx/>
                <a:uFillTx/>
                <a:latin typeface="Arial"/>
                <a:cs typeface="Arial"/>
                <a:sym typeface="Arial"/>
              </a:rPr>
              <a:t>tipo de aprendizaje</a:t>
            </a:r>
            <a:r>
              <a:rPr kumimoji="0" lang="es" sz="2800" b="0" i="0" u="none" strike="noStrike" kern="0" cap="none" spc="0" normalizeH="0" baseline="0" noProof="0" dirty="0">
                <a:ln>
                  <a:noFill/>
                </a:ln>
                <a:solidFill>
                  <a:srgbClr val="000000"/>
                </a:solidFill>
                <a:effectLst/>
                <a:uLnTx/>
                <a:uFillTx/>
                <a:latin typeface="Arial"/>
                <a:cs typeface="Arial"/>
                <a:sym typeface="Arial"/>
              </a:rPr>
              <a:t>:</a:t>
            </a:r>
            <a:endParaRPr kumimoji="0" sz="1467"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dirty="0">
              <a:ln>
                <a:noFill/>
              </a:ln>
              <a:solidFill>
                <a:srgbClr val="000000"/>
              </a:solidFill>
              <a:effectLst/>
              <a:uLnTx/>
              <a:uFillTx/>
              <a:latin typeface="Arial"/>
              <a:cs typeface="Arial"/>
              <a:sym typeface="Arial"/>
            </a:endParaRPr>
          </a:p>
          <a:p>
            <a:pPr marL="457189" marR="0" lvl="0" indent="-448722" algn="just" defTabSz="914400" rtl="0" eaLnBrk="1" fontAlgn="auto" latinLnBrk="0" hangingPunct="1">
              <a:lnSpc>
                <a:spcPct val="100000"/>
              </a:lnSpc>
              <a:spcBef>
                <a:spcPts val="0"/>
              </a:spcBef>
              <a:spcAft>
                <a:spcPts val="0"/>
              </a:spcAft>
              <a:buClr>
                <a:srgbClr val="0070C0"/>
              </a:buClr>
              <a:buSzPts val="2100"/>
              <a:buFont typeface="Arial"/>
              <a:buChar char="•"/>
              <a:tabLst/>
              <a:defRPr/>
            </a:pPr>
            <a:r>
              <a:rPr kumimoji="0" lang="es" sz="2800" b="0" i="0" u="none" strike="noStrike" kern="0" cap="none" spc="0" normalizeH="0" baseline="0" noProof="0" dirty="0">
                <a:ln>
                  <a:noFill/>
                </a:ln>
                <a:solidFill>
                  <a:srgbClr val="0070C0"/>
                </a:solidFill>
                <a:effectLst/>
                <a:uLnTx/>
                <a:uFillTx/>
                <a:latin typeface="Arial"/>
                <a:cs typeface="Arial"/>
                <a:sym typeface="Arial"/>
              </a:rPr>
              <a:t>Aprendizaje supervisado</a:t>
            </a:r>
            <a:r>
              <a:rPr kumimoji="0" lang="es" sz="2800" b="0" i="0" u="none" strike="noStrike" kern="0" cap="none" spc="0" normalizeH="0" baseline="0" noProof="0" dirty="0">
                <a:ln>
                  <a:noFill/>
                </a:ln>
                <a:solidFill>
                  <a:srgbClr val="000000"/>
                </a:solidFill>
                <a:effectLst/>
                <a:uLnTx/>
                <a:uFillTx/>
                <a:latin typeface="Arial"/>
                <a:cs typeface="Arial"/>
                <a:sym typeface="Arial"/>
              </a:rPr>
              <a:t>: los datos traen relacionado un objetivo</a:t>
            </a:r>
            <a:endParaRPr kumimoji="0" sz="1467" b="0" i="0" u="none" strike="noStrike" kern="0" cap="none" spc="0" normalizeH="0" baseline="0" noProof="0" dirty="0">
              <a:ln>
                <a:noFill/>
              </a:ln>
              <a:solidFill>
                <a:srgbClr val="000000"/>
              </a:solidFill>
              <a:effectLst/>
              <a:uLnTx/>
              <a:uFillTx/>
              <a:latin typeface="Arial"/>
              <a:cs typeface="Arial"/>
              <a:sym typeface="Arial"/>
            </a:endParaRPr>
          </a:p>
          <a:p>
            <a:pPr marL="457189" marR="0" lvl="0" indent="-270927" algn="just" defTabSz="914400" rtl="0" eaLnBrk="1" fontAlgn="auto" latinLnBrk="0" hangingPunct="1">
              <a:lnSpc>
                <a:spcPct val="100000"/>
              </a:lnSpc>
              <a:spcBef>
                <a:spcPts val="0"/>
              </a:spcBef>
              <a:spcAft>
                <a:spcPts val="0"/>
              </a:spcAft>
              <a:buClr>
                <a:srgbClr val="000000"/>
              </a:buClr>
              <a:buSzPts val="2100"/>
              <a:buFont typeface="Arial"/>
              <a:buNone/>
              <a:tabLst/>
              <a:defRPr/>
            </a:pPr>
            <a:endParaRPr kumimoji="0" sz="2800" b="0" i="0" u="none" strike="noStrike" kern="0" cap="none" spc="0" normalizeH="0" baseline="0" noProof="0" dirty="0">
              <a:ln>
                <a:noFill/>
              </a:ln>
              <a:solidFill>
                <a:srgbClr val="000000"/>
              </a:solidFill>
              <a:effectLst/>
              <a:uLnTx/>
              <a:uFillTx/>
              <a:latin typeface="Arial"/>
              <a:cs typeface="Arial"/>
              <a:sym typeface="Arial"/>
            </a:endParaRPr>
          </a:p>
          <a:p>
            <a:pPr marL="457189" marR="0" lvl="0" indent="-448722" algn="just" defTabSz="914400" rtl="0" eaLnBrk="1" fontAlgn="auto" latinLnBrk="0" hangingPunct="1">
              <a:lnSpc>
                <a:spcPct val="100000"/>
              </a:lnSpc>
              <a:spcBef>
                <a:spcPts val="0"/>
              </a:spcBef>
              <a:spcAft>
                <a:spcPts val="0"/>
              </a:spcAft>
              <a:buClr>
                <a:srgbClr val="0070C0"/>
              </a:buClr>
              <a:buSzPts val="2100"/>
              <a:buFont typeface="Arial"/>
              <a:buChar char="•"/>
              <a:tabLst/>
              <a:defRPr/>
            </a:pPr>
            <a:r>
              <a:rPr kumimoji="0" lang="es" sz="2800" b="0" i="0" u="none" strike="noStrike" kern="0" cap="none" spc="0" normalizeH="0" baseline="0" noProof="0" dirty="0">
                <a:ln>
                  <a:noFill/>
                </a:ln>
                <a:solidFill>
                  <a:srgbClr val="0070C0"/>
                </a:solidFill>
                <a:effectLst/>
                <a:uLnTx/>
                <a:uFillTx/>
                <a:latin typeface="Arial"/>
                <a:cs typeface="Arial"/>
                <a:sym typeface="Arial"/>
              </a:rPr>
              <a:t>Aprendizaje no supervisado</a:t>
            </a:r>
            <a:r>
              <a:rPr kumimoji="0" lang="es" sz="2800" b="0" i="0" u="none" strike="noStrike" kern="0" cap="none" spc="0" normalizeH="0" baseline="0" noProof="0" dirty="0">
                <a:ln>
                  <a:noFill/>
                </a:ln>
                <a:solidFill>
                  <a:srgbClr val="000000"/>
                </a:solidFill>
                <a:effectLst/>
                <a:uLnTx/>
                <a:uFillTx/>
                <a:latin typeface="Arial"/>
                <a:cs typeface="Arial"/>
                <a:sym typeface="Arial"/>
              </a:rPr>
              <a:t>: los datos no traen relacionado ningún objetivo</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53" name="Google Shape;153;p27"/>
          <p:cNvSpPr/>
          <p:nvPr/>
        </p:nvSpPr>
        <p:spPr>
          <a:xfrm>
            <a:off x="784323" y="1660339"/>
            <a:ext cx="4024423" cy="584775"/>
          </a:xfrm>
          <a:prstGeom prst="rect">
            <a:avLst/>
          </a:prstGeom>
          <a:no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3200" b="1" i="0" u="none" strike="noStrike" kern="0" cap="none" spc="0" normalizeH="0" baseline="0" noProof="0">
                <a:ln>
                  <a:noFill/>
                </a:ln>
                <a:solidFill>
                  <a:srgbClr val="000000"/>
                </a:solidFill>
                <a:effectLst/>
                <a:uLnTx/>
                <a:uFillTx/>
                <a:latin typeface="Arial"/>
                <a:cs typeface="Arial"/>
                <a:sym typeface="Arial"/>
              </a:rPr>
              <a:t>Machine Learning</a:t>
            </a:r>
            <a:endParaRPr kumimoji="0" sz="3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0"/>
        <p:cNvGrpSpPr/>
        <p:nvPr/>
      </p:nvGrpSpPr>
      <p:grpSpPr>
        <a:xfrm>
          <a:off x="0" y="0"/>
          <a:ext cx="0" cy="0"/>
          <a:chOff x="0" y="0"/>
          <a:chExt cx="0" cy="0"/>
        </a:xfrm>
      </p:grpSpPr>
      <p:sp>
        <p:nvSpPr>
          <p:cNvPr id="321" name="Google Shape;321;p33"/>
          <p:cNvSpPr/>
          <p:nvPr/>
        </p:nvSpPr>
        <p:spPr>
          <a:xfrm>
            <a:off x="0" y="0"/>
            <a:ext cx="12192000" cy="6858000"/>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2" name="Google Shape;322;p33"/>
          <p:cNvSpPr/>
          <p:nvPr/>
        </p:nvSpPr>
        <p:spPr>
          <a:xfrm>
            <a:off x="477012" y="480060"/>
            <a:ext cx="11237976" cy="589788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2050" name="Picture 2" descr="Supervised vs Unsupervised Learning: algorithms, example, difference">
            <a:extLst>
              <a:ext uri="{FF2B5EF4-FFF2-40B4-BE49-F238E27FC236}">
                <a16:creationId xmlns:a16="http://schemas.microsoft.com/office/drawing/2014/main" id="{1FB5392D-EABA-28D8-536D-517850418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976313"/>
            <a:ext cx="7800975" cy="490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668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p:nvPr/>
        </p:nvSpPr>
        <p:spPr>
          <a:xfrm>
            <a:off x="0" y="856779"/>
            <a:ext cx="12192000" cy="432048"/>
          </a:xfrm>
          <a:prstGeom prst="rect">
            <a:avLst/>
          </a:prstGeom>
          <a:solidFill>
            <a:srgbClr val="30B2AF"/>
          </a:solidFill>
          <a:ln>
            <a:noFill/>
          </a:ln>
        </p:spPr>
        <p:txBody>
          <a:bodyPr spcFirstLastPara="1" wrap="square" lIns="91433" tIns="45700" rIns="91433"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75" name="Google Shape;175;p29"/>
          <p:cNvSpPr/>
          <p:nvPr/>
        </p:nvSpPr>
        <p:spPr>
          <a:xfrm>
            <a:off x="513194" y="2538291"/>
            <a:ext cx="4753157" cy="523220"/>
          </a:xfrm>
          <a:prstGeom prst="rect">
            <a:avLst/>
          </a:prstGeom>
          <a:noFill/>
          <a:ln>
            <a:noFill/>
          </a:ln>
        </p:spPr>
        <p:txBody>
          <a:bodyPr spcFirstLastPara="1" wrap="square" lIns="91433" tIns="45700" rIns="91433"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 sz="2800" b="0" i="0" u="none" strike="noStrike" kern="0" cap="none" spc="0" normalizeH="0" baseline="0" noProof="0">
                <a:ln>
                  <a:noFill/>
                </a:ln>
                <a:solidFill>
                  <a:srgbClr val="0070C0"/>
                </a:solidFill>
                <a:effectLst/>
                <a:uLnTx/>
                <a:uFillTx/>
                <a:latin typeface="Arial"/>
                <a:cs typeface="Arial"/>
                <a:sym typeface="Arial"/>
              </a:rPr>
              <a:t>Aprendizaje supervisado</a:t>
            </a:r>
            <a:endParaRPr kumimoji="0" sz="28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176;p29"/>
          <p:cNvSpPr/>
          <p:nvPr/>
        </p:nvSpPr>
        <p:spPr>
          <a:xfrm>
            <a:off x="513194" y="1660339"/>
            <a:ext cx="4024423" cy="584775"/>
          </a:xfrm>
          <a:prstGeom prst="rect">
            <a:avLst/>
          </a:prstGeom>
          <a:no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3200" b="1" i="0" u="none" strike="noStrike" kern="0" cap="none" spc="0" normalizeH="0" baseline="0" noProof="0">
                <a:ln>
                  <a:noFill/>
                </a:ln>
                <a:solidFill>
                  <a:srgbClr val="000000"/>
                </a:solidFill>
                <a:effectLst/>
                <a:uLnTx/>
                <a:uFillTx/>
                <a:latin typeface="Arial"/>
                <a:cs typeface="Arial"/>
                <a:sym typeface="Arial"/>
              </a:rPr>
              <a:t>Machine Learning</a:t>
            </a:r>
            <a:endParaRPr kumimoji="0" sz="3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7" name="Google Shape;177;p29"/>
          <p:cNvSpPr/>
          <p:nvPr/>
        </p:nvSpPr>
        <p:spPr>
          <a:xfrm>
            <a:off x="513194" y="3494579"/>
            <a:ext cx="5304657" cy="2677656"/>
          </a:xfrm>
          <a:prstGeom prst="rect">
            <a:avLst/>
          </a:prstGeom>
          <a:no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Generalized Linear Models</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Nearest Neighbors (KNN)</a:t>
            </a:r>
            <a:endParaRPr kumimoji="0" sz="1467"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Support Vector Machines (SVM)</a:t>
            </a:r>
            <a:endParaRPr kumimoji="0" sz="1467"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Naive Bayes</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Decision Trees</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Neural network models (supervised)</a:t>
            </a:r>
            <a:endParaRPr kumimoji="0" sz="1467"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a:t>
            </a:r>
            <a:endParaRPr kumimoji="0" sz="2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178;p29"/>
          <p:cNvSpPr/>
          <p:nvPr/>
        </p:nvSpPr>
        <p:spPr>
          <a:xfrm>
            <a:off x="3589519" y="6290995"/>
            <a:ext cx="5975589" cy="646331"/>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 sz="1867" b="0" i="0" u="sng" strike="noStrike" kern="0" cap="none" spc="0" normalizeH="0" baseline="0" noProof="0" dirty="0">
                <a:ln>
                  <a:noFill/>
                </a:ln>
                <a:solidFill>
                  <a:srgbClr val="0563C1"/>
                </a:solidFill>
                <a:effectLst/>
                <a:uLnTx/>
                <a:uFillTx/>
                <a:latin typeface="Calibri"/>
                <a:ea typeface="Calibri"/>
                <a:cs typeface="Calibri"/>
                <a:sym typeface="Calibri"/>
                <a:hlinkClick r:id="rId3"/>
              </a:rPr>
              <a:t>http://scikit-learn.org/stable/user_guide.html</a:t>
            </a: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79" name="Google Shape;179;p29"/>
          <p:cNvSpPr/>
          <p:nvPr/>
        </p:nvSpPr>
        <p:spPr>
          <a:xfrm>
            <a:off x="6577314" y="2547153"/>
            <a:ext cx="4753157" cy="523220"/>
          </a:xfrm>
          <a:prstGeom prst="rect">
            <a:avLst/>
          </a:prstGeom>
          <a:noFill/>
          <a:ln>
            <a:noFill/>
          </a:ln>
        </p:spPr>
        <p:txBody>
          <a:bodyPr spcFirstLastPara="1" wrap="square" lIns="91433" tIns="45700" rIns="91433"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 sz="2800" b="0" i="0" u="none" strike="noStrike" kern="0" cap="none" spc="0" normalizeH="0" baseline="0" noProof="0">
                <a:ln>
                  <a:noFill/>
                </a:ln>
                <a:solidFill>
                  <a:srgbClr val="0070C0"/>
                </a:solidFill>
                <a:effectLst/>
                <a:uLnTx/>
                <a:uFillTx/>
                <a:latin typeface="Arial"/>
                <a:cs typeface="Arial"/>
                <a:sym typeface="Arial"/>
              </a:rPr>
              <a:t>Aprendizaje No supervisado</a:t>
            </a:r>
            <a:endParaRPr kumimoji="0" sz="28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180;p29"/>
          <p:cNvSpPr/>
          <p:nvPr/>
        </p:nvSpPr>
        <p:spPr>
          <a:xfrm>
            <a:off x="6577314" y="3503439"/>
            <a:ext cx="5647700" cy="2677656"/>
          </a:xfrm>
          <a:prstGeom prst="rect">
            <a:avLst/>
          </a:prstGeom>
          <a:no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Gaussian mixture models</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Manifold learning</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Clustering</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Density Estimation</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Covariance estimation</a:t>
            </a:r>
            <a:endParaRPr kumimoji="0" sz="2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Neural network models (unsupervised)</a:t>
            </a:r>
            <a:endParaRPr kumimoji="0" sz="1467"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 sz="2400" b="0" i="0" u="none" strike="noStrike" kern="0" cap="none" spc="0" normalizeH="0" baseline="0" noProof="0">
                <a:ln>
                  <a:noFill/>
                </a:ln>
                <a:solidFill>
                  <a:srgbClr val="000000"/>
                </a:solidFill>
                <a:effectLst/>
                <a:uLnTx/>
                <a:uFillTx/>
                <a:latin typeface="Arial"/>
                <a:cs typeface="Arial"/>
                <a:sym typeface="Arial"/>
              </a:rPr>
              <a:t>- …</a:t>
            </a:r>
            <a:endParaRPr kumimoji="0" sz="2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Shape 370"/>
        <p:cNvGrpSpPr/>
        <p:nvPr/>
      </p:nvGrpSpPr>
      <p:grpSpPr>
        <a:xfrm>
          <a:off x="0" y="0"/>
          <a:ext cx="0" cy="0"/>
          <a:chOff x="0" y="0"/>
          <a:chExt cx="0" cy="0"/>
        </a:xfrm>
      </p:grpSpPr>
      <p:sp>
        <p:nvSpPr>
          <p:cNvPr id="372" name="Google Shape;372;p39"/>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Calibri"/>
              <a:buNone/>
            </a:pPr>
            <a:r>
              <a:rPr lang="es-CO" sz="3600">
                <a:solidFill>
                  <a:srgbClr val="FFFFFF"/>
                </a:solidFill>
              </a:rPr>
              <a:t>Regresión</a:t>
            </a:r>
            <a:endParaRPr sz="3600">
              <a:solidFill>
                <a:srgbClr val="FFFFFF"/>
              </a:solidFill>
            </a:endParaRPr>
          </a:p>
        </p:txBody>
      </p:sp>
      <p:pic>
        <p:nvPicPr>
          <p:cNvPr id="2" name="Google Shape;160;p28">
            <a:extLst>
              <a:ext uri="{FF2B5EF4-FFF2-40B4-BE49-F238E27FC236}">
                <a16:creationId xmlns:a16="http://schemas.microsoft.com/office/drawing/2014/main" id="{9F351D7C-0A46-77E8-6E96-4FA262B30F4F}"/>
              </a:ext>
            </a:extLst>
          </p:cNvPr>
          <p:cNvPicPr preferRelativeResize="0"/>
          <p:nvPr/>
        </p:nvPicPr>
        <p:blipFill>
          <a:blip r:embed="rId3">
            <a:alphaModFix/>
          </a:blip>
          <a:stretch>
            <a:fillRect/>
          </a:stretch>
        </p:blipFill>
        <p:spPr>
          <a:xfrm>
            <a:off x="1892580" y="1406539"/>
            <a:ext cx="8406839" cy="4044921"/>
          </a:xfrm>
          <a:prstGeom prst="rect">
            <a:avLst/>
          </a:prstGeom>
          <a:noFill/>
          <a:ln>
            <a:noFill/>
          </a:ln>
        </p:spPr>
      </p:pic>
    </p:spTree>
    <p:extLst>
      <p:ext uri="{BB962C8B-B14F-4D97-AF65-F5344CB8AC3E}">
        <p14:creationId xmlns:p14="http://schemas.microsoft.com/office/powerpoint/2010/main" val="735410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4"/>
          <p:cNvSpPr/>
          <p:nvPr/>
        </p:nvSpPr>
        <p:spPr>
          <a:xfrm>
            <a:off x="336884" y="311449"/>
            <a:ext cx="4332307" cy="6179552"/>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34"/>
          <p:cNvSpPr txBox="1">
            <a:spLocks noGrp="1"/>
          </p:cNvSpPr>
          <p:nvPr>
            <p:ph type="title"/>
          </p:nvPr>
        </p:nvSpPr>
        <p:spPr>
          <a:xfrm>
            <a:off x="673178" y="919963"/>
            <a:ext cx="3659717" cy="496252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800"/>
              <a:buFont typeface="Calibri"/>
              <a:buNone/>
            </a:pPr>
            <a:r>
              <a:rPr lang="es-CO" sz="4800" dirty="0">
                <a:solidFill>
                  <a:srgbClr val="FFFFFF"/>
                </a:solidFill>
              </a:rPr>
              <a:t>Unsupervised Learning</a:t>
            </a:r>
            <a:endParaRPr sz="4800" dirty="0">
              <a:solidFill>
                <a:srgbClr val="FFFFFF"/>
              </a:solidFill>
            </a:endParaRPr>
          </a:p>
        </p:txBody>
      </p:sp>
      <p:pic>
        <p:nvPicPr>
          <p:cNvPr id="3074" name="Picture 2" descr="What Is Unsupervised Learning? - Eastgate Software">
            <a:extLst>
              <a:ext uri="{FF2B5EF4-FFF2-40B4-BE49-F238E27FC236}">
                <a16:creationId xmlns:a16="http://schemas.microsoft.com/office/drawing/2014/main" id="{97DE35D0-0923-2830-FEF0-2EEDA7885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5485" y="1622778"/>
            <a:ext cx="6422123" cy="3612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154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0"/>
          <p:cNvSpPr txBox="1">
            <a:spLocks noGrp="1"/>
          </p:cNvSpPr>
          <p:nvPr>
            <p:ph type="title"/>
          </p:nvPr>
        </p:nvSpPr>
        <p:spPr>
          <a:xfrm>
            <a:off x="415600" y="593367"/>
            <a:ext cx="11360800" cy="943200"/>
          </a:xfrm>
          <a:prstGeom prst="rect">
            <a:avLst/>
          </a:prstGeom>
        </p:spPr>
        <p:txBody>
          <a:bodyPr spcFirstLastPara="1" wrap="square" lIns="121900" tIns="121900" rIns="121900" bIns="121900" anchor="t" anchorCtr="0">
            <a:normAutofit/>
          </a:bodyPr>
          <a:lstStyle/>
          <a:p>
            <a:r>
              <a:rPr lang="es" dirty="0"/>
              <a:t>Aprendizaje no supervisado</a:t>
            </a:r>
            <a:endParaRPr dirty="0"/>
          </a:p>
        </p:txBody>
      </p:sp>
      <p:sp>
        <p:nvSpPr>
          <p:cNvPr id="172" name="Google Shape;172;p30"/>
          <p:cNvSpPr txBox="1">
            <a:spLocks noGrp="1"/>
          </p:cNvSpPr>
          <p:nvPr>
            <p:ph type="body" idx="1"/>
          </p:nvPr>
        </p:nvSpPr>
        <p:spPr>
          <a:xfrm>
            <a:off x="415600" y="1688433"/>
            <a:ext cx="11360800" cy="4403600"/>
          </a:xfrm>
          <a:prstGeom prst="rect">
            <a:avLst/>
          </a:prstGeom>
        </p:spPr>
        <p:txBody>
          <a:bodyPr spcFirstLastPara="1" wrap="square" lIns="121900" tIns="121900" rIns="121900" bIns="121900" anchor="t" anchorCtr="0">
            <a:normAutofit/>
          </a:bodyPr>
          <a:lstStyle/>
          <a:p>
            <a:pPr marL="0" indent="0" algn="just">
              <a:lnSpc>
                <a:spcPct val="150000"/>
              </a:lnSpc>
              <a:spcAft>
                <a:spcPts val="1067"/>
              </a:spcAft>
              <a:buNone/>
            </a:pPr>
            <a:r>
              <a:rPr lang="es"/>
              <a:t>“Consiste en aprender a partir de patrones de entradas para los que no se especifican los valores de sus salidas”. Este tipo de técnicas </a:t>
            </a:r>
            <a:r>
              <a:rPr lang="es" b="1"/>
              <a:t>no se pueden aplicar</a:t>
            </a:r>
            <a:r>
              <a:rPr lang="es"/>
              <a:t> directamente a un problema de </a:t>
            </a:r>
            <a:r>
              <a:rPr lang="es" i="1"/>
              <a:t>r</a:t>
            </a:r>
            <a:r>
              <a:rPr lang="es" b="1" i="1"/>
              <a:t>egresión </a:t>
            </a:r>
            <a:r>
              <a:rPr lang="es" b="1"/>
              <a:t>o </a:t>
            </a:r>
            <a:r>
              <a:rPr lang="es" b="1" i="1"/>
              <a:t>clasificación</a:t>
            </a:r>
            <a:r>
              <a:rPr lang="es" i="1"/>
              <a:t> </a:t>
            </a:r>
            <a:r>
              <a:rPr lang="es"/>
              <a:t>porque no tiene idea de cuáles pueden ser los valores de los datos de salida, lo que hace imposible que entrene el algoritmo de la forma en que lo haría normalmente.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1"/>
          <p:cNvSpPr txBox="1">
            <a:spLocks noGrp="1"/>
          </p:cNvSpPr>
          <p:nvPr>
            <p:ph type="title"/>
          </p:nvPr>
        </p:nvSpPr>
        <p:spPr>
          <a:xfrm>
            <a:off x="415600" y="593367"/>
            <a:ext cx="11360800" cy="943200"/>
          </a:xfrm>
          <a:prstGeom prst="rect">
            <a:avLst/>
          </a:prstGeom>
        </p:spPr>
        <p:txBody>
          <a:bodyPr spcFirstLastPara="1" wrap="square" lIns="121900" tIns="121900" rIns="121900" bIns="121900" anchor="t" anchorCtr="0">
            <a:normAutofit/>
          </a:bodyPr>
          <a:lstStyle/>
          <a:p>
            <a:r>
              <a:rPr lang="es" dirty="0"/>
              <a:t>Aprendizaje no supervisado</a:t>
            </a:r>
            <a:endParaRPr dirty="0"/>
          </a:p>
        </p:txBody>
      </p:sp>
      <p:sp>
        <p:nvSpPr>
          <p:cNvPr id="178" name="Google Shape;178;p31"/>
          <p:cNvSpPr txBox="1">
            <a:spLocks noGrp="1"/>
          </p:cNvSpPr>
          <p:nvPr>
            <p:ph type="body" idx="1"/>
          </p:nvPr>
        </p:nvSpPr>
        <p:spPr>
          <a:xfrm>
            <a:off x="415600" y="1688433"/>
            <a:ext cx="11360800" cy="4403600"/>
          </a:xfrm>
          <a:prstGeom prst="rect">
            <a:avLst/>
          </a:prstGeom>
        </p:spPr>
        <p:txBody>
          <a:bodyPr spcFirstLastPara="1" wrap="square" lIns="121900" tIns="121900" rIns="121900" bIns="121900" anchor="t" anchorCtr="0">
            <a:normAutofit/>
          </a:bodyPr>
          <a:lstStyle/>
          <a:p>
            <a:pPr marL="0" indent="0" algn="just">
              <a:lnSpc>
                <a:spcPct val="150000"/>
              </a:lnSpc>
              <a:spcAft>
                <a:spcPts val="1067"/>
              </a:spcAft>
              <a:buNone/>
            </a:pPr>
            <a:r>
              <a:rPr lang="es" dirty="0"/>
              <a:t>Ejemplo de vida real: </a:t>
            </a:r>
            <a:r>
              <a:rPr lang="es" b="1" dirty="0"/>
              <a:t>clasificar monedas de diferentes colores</a:t>
            </a:r>
            <a:r>
              <a:rPr lang="es" dirty="0"/>
              <a:t> en pilas separadas. Nadie le ha enseñado a usted cómo separarlos, pero con solo mirar sus características, como el color, puede ver qué monedas de color están asociadas y agruparlas en sus grupos correctos.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3"/>
          <p:cNvSpPr txBox="1">
            <a:spLocks noGrp="1"/>
          </p:cNvSpPr>
          <p:nvPr>
            <p:ph type="title"/>
          </p:nvPr>
        </p:nvSpPr>
        <p:spPr>
          <a:xfrm>
            <a:off x="415600" y="593367"/>
            <a:ext cx="11360800" cy="943200"/>
          </a:xfrm>
          <a:prstGeom prst="rect">
            <a:avLst/>
          </a:prstGeom>
        </p:spPr>
        <p:txBody>
          <a:bodyPr spcFirstLastPara="1" wrap="square" lIns="121900" tIns="121900" rIns="121900" bIns="121900" anchor="t" anchorCtr="0">
            <a:normAutofit/>
          </a:bodyPr>
          <a:lstStyle/>
          <a:p>
            <a:r>
              <a:rPr lang="es" dirty="0"/>
              <a:t>Aprendizaje no supervisado</a:t>
            </a:r>
            <a:endParaRPr dirty="0"/>
          </a:p>
        </p:txBody>
      </p:sp>
      <p:sp>
        <p:nvSpPr>
          <p:cNvPr id="191" name="Google Shape;191;p33"/>
          <p:cNvSpPr txBox="1">
            <a:spLocks noGrp="1"/>
          </p:cNvSpPr>
          <p:nvPr>
            <p:ph type="body" idx="1"/>
          </p:nvPr>
        </p:nvSpPr>
        <p:spPr>
          <a:xfrm>
            <a:off x="415600" y="1688433"/>
            <a:ext cx="11360800" cy="4403600"/>
          </a:xfrm>
          <a:prstGeom prst="rect">
            <a:avLst/>
          </a:prstGeom>
        </p:spPr>
        <p:txBody>
          <a:bodyPr spcFirstLastPara="1" wrap="square" lIns="121900" tIns="121900" rIns="121900" bIns="121900" anchor="t" anchorCtr="0">
            <a:normAutofit fontScale="92500" lnSpcReduction="10000"/>
          </a:bodyPr>
          <a:lstStyle/>
          <a:p>
            <a:pPr marL="0" indent="0" algn="just">
              <a:lnSpc>
                <a:spcPct val="150000"/>
              </a:lnSpc>
              <a:buNone/>
            </a:pPr>
            <a:r>
              <a:rPr lang="es"/>
              <a:t>Para encontrar estructuras interesantes en datos no etiquetados, se utiliza la estimación de densidad en los datos, de las cual la forma más común es la </a:t>
            </a:r>
            <a:r>
              <a:rPr lang="es" b="1"/>
              <a:t>agrupación</a:t>
            </a:r>
            <a:r>
              <a:rPr lang="es"/>
              <a:t>.</a:t>
            </a:r>
            <a:endParaRPr/>
          </a:p>
          <a:p>
            <a:pPr marL="0" indent="0" algn="just">
              <a:lnSpc>
                <a:spcPct val="150000"/>
              </a:lnSpc>
              <a:spcBef>
                <a:spcPts val="1067"/>
              </a:spcBef>
              <a:buNone/>
            </a:pPr>
            <a:r>
              <a:rPr lang="es"/>
              <a:t>El </a:t>
            </a:r>
            <a:r>
              <a:rPr lang="es" b="1"/>
              <a:t>gráfico de densidad</a:t>
            </a:r>
            <a:r>
              <a:rPr lang="es"/>
              <a:t> muestra la distribución de datos en un intervalo de tiempo continuo, este gráfico es una alteración de un Histograma. Los picos de este gráfico de densidad ayudan a mostrar en dónde están ubicados los valores que se concentran en el intervalo.</a:t>
            </a:r>
            <a:endParaRPr/>
          </a:p>
          <a:p>
            <a:pPr marL="0" indent="0" algn="just">
              <a:lnSpc>
                <a:spcPct val="150000"/>
              </a:lnSpc>
              <a:spcBef>
                <a:spcPts val="1067"/>
              </a:spcBef>
              <a:buNone/>
            </a:pPr>
            <a:endParaRPr/>
          </a:p>
          <a:p>
            <a:pPr marL="0" indent="0" algn="just">
              <a:lnSpc>
                <a:spcPct val="150000"/>
              </a:lnSpc>
              <a:spcBef>
                <a:spcPts val="1067"/>
              </a:spcBef>
              <a:spcAft>
                <a:spcPts val="1067"/>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4"/>
          <p:cNvSpPr txBox="1">
            <a:spLocks noGrp="1"/>
          </p:cNvSpPr>
          <p:nvPr>
            <p:ph type="title"/>
          </p:nvPr>
        </p:nvSpPr>
        <p:spPr>
          <a:xfrm>
            <a:off x="415600" y="593367"/>
            <a:ext cx="11360800" cy="943200"/>
          </a:xfrm>
          <a:prstGeom prst="rect">
            <a:avLst/>
          </a:prstGeom>
        </p:spPr>
        <p:txBody>
          <a:bodyPr spcFirstLastPara="1" wrap="square" lIns="121900" tIns="121900" rIns="121900" bIns="121900" anchor="t" anchorCtr="0">
            <a:normAutofit/>
          </a:bodyPr>
          <a:lstStyle/>
          <a:p>
            <a:r>
              <a:rPr lang="es" dirty="0"/>
              <a:t>Aprendizaje no supervisado</a:t>
            </a:r>
            <a:endParaRPr dirty="0"/>
          </a:p>
        </p:txBody>
      </p:sp>
      <p:pic>
        <p:nvPicPr>
          <p:cNvPr id="197" name="Google Shape;197;p34"/>
          <p:cNvPicPr preferRelativeResize="0"/>
          <p:nvPr/>
        </p:nvPicPr>
        <p:blipFill>
          <a:blip r:embed="rId3">
            <a:alphaModFix/>
          </a:blip>
          <a:stretch>
            <a:fillRect/>
          </a:stretch>
        </p:blipFill>
        <p:spPr>
          <a:xfrm>
            <a:off x="2655485" y="1536568"/>
            <a:ext cx="6881047" cy="49150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7"/>
        <p:cNvGrpSpPr/>
        <p:nvPr/>
      </p:nvGrpSpPr>
      <p:grpSpPr>
        <a:xfrm>
          <a:off x="0" y="0"/>
          <a:ext cx="0" cy="0"/>
          <a:chOff x="0" y="0"/>
          <a:chExt cx="0" cy="0"/>
        </a:xfrm>
      </p:grpSpPr>
      <p:sp>
        <p:nvSpPr>
          <p:cNvPr id="378" name="Google Shape;378;p40"/>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9" name="Google Shape;379;p40"/>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Calibri"/>
              <a:buNone/>
            </a:pPr>
            <a:r>
              <a:rPr lang="es-CO" sz="3600">
                <a:solidFill>
                  <a:srgbClr val="FFFFFF"/>
                </a:solidFill>
              </a:rPr>
              <a:t>No Supervisado</a:t>
            </a:r>
            <a:endParaRPr sz="3600">
              <a:solidFill>
                <a:srgbClr val="FFFFFF"/>
              </a:solidFill>
            </a:endParaRPr>
          </a:p>
        </p:txBody>
      </p:sp>
      <p:pic>
        <p:nvPicPr>
          <p:cNvPr id="380" name="Google Shape;380;p40"/>
          <p:cNvPicPr preferRelativeResize="0"/>
          <p:nvPr/>
        </p:nvPicPr>
        <p:blipFill rotWithShape="1">
          <a:blip r:embed="rId3">
            <a:alphaModFix/>
          </a:blip>
          <a:srcRect/>
          <a:stretch/>
        </p:blipFill>
        <p:spPr>
          <a:xfrm>
            <a:off x="4665518" y="319680"/>
            <a:ext cx="7004170" cy="62162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5"/>
          <p:cNvSpPr txBox="1">
            <a:spLocks noGrp="1"/>
          </p:cNvSpPr>
          <p:nvPr>
            <p:ph type="title"/>
          </p:nvPr>
        </p:nvSpPr>
        <p:spPr>
          <a:xfrm>
            <a:off x="415600" y="593367"/>
            <a:ext cx="11360800" cy="943200"/>
          </a:xfrm>
          <a:prstGeom prst="rect">
            <a:avLst/>
          </a:prstGeom>
        </p:spPr>
        <p:txBody>
          <a:bodyPr spcFirstLastPara="1" wrap="square" lIns="121900" tIns="121900" rIns="121900" bIns="121900" anchor="t" anchorCtr="0">
            <a:normAutofit/>
          </a:bodyPr>
          <a:lstStyle/>
          <a:p>
            <a:r>
              <a:rPr lang="es" dirty="0"/>
              <a:t>Aprendizaje no supervisado</a:t>
            </a:r>
            <a:endParaRPr dirty="0"/>
          </a:p>
        </p:txBody>
      </p:sp>
      <p:pic>
        <p:nvPicPr>
          <p:cNvPr id="203" name="Google Shape;203;p35"/>
          <p:cNvPicPr preferRelativeResize="0"/>
          <p:nvPr/>
        </p:nvPicPr>
        <p:blipFill>
          <a:blip r:embed="rId3">
            <a:alphaModFix/>
          </a:blip>
          <a:stretch>
            <a:fillRect/>
          </a:stretch>
        </p:blipFill>
        <p:spPr>
          <a:xfrm>
            <a:off x="2876551" y="3526633"/>
            <a:ext cx="6438900" cy="3022600"/>
          </a:xfrm>
          <a:prstGeom prst="rect">
            <a:avLst/>
          </a:prstGeom>
          <a:noFill/>
          <a:ln>
            <a:noFill/>
          </a:ln>
        </p:spPr>
      </p:pic>
      <p:sp>
        <p:nvSpPr>
          <p:cNvPr id="204" name="Google Shape;204;p35"/>
          <p:cNvSpPr txBox="1"/>
          <p:nvPr/>
        </p:nvSpPr>
        <p:spPr>
          <a:xfrm>
            <a:off x="415600" y="1751001"/>
            <a:ext cx="10885600" cy="2049239"/>
          </a:xfrm>
          <a:prstGeom prst="rect">
            <a:avLst/>
          </a:prstGeom>
          <a:noFill/>
          <a:ln>
            <a:noFill/>
          </a:ln>
        </p:spPr>
        <p:txBody>
          <a:bodyPr spcFirstLastPara="1" wrap="square" lIns="121900" tIns="121900" rIns="121900" bIns="121900" anchor="t" anchorCtr="0">
            <a:spAutoFit/>
          </a:bodyPr>
          <a:lstStyle/>
          <a:p>
            <a:pPr algn="just">
              <a:lnSpc>
                <a:spcPct val="150000"/>
              </a:lnSpc>
              <a:spcAft>
                <a:spcPts val="1067"/>
              </a:spcAft>
            </a:pPr>
            <a:r>
              <a:rPr lang="es" sz="2400">
                <a:solidFill>
                  <a:schemeClr val="dk2"/>
                </a:solidFill>
                <a:latin typeface="Open Sans"/>
                <a:ea typeface="Open Sans"/>
                <a:cs typeface="Open Sans"/>
                <a:sym typeface="Open Sans"/>
              </a:rPr>
              <a:t>La agrupación es el acto de crear grupos con diferentes características . El agrupamiento intenta encontrar varios </a:t>
            </a:r>
            <a:r>
              <a:rPr lang="es" sz="2400" b="1">
                <a:solidFill>
                  <a:schemeClr val="dk2"/>
                </a:solidFill>
                <a:latin typeface="Open Sans"/>
                <a:ea typeface="Open Sans"/>
                <a:cs typeface="Open Sans"/>
                <a:sym typeface="Open Sans"/>
              </a:rPr>
              <a:t>subgrupos</a:t>
            </a:r>
            <a:r>
              <a:rPr lang="es" sz="2400">
                <a:solidFill>
                  <a:schemeClr val="dk2"/>
                </a:solidFill>
                <a:latin typeface="Open Sans"/>
                <a:ea typeface="Open Sans"/>
                <a:cs typeface="Open Sans"/>
                <a:sym typeface="Open Sans"/>
              </a:rPr>
              <a:t> dentro de un conjunto de datos.</a:t>
            </a:r>
            <a:endParaRPr sz="2400">
              <a:solidFill>
                <a:schemeClr val="dk2"/>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4"/>
        <p:cNvGrpSpPr/>
        <p:nvPr/>
      </p:nvGrpSpPr>
      <p:grpSpPr>
        <a:xfrm>
          <a:off x="0" y="0"/>
          <a:ext cx="0" cy="0"/>
          <a:chOff x="0" y="0"/>
          <a:chExt cx="0" cy="0"/>
        </a:xfrm>
      </p:grpSpPr>
      <p:sp>
        <p:nvSpPr>
          <p:cNvPr id="385" name="Google Shape;385;p41"/>
          <p:cNvSpPr>
            <a:spLocks noGrp="1"/>
          </p:cNvSpPr>
          <p:nvPr>
            <p:ph type="title"/>
          </p:nvPr>
        </p:nvSpPr>
        <p:spPr>
          <a:xfrm>
            <a:off x="640080" y="2074363"/>
            <a:ext cx="2752354" cy="2709275"/>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600"/>
              <a:buFont typeface="Calibri"/>
              <a:buNone/>
            </a:pPr>
            <a:r>
              <a:rPr lang="es-CO" sz="2600">
                <a:solidFill>
                  <a:schemeClr val="lt1"/>
                </a:solidFill>
              </a:rPr>
              <a:t>Conjunto de Datos</a:t>
            </a:r>
            <a:endParaRPr sz="2600">
              <a:solidFill>
                <a:schemeClr val="lt1"/>
              </a:solidFill>
            </a:endParaRPr>
          </a:p>
        </p:txBody>
      </p:sp>
      <p:pic>
        <p:nvPicPr>
          <p:cNvPr id="386" name="Google Shape;386;p41"/>
          <p:cNvPicPr preferRelativeResize="0"/>
          <p:nvPr/>
        </p:nvPicPr>
        <p:blipFill rotWithShape="1">
          <a:blip r:embed="rId3">
            <a:alphaModFix/>
          </a:blip>
          <a:srcRect/>
          <a:stretch/>
        </p:blipFill>
        <p:spPr>
          <a:xfrm>
            <a:off x="3761510" y="804574"/>
            <a:ext cx="8290788" cy="5617008"/>
          </a:xfrm>
          <a:prstGeom prst="rect">
            <a:avLst/>
          </a:prstGeom>
          <a:noFill/>
          <a:ln>
            <a:noFill/>
          </a:ln>
        </p:spPr>
      </p:pic>
      <p:sp>
        <p:nvSpPr>
          <p:cNvPr id="387" name="Google Shape;387;p41"/>
          <p:cNvSpPr txBox="1"/>
          <p:nvPr/>
        </p:nvSpPr>
        <p:spPr>
          <a:xfrm>
            <a:off x="4561609" y="5434445"/>
            <a:ext cx="47801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400" b="1">
                <a:solidFill>
                  <a:schemeClr val="dk1"/>
                </a:solidFill>
                <a:latin typeface="Calibri"/>
                <a:ea typeface="Calibri"/>
                <a:cs typeface="Calibri"/>
                <a:sym typeface="Calibri"/>
              </a:rPr>
              <a:t>Xs</a:t>
            </a:r>
            <a:endParaRPr sz="2400" b="1">
              <a:solidFill>
                <a:schemeClr val="dk1"/>
              </a:solidFill>
              <a:latin typeface="Calibri"/>
              <a:ea typeface="Calibri"/>
              <a:cs typeface="Calibri"/>
              <a:sym typeface="Calibri"/>
            </a:endParaRPr>
          </a:p>
        </p:txBody>
      </p:sp>
      <p:sp>
        <p:nvSpPr>
          <p:cNvPr id="388" name="Google Shape;388;p41"/>
          <p:cNvSpPr txBox="1"/>
          <p:nvPr/>
        </p:nvSpPr>
        <p:spPr>
          <a:xfrm>
            <a:off x="9836516" y="4972780"/>
            <a:ext cx="34496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400" b="1">
                <a:solidFill>
                  <a:schemeClr val="dk1"/>
                </a:solidFill>
                <a:latin typeface="Calibri"/>
                <a:ea typeface="Calibri"/>
                <a:cs typeface="Calibri"/>
                <a:sym typeface="Calibri"/>
              </a:rPr>
              <a:t>Y</a:t>
            </a:r>
            <a:endParaRPr sz="2400" b="1">
              <a:solidFill>
                <a:schemeClr val="dk1"/>
              </a:solidFill>
              <a:latin typeface="Calibri"/>
              <a:ea typeface="Calibri"/>
              <a:cs typeface="Calibri"/>
              <a:sym typeface="Calibri"/>
            </a:endParaRPr>
          </a:p>
        </p:txBody>
      </p:sp>
      <p:sp>
        <p:nvSpPr>
          <p:cNvPr id="389" name="Google Shape;389;p41"/>
          <p:cNvSpPr/>
          <p:nvPr/>
        </p:nvSpPr>
        <p:spPr>
          <a:xfrm>
            <a:off x="7809722" y="1660849"/>
            <a:ext cx="1101013" cy="344299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p:nvPr/>
        </p:nvSpPr>
        <p:spPr>
          <a:xfrm>
            <a:off x="0" y="-3324"/>
            <a:ext cx="12192000" cy="68613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6"/>
          <p:cNvSpPr/>
          <p:nvPr/>
        </p:nvSpPr>
        <p:spPr>
          <a:xfrm>
            <a:off x="321734" y="321733"/>
            <a:ext cx="11573488" cy="6214534"/>
          </a:xfrm>
          <a:prstGeom prst="rect">
            <a:avLst/>
          </a:prstGeom>
          <a:solidFill>
            <a:srgbClr val="3F3F3F"/>
          </a:solidFill>
          <a:ln w="127000" cap="sq" cmpd="thinThick">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6"/>
          <p:cNvSpPr txBox="1">
            <a:spLocks noGrp="1"/>
          </p:cNvSpPr>
          <p:nvPr>
            <p:ph type="ctrTitle"/>
          </p:nvPr>
        </p:nvSpPr>
        <p:spPr>
          <a:xfrm>
            <a:off x="1524000" y="1771653"/>
            <a:ext cx="9144000" cy="219074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5800"/>
              <a:buFont typeface="Calibri"/>
              <a:buNone/>
            </a:pPr>
            <a:r>
              <a:rPr lang="es-CO" sz="5800" dirty="0">
                <a:solidFill>
                  <a:srgbClr val="F8F8F8"/>
                </a:solidFill>
              </a:rPr>
              <a:t>Técnicas no supervisadas</a:t>
            </a:r>
            <a:endParaRPr sz="5800" dirty="0">
              <a:solidFill>
                <a:srgbClr val="F8F8F8"/>
              </a:solidFill>
            </a:endParaRPr>
          </a:p>
        </p:txBody>
      </p:sp>
      <p:cxnSp>
        <p:nvCxnSpPr>
          <p:cNvPr id="106" name="Google Shape;106;p16"/>
          <p:cNvCxnSpPr/>
          <p:nvPr/>
        </p:nvCxnSpPr>
        <p:spPr>
          <a:xfrm>
            <a:off x="4724400" y="4109417"/>
            <a:ext cx="2743200" cy="0"/>
          </a:xfrm>
          <a:prstGeom prst="straightConnector1">
            <a:avLst/>
          </a:prstGeom>
          <a:noFill/>
          <a:ln w="12700" cap="flat" cmpd="sng">
            <a:solidFill>
              <a:srgbClr val="D8D8D8"/>
            </a:solidFill>
            <a:prstDash val="solid"/>
            <a:miter lim="800000"/>
            <a:headEnd type="none" w="sm" len="sm"/>
            <a:tailEnd type="none" w="sm" len="sm"/>
          </a:ln>
        </p:spPr>
      </p:cxnSp>
    </p:spTree>
    <p:extLst>
      <p:ext uri="{BB962C8B-B14F-4D97-AF65-F5344CB8AC3E}">
        <p14:creationId xmlns:p14="http://schemas.microsoft.com/office/powerpoint/2010/main" val="1277379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4"/>
        <p:cNvGrpSpPr/>
        <p:nvPr/>
      </p:nvGrpSpPr>
      <p:grpSpPr>
        <a:xfrm>
          <a:off x="0" y="0"/>
          <a:ext cx="0" cy="0"/>
          <a:chOff x="0" y="0"/>
          <a:chExt cx="0" cy="0"/>
        </a:xfrm>
      </p:grpSpPr>
      <p:sp>
        <p:nvSpPr>
          <p:cNvPr id="945" name="Google Shape;945;p103"/>
          <p:cNvSpPr/>
          <p:nvPr/>
        </p:nvSpPr>
        <p:spPr>
          <a:xfrm>
            <a:off x="0" y="651752"/>
            <a:ext cx="12192000" cy="73655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6" name="Google Shape;946;p103"/>
          <p:cNvSpPr txBox="1">
            <a:spLocks noGrp="1"/>
          </p:cNvSpPr>
          <p:nvPr>
            <p:ph type="title"/>
          </p:nvPr>
        </p:nvSpPr>
        <p:spPr>
          <a:xfrm>
            <a:off x="556532" y="643467"/>
            <a:ext cx="11210925" cy="7448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Calibri"/>
              <a:buNone/>
            </a:pPr>
            <a:r>
              <a:rPr lang="es-CO" sz="3200" dirty="0">
                <a:solidFill>
                  <a:schemeClr val="lt1"/>
                </a:solidFill>
              </a:rPr>
              <a:t>Técnicas o pre modelos de Machine Learning</a:t>
            </a:r>
            <a:endParaRPr dirty="0"/>
          </a:p>
        </p:txBody>
      </p:sp>
      <p:pic>
        <p:nvPicPr>
          <p:cNvPr id="947" name="Google Shape;947;p103"/>
          <p:cNvPicPr preferRelativeResize="0"/>
          <p:nvPr/>
        </p:nvPicPr>
        <p:blipFill rotWithShape="1">
          <a:blip r:embed="rId3">
            <a:alphaModFix/>
          </a:blip>
          <a:srcRect/>
          <a:stretch/>
        </p:blipFill>
        <p:spPr>
          <a:xfrm>
            <a:off x="1829789" y="1675227"/>
            <a:ext cx="8532422" cy="4394199"/>
          </a:xfrm>
          <a:prstGeom prst="rect">
            <a:avLst/>
          </a:prstGeom>
          <a:noFill/>
          <a:ln>
            <a:noFill/>
          </a:ln>
        </p:spPr>
      </p:pic>
      <p:sp>
        <p:nvSpPr>
          <p:cNvPr id="948" name="Google Shape;948;p103"/>
          <p:cNvSpPr txBox="1"/>
          <p:nvPr/>
        </p:nvSpPr>
        <p:spPr>
          <a:xfrm>
            <a:off x="7588578" y="5440264"/>
            <a:ext cx="1356910"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CO" sz="1800" b="1">
                <a:solidFill>
                  <a:schemeClr val="dk1"/>
                </a:solidFill>
                <a:latin typeface="Calibri"/>
                <a:ea typeface="Calibri"/>
                <a:cs typeface="Calibri"/>
                <a:sym typeface="Calibri"/>
              </a:rPr>
              <a:t>Data Mining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2"/>
        <p:cNvGrpSpPr/>
        <p:nvPr/>
      </p:nvGrpSpPr>
      <p:grpSpPr>
        <a:xfrm>
          <a:off x="0" y="0"/>
          <a:ext cx="0" cy="0"/>
          <a:chOff x="0" y="0"/>
          <a:chExt cx="0" cy="0"/>
        </a:xfrm>
      </p:grpSpPr>
      <p:sp>
        <p:nvSpPr>
          <p:cNvPr id="953" name="Google Shape;953;p104"/>
          <p:cNvSpPr/>
          <p:nvPr/>
        </p:nvSpPr>
        <p:spPr>
          <a:xfrm>
            <a:off x="-305" y="0"/>
            <a:ext cx="6271569" cy="6858000"/>
          </a:xfrm>
          <a:prstGeom prst="rect">
            <a:avLst/>
          </a:prstGeom>
          <a:gradFill>
            <a:gsLst>
              <a:gs pos="0">
                <a:srgbClr val="4472C3">
                  <a:alpha val="81960"/>
                </a:srgbClr>
              </a:gs>
              <a:gs pos="25000">
                <a:srgbClr val="4472C4">
                  <a:alpha val="60000"/>
                </a:srgbClr>
              </a:gs>
              <a:gs pos="94000">
                <a:srgbClr val="AEABAB"/>
              </a:gs>
              <a:gs pos="100000">
                <a:srgbClr val="AEABAB"/>
              </a:gs>
            </a:gsLst>
            <a:lin ang="4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54" name="Google Shape;954;p104"/>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5" name="Google Shape;955;p104"/>
          <p:cNvSpPr txBox="1">
            <a:spLocks noGrp="1"/>
          </p:cNvSpPr>
          <p:nvPr>
            <p:ph type="ctrTitle"/>
          </p:nvPr>
        </p:nvSpPr>
        <p:spPr>
          <a:xfrm>
            <a:off x="5971982" y="5763257"/>
            <a:ext cx="5984238" cy="78994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0000"/>
              </a:buClr>
              <a:buSzPts val="4400"/>
              <a:buFont typeface="Calibri"/>
              <a:buNone/>
            </a:pPr>
            <a:r>
              <a:rPr lang="es-CO" sz="4400" dirty="0">
                <a:solidFill>
                  <a:srgbClr val="000000"/>
                </a:solidFill>
              </a:rPr>
              <a:t>Técnicas no supervisadas</a:t>
            </a:r>
            <a:endParaRPr dirty="0"/>
          </a:p>
        </p:txBody>
      </p:sp>
      <p:sp>
        <p:nvSpPr>
          <p:cNvPr id="956" name="Google Shape;956;p104"/>
          <p:cNvSpPr txBox="1">
            <a:spLocks noGrp="1"/>
          </p:cNvSpPr>
          <p:nvPr>
            <p:ph type="subTitle" idx="1"/>
          </p:nvPr>
        </p:nvSpPr>
        <p:spPr>
          <a:xfrm>
            <a:off x="6251169" y="304800"/>
            <a:ext cx="5808975" cy="5265576"/>
          </a:xfrm>
          <a:prstGeom prst="rect">
            <a:avLst/>
          </a:prstGeom>
          <a:noFill/>
          <a:ln>
            <a:noFill/>
          </a:ln>
        </p:spPr>
        <p:txBody>
          <a:bodyPr spcFirstLastPara="1" wrap="square" lIns="91425" tIns="45700" rIns="91425" bIns="45700" anchor="b" anchorCtr="0">
            <a:noAutofit/>
          </a:bodyPr>
          <a:lstStyle/>
          <a:p>
            <a:pPr marL="342900" lvl="0" indent="-342900" algn="just" rtl="0">
              <a:lnSpc>
                <a:spcPct val="90000"/>
              </a:lnSpc>
              <a:spcBef>
                <a:spcPts val="0"/>
              </a:spcBef>
              <a:spcAft>
                <a:spcPts val="0"/>
              </a:spcAft>
              <a:buClr>
                <a:srgbClr val="000000"/>
              </a:buClr>
              <a:buSzPts val="2200"/>
              <a:buFont typeface="Arial"/>
              <a:buChar char="•"/>
            </a:pPr>
            <a:r>
              <a:rPr lang="es-CO" sz="2200" dirty="0">
                <a:solidFill>
                  <a:srgbClr val="000000"/>
                </a:solidFill>
              </a:rPr>
              <a:t>También denominado análisis descriptivo, los datos de entrada no están etiquetados y no tienen un resultado conocido. </a:t>
            </a:r>
            <a:endParaRPr dirty="0"/>
          </a:p>
          <a:p>
            <a:pPr marL="342900" lvl="0" indent="-342900" algn="just" rtl="0">
              <a:lnSpc>
                <a:spcPct val="90000"/>
              </a:lnSpc>
              <a:spcBef>
                <a:spcPts val="1000"/>
              </a:spcBef>
              <a:spcAft>
                <a:spcPts val="0"/>
              </a:spcAft>
              <a:buClr>
                <a:srgbClr val="000000"/>
              </a:buClr>
              <a:buSzPts val="2200"/>
              <a:buFont typeface="Arial"/>
              <a:buChar char="•"/>
            </a:pPr>
            <a:r>
              <a:rPr lang="es-CO" sz="2200" dirty="0">
                <a:solidFill>
                  <a:srgbClr val="000000"/>
                </a:solidFill>
              </a:rPr>
              <a:t>Tenemos que preparar el modelo deduciendo las estructuras presentes en los datos de entrada. Esto puede ser para extraer reglas generales. </a:t>
            </a:r>
            <a:endParaRPr dirty="0"/>
          </a:p>
          <a:p>
            <a:pPr marL="800100" lvl="1" indent="-342900" algn="just" rtl="0">
              <a:lnSpc>
                <a:spcPct val="90000"/>
              </a:lnSpc>
              <a:spcBef>
                <a:spcPts val="500"/>
              </a:spcBef>
              <a:spcAft>
                <a:spcPts val="0"/>
              </a:spcAft>
              <a:buClr>
                <a:srgbClr val="000000"/>
              </a:buClr>
              <a:buSzPts val="1800"/>
              <a:buFont typeface="Arial"/>
              <a:buChar char="•"/>
            </a:pPr>
            <a:r>
              <a:rPr lang="es-CO" sz="1800" dirty="0">
                <a:solidFill>
                  <a:srgbClr val="000000"/>
                </a:solidFill>
              </a:rPr>
              <a:t>Grupos (</a:t>
            </a:r>
            <a:r>
              <a:rPr lang="es-CO" sz="1800" dirty="0" err="1">
                <a:solidFill>
                  <a:srgbClr val="000000"/>
                </a:solidFill>
              </a:rPr>
              <a:t>Cluster</a:t>
            </a:r>
            <a:r>
              <a:rPr lang="es-CO" sz="1800" dirty="0">
                <a:solidFill>
                  <a:srgbClr val="000000"/>
                </a:solidFill>
              </a:rPr>
              <a:t>)</a:t>
            </a:r>
            <a:endParaRPr dirty="0"/>
          </a:p>
          <a:p>
            <a:pPr marL="800100" lvl="1" indent="-342900" algn="just" rtl="0">
              <a:lnSpc>
                <a:spcPct val="90000"/>
              </a:lnSpc>
              <a:spcBef>
                <a:spcPts val="500"/>
              </a:spcBef>
              <a:spcAft>
                <a:spcPts val="0"/>
              </a:spcAft>
              <a:buClr>
                <a:srgbClr val="000000"/>
              </a:buClr>
              <a:buSzPts val="1800"/>
              <a:buFont typeface="Arial"/>
              <a:buChar char="•"/>
            </a:pPr>
            <a:r>
              <a:rPr lang="es-CO" sz="1800" dirty="0">
                <a:solidFill>
                  <a:srgbClr val="000000"/>
                </a:solidFill>
              </a:rPr>
              <a:t>Asociaciones</a:t>
            </a:r>
            <a:endParaRPr dirty="0"/>
          </a:p>
          <a:p>
            <a:pPr marL="800100" lvl="1" indent="-342900" algn="just" rtl="0">
              <a:lnSpc>
                <a:spcPct val="90000"/>
              </a:lnSpc>
              <a:spcBef>
                <a:spcPts val="500"/>
              </a:spcBef>
              <a:spcAft>
                <a:spcPts val="0"/>
              </a:spcAft>
              <a:buClr>
                <a:srgbClr val="000000"/>
              </a:buClr>
              <a:buSzPts val="1800"/>
              <a:buFont typeface="Arial"/>
              <a:buChar char="•"/>
            </a:pPr>
            <a:r>
              <a:rPr lang="es-CO" sz="1800" dirty="0">
                <a:solidFill>
                  <a:srgbClr val="000000"/>
                </a:solidFill>
              </a:rPr>
              <a:t>Componentes principales</a:t>
            </a:r>
            <a:endParaRPr dirty="0"/>
          </a:p>
          <a:p>
            <a:pPr marL="342900" lvl="0" indent="-342900" algn="just" rtl="0">
              <a:lnSpc>
                <a:spcPct val="90000"/>
              </a:lnSpc>
              <a:spcBef>
                <a:spcPts val="1000"/>
              </a:spcBef>
              <a:spcAft>
                <a:spcPts val="0"/>
              </a:spcAft>
              <a:buClr>
                <a:srgbClr val="000000"/>
              </a:buClr>
              <a:buSzPts val="2200"/>
              <a:buFont typeface="Arial"/>
              <a:buChar char="•"/>
            </a:pPr>
            <a:r>
              <a:rPr lang="es-CO" sz="2200" dirty="0">
                <a:solidFill>
                  <a:srgbClr val="000000"/>
                </a:solidFill>
              </a:rPr>
              <a:t>Puede ser a través de un proceso matemático para reducir la redundancia.</a:t>
            </a:r>
            <a:endParaRPr dirty="0"/>
          </a:p>
          <a:p>
            <a:pPr marL="342900" lvl="0" indent="-342900" algn="just" rtl="0">
              <a:lnSpc>
                <a:spcPct val="90000"/>
              </a:lnSpc>
              <a:spcBef>
                <a:spcPts val="1000"/>
              </a:spcBef>
              <a:spcAft>
                <a:spcPts val="0"/>
              </a:spcAft>
              <a:buClr>
                <a:srgbClr val="000000"/>
              </a:buClr>
              <a:buSzPts val="2200"/>
              <a:buFont typeface="Arial"/>
              <a:buChar char="•"/>
            </a:pPr>
            <a:r>
              <a:rPr lang="es-CO" sz="2200" dirty="0">
                <a:solidFill>
                  <a:srgbClr val="000000"/>
                </a:solidFill>
              </a:rPr>
              <a:t>Estos algoritmos descubren similitudes o regularidades en los datos o variables de entrada. A esto se le llama Minería de Datos (</a:t>
            </a:r>
            <a:r>
              <a:rPr lang="es-CO" sz="2200" b="1" dirty="0">
                <a:solidFill>
                  <a:srgbClr val="000000"/>
                </a:solidFill>
              </a:rPr>
              <a:t>Data </a:t>
            </a:r>
            <a:r>
              <a:rPr lang="es-CO" sz="2200" b="1" dirty="0" err="1">
                <a:solidFill>
                  <a:srgbClr val="000000"/>
                </a:solidFill>
              </a:rPr>
              <a:t>Mining</a:t>
            </a:r>
            <a:r>
              <a:rPr lang="es-CO" sz="2200" dirty="0">
                <a:solidFill>
                  <a:srgbClr val="000000"/>
                </a:solidFill>
              </a:rPr>
              <a:t>)</a:t>
            </a:r>
            <a:endParaRPr dirty="0"/>
          </a:p>
        </p:txBody>
      </p:sp>
      <p:sp>
        <p:nvSpPr>
          <p:cNvPr id="957" name="Google Shape;957;p104"/>
          <p:cNvSpPr/>
          <p:nvPr/>
        </p:nvSpPr>
        <p:spPr>
          <a:xfrm>
            <a:off x="1" y="590635"/>
            <a:ext cx="5478085" cy="6276841"/>
          </a:xfrm>
          <a:custGeom>
            <a:avLst/>
            <a:gdLst/>
            <a:ahLst/>
            <a:cxnLst/>
            <a:rect l="l" t="t" r="r" b="b"/>
            <a:pathLst>
              <a:path w="5478085" h="6276841" extrusionOk="0">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w="12700" cap="flat" cmpd="sng">
            <a:solidFill>
              <a:srgbClr val="B3C6E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58" name="Google Shape;958;p104"/>
          <p:cNvPicPr preferRelativeResize="0"/>
          <p:nvPr/>
        </p:nvPicPr>
        <p:blipFill rotWithShape="1">
          <a:blip r:embed="rId4">
            <a:alphaModFix/>
          </a:blip>
          <a:srcRect l="75" r="1882" b="-2"/>
          <a:stretch/>
        </p:blipFill>
        <p:spPr>
          <a:xfrm>
            <a:off x="1" y="770037"/>
            <a:ext cx="5298683" cy="6097438"/>
          </a:xfrm>
          <a:custGeom>
            <a:avLst/>
            <a:gdLst/>
            <a:ahLst/>
            <a:cxnLst/>
            <a:rect l="l" t="t" r="r" b="b"/>
            <a:pathLst>
              <a:path w="5298683" h="6097438" extrusionOk="0">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2"/>
        <p:cNvGrpSpPr/>
        <p:nvPr/>
      </p:nvGrpSpPr>
      <p:grpSpPr>
        <a:xfrm>
          <a:off x="0" y="0"/>
          <a:ext cx="0" cy="0"/>
          <a:chOff x="0" y="0"/>
          <a:chExt cx="0" cy="0"/>
        </a:xfrm>
      </p:grpSpPr>
      <p:sp>
        <p:nvSpPr>
          <p:cNvPr id="963" name="Google Shape;963;p105"/>
          <p:cNvSpPr txBox="1">
            <a:spLocks noGrp="1"/>
          </p:cNvSpPr>
          <p:nvPr>
            <p:ph type="title"/>
          </p:nvPr>
        </p:nvSpPr>
        <p:spPr>
          <a:xfrm>
            <a:off x="648929" y="629267"/>
            <a:ext cx="4944152" cy="113354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O">
                <a:solidFill>
                  <a:schemeClr val="dk1"/>
                </a:solidFill>
                <a:latin typeface="Calibri"/>
                <a:ea typeface="Calibri"/>
                <a:cs typeface="Calibri"/>
                <a:sym typeface="Calibri"/>
              </a:rPr>
              <a:t>Clustering. K-Means</a:t>
            </a:r>
            <a:endParaRPr/>
          </a:p>
        </p:txBody>
      </p:sp>
      <p:sp>
        <p:nvSpPr>
          <p:cNvPr id="964" name="Google Shape;964;p105"/>
          <p:cNvSpPr txBox="1">
            <a:spLocks noGrp="1"/>
          </p:cNvSpPr>
          <p:nvPr>
            <p:ph type="body" idx="1"/>
          </p:nvPr>
        </p:nvSpPr>
        <p:spPr>
          <a:xfrm>
            <a:off x="182880" y="2153920"/>
            <a:ext cx="5720080" cy="3407894"/>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s-CO" dirty="0"/>
              <a:t>K-medias es un algoritmo iterativo que agrupa datos similares en grupos. </a:t>
            </a:r>
            <a:endParaRPr dirty="0"/>
          </a:p>
          <a:p>
            <a:pPr marL="228600" lvl="0" indent="-228600" algn="just" rtl="0">
              <a:lnSpc>
                <a:spcPct val="90000"/>
              </a:lnSpc>
              <a:spcBef>
                <a:spcPts val="1000"/>
              </a:spcBef>
              <a:spcAft>
                <a:spcPts val="0"/>
              </a:spcAft>
              <a:buClr>
                <a:schemeClr val="dk1"/>
              </a:buClr>
              <a:buSzPts val="2800"/>
              <a:buChar char="•"/>
            </a:pPr>
            <a:r>
              <a:rPr lang="es-CO" dirty="0"/>
              <a:t>Calcula los centroides de grupos de k y asigna un punto de datos a ese grupo que tiene la menor distancia entre su centroide y el punto de datos.</a:t>
            </a:r>
            <a:endParaRPr dirty="0"/>
          </a:p>
        </p:txBody>
      </p:sp>
      <p:sp>
        <p:nvSpPr>
          <p:cNvPr id="965" name="Google Shape;965;p105"/>
          <p:cNvSpPr/>
          <p:nvPr/>
        </p:nvSpPr>
        <p:spPr>
          <a:xfrm>
            <a:off x="6092950" y="0"/>
            <a:ext cx="6099050" cy="6858000"/>
          </a:xfrm>
          <a:prstGeom prst="rect">
            <a:avLst/>
          </a:prstGeom>
          <a:solidFill>
            <a:srgbClr val="C8CAC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6" name="Google Shape;966;p105"/>
          <p:cNvSpPr/>
          <p:nvPr/>
        </p:nvSpPr>
        <p:spPr>
          <a:xfrm>
            <a:off x="6577582" y="484632"/>
            <a:ext cx="5130204" cy="5739187"/>
          </a:xfrm>
          <a:prstGeom prst="roundRect">
            <a:avLst>
              <a:gd name="adj" fmla="val 0"/>
            </a:avLst>
          </a:prstGeom>
          <a:solidFill>
            <a:srgbClr val="FFFFFF"/>
          </a:solidFill>
          <a:ln w="9525" cap="flat" cmpd="sng">
            <a:solidFill>
              <a:srgbClr val="C8CACA"/>
            </a:solidFill>
            <a:prstDash val="solid"/>
            <a:miter lim="800000"/>
            <a:headEnd type="none" w="sm" len="sm"/>
            <a:tailEnd type="none" w="sm" len="sm"/>
          </a:ln>
          <a:effectLst>
            <a:outerShdw blurRad="57150" dist="19050" dir="5400000" algn="t"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67" name="Google Shape;967;p105"/>
          <p:cNvPicPr preferRelativeResize="0"/>
          <p:nvPr/>
        </p:nvPicPr>
        <p:blipFill rotWithShape="1">
          <a:blip r:embed="rId3">
            <a:alphaModFix/>
          </a:blip>
          <a:srcRect/>
          <a:stretch/>
        </p:blipFill>
        <p:spPr>
          <a:xfrm>
            <a:off x="6577583" y="1421849"/>
            <a:ext cx="5085228" cy="383087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1"/>
        <p:cNvGrpSpPr/>
        <p:nvPr/>
      </p:nvGrpSpPr>
      <p:grpSpPr>
        <a:xfrm>
          <a:off x="0" y="0"/>
          <a:ext cx="0" cy="0"/>
          <a:chOff x="0" y="0"/>
          <a:chExt cx="0" cy="0"/>
        </a:xfrm>
      </p:grpSpPr>
      <p:pic>
        <p:nvPicPr>
          <p:cNvPr id="972" name="Google Shape;972;p106"/>
          <p:cNvPicPr preferRelativeResize="0"/>
          <p:nvPr/>
        </p:nvPicPr>
        <p:blipFill>
          <a:blip r:embed="rId3">
            <a:alphaModFix/>
          </a:blip>
          <a:stretch>
            <a:fillRect/>
          </a:stretch>
        </p:blipFill>
        <p:spPr>
          <a:xfrm>
            <a:off x="152400" y="1143000"/>
            <a:ext cx="6096000" cy="4572000"/>
          </a:xfrm>
          <a:prstGeom prst="rect">
            <a:avLst/>
          </a:prstGeom>
          <a:noFill/>
          <a:ln>
            <a:noFill/>
          </a:ln>
        </p:spPr>
      </p:pic>
      <p:pic>
        <p:nvPicPr>
          <p:cNvPr id="973" name="Google Shape;973;p106"/>
          <p:cNvPicPr preferRelativeResize="0"/>
          <p:nvPr/>
        </p:nvPicPr>
        <p:blipFill>
          <a:blip r:embed="rId4">
            <a:alphaModFix/>
          </a:blip>
          <a:stretch>
            <a:fillRect/>
          </a:stretch>
        </p:blipFill>
        <p:spPr>
          <a:xfrm>
            <a:off x="6248400" y="689275"/>
            <a:ext cx="5638800" cy="54794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B22080DB-10DF-197B-B666-1AEFDF33846A}"/>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56261993-0F78-979E-962D-AAD1359A01E1}"/>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37B3C044-4CE5-BA37-7AB0-1A0BF1A8F7EC}"/>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9925657B-B089-A9F9-F83A-64486F769D4A}"/>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2" name="Google Shape;194;p30">
            <a:extLst>
              <a:ext uri="{FF2B5EF4-FFF2-40B4-BE49-F238E27FC236}">
                <a16:creationId xmlns:a16="http://schemas.microsoft.com/office/drawing/2014/main" id="{21A0F369-B139-4C5F-CA0E-5592E379428A}"/>
              </a:ext>
            </a:extLst>
          </p:cNvPr>
          <p:cNvSpPr/>
          <p:nvPr/>
        </p:nvSpPr>
        <p:spPr>
          <a:xfrm>
            <a:off x="1388306" y="2592352"/>
            <a:ext cx="9415387" cy="1625318"/>
          </a:xfrm>
          <a:prstGeom prst="rect">
            <a:avLst/>
          </a:prstGeom>
          <a:noFill/>
          <a:ln>
            <a:noFill/>
          </a:ln>
        </p:spPr>
        <p:txBody>
          <a:bodyPr spcFirstLastPara="1" wrap="square" lIns="68575" tIns="34275" rIns="68575" bIns="34275" anchor="t" anchorCtr="0">
            <a:noAutofit/>
          </a:bodyPr>
          <a:lstStyle/>
          <a:p>
            <a:pPr algn="ctr"/>
            <a:r>
              <a:rPr lang="es-ES" sz="2000" dirty="0">
                <a:solidFill>
                  <a:schemeClr val="dk1"/>
                </a:solidFill>
                <a:latin typeface="Calibri"/>
                <a:ea typeface="Calibri"/>
                <a:cs typeface="Calibri"/>
                <a:sym typeface="Calibri"/>
              </a:rPr>
              <a:t>El método del codo (</a:t>
            </a:r>
            <a:r>
              <a:rPr lang="es-ES" sz="2000" dirty="0" err="1">
                <a:solidFill>
                  <a:schemeClr val="dk1"/>
                </a:solidFill>
                <a:latin typeface="Calibri"/>
                <a:ea typeface="Calibri"/>
                <a:cs typeface="Calibri"/>
                <a:sym typeface="Calibri"/>
              </a:rPr>
              <a:t>Elbow</a:t>
            </a:r>
            <a:r>
              <a:rPr lang="es-ES" sz="2000" dirty="0">
                <a:solidFill>
                  <a:schemeClr val="dk1"/>
                </a:solidFill>
                <a:latin typeface="Calibri"/>
                <a:ea typeface="Calibri"/>
                <a:cs typeface="Calibri"/>
                <a:sym typeface="Calibri"/>
              </a:rPr>
              <a:t> </a:t>
            </a:r>
            <a:r>
              <a:rPr lang="es-ES" sz="2000" dirty="0" err="1">
                <a:solidFill>
                  <a:schemeClr val="dk1"/>
                </a:solidFill>
                <a:latin typeface="Calibri"/>
                <a:ea typeface="Calibri"/>
                <a:cs typeface="Calibri"/>
                <a:sym typeface="Calibri"/>
              </a:rPr>
              <a:t>Method</a:t>
            </a:r>
            <a:r>
              <a:rPr lang="es-ES" sz="2000" dirty="0">
                <a:solidFill>
                  <a:schemeClr val="dk1"/>
                </a:solidFill>
                <a:latin typeface="Calibri"/>
                <a:ea typeface="Calibri"/>
                <a:cs typeface="Calibri"/>
                <a:sym typeface="Calibri"/>
              </a:rPr>
              <a:t>) es una técnica utilizada en el análisis de agrupamiento (</a:t>
            </a:r>
            <a:r>
              <a:rPr lang="es-ES" sz="2000" dirty="0" err="1">
                <a:solidFill>
                  <a:schemeClr val="dk1"/>
                </a:solidFill>
                <a:latin typeface="Calibri"/>
                <a:ea typeface="Calibri"/>
                <a:cs typeface="Calibri"/>
                <a:sym typeface="Calibri"/>
              </a:rPr>
              <a:t>clustering</a:t>
            </a:r>
            <a:r>
              <a:rPr lang="es-ES" sz="2000" dirty="0">
                <a:solidFill>
                  <a:schemeClr val="dk1"/>
                </a:solidFill>
                <a:latin typeface="Calibri"/>
                <a:ea typeface="Calibri"/>
                <a:cs typeface="Calibri"/>
                <a:sym typeface="Calibri"/>
              </a:rPr>
              <a:t>) para determinar el número óptimo de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en un conjunto de datos. Este método se basa en la idea de encontrar un punto de inflexión en una gráfica que representa la suma de los errores cuadráticos dentro de los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a:t>
            </a:r>
            <a:r>
              <a:rPr lang="es-ES" sz="2000" dirty="0" err="1">
                <a:solidFill>
                  <a:schemeClr val="dk1"/>
                </a:solidFill>
                <a:latin typeface="Calibri"/>
                <a:ea typeface="Calibri"/>
                <a:cs typeface="Calibri"/>
                <a:sym typeface="Calibri"/>
              </a:rPr>
              <a:t>inertia</a:t>
            </a:r>
            <a:r>
              <a:rPr lang="es-ES" sz="2000" dirty="0">
                <a:solidFill>
                  <a:schemeClr val="dk1"/>
                </a:solidFill>
                <a:latin typeface="Calibri"/>
                <a:ea typeface="Calibri"/>
                <a:cs typeface="Calibri"/>
                <a:sym typeface="Calibri"/>
              </a:rPr>
              <a:t>) frente al número de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a:t>
            </a:r>
            <a:endParaRPr sz="2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3795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1A40FC51-5F30-72CF-93A2-4D152A09F1CA}"/>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5CA6D902-71BC-9A04-0618-CCA59D0525BE}"/>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C8B68374-7C3B-B2DE-74EB-6F8ED6A97D4D}"/>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CF93E707-7589-CBCA-2058-CA4881274215}"/>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pic>
        <p:nvPicPr>
          <p:cNvPr id="6146" name="Picture 2">
            <a:extLst>
              <a:ext uri="{FF2B5EF4-FFF2-40B4-BE49-F238E27FC236}">
                <a16:creationId xmlns:a16="http://schemas.microsoft.com/office/drawing/2014/main" id="{38F1A94D-7C93-057B-425A-70F13E0CE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670" y="2699385"/>
            <a:ext cx="5189220" cy="346439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126982D1-2BCD-C689-7BC3-7343D292CF38}"/>
              </a:ext>
            </a:extLst>
          </p:cNvPr>
          <p:cNvPicPr>
            <a:picLocks noChangeAspect="1"/>
          </p:cNvPicPr>
          <p:nvPr/>
        </p:nvPicPr>
        <p:blipFill>
          <a:blip r:embed="rId4"/>
          <a:stretch>
            <a:fillRect/>
          </a:stretch>
        </p:blipFill>
        <p:spPr>
          <a:xfrm>
            <a:off x="6096000" y="2960693"/>
            <a:ext cx="5189221" cy="2941777"/>
          </a:xfrm>
          <a:prstGeom prst="rect">
            <a:avLst/>
          </a:prstGeom>
        </p:spPr>
      </p:pic>
    </p:spTree>
    <p:extLst>
      <p:ext uri="{BB962C8B-B14F-4D97-AF65-F5344CB8AC3E}">
        <p14:creationId xmlns:p14="http://schemas.microsoft.com/office/powerpoint/2010/main" val="2353300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6360D950-2812-FA00-257A-CB3ED21D7A14}"/>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5F6442BF-5A53-7EBB-6010-200E9724B92E}"/>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03AA46B6-6726-4FCD-4F58-C12D9DB03D33}"/>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E0316ABB-6755-FE27-EDEC-00ED199B6E55}"/>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2" name="Google Shape;194;p30">
            <a:extLst>
              <a:ext uri="{FF2B5EF4-FFF2-40B4-BE49-F238E27FC236}">
                <a16:creationId xmlns:a16="http://schemas.microsoft.com/office/drawing/2014/main" id="{B1213F16-92F0-9F11-844E-776F5FC828E1}"/>
              </a:ext>
            </a:extLst>
          </p:cNvPr>
          <p:cNvSpPr/>
          <p:nvPr/>
        </p:nvSpPr>
        <p:spPr>
          <a:xfrm>
            <a:off x="1388306" y="2592351"/>
            <a:ext cx="9415387" cy="3522699"/>
          </a:xfrm>
          <a:prstGeom prst="rect">
            <a:avLst/>
          </a:prstGeom>
          <a:noFill/>
          <a:ln>
            <a:noFill/>
          </a:ln>
        </p:spPr>
        <p:txBody>
          <a:bodyPr spcFirstLastPara="1" wrap="square" lIns="68575" tIns="34275" rIns="68575" bIns="34275" anchor="t" anchorCtr="0">
            <a:noAutofit/>
          </a:bodyPr>
          <a:lstStyle/>
          <a:p>
            <a:pPr algn="just"/>
            <a:r>
              <a:rPr lang="es-ES" sz="2000" dirty="0">
                <a:solidFill>
                  <a:schemeClr val="dk1"/>
                </a:solidFill>
                <a:latin typeface="Calibri"/>
                <a:ea typeface="Calibri"/>
                <a:cs typeface="Calibri"/>
                <a:sym typeface="Calibri"/>
              </a:rPr>
              <a:t>Cómo funciona el </a:t>
            </a:r>
            <a:r>
              <a:rPr lang="es-ES" sz="2000" dirty="0" err="1">
                <a:solidFill>
                  <a:schemeClr val="dk1"/>
                </a:solidFill>
                <a:latin typeface="Calibri"/>
                <a:ea typeface="Calibri"/>
                <a:cs typeface="Calibri"/>
                <a:sym typeface="Calibri"/>
              </a:rPr>
              <a:t>Elbow</a:t>
            </a:r>
            <a:r>
              <a:rPr lang="es-ES" sz="2000" dirty="0">
                <a:solidFill>
                  <a:schemeClr val="dk1"/>
                </a:solidFill>
                <a:latin typeface="Calibri"/>
                <a:ea typeface="Calibri"/>
                <a:cs typeface="Calibri"/>
                <a:sym typeface="Calibri"/>
              </a:rPr>
              <a:t> </a:t>
            </a:r>
            <a:r>
              <a:rPr lang="es-ES" sz="2000" dirty="0" err="1">
                <a:solidFill>
                  <a:schemeClr val="dk1"/>
                </a:solidFill>
                <a:latin typeface="Calibri"/>
                <a:ea typeface="Calibri"/>
                <a:cs typeface="Calibri"/>
                <a:sym typeface="Calibri"/>
              </a:rPr>
              <a:t>Method</a:t>
            </a:r>
            <a:r>
              <a:rPr lang="es-ES" sz="2000" dirty="0">
                <a:solidFill>
                  <a:schemeClr val="dk1"/>
                </a:solidFill>
                <a:latin typeface="Calibri"/>
                <a:ea typeface="Calibri"/>
                <a:cs typeface="Calibri"/>
                <a:sym typeface="Calibri"/>
              </a:rPr>
              <a:t>:</a:t>
            </a:r>
          </a:p>
          <a:p>
            <a:pPr algn="just"/>
            <a:endParaRPr lang="es-ES" sz="2000" dirty="0">
              <a:solidFill>
                <a:schemeClr val="dk1"/>
              </a:solidFill>
              <a:latin typeface="Calibri"/>
              <a:ea typeface="Calibri"/>
              <a:cs typeface="Calibri"/>
              <a:sym typeface="Calibri"/>
            </a:endParaRPr>
          </a:p>
          <a:p>
            <a:pPr marL="342900" indent="-342900" algn="just">
              <a:buFont typeface="Arial" panose="020B0604020202020204" pitchFamily="34" charset="0"/>
              <a:buChar char="•"/>
            </a:pPr>
            <a:r>
              <a:rPr lang="es-ES" sz="2000" dirty="0">
                <a:solidFill>
                  <a:schemeClr val="dk1"/>
                </a:solidFill>
                <a:latin typeface="Calibri"/>
                <a:ea typeface="Calibri"/>
                <a:cs typeface="Calibri"/>
                <a:sym typeface="Calibri"/>
              </a:rPr>
              <a:t>Calcular la Inercia: para diferentes valores de 𝑘 (número de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se calcula la inercia, que es la suma de las distancias cuadráticas de cada punto a su centroide más cercano.</a:t>
            </a:r>
          </a:p>
          <a:p>
            <a:pPr marL="342900" indent="-342900" algn="just">
              <a:buFont typeface="Arial" panose="020B0604020202020204" pitchFamily="34" charset="0"/>
              <a:buChar char="•"/>
            </a:pPr>
            <a:r>
              <a:rPr lang="es-ES" sz="2000" dirty="0">
                <a:solidFill>
                  <a:schemeClr val="dk1"/>
                </a:solidFill>
                <a:latin typeface="Calibri"/>
                <a:ea typeface="Calibri"/>
                <a:cs typeface="Calibri"/>
                <a:sym typeface="Calibri"/>
              </a:rPr>
              <a:t>Graficar la Inercia: se grafica la inercia en el eje “y” y el número de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𝑘 en el eje x.</a:t>
            </a:r>
          </a:p>
          <a:p>
            <a:pPr marL="342900" indent="-342900" algn="just">
              <a:buFont typeface="Arial" panose="020B0604020202020204" pitchFamily="34" charset="0"/>
              <a:buChar char="•"/>
            </a:pPr>
            <a:r>
              <a:rPr lang="es-ES" sz="2000" dirty="0">
                <a:solidFill>
                  <a:schemeClr val="dk1"/>
                </a:solidFill>
                <a:latin typeface="Calibri"/>
                <a:ea typeface="Calibri"/>
                <a:cs typeface="Calibri"/>
                <a:sym typeface="Calibri"/>
              </a:rPr>
              <a:t>Buscar el "Codo": el punto donde la gráfica muestra una disminución significativa en la inercia y luego se estabiliza se considera el "codo". Este punto indica el número óptimo de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ya que agregar más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no proporciona una mejora significativa en la inercia.</a:t>
            </a:r>
            <a:endParaRPr sz="2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10621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FC44A569-7660-67D1-4ACF-7DE85D7855F0}"/>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85D443E9-00EE-692F-65F5-454BCBBBDC15}"/>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7FEB9229-2FF0-394D-4C9C-D03CE938040C}"/>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289A0B89-17B4-A88F-4426-01B07861D6A3}"/>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2" name="Google Shape;194;p30">
            <a:extLst>
              <a:ext uri="{FF2B5EF4-FFF2-40B4-BE49-F238E27FC236}">
                <a16:creationId xmlns:a16="http://schemas.microsoft.com/office/drawing/2014/main" id="{1CEB3B0E-3B72-88E7-4CCC-6009C38B2F47}"/>
              </a:ext>
            </a:extLst>
          </p:cNvPr>
          <p:cNvSpPr/>
          <p:nvPr/>
        </p:nvSpPr>
        <p:spPr>
          <a:xfrm>
            <a:off x="1388306" y="2592352"/>
            <a:ext cx="9415387" cy="1625318"/>
          </a:xfrm>
          <a:prstGeom prst="rect">
            <a:avLst/>
          </a:prstGeom>
          <a:noFill/>
          <a:ln>
            <a:noFill/>
          </a:ln>
        </p:spPr>
        <p:txBody>
          <a:bodyPr spcFirstLastPara="1" wrap="square" lIns="68575" tIns="34275" rIns="68575" bIns="34275" anchor="t" anchorCtr="0">
            <a:noAutofit/>
          </a:bodyPr>
          <a:lstStyle/>
          <a:p>
            <a:pPr algn="just"/>
            <a:r>
              <a:rPr lang="es-ES" sz="2000" dirty="0">
                <a:solidFill>
                  <a:schemeClr val="dk1"/>
                </a:solidFill>
                <a:latin typeface="Calibri"/>
                <a:ea typeface="Calibri"/>
                <a:cs typeface="Calibri"/>
                <a:sym typeface="Calibri"/>
              </a:rPr>
              <a:t>Descripción: Mide la suma de las distancias cuadradas entre cada punto y su centroide dentro de un </a:t>
            </a:r>
            <a:r>
              <a:rPr lang="es-ES" sz="2000" dirty="0" err="1">
                <a:solidFill>
                  <a:schemeClr val="dk1"/>
                </a:solidFill>
                <a:latin typeface="Calibri"/>
                <a:ea typeface="Calibri"/>
                <a:cs typeface="Calibri"/>
                <a:sym typeface="Calibri"/>
              </a:rPr>
              <a:t>cluster</a:t>
            </a:r>
            <a:r>
              <a:rPr lang="es-ES" sz="2000" dirty="0">
                <a:solidFill>
                  <a:schemeClr val="dk1"/>
                </a:solidFill>
                <a:latin typeface="Calibri"/>
                <a:ea typeface="Calibri"/>
                <a:cs typeface="Calibri"/>
                <a:sym typeface="Calibri"/>
              </a:rPr>
              <a:t>.</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Ventajas: Fácil de calcular y entender.</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Desventajas: No siempre refleja la calidad del </a:t>
            </a:r>
            <a:r>
              <a:rPr lang="es-ES" sz="2000" dirty="0" err="1">
                <a:solidFill>
                  <a:schemeClr val="dk1"/>
                </a:solidFill>
                <a:latin typeface="Calibri"/>
                <a:ea typeface="Calibri"/>
                <a:cs typeface="Calibri"/>
                <a:sym typeface="Calibri"/>
              </a:rPr>
              <a:t>clustering</a:t>
            </a:r>
            <a:r>
              <a:rPr lang="es-ES" sz="2000" dirty="0">
                <a:solidFill>
                  <a:schemeClr val="dk1"/>
                </a:solidFill>
                <a:latin typeface="Calibri"/>
                <a:ea typeface="Calibri"/>
                <a:cs typeface="Calibri"/>
                <a:sym typeface="Calibri"/>
              </a:rPr>
              <a:t>, especialmente si los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tienen formas irregulares.</a:t>
            </a:r>
            <a:endParaRPr sz="2000" dirty="0">
              <a:solidFill>
                <a:schemeClr val="dk1"/>
              </a:solidFill>
              <a:latin typeface="Calibri"/>
              <a:ea typeface="Calibri"/>
              <a:cs typeface="Calibri"/>
              <a:sym typeface="Calibri"/>
            </a:endParaRPr>
          </a:p>
        </p:txBody>
      </p:sp>
      <p:sp>
        <p:nvSpPr>
          <p:cNvPr id="3" name="Google Shape;905;p98">
            <a:extLst>
              <a:ext uri="{FF2B5EF4-FFF2-40B4-BE49-F238E27FC236}">
                <a16:creationId xmlns:a16="http://schemas.microsoft.com/office/drawing/2014/main" id="{3280E9EB-25B0-EDFF-985D-A0C4E883754C}"/>
              </a:ext>
            </a:extLst>
          </p:cNvPr>
          <p:cNvSpPr txBox="1">
            <a:spLocks noGrp="1"/>
          </p:cNvSpPr>
          <p:nvPr>
            <p:ph type="body" idx="1"/>
          </p:nvPr>
        </p:nvSpPr>
        <p:spPr>
          <a:xfrm>
            <a:off x="1524000" y="1525638"/>
            <a:ext cx="9144000" cy="42000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E7E6E6"/>
              </a:buClr>
              <a:buSzPct val="100000"/>
              <a:buNone/>
            </a:pPr>
            <a:r>
              <a:rPr lang="en-US" sz="2000" dirty="0">
                <a:solidFill>
                  <a:srgbClr val="E7E6E6"/>
                </a:solidFill>
                <a:latin typeface="Calibri"/>
                <a:ea typeface="Calibri"/>
                <a:cs typeface="Calibri"/>
                <a:sym typeface="Calibri"/>
              </a:rPr>
              <a:t>Inercia (Within-Cluster Sum of Squares - WCSS)</a:t>
            </a:r>
            <a:endParaRPr sz="2000" dirty="0">
              <a:solidFill>
                <a:srgbClr val="E7E6E6"/>
              </a:solidFill>
              <a:latin typeface="Calibri"/>
              <a:ea typeface="Calibri"/>
              <a:cs typeface="Calibri"/>
              <a:sym typeface="Calibri"/>
            </a:endParaRPr>
          </a:p>
        </p:txBody>
      </p:sp>
    </p:spTree>
    <p:extLst>
      <p:ext uri="{BB962C8B-B14F-4D97-AF65-F5344CB8AC3E}">
        <p14:creationId xmlns:p14="http://schemas.microsoft.com/office/powerpoint/2010/main" val="238684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3806A836-2B6B-2EB0-8117-AA0F29A1FE69}"/>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5AD174D4-584D-5B1A-4D93-F76D524B23FD}"/>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7D2780F4-C7EC-80BB-E8F2-06BEAC37FA5B}"/>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3B70943C-1A29-E79E-619D-59F9E7A21765}"/>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2" name="Google Shape;194;p30">
            <a:extLst>
              <a:ext uri="{FF2B5EF4-FFF2-40B4-BE49-F238E27FC236}">
                <a16:creationId xmlns:a16="http://schemas.microsoft.com/office/drawing/2014/main" id="{94AA744E-E3D4-D62D-7D40-A21FF795CDF4}"/>
              </a:ext>
            </a:extLst>
          </p:cNvPr>
          <p:cNvSpPr/>
          <p:nvPr/>
        </p:nvSpPr>
        <p:spPr>
          <a:xfrm>
            <a:off x="1388306" y="2592352"/>
            <a:ext cx="9415387" cy="1625318"/>
          </a:xfrm>
          <a:prstGeom prst="rect">
            <a:avLst/>
          </a:prstGeom>
          <a:noFill/>
          <a:ln>
            <a:noFill/>
          </a:ln>
        </p:spPr>
        <p:txBody>
          <a:bodyPr spcFirstLastPara="1" wrap="square" lIns="68575" tIns="34275" rIns="68575" bIns="34275" anchor="t" anchorCtr="0">
            <a:noAutofit/>
          </a:bodyPr>
          <a:lstStyle/>
          <a:p>
            <a:pPr algn="just"/>
            <a:r>
              <a:rPr lang="es-ES" sz="2000" dirty="0">
                <a:solidFill>
                  <a:schemeClr val="dk1"/>
                </a:solidFill>
                <a:latin typeface="Calibri"/>
                <a:ea typeface="Calibri"/>
                <a:cs typeface="Calibri"/>
                <a:sym typeface="Calibri"/>
              </a:rPr>
              <a:t>Descripción: Mide qué tan similares son los puntos dentro de un </a:t>
            </a:r>
            <a:r>
              <a:rPr lang="es-ES" sz="2000" dirty="0" err="1">
                <a:solidFill>
                  <a:schemeClr val="dk1"/>
                </a:solidFill>
                <a:latin typeface="Calibri"/>
                <a:ea typeface="Calibri"/>
                <a:cs typeface="Calibri"/>
                <a:sym typeface="Calibri"/>
              </a:rPr>
              <a:t>cluster</a:t>
            </a:r>
            <a:r>
              <a:rPr lang="es-ES" sz="2000" dirty="0">
                <a:solidFill>
                  <a:schemeClr val="dk1"/>
                </a:solidFill>
                <a:latin typeface="Calibri"/>
                <a:ea typeface="Calibri"/>
                <a:cs typeface="Calibri"/>
                <a:sym typeface="Calibri"/>
              </a:rPr>
              <a:t> en comparación con los puntos en otros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El valor varía entre -1 y 1.</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Ventajas: Proporciona una medida clara de la separación entre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Desventajas: Puede ser computacionalmente costoso para grandes conjuntos de datos.</a:t>
            </a:r>
            <a:endParaRPr sz="2000" dirty="0">
              <a:solidFill>
                <a:schemeClr val="dk1"/>
              </a:solidFill>
              <a:latin typeface="Calibri"/>
              <a:ea typeface="Calibri"/>
              <a:cs typeface="Calibri"/>
              <a:sym typeface="Calibri"/>
            </a:endParaRPr>
          </a:p>
        </p:txBody>
      </p:sp>
      <p:sp>
        <p:nvSpPr>
          <p:cNvPr id="3" name="Google Shape;905;p98">
            <a:extLst>
              <a:ext uri="{FF2B5EF4-FFF2-40B4-BE49-F238E27FC236}">
                <a16:creationId xmlns:a16="http://schemas.microsoft.com/office/drawing/2014/main" id="{23821E5A-89AB-D2AC-8E06-7A2FA252FD09}"/>
              </a:ext>
            </a:extLst>
          </p:cNvPr>
          <p:cNvSpPr txBox="1">
            <a:spLocks noGrp="1"/>
          </p:cNvSpPr>
          <p:nvPr>
            <p:ph type="body" idx="1"/>
          </p:nvPr>
        </p:nvSpPr>
        <p:spPr>
          <a:xfrm>
            <a:off x="1524000" y="1525638"/>
            <a:ext cx="9144000" cy="42000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E7E6E6"/>
              </a:buClr>
              <a:buSzPct val="100000"/>
              <a:buNone/>
            </a:pPr>
            <a:r>
              <a:rPr lang="en-US" sz="2000" dirty="0">
                <a:solidFill>
                  <a:srgbClr val="E7E6E6"/>
                </a:solidFill>
                <a:latin typeface="Calibri"/>
                <a:ea typeface="Calibri"/>
                <a:cs typeface="Calibri"/>
                <a:sym typeface="Calibri"/>
              </a:rPr>
              <a:t>Silhouette Score</a:t>
            </a:r>
            <a:endParaRPr sz="2000" dirty="0">
              <a:solidFill>
                <a:srgbClr val="E7E6E6"/>
              </a:solidFill>
              <a:latin typeface="Calibri"/>
              <a:ea typeface="Calibri"/>
              <a:cs typeface="Calibri"/>
              <a:sym typeface="Calibri"/>
            </a:endParaRPr>
          </a:p>
        </p:txBody>
      </p:sp>
    </p:spTree>
    <p:extLst>
      <p:ext uri="{BB962C8B-B14F-4D97-AF65-F5344CB8AC3E}">
        <p14:creationId xmlns:p14="http://schemas.microsoft.com/office/powerpoint/2010/main" val="2854425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2E139E6C-D784-0D4A-3170-F89FA0EE5787}"/>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7BCE4468-940F-012B-D2CC-C0BA07BDA7F6}"/>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DAA5DA13-ECD8-D70F-EA8B-C57467FEC7AE}"/>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114C5421-1A4B-73F1-5165-A12A99865297}"/>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2" name="Google Shape;194;p30">
            <a:extLst>
              <a:ext uri="{FF2B5EF4-FFF2-40B4-BE49-F238E27FC236}">
                <a16:creationId xmlns:a16="http://schemas.microsoft.com/office/drawing/2014/main" id="{30EF7889-C01C-7F8B-6F02-95DE0F0DB787}"/>
              </a:ext>
            </a:extLst>
          </p:cNvPr>
          <p:cNvSpPr/>
          <p:nvPr/>
        </p:nvSpPr>
        <p:spPr>
          <a:xfrm>
            <a:off x="1388306" y="2592352"/>
            <a:ext cx="9415387" cy="1625318"/>
          </a:xfrm>
          <a:prstGeom prst="rect">
            <a:avLst/>
          </a:prstGeom>
          <a:noFill/>
          <a:ln>
            <a:noFill/>
          </a:ln>
        </p:spPr>
        <p:txBody>
          <a:bodyPr spcFirstLastPara="1" wrap="square" lIns="68575" tIns="34275" rIns="68575" bIns="34275" anchor="t" anchorCtr="0">
            <a:noAutofit/>
          </a:bodyPr>
          <a:lstStyle/>
          <a:p>
            <a:pPr algn="just"/>
            <a:r>
              <a:rPr lang="es-ES" sz="2000" dirty="0">
                <a:solidFill>
                  <a:schemeClr val="dk1"/>
                </a:solidFill>
                <a:latin typeface="Calibri"/>
                <a:ea typeface="Calibri"/>
                <a:cs typeface="Calibri"/>
                <a:sym typeface="Calibri"/>
              </a:rPr>
              <a:t>Descripción: Calcula la media de las razones entre la distancia dentro del </a:t>
            </a:r>
            <a:r>
              <a:rPr lang="es-ES" sz="2000" dirty="0" err="1">
                <a:solidFill>
                  <a:schemeClr val="dk1"/>
                </a:solidFill>
                <a:latin typeface="Calibri"/>
                <a:ea typeface="Calibri"/>
                <a:cs typeface="Calibri"/>
                <a:sym typeface="Calibri"/>
              </a:rPr>
              <a:t>cluster</a:t>
            </a:r>
            <a:r>
              <a:rPr lang="es-ES" sz="2000" dirty="0">
                <a:solidFill>
                  <a:schemeClr val="dk1"/>
                </a:solidFill>
                <a:latin typeface="Calibri"/>
                <a:ea typeface="Calibri"/>
                <a:cs typeface="Calibri"/>
                <a:sym typeface="Calibri"/>
              </a:rPr>
              <a:t> y la distancia entre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Un valor más bajo indica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más compactos y bien separados.</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Ventajas: Considera tanto la dispersión dentro del </a:t>
            </a:r>
            <a:r>
              <a:rPr lang="es-ES" sz="2000" dirty="0" err="1">
                <a:solidFill>
                  <a:schemeClr val="dk1"/>
                </a:solidFill>
                <a:latin typeface="Calibri"/>
                <a:ea typeface="Calibri"/>
                <a:cs typeface="Calibri"/>
                <a:sym typeface="Calibri"/>
              </a:rPr>
              <a:t>cluster</a:t>
            </a:r>
            <a:r>
              <a:rPr lang="es-ES" sz="2000" dirty="0">
                <a:solidFill>
                  <a:schemeClr val="dk1"/>
                </a:solidFill>
                <a:latin typeface="Calibri"/>
                <a:ea typeface="Calibri"/>
                <a:cs typeface="Calibri"/>
                <a:sym typeface="Calibri"/>
              </a:rPr>
              <a:t> como la separación entre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Desventajas: Puede ser menos intuitivo que otros métodos.</a:t>
            </a:r>
            <a:endParaRPr sz="2000" dirty="0">
              <a:solidFill>
                <a:schemeClr val="dk1"/>
              </a:solidFill>
              <a:latin typeface="Calibri"/>
              <a:ea typeface="Calibri"/>
              <a:cs typeface="Calibri"/>
              <a:sym typeface="Calibri"/>
            </a:endParaRPr>
          </a:p>
        </p:txBody>
      </p:sp>
      <p:sp>
        <p:nvSpPr>
          <p:cNvPr id="3" name="Google Shape;905;p98">
            <a:extLst>
              <a:ext uri="{FF2B5EF4-FFF2-40B4-BE49-F238E27FC236}">
                <a16:creationId xmlns:a16="http://schemas.microsoft.com/office/drawing/2014/main" id="{02EEFB25-4A2D-1266-62FC-712444FFF620}"/>
              </a:ext>
            </a:extLst>
          </p:cNvPr>
          <p:cNvSpPr txBox="1">
            <a:spLocks noGrp="1"/>
          </p:cNvSpPr>
          <p:nvPr>
            <p:ph type="body" idx="1"/>
          </p:nvPr>
        </p:nvSpPr>
        <p:spPr>
          <a:xfrm>
            <a:off x="1524000" y="1525638"/>
            <a:ext cx="9144000" cy="42000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E7E6E6"/>
              </a:buClr>
              <a:buSzPct val="100000"/>
              <a:buNone/>
            </a:pPr>
            <a:r>
              <a:rPr lang="en-US" sz="2000" dirty="0">
                <a:solidFill>
                  <a:srgbClr val="E7E6E6"/>
                </a:solidFill>
                <a:latin typeface="Calibri"/>
                <a:ea typeface="Calibri"/>
                <a:cs typeface="Calibri"/>
                <a:sym typeface="Calibri"/>
              </a:rPr>
              <a:t>Davies-Bouldin Index</a:t>
            </a:r>
            <a:endParaRPr sz="2000" dirty="0">
              <a:solidFill>
                <a:srgbClr val="E7E6E6"/>
              </a:solidFill>
              <a:latin typeface="Calibri"/>
              <a:ea typeface="Calibri"/>
              <a:cs typeface="Calibri"/>
              <a:sym typeface="Calibri"/>
            </a:endParaRPr>
          </a:p>
        </p:txBody>
      </p:sp>
    </p:spTree>
    <p:extLst>
      <p:ext uri="{BB962C8B-B14F-4D97-AF65-F5344CB8AC3E}">
        <p14:creationId xmlns:p14="http://schemas.microsoft.com/office/powerpoint/2010/main" val="810288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D97A466E-8F23-9821-B7F5-B81134F8AFFB}"/>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957BFBBC-B313-B714-128B-DE326822E967}"/>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7380E284-EA3C-A0BD-5B7B-8B0031549768}"/>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B499BB6C-8C5B-4F6F-006C-F0FC1C943B50}"/>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2" name="Google Shape;194;p30">
            <a:extLst>
              <a:ext uri="{FF2B5EF4-FFF2-40B4-BE49-F238E27FC236}">
                <a16:creationId xmlns:a16="http://schemas.microsoft.com/office/drawing/2014/main" id="{A865B8D3-50B1-C58D-EC2F-0B492DE1C694}"/>
              </a:ext>
            </a:extLst>
          </p:cNvPr>
          <p:cNvSpPr/>
          <p:nvPr/>
        </p:nvSpPr>
        <p:spPr>
          <a:xfrm>
            <a:off x="1388306" y="2592352"/>
            <a:ext cx="9415387" cy="1625318"/>
          </a:xfrm>
          <a:prstGeom prst="rect">
            <a:avLst/>
          </a:prstGeom>
          <a:noFill/>
          <a:ln>
            <a:noFill/>
          </a:ln>
        </p:spPr>
        <p:txBody>
          <a:bodyPr spcFirstLastPara="1" wrap="square" lIns="68575" tIns="34275" rIns="68575" bIns="34275" anchor="t" anchorCtr="0">
            <a:noAutofit/>
          </a:bodyPr>
          <a:lstStyle/>
          <a:p>
            <a:pPr algn="just"/>
            <a:r>
              <a:rPr lang="es-ES" sz="2000" dirty="0">
                <a:solidFill>
                  <a:schemeClr val="dk1"/>
                </a:solidFill>
                <a:latin typeface="Calibri"/>
                <a:ea typeface="Calibri"/>
                <a:cs typeface="Calibri"/>
                <a:sym typeface="Calibri"/>
              </a:rPr>
              <a:t>Descripción: Mide la relación entre la dispersión entre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y la dispersión dentro de los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Un valor más alto indica una mejor definición de los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Ventajas: Rápido de calcular y efectivo para conjuntos de datos bien definidos.</a:t>
            </a:r>
          </a:p>
          <a:p>
            <a:pPr algn="just"/>
            <a:endParaRPr lang="es-ES" sz="2000" dirty="0">
              <a:solidFill>
                <a:schemeClr val="dk1"/>
              </a:solidFill>
              <a:latin typeface="Calibri"/>
              <a:ea typeface="Calibri"/>
              <a:cs typeface="Calibri"/>
              <a:sym typeface="Calibri"/>
            </a:endParaRPr>
          </a:p>
          <a:p>
            <a:pPr algn="just"/>
            <a:r>
              <a:rPr lang="es-ES" sz="2000" dirty="0">
                <a:solidFill>
                  <a:schemeClr val="dk1"/>
                </a:solidFill>
                <a:latin typeface="Calibri"/>
                <a:ea typeface="Calibri"/>
                <a:cs typeface="Calibri"/>
                <a:sym typeface="Calibri"/>
              </a:rPr>
              <a:t>Desventajas: Puede no ser tan efectivo para </a:t>
            </a:r>
            <a:r>
              <a:rPr lang="es-ES" sz="2000" dirty="0" err="1">
                <a:solidFill>
                  <a:schemeClr val="dk1"/>
                </a:solidFill>
                <a:latin typeface="Calibri"/>
                <a:ea typeface="Calibri"/>
                <a:cs typeface="Calibri"/>
                <a:sym typeface="Calibri"/>
              </a:rPr>
              <a:t>clusters</a:t>
            </a:r>
            <a:r>
              <a:rPr lang="es-ES" sz="2000" dirty="0">
                <a:solidFill>
                  <a:schemeClr val="dk1"/>
                </a:solidFill>
                <a:latin typeface="Calibri"/>
                <a:ea typeface="Calibri"/>
                <a:cs typeface="Calibri"/>
                <a:sym typeface="Calibri"/>
              </a:rPr>
              <a:t> de formas irregulares.</a:t>
            </a:r>
            <a:endParaRPr sz="2000" dirty="0">
              <a:solidFill>
                <a:schemeClr val="dk1"/>
              </a:solidFill>
              <a:latin typeface="Calibri"/>
              <a:ea typeface="Calibri"/>
              <a:cs typeface="Calibri"/>
              <a:sym typeface="Calibri"/>
            </a:endParaRPr>
          </a:p>
        </p:txBody>
      </p:sp>
      <p:sp>
        <p:nvSpPr>
          <p:cNvPr id="3" name="Google Shape;905;p98">
            <a:extLst>
              <a:ext uri="{FF2B5EF4-FFF2-40B4-BE49-F238E27FC236}">
                <a16:creationId xmlns:a16="http://schemas.microsoft.com/office/drawing/2014/main" id="{2AB3A3C1-460F-897C-4420-F38ACC423908}"/>
              </a:ext>
            </a:extLst>
          </p:cNvPr>
          <p:cNvSpPr txBox="1">
            <a:spLocks noGrp="1"/>
          </p:cNvSpPr>
          <p:nvPr>
            <p:ph type="body" idx="1"/>
          </p:nvPr>
        </p:nvSpPr>
        <p:spPr>
          <a:xfrm>
            <a:off x="1524000" y="1525638"/>
            <a:ext cx="9144000" cy="42000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E7E6E6"/>
              </a:buClr>
              <a:buSzPct val="100000"/>
              <a:buNone/>
            </a:pPr>
            <a:r>
              <a:rPr lang="en-US" sz="2000" dirty="0" err="1">
                <a:solidFill>
                  <a:srgbClr val="E7E6E6"/>
                </a:solidFill>
                <a:latin typeface="Calibri"/>
                <a:ea typeface="Calibri"/>
                <a:cs typeface="Calibri"/>
                <a:sym typeface="Calibri"/>
              </a:rPr>
              <a:t>Calinski-Harabasz</a:t>
            </a:r>
            <a:r>
              <a:rPr lang="en-US" sz="2000" dirty="0">
                <a:solidFill>
                  <a:srgbClr val="E7E6E6"/>
                </a:solidFill>
                <a:latin typeface="Calibri"/>
                <a:ea typeface="Calibri"/>
                <a:cs typeface="Calibri"/>
                <a:sym typeface="Calibri"/>
              </a:rPr>
              <a:t> Index (Variance Ratio Criterion)</a:t>
            </a:r>
            <a:endParaRPr sz="2000" dirty="0">
              <a:solidFill>
                <a:srgbClr val="E7E6E6"/>
              </a:solidFill>
              <a:latin typeface="Calibri"/>
              <a:ea typeface="Calibri"/>
              <a:cs typeface="Calibri"/>
              <a:sym typeface="Calibri"/>
            </a:endParaRPr>
          </a:p>
        </p:txBody>
      </p:sp>
    </p:spTree>
    <p:extLst>
      <p:ext uri="{BB962C8B-B14F-4D97-AF65-F5344CB8AC3E}">
        <p14:creationId xmlns:p14="http://schemas.microsoft.com/office/powerpoint/2010/main" val="291216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a:extLst>
            <a:ext uri="{FF2B5EF4-FFF2-40B4-BE49-F238E27FC236}">
              <a16:creationId xmlns:a16="http://schemas.microsoft.com/office/drawing/2014/main" id="{92E97AE0-EA6F-72F6-A819-7FA101D860A6}"/>
            </a:ext>
          </a:extLst>
        </p:cNvPr>
        <p:cNvGrpSpPr/>
        <p:nvPr/>
      </p:nvGrpSpPr>
      <p:grpSpPr>
        <a:xfrm>
          <a:off x="0" y="0"/>
          <a:ext cx="0" cy="0"/>
          <a:chOff x="0" y="0"/>
          <a:chExt cx="0" cy="0"/>
        </a:xfrm>
      </p:grpSpPr>
      <p:sp>
        <p:nvSpPr>
          <p:cNvPr id="903" name="Google Shape;903;p98">
            <a:extLst>
              <a:ext uri="{FF2B5EF4-FFF2-40B4-BE49-F238E27FC236}">
                <a16:creationId xmlns:a16="http://schemas.microsoft.com/office/drawing/2014/main" id="{A3A4D9BA-5596-E719-9DD8-CD230B327091}"/>
              </a:ext>
            </a:extLst>
          </p:cNvPr>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4" name="Google Shape;904;p98">
            <a:extLst>
              <a:ext uri="{FF2B5EF4-FFF2-40B4-BE49-F238E27FC236}">
                <a16:creationId xmlns:a16="http://schemas.microsoft.com/office/drawing/2014/main" id="{CEF34D03-E671-D161-0A87-997E776475D1}"/>
              </a:ext>
            </a:extLst>
          </p:cNvPr>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s-CO" sz="5400" dirty="0">
                <a:solidFill>
                  <a:srgbClr val="FFFFFF"/>
                </a:solidFill>
              </a:rPr>
              <a:t>Métricas K-</a:t>
            </a:r>
            <a:r>
              <a:rPr lang="es-CO" sz="5400" dirty="0" err="1">
                <a:solidFill>
                  <a:srgbClr val="FFFFFF"/>
                </a:solidFill>
              </a:rPr>
              <a:t>Means</a:t>
            </a:r>
            <a:endParaRPr sz="5400" dirty="0">
              <a:solidFill>
                <a:srgbClr val="FFFFFF"/>
              </a:solidFill>
              <a:latin typeface="Calibri"/>
              <a:ea typeface="Calibri"/>
              <a:cs typeface="Calibri"/>
              <a:sym typeface="Calibri"/>
            </a:endParaRPr>
          </a:p>
        </p:txBody>
      </p:sp>
      <p:cxnSp>
        <p:nvCxnSpPr>
          <p:cNvPr id="906" name="Google Shape;906;p98">
            <a:extLst>
              <a:ext uri="{FF2B5EF4-FFF2-40B4-BE49-F238E27FC236}">
                <a16:creationId xmlns:a16="http://schemas.microsoft.com/office/drawing/2014/main" id="{1DBCDD30-0A1C-B5E7-E34C-45F3C3EB5ECA}"/>
              </a:ext>
            </a:extLst>
          </p:cNvPr>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3" name="Google Shape;905;p98">
            <a:extLst>
              <a:ext uri="{FF2B5EF4-FFF2-40B4-BE49-F238E27FC236}">
                <a16:creationId xmlns:a16="http://schemas.microsoft.com/office/drawing/2014/main" id="{E0A717C1-5406-233A-B7C0-318A2571C7A7}"/>
              </a:ext>
            </a:extLst>
          </p:cNvPr>
          <p:cNvSpPr txBox="1">
            <a:spLocks noGrp="1"/>
          </p:cNvSpPr>
          <p:nvPr>
            <p:ph type="body" idx="1"/>
          </p:nvPr>
        </p:nvSpPr>
        <p:spPr>
          <a:xfrm>
            <a:off x="1524000" y="1525638"/>
            <a:ext cx="9144000" cy="42000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E7E6E6"/>
              </a:buClr>
              <a:buSzPct val="100000"/>
              <a:buNone/>
            </a:pPr>
            <a:r>
              <a:rPr lang="en-US" sz="2000" dirty="0" err="1">
                <a:solidFill>
                  <a:srgbClr val="E7E6E6"/>
                </a:solidFill>
                <a:latin typeface="Calibri"/>
                <a:ea typeface="Calibri"/>
                <a:cs typeface="Calibri"/>
                <a:sym typeface="Calibri"/>
              </a:rPr>
              <a:t>Resumen</a:t>
            </a:r>
            <a:endParaRPr sz="2000" dirty="0">
              <a:solidFill>
                <a:srgbClr val="E7E6E6"/>
              </a:solidFill>
              <a:latin typeface="Calibri"/>
              <a:ea typeface="Calibri"/>
              <a:cs typeface="Calibri"/>
              <a:sym typeface="Calibri"/>
            </a:endParaRPr>
          </a:p>
        </p:txBody>
      </p:sp>
      <p:graphicFrame>
        <p:nvGraphicFramePr>
          <p:cNvPr id="4" name="Tabla 3">
            <a:extLst>
              <a:ext uri="{FF2B5EF4-FFF2-40B4-BE49-F238E27FC236}">
                <a16:creationId xmlns:a16="http://schemas.microsoft.com/office/drawing/2014/main" id="{521D1158-54B2-D1DB-EB53-6375617A9B0D}"/>
              </a:ext>
            </a:extLst>
          </p:cNvPr>
          <p:cNvGraphicFramePr>
            <a:graphicFrameLocks noGrp="1"/>
          </p:cNvGraphicFramePr>
          <p:nvPr>
            <p:extLst>
              <p:ext uri="{D42A27DB-BD31-4B8C-83A1-F6EECF244321}">
                <p14:modId xmlns:p14="http://schemas.microsoft.com/office/powerpoint/2010/main" val="134375122"/>
              </p:ext>
            </p:extLst>
          </p:nvPr>
        </p:nvGraphicFramePr>
        <p:xfrm>
          <a:off x="769620" y="2636520"/>
          <a:ext cx="10652760" cy="3444240"/>
        </p:xfrm>
        <a:graphic>
          <a:graphicData uri="http://schemas.openxmlformats.org/drawingml/2006/table">
            <a:tbl>
              <a:tblPr firstRow="1" bandRow="1">
                <a:tableStyleId>{69C7853C-536D-4A76-A0AE-DD22124D55A5}</a:tableStyleId>
              </a:tblPr>
              <a:tblGrid>
                <a:gridCol w="1760220">
                  <a:extLst>
                    <a:ext uri="{9D8B030D-6E8A-4147-A177-3AD203B41FA5}">
                      <a16:colId xmlns:a16="http://schemas.microsoft.com/office/drawing/2014/main" val="2768840638"/>
                    </a:ext>
                  </a:extLst>
                </a:gridCol>
                <a:gridCol w="2247900">
                  <a:extLst>
                    <a:ext uri="{9D8B030D-6E8A-4147-A177-3AD203B41FA5}">
                      <a16:colId xmlns:a16="http://schemas.microsoft.com/office/drawing/2014/main" val="2740155060"/>
                    </a:ext>
                  </a:extLst>
                </a:gridCol>
                <a:gridCol w="2032000">
                  <a:extLst>
                    <a:ext uri="{9D8B030D-6E8A-4147-A177-3AD203B41FA5}">
                      <a16:colId xmlns:a16="http://schemas.microsoft.com/office/drawing/2014/main" val="341564315"/>
                    </a:ext>
                  </a:extLst>
                </a:gridCol>
                <a:gridCol w="1625600">
                  <a:extLst>
                    <a:ext uri="{9D8B030D-6E8A-4147-A177-3AD203B41FA5}">
                      <a16:colId xmlns:a16="http://schemas.microsoft.com/office/drawing/2014/main" val="4078389211"/>
                    </a:ext>
                  </a:extLst>
                </a:gridCol>
                <a:gridCol w="2987040">
                  <a:extLst>
                    <a:ext uri="{9D8B030D-6E8A-4147-A177-3AD203B41FA5}">
                      <a16:colId xmlns:a16="http://schemas.microsoft.com/office/drawing/2014/main" val="1724818913"/>
                    </a:ext>
                  </a:extLst>
                </a:gridCol>
              </a:tblGrid>
              <a:tr h="370840">
                <a:tc>
                  <a:txBody>
                    <a:bodyPr/>
                    <a:lstStyle/>
                    <a:p>
                      <a:pPr algn="ctr"/>
                      <a:r>
                        <a:rPr lang="en-US" dirty="0" err="1"/>
                        <a:t>Método</a:t>
                      </a:r>
                      <a:endParaRPr lang="es-CO" dirty="0"/>
                    </a:p>
                  </a:txBody>
                  <a:tcPr anchor="ctr"/>
                </a:tc>
                <a:tc>
                  <a:txBody>
                    <a:bodyPr/>
                    <a:lstStyle/>
                    <a:p>
                      <a:pPr algn="ctr"/>
                      <a:r>
                        <a:rPr lang="en-US" dirty="0" err="1"/>
                        <a:t>Ventajas</a:t>
                      </a:r>
                      <a:endParaRPr lang="es-CO" dirty="0"/>
                    </a:p>
                  </a:txBody>
                  <a:tcPr anchor="ctr"/>
                </a:tc>
                <a:tc>
                  <a:txBody>
                    <a:bodyPr/>
                    <a:lstStyle/>
                    <a:p>
                      <a:pPr algn="ctr"/>
                      <a:r>
                        <a:rPr lang="en-US" dirty="0" err="1"/>
                        <a:t>Desventajas</a:t>
                      </a:r>
                      <a:endParaRPr lang="es-CO" dirty="0"/>
                    </a:p>
                  </a:txBody>
                  <a:tcPr anchor="ctr"/>
                </a:tc>
                <a:tc>
                  <a:txBody>
                    <a:bodyPr/>
                    <a:lstStyle/>
                    <a:p>
                      <a:pPr algn="ctr"/>
                      <a:r>
                        <a:rPr lang="en-US" dirty="0"/>
                        <a:t>Valores que </a:t>
                      </a:r>
                      <a:r>
                        <a:rPr lang="en-US" dirty="0" err="1"/>
                        <a:t>puede</a:t>
                      </a:r>
                      <a:r>
                        <a:rPr lang="en-US" dirty="0"/>
                        <a:t> </a:t>
                      </a:r>
                      <a:r>
                        <a:rPr lang="en-US" dirty="0" err="1"/>
                        <a:t>tomar</a:t>
                      </a:r>
                      <a:endParaRPr lang="es-CO" dirty="0"/>
                    </a:p>
                  </a:txBody>
                  <a:tcPr anchor="ctr"/>
                </a:tc>
                <a:tc>
                  <a:txBody>
                    <a:bodyPr/>
                    <a:lstStyle/>
                    <a:p>
                      <a:pPr algn="ctr"/>
                      <a:r>
                        <a:rPr lang="es-ES" dirty="0"/>
                        <a:t>Mejor o Peor para determinar un modelo</a:t>
                      </a:r>
                      <a:endParaRPr lang="es-CO" dirty="0"/>
                    </a:p>
                  </a:txBody>
                  <a:tcPr anchor="ctr"/>
                </a:tc>
                <a:extLst>
                  <a:ext uri="{0D108BD9-81ED-4DB2-BD59-A6C34878D82A}">
                    <a16:rowId xmlns:a16="http://schemas.microsoft.com/office/drawing/2014/main" val="2525765063"/>
                  </a:ext>
                </a:extLst>
              </a:tr>
              <a:tr h="370840">
                <a:tc>
                  <a:txBody>
                    <a:bodyPr/>
                    <a:lstStyle/>
                    <a:p>
                      <a:pPr algn="ctr"/>
                      <a:r>
                        <a:rPr lang="en-US" dirty="0"/>
                        <a:t>Inercia</a:t>
                      </a:r>
                      <a:endParaRPr lang="es-CO" dirty="0"/>
                    </a:p>
                  </a:txBody>
                  <a:tcPr anchor="ctr"/>
                </a:tc>
                <a:tc>
                  <a:txBody>
                    <a:bodyPr/>
                    <a:lstStyle/>
                    <a:p>
                      <a:pPr algn="ctr"/>
                      <a:r>
                        <a:rPr lang="es-ES" dirty="0"/>
                        <a:t>Fácil de calcular y entender</a:t>
                      </a:r>
                      <a:endParaRPr lang="es-CO" dirty="0"/>
                    </a:p>
                  </a:txBody>
                  <a:tcPr anchor="ctr"/>
                </a:tc>
                <a:tc>
                  <a:txBody>
                    <a:bodyPr/>
                    <a:lstStyle/>
                    <a:p>
                      <a:pPr algn="ctr"/>
                      <a:r>
                        <a:rPr lang="es-ES" dirty="0"/>
                        <a:t>No siempre refleja la calidad del </a:t>
                      </a:r>
                      <a:r>
                        <a:rPr lang="es-ES" dirty="0" err="1"/>
                        <a:t>clustering</a:t>
                      </a:r>
                      <a:endParaRPr lang="es-CO" dirty="0"/>
                    </a:p>
                  </a:txBody>
                  <a:tcPr anchor="ctr"/>
                </a:tc>
                <a:tc>
                  <a:txBody>
                    <a:bodyPr/>
                    <a:lstStyle/>
                    <a:p>
                      <a:pPr algn="ctr"/>
                      <a:r>
                        <a:rPr lang="en-US" dirty="0"/>
                        <a:t>Valores </a:t>
                      </a:r>
                      <a:r>
                        <a:rPr lang="en-US" dirty="0" err="1"/>
                        <a:t>positivos</a:t>
                      </a:r>
                      <a:endParaRPr lang="es-CO" dirty="0"/>
                    </a:p>
                  </a:txBody>
                  <a:tcPr anchor="ctr"/>
                </a:tc>
                <a:tc>
                  <a:txBody>
                    <a:bodyPr/>
                    <a:lstStyle/>
                    <a:p>
                      <a:pPr algn="ctr"/>
                      <a:r>
                        <a:rPr lang="es-ES" dirty="0"/>
                        <a:t>Mejor cuando la inercia es baja, pero puede no ser suficiente para </a:t>
                      </a:r>
                      <a:r>
                        <a:rPr lang="es-ES" dirty="0" err="1"/>
                        <a:t>clusters</a:t>
                      </a:r>
                      <a:r>
                        <a:rPr lang="es-ES" dirty="0"/>
                        <a:t> irregulares</a:t>
                      </a:r>
                      <a:endParaRPr lang="es-CO" dirty="0"/>
                    </a:p>
                  </a:txBody>
                  <a:tcPr anchor="ctr"/>
                </a:tc>
                <a:extLst>
                  <a:ext uri="{0D108BD9-81ED-4DB2-BD59-A6C34878D82A}">
                    <a16:rowId xmlns:a16="http://schemas.microsoft.com/office/drawing/2014/main" val="2380340672"/>
                  </a:ext>
                </a:extLst>
              </a:tr>
              <a:tr h="370840">
                <a:tc>
                  <a:txBody>
                    <a:bodyPr/>
                    <a:lstStyle/>
                    <a:p>
                      <a:pPr algn="ctr"/>
                      <a:r>
                        <a:rPr lang="en-US" dirty="0"/>
                        <a:t>Silhouette Score</a:t>
                      </a:r>
                      <a:endParaRPr lang="es-CO" dirty="0"/>
                    </a:p>
                  </a:txBody>
                  <a:tcPr anchor="ctr"/>
                </a:tc>
                <a:tc>
                  <a:txBody>
                    <a:bodyPr/>
                    <a:lstStyle/>
                    <a:p>
                      <a:pPr algn="ctr"/>
                      <a:r>
                        <a:rPr lang="es-ES" dirty="0"/>
                        <a:t>Mide la separación entre </a:t>
                      </a:r>
                      <a:r>
                        <a:rPr lang="es-ES" dirty="0" err="1"/>
                        <a:t>clusters</a:t>
                      </a:r>
                      <a:endParaRPr lang="es-CO" dirty="0"/>
                    </a:p>
                  </a:txBody>
                  <a:tcPr anchor="ctr"/>
                </a:tc>
                <a:tc>
                  <a:txBody>
                    <a:bodyPr/>
                    <a:lstStyle/>
                    <a:p>
                      <a:pPr algn="ctr"/>
                      <a:r>
                        <a:rPr lang="en-US" dirty="0" err="1"/>
                        <a:t>Computacionalmente</a:t>
                      </a:r>
                      <a:r>
                        <a:rPr lang="en-US" dirty="0"/>
                        <a:t> </a:t>
                      </a:r>
                      <a:r>
                        <a:rPr lang="en-US" dirty="0" err="1"/>
                        <a:t>costoso</a:t>
                      </a:r>
                      <a:r>
                        <a:rPr lang="en-US" dirty="0"/>
                        <a:t> para </a:t>
                      </a:r>
                      <a:r>
                        <a:rPr lang="en-US" dirty="0" err="1"/>
                        <a:t>grandes</a:t>
                      </a:r>
                      <a:r>
                        <a:rPr lang="en-US" dirty="0"/>
                        <a:t> </a:t>
                      </a:r>
                      <a:r>
                        <a:rPr lang="en-US" dirty="0" err="1"/>
                        <a:t>datos</a:t>
                      </a:r>
                      <a:endParaRPr lang="es-CO" dirty="0"/>
                    </a:p>
                  </a:txBody>
                  <a:tcPr anchor="ctr"/>
                </a:tc>
                <a:tc>
                  <a:txBody>
                    <a:bodyPr/>
                    <a:lstStyle/>
                    <a:p>
                      <a:pPr algn="ctr"/>
                      <a:r>
                        <a:rPr lang="en-US" dirty="0"/>
                        <a:t>-1 a 1</a:t>
                      </a:r>
                      <a:endParaRPr lang="es-CO" dirty="0"/>
                    </a:p>
                  </a:txBody>
                  <a:tcPr anchor="ctr"/>
                </a:tc>
                <a:tc>
                  <a:txBody>
                    <a:bodyPr/>
                    <a:lstStyle/>
                    <a:p>
                      <a:pPr algn="ctr"/>
                      <a:r>
                        <a:rPr lang="es-ES" dirty="0"/>
                        <a:t>Mejor cuando el valor está cerca de 1, indicando </a:t>
                      </a:r>
                      <a:r>
                        <a:rPr lang="es-ES" dirty="0" err="1"/>
                        <a:t>clusters</a:t>
                      </a:r>
                      <a:r>
                        <a:rPr lang="es-ES" dirty="0"/>
                        <a:t> bien separados</a:t>
                      </a:r>
                      <a:endParaRPr lang="es-CO" dirty="0"/>
                    </a:p>
                  </a:txBody>
                  <a:tcPr anchor="ctr"/>
                </a:tc>
                <a:extLst>
                  <a:ext uri="{0D108BD9-81ED-4DB2-BD59-A6C34878D82A}">
                    <a16:rowId xmlns:a16="http://schemas.microsoft.com/office/drawing/2014/main" val="3066697137"/>
                  </a:ext>
                </a:extLst>
              </a:tr>
              <a:tr h="370840">
                <a:tc>
                  <a:txBody>
                    <a:bodyPr/>
                    <a:lstStyle/>
                    <a:p>
                      <a:pPr algn="ctr"/>
                      <a:r>
                        <a:rPr lang="en-US" dirty="0"/>
                        <a:t>Davies-Bouldin</a:t>
                      </a:r>
                      <a:endParaRPr lang="es-CO" dirty="0"/>
                    </a:p>
                  </a:txBody>
                  <a:tcPr anchor="ctr"/>
                </a:tc>
                <a:tc>
                  <a:txBody>
                    <a:bodyPr/>
                    <a:lstStyle/>
                    <a:p>
                      <a:pPr algn="ctr"/>
                      <a:r>
                        <a:rPr lang="en-US" dirty="0" err="1"/>
                        <a:t>Considera</a:t>
                      </a:r>
                      <a:r>
                        <a:rPr lang="en-US" dirty="0"/>
                        <a:t> </a:t>
                      </a:r>
                      <a:r>
                        <a:rPr lang="en-US" dirty="0" err="1"/>
                        <a:t>dispersión</a:t>
                      </a:r>
                      <a:r>
                        <a:rPr lang="en-US" dirty="0"/>
                        <a:t> y </a:t>
                      </a:r>
                      <a:r>
                        <a:rPr lang="en-US" dirty="0" err="1"/>
                        <a:t>separación</a:t>
                      </a:r>
                      <a:endParaRPr lang="es-CO" dirty="0"/>
                    </a:p>
                  </a:txBody>
                  <a:tcPr anchor="ctr"/>
                </a:tc>
                <a:tc>
                  <a:txBody>
                    <a:bodyPr/>
                    <a:lstStyle/>
                    <a:p>
                      <a:pPr algn="ctr"/>
                      <a:r>
                        <a:rPr lang="en-US" dirty="0"/>
                        <a:t>Menos </a:t>
                      </a:r>
                      <a:r>
                        <a:rPr lang="en-US" dirty="0" err="1"/>
                        <a:t>intuitivo</a:t>
                      </a:r>
                      <a:endParaRPr lang="es-CO" dirty="0"/>
                    </a:p>
                  </a:txBody>
                  <a:tcPr anchor="ctr"/>
                </a:tc>
                <a:tc>
                  <a:txBody>
                    <a:bodyPr/>
                    <a:lstStyle/>
                    <a:p>
                      <a:pPr algn="ctr"/>
                      <a:r>
                        <a:rPr lang="en-US" dirty="0"/>
                        <a:t>Valores </a:t>
                      </a:r>
                      <a:r>
                        <a:rPr lang="en-US" dirty="0" err="1"/>
                        <a:t>positivos</a:t>
                      </a:r>
                      <a:endParaRPr lang="es-CO" dirty="0"/>
                    </a:p>
                  </a:txBody>
                  <a:tcPr anchor="ctr"/>
                </a:tc>
                <a:tc>
                  <a:txBody>
                    <a:bodyPr/>
                    <a:lstStyle/>
                    <a:p>
                      <a:pPr algn="ctr"/>
                      <a:r>
                        <a:rPr lang="es-ES" dirty="0"/>
                        <a:t>Mejor cuando el valor es bajo, indicando </a:t>
                      </a:r>
                      <a:r>
                        <a:rPr lang="es-ES" dirty="0" err="1"/>
                        <a:t>clusters</a:t>
                      </a:r>
                      <a:r>
                        <a:rPr lang="es-ES" dirty="0"/>
                        <a:t> compactos y bien separados</a:t>
                      </a:r>
                      <a:endParaRPr lang="es-CO" dirty="0"/>
                    </a:p>
                  </a:txBody>
                  <a:tcPr anchor="ctr"/>
                </a:tc>
                <a:extLst>
                  <a:ext uri="{0D108BD9-81ED-4DB2-BD59-A6C34878D82A}">
                    <a16:rowId xmlns:a16="http://schemas.microsoft.com/office/drawing/2014/main" val="54786804"/>
                  </a:ext>
                </a:extLst>
              </a:tr>
              <a:tr h="370840">
                <a:tc>
                  <a:txBody>
                    <a:bodyPr/>
                    <a:lstStyle/>
                    <a:p>
                      <a:pPr algn="ctr"/>
                      <a:r>
                        <a:rPr lang="en-US" dirty="0" err="1"/>
                        <a:t>Calinski-Harabasz</a:t>
                      </a:r>
                      <a:endParaRPr lang="es-CO" dirty="0"/>
                    </a:p>
                  </a:txBody>
                  <a:tcPr anchor="ctr"/>
                </a:tc>
                <a:tc>
                  <a:txBody>
                    <a:bodyPr/>
                    <a:lstStyle/>
                    <a:p>
                      <a:pPr algn="ctr"/>
                      <a:r>
                        <a:rPr lang="es-ES" dirty="0"/>
                        <a:t>Rápido y efectivo para datos bien definidos</a:t>
                      </a:r>
                      <a:endParaRPr lang="es-CO" dirty="0"/>
                    </a:p>
                  </a:txBody>
                  <a:tcPr anchor="ctr"/>
                </a:tc>
                <a:tc>
                  <a:txBody>
                    <a:bodyPr/>
                    <a:lstStyle/>
                    <a:p>
                      <a:pPr algn="ctr"/>
                      <a:r>
                        <a:rPr lang="en-US" dirty="0"/>
                        <a:t>Menos </a:t>
                      </a:r>
                      <a:r>
                        <a:rPr lang="en-US" dirty="0" err="1"/>
                        <a:t>efectivo</a:t>
                      </a:r>
                      <a:r>
                        <a:rPr lang="en-US" dirty="0"/>
                        <a:t> para clusters </a:t>
                      </a:r>
                      <a:r>
                        <a:rPr lang="en-US" dirty="0" err="1"/>
                        <a:t>irregulares</a:t>
                      </a:r>
                      <a:endParaRPr lang="es-CO" dirty="0"/>
                    </a:p>
                  </a:txBody>
                  <a:tcPr anchor="ctr"/>
                </a:tc>
                <a:tc>
                  <a:txBody>
                    <a:bodyPr/>
                    <a:lstStyle/>
                    <a:p>
                      <a:pPr algn="ctr"/>
                      <a:r>
                        <a:rPr lang="en-US" dirty="0"/>
                        <a:t>Valores </a:t>
                      </a:r>
                      <a:r>
                        <a:rPr lang="en-US" dirty="0" err="1"/>
                        <a:t>positivos</a:t>
                      </a:r>
                      <a:endParaRPr lang="es-CO" dirty="0"/>
                    </a:p>
                  </a:txBody>
                  <a:tcPr anchor="ctr"/>
                </a:tc>
                <a:tc>
                  <a:txBody>
                    <a:bodyPr/>
                    <a:lstStyle/>
                    <a:p>
                      <a:pPr algn="ctr"/>
                      <a:r>
                        <a:rPr lang="es-ES" dirty="0"/>
                        <a:t>Mejor cuando el valor es alto, indicando una buena definición de </a:t>
                      </a:r>
                      <a:r>
                        <a:rPr lang="es-ES" dirty="0" err="1"/>
                        <a:t>clusters</a:t>
                      </a:r>
                      <a:endParaRPr lang="es-CO" dirty="0"/>
                    </a:p>
                  </a:txBody>
                  <a:tcPr anchor="ctr"/>
                </a:tc>
                <a:extLst>
                  <a:ext uri="{0D108BD9-81ED-4DB2-BD59-A6C34878D82A}">
                    <a16:rowId xmlns:a16="http://schemas.microsoft.com/office/drawing/2014/main" val="432601543"/>
                  </a:ext>
                </a:extLst>
              </a:tr>
            </a:tbl>
          </a:graphicData>
        </a:graphic>
      </p:graphicFrame>
    </p:spTree>
    <p:extLst>
      <p:ext uri="{BB962C8B-B14F-4D97-AF65-F5344CB8AC3E}">
        <p14:creationId xmlns:p14="http://schemas.microsoft.com/office/powerpoint/2010/main" val="121072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7"/>
        <p:cNvGrpSpPr/>
        <p:nvPr/>
      </p:nvGrpSpPr>
      <p:grpSpPr>
        <a:xfrm>
          <a:off x="0" y="0"/>
          <a:ext cx="0" cy="0"/>
          <a:chOff x="0" y="0"/>
          <a:chExt cx="0" cy="0"/>
        </a:xfrm>
      </p:grpSpPr>
      <p:sp>
        <p:nvSpPr>
          <p:cNvPr id="978" name="Google Shape;978;p107"/>
          <p:cNvSpPr/>
          <p:nvPr/>
        </p:nvSpPr>
        <p:spPr>
          <a:xfrm>
            <a:off x="321564" y="320040"/>
            <a:ext cx="11548872" cy="6217920"/>
          </a:xfrm>
          <a:prstGeom prst="rect">
            <a:avLst/>
          </a:prstGeom>
          <a:solidFill>
            <a:schemeClr val="dk1">
              <a:alpha val="784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107"/>
          <p:cNvSpPr txBox="1">
            <a:spLocks noGrp="1"/>
          </p:cNvSpPr>
          <p:nvPr>
            <p:ph type="title"/>
          </p:nvPr>
        </p:nvSpPr>
        <p:spPr>
          <a:xfrm>
            <a:off x="838200" y="963877"/>
            <a:ext cx="3494362" cy="493024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accent1"/>
              </a:buClr>
              <a:buSzPts val="4400"/>
              <a:buFont typeface="Calibri"/>
              <a:buNone/>
            </a:pPr>
            <a:r>
              <a:rPr lang="es-CO">
                <a:solidFill>
                  <a:schemeClr val="accent1"/>
                </a:solidFill>
              </a:rPr>
              <a:t>Casos de uso de la agrupación (clustering)</a:t>
            </a:r>
            <a:endParaRPr/>
          </a:p>
        </p:txBody>
      </p:sp>
      <p:cxnSp>
        <p:nvCxnSpPr>
          <p:cNvPr id="980" name="Google Shape;980;p107"/>
          <p:cNvCxnSpPr/>
          <p:nvPr/>
        </p:nvCxnSpPr>
        <p:spPr>
          <a:xfrm>
            <a:off x="4654296" y="2057400"/>
            <a:ext cx="0" cy="2743200"/>
          </a:xfrm>
          <a:prstGeom prst="straightConnector1">
            <a:avLst/>
          </a:prstGeom>
          <a:noFill/>
          <a:ln w="19050" cap="flat" cmpd="sng">
            <a:solidFill>
              <a:srgbClr val="262626"/>
            </a:solidFill>
            <a:prstDash val="solid"/>
            <a:miter lim="800000"/>
            <a:headEnd type="none" w="sm" len="sm"/>
            <a:tailEnd type="none" w="sm" len="sm"/>
          </a:ln>
        </p:spPr>
      </p:cxnSp>
      <p:sp>
        <p:nvSpPr>
          <p:cNvPr id="981" name="Google Shape;981;p107"/>
          <p:cNvSpPr txBox="1">
            <a:spLocks noGrp="1"/>
          </p:cNvSpPr>
          <p:nvPr>
            <p:ph type="body" idx="1"/>
          </p:nvPr>
        </p:nvSpPr>
        <p:spPr>
          <a:xfrm>
            <a:off x="4654296" y="320040"/>
            <a:ext cx="7060171" cy="6217920"/>
          </a:xfrm>
          <a:prstGeom prst="rect">
            <a:avLst/>
          </a:prstGeom>
          <a:noFill/>
          <a:ln>
            <a:noFill/>
          </a:ln>
        </p:spPr>
        <p:txBody>
          <a:bodyPr spcFirstLastPara="1" wrap="square" lIns="91425" tIns="45700" rIns="91425" bIns="45700" anchor="ctr" anchorCtr="0">
            <a:normAutofit/>
          </a:bodyPr>
          <a:lstStyle/>
          <a:p>
            <a:pPr marL="228600" lvl="0" indent="-228600" algn="just" rtl="0">
              <a:lnSpc>
                <a:spcPct val="90000"/>
              </a:lnSpc>
              <a:spcBef>
                <a:spcPts val="0"/>
              </a:spcBef>
              <a:spcAft>
                <a:spcPts val="0"/>
              </a:spcAft>
              <a:buClr>
                <a:schemeClr val="dk1"/>
              </a:buClr>
              <a:buSzPts val="2800"/>
              <a:buChar char="•"/>
            </a:pPr>
            <a:r>
              <a:rPr lang="es-CO" dirty="0"/>
              <a:t>Segmentación de clientes en grupos de preferencias similares</a:t>
            </a:r>
            <a:endParaRPr dirty="0"/>
          </a:p>
          <a:p>
            <a:pPr marL="228600" lvl="0" indent="-228600" algn="just" rtl="0">
              <a:lnSpc>
                <a:spcPct val="90000"/>
              </a:lnSpc>
              <a:spcBef>
                <a:spcPts val="1000"/>
              </a:spcBef>
              <a:spcAft>
                <a:spcPts val="0"/>
              </a:spcAft>
              <a:buClr>
                <a:schemeClr val="dk1"/>
              </a:buClr>
              <a:buSzPts val="2800"/>
              <a:buChar char="•"/>
            </a:pPr>
            <a:r>
              <a:rPr lang="es-CO" dirty="0"/>
              <a:t>Clasificación de especies utilizando sus dimensiones físicas.</a:t>
            </a:r>
            <a:endParaRPr dirty="0"/>
          </a:p>
          <a:p>
            <a:pPr marL="228600" lvl="0" indent="-228600" algn="just" rtl="0">
              <a:lnSpc>
                <a:spcPct val="90000"/>
              </a:lnSpc>
              <a:spcBef>
                <a:spcPts val="1000"/>
              </a:spcBef>
              <a:spcAft>
                <a:spcPts val="0"/>
              </a:spcAft>
              <a:buClr>
                <a:schemeClr val="dk1"/>
              </a:buClr>
              <a:buSzPts val="2800"/>
              <a:buChar char="•"/>
            </a:pPr>
            <a:r>
              <a:rPr lang="es-CO" dirty="0"/>
              <a:t>Categorización de productos</a:t>
            </a:r>
            <a:endParaRPr dirty="0"/>
          </a:p>
          <a:p>
            <a:pPr marL="228600" lvl="0" indent="-228600" algn="just" rtl="0">
              <a:lnSpc>
                <a:spcPct val="90000"/>
              </a:lnSpc>
              <a:spcBef>
                <a:spcPts val="1000"/>
              </a:spcBef>
              <a:spcAft>
                <a:spcPts val="0"/>
              </a:spcAft>
              <a:buClr>
                <a:schemeClr val="dk1"/>
              </a:buClr>
              <a:buSzPts val="2800"/>
              <a:buChar char="•"/>
            </a:pPr>
            <a:r>
              <a:rPr lang="es-CO" dirty="0"/>
              <a:t>Recomendaciones de películas</a:t>
            </a:r>
            <a:endParaRPr dirty="0"/>
          </a:p>
          <a:p>
            <a:pPr marL="228600" lvl="0" indent="-228600" algn="just" rtl="0">
              <a:lnSpc>
                <a:spcPct val="90000"/>
              </a:lnSpc>
              <a:spcBef>
                <a:spcPts val="1000"/>
              </a:spcBef>
              <a:spcAft>
                <a:spcPts val="0"/>
              </a:spcAft>
              <a:buClr>
                <a:schemeClr val="dk1"/>
              </a:buClr>
              <a:buSzPts val="2800"/>
              <a:buChar char="•"/>
            </a:pPr>
            <a:r>
              <a:rPr lang="es-CO" dirty="0"/>
              <a:t>Agrupación de genes</a:t>
            </a:r>
            <a:endParaRPr dirty="0"/>
          </a:p>
          <a:p>
            <a:pPr marL="228600" lvl="0" indent="-228600" algn="just" rtl="0">
              <a:lnSpc>
                <a:spcPct val="90000"/>
              </a:lnSpc>
              <a:spcBef>
                <a:spcPts val="1000"/>
              </a:spcBef>
              <a:spcAft>
                <a:spcPts val="0"/>
              </a:spcAft>
              <a:buClr>
                <a:schemeClr val="dk1"/>
              </a:buClr>
              <a:buSzPts val="2800"/>
              <a:buChar char="•"/>
            </a:pPr>
            <a:r>
              <a:rPr lang="es-CO" dirty="0"/>
              <a:t>Determinar los temas de los que se habla en un blog</a:t>
            </a:r>
            <a:endParaRPr dirty="0"/>
          </a:p>
          <a:p>
            <a:pPr marL="228600" lvl="0" indent="-101600" algn="just" rtl="0">
              <a:lnSpc>
                <a:spcPct val="90000"/>
              </a:lnSpc>
              <a:spcBef>
                <a:spcPts val="1000"/>
              </a:spcBef>
              <a:spcAft>
                <a:spcPts val="0"/>
              </a:spcAft>
              <a:buClr>
                <a:schemeClr val="dk1"/>
              </a:buClr>
              <a:buSzPts val="2000"/>
              <a:buNone/>
            </a:pPr>
            <a:endParaRPr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5"/>
        <p:cNvGrpSpPr/>
        <p:nvPr/>
      </p:nvGrpSpPr>
      <p:grpSpPr>
        <a:xfrm>
          <a:off x="0" y="0"/>
          <a:ext cx="0" cy="0"/>
          <a:chOff x="0" y="0"/>
          <a:chExt cx="0" cy="0"/>
        </a:xfrm>
      </p:grpSpPr>
      <p:sp>
        <p:nvSpPr>
          <p:cNvPr id="986" name="Google Shape;986;p108"/>
          <p:cNvSpPr/>
          <p:nvPr/>
        </p:nvSpPr>
        <p:spPr>
          <a:xfrm>
            <a:off x="0" y="-1"/>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987" name="Google Shape;987;p108"/>
          <p:cNvGrpSpPr/>
          <p:nvPr/>
        </p:nvGrpSpPr>
        <p:grpSpPr>
          <a:xfrm>
            <a:off x="-417513" y="0"/>
            <a:ext cx="12584114" cy="6853238"/>
            <a:chOff x="-417513" y="0"/>
            <a:chExt cx="12584114" cy="6853238"/>
          </a:xfrm>
        </p:grpSpPr>
        <p:sp>
          <p:nvSpPr>
            <p:cNvPr id="988" name="Google Shape;988;p108"/>
            <p:cNvSpPr/>
            <p:nvPr/>
          </p:nvSpPr>
          <p:spPr>
            <a:xfrm>
              <a:off x="1306513" y="0"/>
              <a:ext cx="3862388" cy="6843713"/>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08"/>
            <p:cNvSpPr/>
            <p:nvPr/>
          </p:nvSpPr>
          <p:spPr>
            <a:xfrm>
              <a:off x="10626725" y="9525"/>
              <a:ext cx="1539875" cy="555625"/>
            </a:xfrm>
            <a:custGeom>
              <a:avLst/>
              <a:gdLst/>
              <a:ahLst/>
              <a:cxnLst/>
              <a:rect l="l" t="t" r="r" b="b"/>
              <a:pathLst>
                <a:path w="324" h="117" extrusionOk="0">
                  <a:moveTo>
                    <a:pt x="324" y="117"/>
                  </a:moveTo>
                  <a:cubicBezTo>
                    <a:pt x="223" y="64"/>
                    <a:pt x="107" y="2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08"/>
            <p:cNvSpPr/>
            <p:nvPr/>
          </p:nvSpPr>
          <p:spPr>
            <a:xfrm>
              <a:off x="10247313" y="5013325"/>
              <a:ext cx="1919288" cy="1830388"/>
            </a:xfrm>
            <a:custGeom>
              <a:avLst/>
              <a:gdLst/>
              <a:ahLst/>
              <a:cxnLst/>
              <a:rect l="l" t="t" r="r" b="b"/>
              <a:pathLst>
                <a:path w="404" h="385" extrusionOk="0">
                  <a:moveTo>
                    <a:pt x="0" y="385"/>
                  </a:moveTo>
                  <a:cubicBezTo>
                    <a:pt x="146" y="272"/>
                    <a:pt x="285" y="142"/>
                    <a:pt x="404"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08"/>
            <p:cNvSpPr/>
            <p:nvPr/>
          </p:nvSpPr>
          <p:spPr>
            <a:xfrm>
              <a:off x="1120775" y="0"/>
              <a:ext cx="3676650" cy="6843713"/>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08"/>
            <p:cNvSpPr/>
            <p:nvPr/>
          </p:nvSpPr>
          <p:spPr>
            <a:xfrm>
              <a:off x="11202988" y="9525"/>
              <a:ext cx="963613" cy="366713"/>
            </a:xfrm>
            <a:custGeom>
              <a:avLst/>
              <a:gdLst/>
              <a:ahLst/>
              <a:cxnLst/>
              <a:rect l="l" t="t" r="r" b="b"/>
              <a:pathLst>
                <a:path w="203" h="77" extrusionOk="0">
                  <a:moveTo>
                    <a:pt x="203" y="77"/>
                  </a:moveTo>
                  <a:cubicBezTo>
                    <a:pt x="138" y="46"/>
                    <a:pt x="68" y="2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08"/>
            <p:cNvSpPr/>
            <p:nvPr/>
          </p:nvSpPr>
          <p:spPr>
            <a:xfrm>
              <a:off x="10494963" y="5275263"/>
              <a:ext cx="1666875" cy="1577975"/>
            </a:xfrm>
            <a:custGeom>
              <a:avLst/>
              <a:gdLst/>
              <a:ahLst/>
              <a:cxnLst/>
              <a:rect l="l" t="t" r="r" b="b"/>
              <a:pathLst>
                <a:path w="351" h="332" extrusionOk="0">
                  <a:moveTo>
                    <a:pt x="0" y="332"/>
                  </a:moveTo>
                  <a:cubicBezTo>
                    <a:pt x="125" y="232"/>
                    <a:pt x="245" y="121"/>
                    <a:pt x="351"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08"/>
            <p:cNvSpPr/>
            <p:nvPr/>
          </p:nvSpPr>
          <p:spPr>
            <a:xfrm>
              <a:off x="1001713" y="0"/>
              <a:ext cx="3621088" cy="6843713"/>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08"/>
            <p:cNvSpPr/>
            <p:nvPr/>
          </p:nvSpPr>
          <p:spPr>
            <a:xfrm>
              <a:off x="11501438" y="9525"/>
              <a:ext cx="665163" cy="257175"/>
            </a:xfrm>
            <a:custGeom>
              <a:avLst/>
              <a:gdLst/>
              <a:ahLst/>
              <a:cxnLst/>
              <a:rect l="l" t="t" r="r" b="b"/>
              <a:pathLst>
                <a:path w="140" h="54" extrusionOk="0">
                  <a:moveTo>
                    <a:pt x="140" y="54"/>
                  </a:moveTo>
                  <a:cubicBezTo>
                    <a:pt x="95" y="34"/>
                    <a:pt x="48" y="1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08"/>
            <p:cNvSpPr/>
            <p:nvPr/>
          </p:nvSpPr>
          <p:spPr>
            <a:xfrm>
              <a:off x="10641013" y="5408613"/>
              <a:ext cx="1525588" cy="1435100"/>
            </a:xfrm>
            <a:custGeom>
              <a:avLst/>
              <a:gdLst/>
              <a:ahLst/>
              <a:cxnLst/>
              <a:rect l="l" t="t" r="r" b="b"/>
              <a:pathLst>
                <a:path w="321" h="302" extrusionOk="0">
                  <a:moveTo>
                    <a:pt x="0" y="302"/>
                  </a:moveTo>
                  <a:cubicBezTo>
                    <a:pt x="114" y="210"/>
                    <a:pt x="223" y="109"/>
                    <a:pt x="321"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08"/>
            <p:cNvSpPr/>
            <p:nvPr/>
          </p:nvSpPr>
          <p:spPr>
            <a:xfrm>
              <a:off x="1001713" y="0"/>
              <a:ext cx="3244850" cy="6843713"/>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08"/>
            <p:cNvSpPr/>
            <p:nvPr/>
          </p:nvSpPr>
          <p:spPr>
            <a:xfrm>
              <a:off x="10802938" y="5518150"/>
              <a:ext cx="1363663" cy="1325563"/>
            </a:xfrm>
            <a:custGeom>
              <a:avLst/>
              <a:gdLst/>
              <a:ahLst/>
              <a:cxnLst/>
              <a:rect l="l" t="t" r="r" b="b"/>
              <a:pathLst>
                <a:path w="287" h="279" extrusionOk="0">
                  <a:moveTo>
                    <a:pt x="0" y="279"/>
                  </a:moveTo>
                  <a:cubicBezTo>
                    <a:pt x="101" y="193"/>
                    <a:pt x="198" y="100"/>
                    <a:pt x="287"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08"/>
            <p:cNvSpPr/>
            <p:nvPr/>
          </p:nvSpPr>
          <p:spPr>
            <a:xfrm>
              <a:off x="889000" y="0"/>
              <a:ext cx="3230563" cy="6843713"/>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08"/>
            <p:cNvSpPr/>
            <p:nvPr/>
          </p:nvSpPr>
          <p:spPr>
            <a:xfrm>
              <a:off x="10979150" y="5694363"/>
              <a:ext cx="1187450" cy="1149350"/>
            </a:xfrm>
            <a:custGeom>
              <a:avLst/>
              <a:gdLst/>
              <a:ahLst/>
              <a:cxnLst/>
              <a:rect l="l" t="t" r="r" b="b"/>
              <a:pathLst>
                <a:path w="250" h="242" extrusionOk="0">
                  <a:moveTo>
                    <a:pt x="0" y="242"/>
                  </a:moveTo>
                  <a:cubicBezTo>
                    <a:pt x="88" y="166"/>
                    <a:pt x="172" y="85"/>
                    <a:pt x="25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08"/>
            <p:cNvSpPr/>
            <p:nvPr/>
          </p:nvSpPr>
          <p:spPr>
            <a:xfrm>
              <a:off x="484188" y="0"/>
              <a:ext cx="3421063" cy="6843713"/>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08"/>
            <p:cNvSpPr/>
            <p:nvPr/>
          </p:nvSpPr>
          <p:spPr>
            <a:xfrm>
              <a:off x="11287125" y="6049963"/>
              <a:ext cx="879475" cy="793750"/>
            </a:xfrm>
            <a:custGeom>
              <a:avLst/>
              <a:gdLst/>
              <a:ahLst/>
              <a:cxnLst/>
              <a:rect l="l" t="t" r="r" b="b"/>
              <a:pathLst>
                <a:path w="185" h="167" extrusionOk="0">
                  <a:moveTo>
                    <a:pt x="0" y="167"/>
                  </a:moveTo>
                  <a:cubicBezTo>
                    <a:pt x="63" y="114"/>
                    <a:pt x="125" y="58"/>
                    <a:pt x="18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08"/>
            <p:cNvSpPr/>
            <p:nvPr/>
          </p:nvSpPr>
          <p:spPr>
            <a:xfrm>
              <a:off x="598488" y="0"/>
              <a:ext cx="2717800" cy="6843713"/>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08"/>
            <p:cNvSpPr/>
            <p:nvPr/>
          </p:nvSpPr>
          <p:spPr>
            <a:xfrm>
              <a:off x="261938" y="0"/>
              <a:ext cx="2944813" cy="6843713"/>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08"/>
            <p:cNvSpPr/>
            <p:nvPr/>
          </p:nvSpPr>
          <p:spPr>
            <a:xfrm>
              <a:off x="-417513" y="0"/>
              <a:ext cx="2403475" cy="6843713"/>
            </a:xfrm>
            <a:custGeom>
              <a:avLst/>
              <a:gdLst/>
              <a:ahLst/>
              <a:cxnLst/>
              <a:rect l="l" t="t" r="r" b="b"/>
              <a:pathLst>
                <a:path w="506" h="1440" extrusionOk="0">
                  <a:moveTo>
                    <a:pt x="506" y="0"/>
                  </a:moveTo>
                  <a:cubicBezTo>
                    <a:pt x="109" y="356"/>
                    <a:pt x="0" y="943"/>
                    <a:pt x="171"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08"/>
            <p:cNvSpPr/>
            <p:nvPr/>
          </p:nvSpPr>
          <p:spPr>
            <a:xfrm>
              <a:off x="14288" y="9525"/>
              <a:ext cx="1771650" cy="3198813"/>
            </a:xfrm>
            <a:custGeom>
              <a:avLst/>
              <a:gdLst/>
              <a:ahLst/>
              <a:cxnLst/>
              <a:rect l="l" t="t" r="r" b="b"/>
              <a:pathLst>
                <a:path w="373" h="673" extrusionOk="0">
                  <a:moveTo>
                    <a:pt x="373" y="0"/>
                  </a:moveTo>
                  <a:cubicBezTo>
                    <a:pt x="175" y="183"/>
                    <a:pt x="51" y="409"/>
                    <a:pt x="0" y="673"/>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08"/>
            <p:cNvSpPr/>
            <p:nvPr/>
          </p:nvSpPr>
          <p:spPr>
            <a:xfrm>
              <a:off x="4763" y="6016625"/>
              <a:ext cx="214313" cy="827088"/>
            </a:xfrm>
            <a:custGeom>
              <a:avLst/>
              <a:gdLst/>
              <a:ahLst/>
              <a:cxnLst/>
              <a:rect l="l" t="t" r="r" b="b"/>
              <a:pathLst>
                <a:path w="45" h="174" extrusionOk="0">
                  <a:moveTo>
                    <a:pt x="0" y="0"/>
                  </a:moveTo>
                  <a:cubicBezTo>
                    <a:pt x="11" y="59"/>
                    <a:pt x="26" y="118"/>
                    <a:pt x="45" y="174"/>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08"/>
            <p:cNvSpPr/>
            <p:nvPr/>
          </p:nvSpPr>
          <p:spPr>
            <a:xfrm>
              <a:off x="14288" y="0"/>
              <a:ext cx="1562100" cy="2228850"/>
            </a:xfrm>
            <a:custGeom>
              <a:avLst/>
              <a:gdLst/>
              <a:ahLst/>
              <a:cxnLst/>
              <a:rect l="l" t="t" r="r" b="b"/>
              <a:pathLst>
                <a:path w="329" h="469" extrusionOk="0">
                  <a:moveTo>
                    <a:pt x="329" y="0"/>
                  </a:moveTo>
                  <a:cubicBezTo>
                    <a:pt x="189" y="133"/>
                    <a:pt x="69" y="288"/>
                    <a:pt x="0" y="469"/>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1009;p108"/>
          <p:cNvGrpSpPr/>
          <p:nvPr/>
        </p:nvGrpSpPr>
        <p:grpSpPr>
          <a:xfrm>
            <a:off x="800144" y="1699589"/>
            <a:ext cx="3674476" cy="3470421"/>
            <a:chOff x="697883" y="1816768"/>
            <a:chExt cx="3674476" cy="3470421"/>
          </a:xfrm>
        </p:grpSpPr>
        <p:sp>
          <p:nvSpPr>
            <p:cNvPr id="1010" name="Google Shape;1010;p108"/>
            <p:cNvSpPr/>
            <p:nvPr/>
          </p:nvSpPr>
          <p:spPr>
            <a:xfrm>
              <a:off x="697883" y="1816768"/>
              <a:ext cx="3674476" cy="5029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08"/>
            <p:cNvSpPr/>
            <p:nvPr/>
          </p:nvSpPr>
          <p:spPr>
            <a:xfrm rot="10800000">
              <a:off x="2380224" y="5014786"/>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08"/>
            <p:cNvSpPr/>
            <p:nvPr/>
          </p:nvSpPr>
          <p:spPr>
            <a:xfrm>
              <a:off x="704075" y="2392840"/>
              <a:ext cx="3668284" cy="26243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3" name="Google Shape;1013;p108"/>
          <p:cNvSpPr txBox="1">
            <a:spLocks noGrp="1"/>
          </p:cNvSpPr>
          <p:nvPr>
            <p:ph type="title"/>
          </p:nvPr>
        </p:nvSpPr>
        <p:spPr>
          <a:xfrm>
            <a:off x="904877" y="2415322"/>
            <a:ext cx="3451730" cy="23998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700"/>
              <a:buFont typeface="Calibri"/>
              <a:buNone/>
            </a:pPr>
            <a:r>
              <a:rPr lang="es-CO" sz="3700">
                <a:solidFill>
                  <a:srgbClr val="FFFFFF"/>
                </a:solidFill>
              </a:rPr>
              <a:t>La dimensionalidad</a:t>
            </a:r>
            <a:endParaRPr/>
          </a:p>
        </p:txBody>
      </p:sp>
      <p:sp>
        <p:nvSpPr>
          <p:cNvPr id="1014" name="Google Shape;1014;p108"/>
          <p:cNvSpPr txBox="1">
            <a:spLocks noGrp="1"/>
          </p:cNvSpPr>
          <p:nvPr>
            <p:ph type="body" idx="1"/>
          </p:nvPr>
        </p:nvSpPr>
        <p:spPr>
          <a:xfrm>
            <a:off x="4554538" y="528638"/>
            <a:ext cx="7421562" cy="6075362"/>
          </a:xfrm>
          <a:prstGeom prst="rect">
            <a:avLst/>
          </a:prstGeom>
          <a:noFill/>
          <a:ln>
            <a:noFill/>
          </a:ln>
        </p:spPr>
        <p:txBody>
          <a:bodyPr spcFirstLastPara="1" wrap="square" lIns="91425" tIns="45700" rIns="91425" bIns="45700" anchor="ctr" anchorCtr="0">
            <a:normAutofit/>
          </a:bodyPr>
          <a:lstStyle/>
          <a:p>
            <a:pPr marL="228600" lvl="0" indent="-228600" algn="just" rtl="0">
              <a:lnSpc>
                <a:spcPct val="90000"/>
              </a:lnSpc>
              <a:spcBef>
                <a:spcPts val="0"/>
              </a:spcBef>
              <a:spcAft>
                <a:spcPts val="0"/>
              </a:spcAft>
              <a:buClr>
                <a:schemeClr val="dk1"/>
              </a:buClr>
              <a:buSzPts val="2000"/>
              <a:buChar char="•"/>
            </a:pPr>
            <a:r>
              <a:rPr lang="es-CO" sz="2000" dirty="0"/>
              <a:t>Se refiere al número de características (es decir, las variables de entrada en los conjuntos de datos). </a:t>
            </a:r>
            <a:endParaRPr dirty="0"/>
          </a:p>
          <a:p>
            <a:pPr marL="685800" lvl="1" indent="-228600" algn="just" rtl="0">
              <a:lnSpc>
                <a:spcPct val="90000"/>
              </a:lnSpc>
              <a:spcBef>
                <a:spcPts val="500"/>
              </a:spcBef>
              <a:spcAft>
                <a:spcPts val="0"/>
              </a:spcAft>
              <a:buClr>
                <a:schemeClr val="dk1"/>
              </a:buClr>
              <a:buSzPts val="2000"/>
              <a:buChar char="•"/>
            </a:pPr>
            <a:r>
              <a:rPr lang="es-CO" sz="2000" dirty="0"/>
              <a:t>Cuando el número de características es muy grande en relación con el número de observaciones en el conjunto de datos, ciertos algoritmos luchan para entrenar modelos eficientes.</a:t>
            </a:r>
            <a:endParaRPr dirty="0"/>
          </a:p>
          <a:p>
            <a:pPr marL="228600" lvl="0" indent="-228600" algn="just" rtl="0">
              <a:lnSpc>
                <a:spcPct val="90000"/>
              </a:lnSpc>
              <a:spcBef>
                <a:spcPts val="1000"/>
              </a:spcBef>
              <a:spcAft>
                <a:spcPts val="0"/>
              </a:spcAft>
              <a:buClr>
                <a:schemeClr val="dk1"/>
              </a:buClr>
              <a:buSzPts val="2000"/>
              <a:buChar char="•"/>
            </a:pPr>
            <a:r>
              <a:rPr lang="es-CO" sz="2000" dirty="0"/>
              <a:t>¿Cómo combatir la maldición de la dimensionalidad?</a:t>
            </a:r>
            <a:endParaRPr dirty="0"/>
          </a:p>
          <a:p>
            <a:pPr marL="685800" lvl="1" indent="-228600" algn="just" rtl="0">
              <a:lnSpc>
                <a:spcPct val="90000"/>
              </a:lnSpc>
              <a:spcBef>
                <a:spcPts val="500"/>
              </a:spcBef>
              <a:spcAft>
                <a:spcPts val="0"/>
              </a:spcAft>
              <a:buClr>
                <a:schemeClr val="dk1"/>
              </a:buClr>
              <a:buSzPts val="2000"/>
              <a:buChar char="•"/>
            </a:pPr>
            <a:r>
              <a:rPr lang="es-CO" sz="2000" dirty="0"/>
              <a:t>Cambia el algoritmo.</a:t>
            </a:r>
            <a:endParaRPr dirty="0"/>
          </a:p>
          <a:p>
            <a:pPr marL="685800" lvl="1" indent="-228600" algn="just" rtl="0">
              <a:lnSpc>
                <a:spcPct val="90000"/>
              </a:lnSpc>
              <a:spcBef>
                <a:spcPts val="500"/>
              </a:spcBef>
              <a:spcAft>
                <a:spcPts val="0"/>
              </a:spcAft>
              <a:buClr>
                <a:schemeClr val="dk1"/>
              </a:buClr>
              <a:buSzPts val="2000"/>
              <a:buChar char="•"/>
            </a:pPr>
            <a:r>
              <a:rPr lang="es-CO" sz="2000" dirty="0"/>
              <a:t>Reducir la dimensionalidad de los datos (PCA o LDA).</a:t>
            </a:r>
            <a:endParaRPr dirty="0"/>
          </a:p>
          <a:p>
            <a:pPr marL="228600" lvl="0" indent="-228600" algn="just" rtl="0">
              <a:lnSpc>
                <a:spcPct val="90000"/>
              </a:lnSpc>
              <a:spcBef>
                <a:spcPts val="1000"/>
              </a:spcBef>
              <a:spcAft>
                <a:spcPts val="0"/>
              </a:spcAft>
              <a:buClr>
                <a:schemeClr val="dk1"/>
              </a:buClr>
              <a:buSzPts val="2000"/>
              <a:buChar char="•"/>
            </a:pPr>
            <a:r>
              <a:rPr lang="es-CO" sz="2000" dirty="0"/>
              <a:t>¿Por qué aplicas reducción de dimensionalidad?</a:t>
            </a:r>
            <a:endParaRPr dirty="0"/>
          </a:p>
          <a:p>
            <a:pPr marL="685800" lvl="1" indent="-228600" algn="just" rtl="0">
              <a:lnSpc>
                <a:spcPct val="90000"/>
              </a:lnSpc>
              <a:spcBef>
                <a:spcPts val="500"/>
              </a:spcBef>
              <a:spcAft>
                <a:spcPts val="0"/>
              </a:spcAft>
              <a:buClr>
                <a:schemeClr val="dk1"/>
              </a:buClr>
              <a:buSzPts val="2000"/>
              <a:buChar char="•"/>
            </a:pPr>
            <a:r>
              <a:rPr lang="es-CO" sz="2000" dirty="0"/>
              <a:t>Aumento de la eficiencia.</a:t>
            </a:r>
            <a:endParaRPr dirty="0"/>
          </a:p>
          <a:p>
            <a:pPr marL="685800" lvl="1" indent="-228600" algn="just" rtl="0">
              <a:lnSpc>
                <a:spcPct val="90000"/>
              </a:lnSpc>
              <a:spcBef>
                <a:spcPts val="500"/>
              </a:spcBef>
              <a:spcAft>
                <a:spcPts val="0"/>
              </a:spcAft>
              <a:buClr>
                <a:schemeClr val="dk1"/>
              </a:buClr>
              <a:buSzPts val="2000"/>
              <a:buChar char="•"/>
            </a:pPr>
            <a:r>
              <a:rPr lang="es-CO" sz="2000" dirty="0"/>
              <a:t>Ayuda en la compresión de datos y reduce el espacio de almacenamiento.</a:t>
            </a:r>
            <a:endParaRPr dirty="0"/>
          </a:p>
          <a:p>
            <a:pPr marL="685800" lvl="1" indent="-228600" algn="just" rtl="0">
              <a:lnSpc>
                <a:spcPct val="90000"/>
              </a:lnSpc>
              <a:spcBef>
                <a:spcPts val="500"/>
              </a:spcBef>
              <a:spcAft>
                <a:spcPts val="0"/>
              </a:spcAft>
              <a:buClr>
                <a:schemeClr val="dk1"/>
              </a:buClr>
              <a:buSzPts val="2000"/>
              <a:buChar char="•"/>
            </a:pPr>
            <a:r>
              <a:rPr lang="es-CO" sz="2000" dirty="0"/>
              <a:t>Reduce los costos de computación.</a:t>
            </a:r>
            <a:endParaRPr dirty="0"/>
          </a:p>
          <a:p>
            <a:pPr marL="685800" lvl="1" indent="-228600" algn="just" rtl="0">
              <a:lnSpc>
                <a:spcPct val="90000"/>
              </a:lnSpc>
              <a:spcBef>
                <a:spcPts val="500"/>
              </a:spcBef>
              <a:spcAft>
                <a:spcPts val="0"/>
              </a:spcAft>
              <a:buClr>
                <a:schemeClr val="dk1"/>
              </a:buClr>
              <a:buSzPts val="2000"/>
              <a:buChar char="•"/>
            </a:pPr>
            <a:r>
              <a:rPr lang="es-CO" sz="2000" dirty="0"/>
              <a:t>También ayuda a eliminar características redundantes.</a:t>
            </a:r>
            <a:endParaRPr dirty="0"/>
          </a:p>
          <a:p>
            <a:pPr marL="685800" lvl="1" indent="-228600" algn="just" rtl="0">
              <a:lnSpc>
                <a:spcPct val="90000"/>
              </a:lnSpc>
              <a:spcBef>
                <a:spcPts val="500"/>
              </a:spcBef>
              <a:spcAft>
                <a:spcPts val="0"/>
              </a:spcAft>
              <a:buClr>
                <a:schemeClr val="dk1"/>
              </a:buClr>
              <a:buSzPts val="2000"/>
              <a:buChar char="•"/>
            </a:pPr>
            <a:r>
              <a:rPr lang="es-CO" sz="2000" dirty="0"/>
              <a:t>Acorta el tiempo requerido para realizar los mismos cálculos.</a:t>
            </a:r>
            <a:endParaRPr dirty="0"/>
          </a:p>
          <a:p>
            <a:pPr marL="685800" lvl="1" indent="-228600" algn="just" rtl="0">
              <a:lnSpc>
                <a:spcPct val="90000"/>
              </a:lnSpc>
              <a:spcBef>
                <a:spcPts val="500"/>
              </a:spcBef>
              <a:spcAft>
                <a:spcPts val="0"/>
              </a:spcAft>
              <a:buClr>
                <a:schemeClr val="dk1"/>
              </a:buClr>
              <a:buSzPts val="2000"/>
              <a:buChar char="•"/>
            </a:pPr>
            <a:r>
              <a:rPr lang="es-CO" sz="2000" dirty="0"/>
              <a:t>Mejora el rendimiento de la clasificación.</a:t>
            </a:r>
            <a:endParaRPr dirty="0"/>
          </a:p>
          <a:p>
            <a:pPr marL="685800" lvl="1" indent="-228600" algn="just" rtl="0">
              <a:lnSpc>
                <a:spcPct val="90000"/>
              </a:lnSpc>
              <a:spcBef>
                <a:spcPts val="500"/>
              </a:spcBef>
              <a:spcAft>
                <a:spcPts val="0"/>
              </a:spcAft>
              <a:buClr>
                <a:schemeClr val="dk1"/>
              </a:buClr>
              <a:buSzPts val="2000"/>
              <a:buChar char="•"/>
            </a:pPr>
            <a:r>
              <a:rPr lang="es-CO" sz="2000" dirty="0"/>
              <a:t>Facilidad de interpretación y modelización.</a:t>
            </a:r>
            <a:endParaRPr sz="1700" dirty="0"/>
          </a:p>
          <a:p>
            <a:pPr marL="228600" lvl="0" indent="-120650" algn="just" rtl="0">
              <a:lnSpc>
                <a:spcPct val="90000"/>
              </a:lnSpc>
              <a:spcBef>
                <a:spcPts val="1000"/>
              </a:spcBef>
              <a:spcAft>
                <a:spcPts val="0"/>
              </a:spcAft>
              <a:buClr>
                <a:schemeClr val="dk1"/>
              </a:buClr>
              <a:buSzPts val="1700"/>
              <a:buNone/>
            </a:pPr>
            <a:endParaRPr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18"/>
        <p:cNvGrpSpPr/>
        <p:nvPr/>
      </p:nvGrpSpPr>
      <p:grpSpPr>
        <a:xfrm>
          <a:off x="0" y="0"/>
          <a:ext cx="0" cy="0"/>
          <a:chOff x="0" y="0"/>
          <a:chExt cx="0" cy="0"/>
        </a:xfrm>
      </p:grpSpPr>
      <p:sp>
        <p:nvSpPr>
          <p:cNvPr id="1019" name="Google Shape;1019;p109"/>
          <p:cNvSpPr/>
          <p:nvPr/>
        </p:nvSpPr>
        <p:spPr>
          <a:xfrm>
            <a:off x="321564" y="320040"/>
            <a:ext cx="11548872" cy="6217920"/>
          </a:xfrm>
          <a:prstGeom prst="rect">
            <a:avLst/>
          </a:prstGeom>
          <a:solidFill>
            <a:schemeClr val="dk1">
              <a:alpha val="784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0" name="Google Shape;1020;p109"/>
          <p:cNvSpPr txBox="1">
            <a:spLocks noGrp="1"/>
          </p:cNvSpPr>
          <p:nvPr>
            <p:ph type="title"/>
          </p:nvPr>
        </p:nvSpPr>
        <p:spPr>
          <a:xfrm>
            <a:off x="838200" y="963877"/>
            <a:ext cx="3494362" cy="493024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accent1"/>
              </a:buClr>
              <a:buSzPts val="4400"/>
              <a:buFont typeface="Calibri"/>
              <a:buNone/>
            </a:pPr>
            <a:r>
              <a:rPr lang="es-CO">
                <a:solidFill>
                  <a:schemeClr val="accent1"/>
                </a:solidFill>
              </a:rPr>
              <a:t>Análisis de componentes principales (PCA)/(SVD)</a:t>
            </a:r>
            <a:endParaRPr/>
          </a:p>
        </p:txBody>
      </p:sp>
      <p:cxnSp>
        <p:nvCxnSpPr>
          <p:cNvPr id="1021" name="Google Shape;1021;p109"/>
          <p:cNvCxnSpPr/>
          <p:nvPr/>
        </p:nvCxnSpPr>
        <p:spPr>
          <a:xfrm>
            <a:off x="4654296" y="2057400"/>
            <a:ext cx="0" cy="2743200"/>
          </a:xfrm>
          <a:prstGeom prst="straightConnector1">
            <a:avLst/>
          </a:prstGeom>
          <a:noFill/>
          <a:ln w="19050" cap="flat" cmpd="sng">
            <a:solidFill>
              <a:srgbClr val="262626"/>
            </a:solidFill>
            <a:prstDash val="solid"/>
            <a:miter lim="800000"/>
            <a:headEnd type="none" w="sm" len="sm"/>
            <a:tailEnd type="none" w="sm" len="sm"/>
          </a:ln>
        </p:spPr>
      </p:cxnSp>
      <p:sp>
        <p:nvSpPr>
          <p:cNvPr id="1022" name="Google Shape;1022;p109"/>
          <p:cNvSpPr txBox="1">
            <a:spLocks noGrp="1"/>
          </p:cNvSpPr>
          <p:nvPr>
            <p:ph type="body" idx="1"/>
          </p:nvPr>
        </p:nvSpPr>
        <p:spPr>
          <a:xfrm>
            <a:off x="4654296" y="320040"/>
            <a:ext cx="7110977" cy="6090920"/>
          </a:xfrm>
          <a:prstGeom prst="rect">
            <a:avLst/>
          </a:prstGeom>
          <a:noFill/>
          <a:ln>
            <a:noFill/>
          </a:ln>
        </p:spPr>
        <p:txBody>
          <a:bodyPr spcFirstLastPara="1" wrap="square" lIns="91425" tIns="45700" rIns="91425" bIns="45700" anchor="ctr" anchorCtr="0">
            <a:normAutofit/>
          </a:bodyPr>
          <a:lstStyle/>
          <a:p>
            <a:pPr marL="228600" lvl="0" indent="-228600" algn="just" rtl="0">
              <a:lnSpc>
                <a:spcPct val="90000"/>
              </a:lnSpc>
              <a:spcBef>
                <a:spcPts val="0"/>
              </a:spcBef>
              <a:spcAft>
                <a:spcPts val="0"/>
              </a:spcAft>
              <a:buClr>
                <a:schemeClr val="dk1"/>
              </a:buClr>
              <a:buSzPts val="2400"/>
              <a:buChar char="•"/>
            </a:pPr>
            <a:r>
              <a:rPr lang="es-CO" sz="2400" dirty="0"/>
              <a:t>PCA es un método no supervisado para comprender las propiedades globales de un conjunto de datos que consta de vectores. </a:t>
            </a:r>
            <a:endParaRPr dirty="0"/>
          </a:p>
          <a:p>
            <a:pPr marL="228600" lvl="0" indent="-228600" algn="just" rtl="0">
              <a:lnSpc>
                <a:spcPct val="90000"/>
              </a:lnSpc>
              <a:spcBef>
                <a:spcPts val="1000"/>
              </a:spcBef>
              <a:spcAft>
                <a:spcPts val="0"/>
              </a:spcAft>
              <a:buClr>
                <a:schemeClr val="dk1"/>
              </a:buClr>
              <a:buSzPts val="2400"/>
              <a:buChar char="•"/>
            </a:pPr>
            <a:r>
              <a:rPr lang="es-CO" sz="2400" dirty="0"/>
              <a:t>La matriz de covarianza de los puntos de datos se analiza aquí para comprender qué dimensiones (en su mayoría) / puntos de datos (a veces) son más importantes (es decir, tienen una alta varianza entre sí, pero una baja covarianza con otros).</a:t>
            </a:r>
            <a:endParaRPr dirty="0"/>
          </a:p>
          <a:p>
            <a:pPr marL="228600" lvl="0" indent="-228600" algn="just" rtl="0">
              <a:lnSpc>
                <a:spcPct val="90000"/>
              </a:lnSpc>
              <a:spcBef>
                <a:spcPts val="1000"/>
              </a:spcBef>
              <a:spcAft>
                <a:spcPts val="0"/>
              </a:spcAft>
              <a:buClr>
                <a:schemeClr val="dk1"/>
              </a:buClr>
              <a:buSzPts val="2400"/>
              <a:buChar char="•"/>
            </a:pPr>
            <a:r>
              <a:rPr lang="es-CO" sz="2400" dirty="0"/>
              <a:t>Este algoritmo ayuda a combatir la alta dimensionalidad (muchas columnas) y así obtener puntos de datos con dimensiones reducidas.</a:t>
            </a:r>
            <a:endParaRPr dirty="0"/>
          </a:p>
          <a:p>
            <a:pPr marL="228600" lvl="0" indent="-228600" algn="just" rtl="0">
              <a:lnSpc>
                <a:spcPct val="90000"/>
              </a:lnSpc>
              <a:spcBef>
                <a:spcPts val="1000"/>
              </a:spcBef>
              <a:spcAft>
                <a:spcPts val="0"/>
              </a:spcAft>
              <a:buClr>
                <a:schemeClr val="dk1"/>
              </a:buClr>
              <a:buSzPts val="2400"/>
              <a:buChar char="•"/>
            </a:pPr>
            <a:r>
              <a:rPr lang="es-CO" sz="2400" dirty="0"/>
              <a:t>PCA se utiliza con columnas numéricas</a:t>
            </a:r>
            <a:endParaRPr dirty="0"/>
          </a:p>
          <a:p>
            <a:pPr marL="228600" lvl="0" indent="-228600" algn="just" rtl="0">
              <a:lnSpc>
                <a:spcPct val="90000"/>
              </a:lnSpc>
              <a:spcBef>
                <a:spcPts val="1000"/>
              </a:spcBef>
              <a:spcAft>
                <a:spcPts val="0"/>
              </a:spcAft>
              <a:buClr>
                <a:schemeClr val="dk1"/>
              </a:buClr>
              <a:buSzPts val="2400"/>
              <a:buChar char="•"/>
            </a:pPr>
            <a:r>
              <a:rPr lang="es-CO" sz="2400" dirty="0"/>
              <a:t>También existen técnicas para el caso de variables categóricas</a:t>
            </a:r>
            <a:endParaRPr dirty="0"/>
          </a:p>
          <a:p>
            <a:pPr marL="685800" lvl="1" indent="-228600" algn="just" rtl="0">
              <a:lnSpc>
                <a:spcPct val="90000"/>
              </a:lnSpc>
              <a:spcBef>
                <a:spcPts val="500"/>
              </a:spcBef>
              <a:spcAft>
                <a:spcPts val="0"/>
              </a:spcAft>
              <a:buClr>
                <a:schemeClr val="dk1"/>
              </a:buClr>
              <a:buSzPts val="2400"/>
              <a:buChar char="•"/>
            </a:pPr>
            <a:r>
              <a:rPr lang="es-CO" dirty="0" err="1"/>
              <a:t>Latent</a:t>
            </a:r>
            <a:r>
              <a:rPr lang="es-CO" dirty="0"/>
              <a:t> Dirichlet </a:t>
            </a:r>
            <a:r>
              <a:rPr lang="es-CO" dirty="0" err="1"/>
              <a:t>Allocation</a:t>
            </a:r>
            <a:r>
              <a:rPr lang="es-CO" dirty="0"/>
              <a:t> LDA</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6"/>
        <p:cNvGrpSpPr/>
        <p:nvPr/>
      </p:nvGrpSpPr>
      <p:grpSpPr>
        <a:xfrm>
          <a:off x="0" y="0"/>
          <a:ext cx="0" cy="0"/>
          <a:chOff x="0" y="0"/>
          <a:chExt cx="0" cy="0"/>
        </a:xfrm>
      </p:grpSpPr>
      <p:sp>
        <p:nvSpPr>
          <p:cNvPr id="1027" name="Google Shape;1027;p110"/>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28" name="Google Shape;1028;p110"/>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4200"/>
              <a:buFont typeface="Calibri"/>
              <a:buNone/>
            </a:pPr>
            <a:r>
              <a:rPr lang="es-CO" sz="4200">
                <a:solidFill>
                  <a:srgbClr val="FFFFFF"/>
                </a:solidFill>
                <a:latin typeface="Calibri"/>
                <a:ea typeface="Calibri"/>
                <a:cs typeface="Calibri"/>
                <a:sym typeface="Calibri"/>
              </a:rPr>
              <a:t>Análisis de componentes principales (PCA)/(SVD)</a:t>
            </a:r>
            <a:endParaRPr/>
          </a:p>
        </p:txBody>
      </p:sp>
      <p:cxnSp>
        <p:nvCxnSpPr>
          <p:cNvPr id="1029" name="Google Shape;1029;p110"/>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pic>
        <p:nvPicPr>
          <p:cNvPr id="1030" name="Google Shape;1030;p110"/>
          <p:cNvPicPr preferRelativeResize="0"/>
          <p:nvPr/>
        </p:nvPicPr>
        <p:blipFill rotWithShape="1">
          <a:blip r:embed="rId3">
            <a:alphaModFix/>
          </a:blip>
          <a:srcRect/>
          <a:stretch/>
        </p:blipFill>
        <p:spPr>
          <a:xfrm>
            <a:off x="1039975" y="2509911"/>
            <a:ext cx="10056951" cy="39976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4"/>
        <p:cNvGrpSpPr/>
        <p:nvPr/>
      </p:nvGrpSpPr>
      <p:grpSpPr>
        <a:xfrm>
          <a:off x="0" y="0"/>
          <a:ext cx="0" cy="0"/>
          <a:chOff x="0" y="0"/>
          <a:chExt cx="0" cy="0"/>
        </a:xfrm>
      </p:grpSpPr>
      <p:sp>
        <p:nvSpPr>
          <p:cNvPr id="1035" name="Google Shape;1035;p111"/>
          <p:cNvSpPr/>
          <p:nvPr/>
        </p:nvSpPr>
        <p:spPr>
          <a:xfrm>
            <a:off x="0" y="-1"/>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036" name="Google Shape;1036;p111"/>
          <p:cNvGrpSpPr/>
          <p:nvPr/>
        </p:nvGrpSpPr>
        <p:grpSpPr>
          <a:xfrm>
            <a:off x="-417513" y="0"/>
            <a:ext cx="12584114" cy="6853238"/>
            <a:chOff x="-417513" y="0"/>
            <a:chExt cx="12584114" cy="6853238"/>
          </a:xfrm>
        </p:grpSpPr>
        <p:sp>
          <p:nvSpPr>
            <p:cNvPr id="1037" name="Google Shape;1037;p111"/>
            <p:cNvSpPr/>
            <p:nvPr/>
          </p:nvSpPr>
          <p:spPr>
            <a:xfrm>
              <a:off x="1306513" y="0"/>
              <a:ext cx="3862388" cy="6843713"/>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11"/>
            <p:cNvSpPr/>
            <p:nvPr/>
          </p:nvSpPr>
          <p:spPr>
            <a:xfrm>
              <a:off x="10626725" y="9525"/>
              <a:ext cx="1539875" cy="555625"/>
            </a:xfrm>
            <a:custGeom>
              <a:avLst/>
              <a:gdLst/>
              <a:ahLst/>
              <a:cxnLst/>
              <a:rect l="l" t="t" r="r" b="b"/>
              <a:pathLst>
                <a:path w="324" h="117" extrusionOk="0">
                  <a:moveTo>
                    <a:pt x="324" y="117"/>
                  </a:moveTo>
                  <a:cubicBezTo>
                    <a:pt x="223" y="64"/>
                    <a:pt x="107" y="2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11"/>
            <p:cNvSpPr/>
            <p:nvPr/>
          </p:nvSpPr>
          <p:spPr>
            <a:xfrm>
              <a:off x="10247313" y="5013325"/>
              <a:ext cx="1919288" cy="1830388"/>
            </a:xfrm>
            <a:custGeom>
              <a:avLst/>
              <a:gdLst/>
              <a:ahLst/>
              <a:cxnLst/>
              <a:rect l="l" t="t" r="r" b="b"/>
              <a:pathLst>
                <a:path w="404" h="385" extrusionOk="0">
                  <a:moveTo>
                    <a:pt x="0" y="385"/>
                  </a:moveTo>
                  <a:cubicBezTo>
                    <a:pt x="146" y="272"/>
                    <a:pt x="285" y="142"/>
                    <a:pt x="404"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11"/>
            <p:cNvSpPr/>
            <p:nvPr/>
          </p:nvSpPr>
          <p:spPr>
            <a:xfrm>
              <a:off x="1120775" y="0"/>
              <a:ext cx="3676650" cy="6843713"/>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11"/>
            <p:cNvSpPr/>
            <p:nvPr/>
          </p:nvSpPr>
          <p:spPr>
            <a:xfrm>
              <a:off x="11202988" y="9525"/>
              <a:ext cx="963613" cy="366713"/>
            </a:xfrm>
            <a:custGeom>
              <a:avLst/>
              <a:gdLst/>
              <a:ahLst/>
              <a:cxnLst/>
              <a:rect l="l" t="t" r="r" b="b"/>
              <a:pathLst>
                <a:path w="203" h="77" extrusionOk="0">
                  <a:moveTo>
                    <a:pt x="203" y="77"/>
                  </a:moveTo>
                  <a:cubicBezTo>
                    <a:pt x="138" y="46"/>
                    <a:pt x="68" y="2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11"/>
            <p:cNvSpPr/>
            <p:nvPr/>
          </p:nvSpPr>
          <p:spPr>
            <a:xfrm>
              <a:off x="10494963" y="5275263"/>
              <a:ext cx="1666875" cy="1577975"/>
            </a:xfrm>
            <a:custGeom>
              <a:avLst/>
              <a:gdLst/>
              <a:ahLst/>
              <a:cxnLst/>
              <a:rect l="l" t="t" r="r" b="b"/>
              <a:pathLst>
                <a:path w="351" h="332" extrusionOk="0">
                  <a:moveTo>
                    <a:pt x="0" y="332"/>
                  </a:moveTo>
                  <a:cubicBezTo>
                    <a:pt x="125" y="232"/>
                    <a:pt x="245" y="121"/>
                    <a:pt x="351"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11"/>
            <p:cNvSpPr/>
            <p:nvPr/>
          </p:nvSpPr>
          <p:spPr>
            <a:xfrm>
              <a:off x="1001713" y="0"/>
              <a:ext cx="3621088" cy="6843713"/>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11"/>
            <p:cNvSpPr/>
            <p:nvPr/>
          </p:nvSpPr>
          <p:spPr>
            <a:xfrm>
              <a:off x="11501438" y="9525"/>
              <a:ext cx="665163" cy="257175"/>
            </a:xfrm>
            <a:custGeom>
              <a:avLst/>
              <a:gdLst/>
              <a:ahLst/>
              <a:cxnLst/>
              <a:rect l="l" t="t" r="r" b="b"/>
              <a:pathLst>
                <a:path w="140" h="54" extrusionOk="0">
                  <a:moveTo>
                    <a:pt x="140" y="54"/>
                  </a:moveTo>
                  <a:cubicBezTo>
                    <a:pt x="95" y="34"/>
                    <a:pt x="48" y="1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11"/>
            <p:cNvSpPr/>
            <p:nvPr/>
          </p:nvSpPr>
          <p:spPr>
            <a:xfrm>
              <a:off x="10641013" y="5408613"/>
              <a:ext cx="1525588" cy="1435100"/>
            </a:xfrm>
            <a:custGeom>
              <a:avLst/>
              <a:gdLst/>
              <a:ahLst/>
              <a:cxnLst/>
              <a:rect l="l" t="t" r="r" b="b"/>
              <a:pathLst>
                <a:path w="321" h="302" extrusionOk="0">
                  <a:moveTo>
                    <a:pt x="0" y="302"/>
                  </a:moveTo>
                  <a:cubicBezTo>
                    <a:pt x="114" y="210"/>
                    <a:pt x="223" y="109"/>
                    <a:pt x="321"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11"/>
            <p:cNvSpPr/>
            <p:nvPr/>
          </p:nvSpPr>
          <p:spPr>
            <a:xfrm>
              <a:off x="1001713" y="0"/>
              <a:ext cx="3244850" cy="6843713"/>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11"/>
            <p:cNvSpPr/>
            <p:nvPr/>
          </p:nvSpPr>
          <p:spPr>
            <a:xfrm>
              <a:off x="10802938" y="5518150"/>
              <a:ext cx="1363663" cy="1325563"/>
            </a:xfrm>
            <a:custGeom>
              <a:avLst/>
              <a:gdLst/>
              <a:ahLst/>
              <a:cxnLst/>
              <a:rect l="l" t="t" r="r" b="b"/>
              <a:pathLst>
                <a:path w="287" h="279" extrusionOk="0">
                  <a:moveTo>
                    <a:pt x="0" y="279"/>
                  </a:moveTo>
                  <a:cubicBezTo>
                    <a:pt x="101" y="193"/>
                    <a:pt x="198" y="100"/>
                    <a:pt x="287"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11"/>
            <p:cNvSpPr/>
            <p:nvPr/>
          </p:nvSpPr>
          <p:spPr>
            <a:xfrm>
              <a:off x="889000" y="0"/>
              <a:ext cx="3230563" cy="6843713"/>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11"/>
            <p:cNvSpPr/>
            <p:nvPr/>
          </p:nvSpPr>
          <p:spPr>
            <a:xfrm>
              <a:off x="10979150" y="5694363"/>
              <a:ext cx="1187450" cy="1149350"/>
            </a:xfrm>
            <a:custGeom>
              <a:avLst/>
              <a:gdLst/>
              <a:ahLst/>
              <a:cxnLst/>
              <a:rect l="l" t="t" r="r" b="b"/>
              <a:pathLst>
                <a:path w="250" h="242" extrusionOk="0">
                  <a:moveTo>
                    <a:pt x="0" y="242"/>
                  </a:moveTo>
                  <a:cubicBezTo>
                    <a:pt x="88" y="166"/>
                    <a:pt x="172" y="85"/>
                    <a:pt x="25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11"/>
            <p:cNvSpPr/>
            <p:nvPr/>
          </p:nvSpPr>
          <p:spPr>
            <a:xfrm>
              <a:off x="484188" y="0"/>
              <a:ext cx="3421063" cy="6843713"/>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11"/>
            <p:cNvSpPr/>
            <p:nvPr/>
          </p:nvSpPr>
          <p:spPr>
            <a:xfrm>
              <a:off x="11287125" y="6049963"/>
              <a:ext cx="879475" cy="793750"/>
            </a:xfrm>
            <a:custGeom>
              <a:avLst/>
              <a:gdLst/>
              <a:ahLst/>
              <a:cxnLst/>
              <a:rect l="l" t="t" r="r" b="b"/>
              <a:pathLst>
                <a:path w="185" h="167" extrusionOk="0">
                  <a:moveTo>
                    <a:pt x="0" y="167"/>
                  </a:moveTo>
                  <a:cubicBezTo>
                    <a:pt x="63" y="114"/>
                    <a:pt x="125" y="58"/>
                    <a:pt x="18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11"/>
            <p:cNvSpPr/>
            <p:nvPr/>
          </p:nvSpPr>
          <p:spPr>
            <a:xfrm>
              <a:off x="598488" y="0"/>
              <a:ext cx="2717800" cy="6843713"/>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11"/>
            <p:cNvSpPr/>
            <p:nvPr/>
          </p:nvSpPr>
          <p:spPr>
            <a:xfrm>
              <a:off x="261938" y="0"/>
              <a:ext cx="2944813" cy="6843713"/>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11"/>
            <p:cNvSpPr/>
            <p:nvPr/>
          </p:nvSpPr>
          <p:spPr>
            <a:xfrm>
              <a:off x="-417513" y="0"/>
              <a:ext cx="2403475" cy="6843713"/>
            </a:xfrm>
            <a:custGeom>
              <a:avLst/>
              <a:gdLst/>
              <a:ahLst/>
              <a:cxnLst/>
              <a:rect l="l" t="t" r="r" b="b"/>
              <a:pathLst>
                <a:path w="506" h="1440" extrusionOk="0">
                  <a:moveTo>
                    <a:pt x="506" y="0"/>
                  </a:moveTo>
                  <a:cubicBezTo>
                    <a:pt x="109" y="356"/>
                    <a:pt x="0" y="943"/>
                    <a:pt x="171"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11"/>
            <p:cNvSpPr/>
            <p:nvPr/>
          </p:nvSpPr>
          <p:spPr>
            <a:xfrm>
              <a:off x="14288" y="9525"/>
              <a:ext cx="1771650" cy="3198813"/>
            </a:xfrm>
            <a:custGeom>
              <a:avLst/>
              <a:gdLst/>
              <a:ahLst/>
              <a:cxnLst/>
              <a:rect l="l" t="t" r="r" b="b"/>
              <a:pathLst>
                <a:path w="373" h="673" extrusionOk="0">
                  <a:moveTo>
                    <a:pt x="373" y="0"/>
                  </a:moveTo>
                  <a:cubicBezTo>
                    <a:pt x="175" y="183"/>
                    <a:pt x="51" y="409"/>
                    <a:pt x="0" y="673"/>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11"/>
            <p:cNvSpPr/>
            <p:nvPr/>
          </p:nvSpPr>
          <p:spPr>
            <a:xfrm>
              <a:off x="4763" y="6016625"/>
              <a:ext cx="214313" cy="827088"/>
            </a:xfrm>
            <a:custGeom>
              <a:avLst/>
              <a:gdLst/>
              <a:ahLst/>
              <a:cxnLst/>
              <a:rect l="l" t="t" r="r" b="b"/>
              <a:pathLst>
                <a:path w="45" h="174" extrusionOk="0">
                  <a:moveTo>
                    <a:pt x="0" y="0"/>
                  </a:moveTo>
                  <a:cubicBezTo>
                    <a:pt x="11" y="59"/>
                    <a:pt x="26" y="118"/>
                    <a:pt x="45" y="174"/>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11"/>
            <p:cNvSpPr/>
            <p:nvPr/>
          </p:nvSpPr>
          <p:spPr>
            <a:xfrm>
              <a:off x="14288" y="0"/>
              <a:ext cx="1562100" cy="2228850"/>
            </a:xfrm>
            <a:custGeom>
              <a:avLst/>
              <a:gdLst/>
              <a:ahLst/>
              <a:cxnLst/>
              <a:rect l="l" t="t" r="r" b="b"/>
              <a:pathLst>
                <a:path w="329" h="469" extrusionOk="0">
                  <a:moveTo>
                    <a:pt x="329" y="0"/>
                  </a:moveTo>
                  <a:cubicBezTo>
                    <a:pt x="189" y="133"/>
                    <a:pt x="69" y="288"/>
                    <a:pt x="0" y="469"/>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111"/>
          <p:cNvGrpSpPr/>
          <p:nvPr/>
        </p:nvGrpSpPr>
        <p:grpSpPr>
          <a:xfrm>
            <a:off x="800144" y="1699589"/>
            <a:ext cx="3674476" cy="3470421"/>
            <a:chOff x="697883" y="1816768"/>
            <a:chExt cx="3674476" cy="3470421"/>
          </a:xfrm>
        </p:grpSpPr>
        <p:sp>
          <p:nvSpPr>
            <p:cNvPr id="1059" name="Google Shape;1059;p111"/>
            <p:cNvSpPr/>
            <p:nvPr/>
          </p:nvSpPr>
          <p:spPr>
            <a:xfrm>
              <a:off x="697883" y="1816768"/>
              <a:ext cx="3674476" cy="5029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11"/>
            <p:cNvSpPr/>
            <p:nvPr/>
          </p:nvSpPr>
          <p:spPr>
            <a:xfrm rot="10800000">
              <a:off x="2380224" y="5014786"/>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11"/>
            <p:cNvSpPr/>
            <p:nvPr/>
          </p:nvSpPr>
          <p:spPr>
            <a:xfrm>
              <a:off x="704075" y="2392840"/>
              <a:ext cx="3668284" cy="26243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 name="Google Shape;1062;p111"/>
          <p:cNvSpPr txBox="1">
            <a:spLocks noGrp="1"/>
          </p:cNvSpPr>
          <p:nvPr>
            <p:ph type="title"/>
          </p:nvPr>
        </p:nvSpPr>
        <p:spPr>
          <a:xfrm>
            <a:off x="904877" y="2415322"/>
            <a:ext cx="3451730" cy="23998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Calibri"/>
              <a:buNone/>
            </a:pPr>
            <a:r>
              <a:rPr lang="es-CO" sz="4000">
                <a:solidFill>
                  <a:srgbClr val="FFFFFF"/>
                </a:solidFill>
              </a:rPr>
              <a:t>Reglas de Asociación</a:t>
            </a:r>
            <a:endParaRPr/>
          </a:p>
        </p:txBody>
      </p:sp>
      <p:sp>
        <p:nvSpPr>
          <p:cNvPr id="1063" name="Google Shape;1063;p111"/>
          <p:cNvSpPr txBox="1">
            <a:spLocks noGrp="1"/>
          </p:cNvSpPr>
          <p:nvPr>
            <p:ph type="body" idx="1"/>
          </p:nvPr>
        </p:nvSpPr>
        <p:spPr>
          <a:xfrm>
            <a:off x="4660358" y="442913"/>
            <a:ext cx="7098255" cy="6136996"/>
          </a:xfrm>
          <a:prstGeom prst="rect">
            <a:avLst/>
          </a:prstGeom>
          <a:noFill/>
          <a:ln>
            <a:noFill/>
          </a:ln>
        </p:spPr>
        <p:txBody>
          <a:bodyPr spcFirstLastPara="1" wrap="square" lIns="91425" tIns="45700" rIns="91425" bIns="45700" anchor="ctr" anchorCtr="0">
            <a:normAutofit lnSpcReduction="10000"/>
          </a:bodyPr>
          <a:lstStyle/>
          <a:p>
            <a:pPr marL="228600" lvl="0" indent="-228600" algn="just" rtl="0">
              <a:lnSpc>
                <a:spcPct val="90000"/>
              </a:lnSpc>
              <a:spcBef>
                <a:spcPts val="0"/>
              </a:spcBef>
              <a:spcAft>
                <a:spcPts val="0"/>
              </a:spcAft>
              <a:buClr>
                <a:schemeClr val="dk1"/>
              </a:buClr>
              <a:buSzPts val="2400"/>
              <a:buChar char="•"/>
            </a:pPr>
            <a:r>
              <a:rPr lang="es-CO" sz="2400" dirty="0"/>
              <a:t>Se utiliza para descubrir la probabilidad de la coocurrencia de elementos en una colección. Es ampliamente utilizado en el análisis de la cesta de mercado. </a:t>
            </a:r>
            <a:endParaRPr dirty="0"/>
          </a:p>
          <a:p>
            <a:pPr marL="685800" lvl="1" indent="-228600" algn="just" rtl="0">
              <a:lnSpc>
                <a:spcPct val="90000"/>
              </a:lnSpc>
              <a:spcBef>
                <a:spcPts val="500"/>
              </a:spcBef>
              <a:spcAft>
                <a:spcPts val="0"/>
              </a:spcAft>
              <a:buClr>
                <a:schemeClr val="dk1"/>
              </a:buClr>
              <a:buSzPts val="2400"/>
              <a:buChar char="•"/>
            </a:pPr>
            <a:r>
              <a:rPr lang="es-CO" dirty="0"/>
              <a:t>Por ejemplo, un modelo de asociación podría usarse para descubrir que, si un cliente compra pan, es 80% probable que también compre huevos. </a:t>
            </a:r>
            <a:endParaRPr dirty="0"/>
          </a:p>
          <a:p>
            <a:pPr marL="228600" lvl="0" indent="-228600" algn="just" rtl="0">
              <a:lnSpc>
                <a:spcPct val="90000"/>
              </a:lnSpc>
              <a:spcBef>
                <a:spcPts val="1000"/>
              </a:spcBef>
              <a:spcAft>
                <a:spcPts val="0"/>
              </a:spcAft>
              <a:buClr>
                <a:schemeClr val="dk1"/>
              </a:buClr>
              <a:buSzPts val="2400"/>
              <a:buChar char="•"/>
            </a:pPr>
            <a:r>
              <a:rPr lang="es-CO" sz="2400" dirty="0"/>
              <a:t>Aplicaciones</a:t>
            </a:r>
            <a:endParaRPr dirty="0"/>
          </a:p>
          <a:p>
            <a:pPr marL="685800" lvl="1" indent="-228600" algn="just" rtl="0">
              <a:lnSpc>
                <a:spcPct val="90000"/>
              </a:lnSpc>
              <a:spcBef>
                <a:spcPts val="500"/>
              </a:spcBef>
              <a:spcAft>
                <a:spcPts val="0"/>
              </a:spcAft>
              <a:buClr>
                <a:schemeClr val="dk1"/>
              </a:buClr>
              <a:buSzPts val="2400"/>
              <a:buChar char="•"/>
            </a:pPr>
            <a:r>
              <a:rPr lang="es-CO" dirty="0"/>
              <a:t>Impulsar la venta de un producto (artículo) en una tienda</a:t>
            </a:r>
            <a:endParaRPr dirty="0"/>
          </a:p>
          <a:p>
            <a:pPr marL="685800" lvl="1" indent="-228600" algn="just" rtl="0">
              <a:lnSpc>
                <a:spcPct val="90000"/>
              </a:lnSpc>
              <a:spcBef>
                <a:spcPts val="500"/>
              </a:spcBef>
              <a:spcAft>
                <a:spcPts val="0"/>
              </a:spcAft>
              <a:buClr>
                <a:schemeClr val="dk1"/>
              </a:buClr>
              <a:buSzPts val="2400"/>
              <a:buChar char="•"/>
            </a:pPr>
            <a:r>
              <a:rPr lang="es-CO" dirty="0"/>
              <a:t>Impacto de descontinuar un producto</a:t>
            </a:r>
            <a:endParaRPr dirty="0"/>
          </a:p>
          <a:p>
            <a:pPr marL="685800" lvl="1" indent="-228600" algn="just" rtl="0">
              <a:lnSpc>
                <a:spcPct val="90000"/>
              </a:lnSpc>
              <a:spcBef>
                <a:spcPts val="500"/>
              </a:spcBef>
              <a:spcAft>
                <a:spcPts val="0"/>
              </a:spcAft>
              <a:buClr>
                <a:schemeClr val="dk1"/>
              </a:buClr>
              <a:buSzPts val="2400"/>
              <a:buChar char="•"/>
            </a:pPr>
            <a:r>
              <a:rPr lang="es-CO" dirty="0"/>
              <a:t>Agrupación de productos múltiples para promociones</a:t>
            </a:r>
            <a:endParaRPr dirty="0"/>
          </a:p>
          <a:p>
            <a:pPr marL="685800" lvl="1" indent="-228600" algn="just" rtl="0">
              <a:lnSpc>
                <a:spcPct val="90000"/>
              </a:lnSpc>
              <a:spcBef>
                <a:spcPts val="500"/>
              </a:spcBef>
              <a:spcAft>
                <a:spcPts val="0"/>
              </a:spcAft>
              <a:buClr>
                <a:schemeClr val="dk1"/>
              </a:buClr>
              <a:buSzPts val="2400"/>
              <a:buChar char="•"/>
            </a:pPr>
            <a:r>
              <a:rPr lang="es-CO" dirty="0"/>
              <a:t>Mejor planificación de anaquel en un supermercado físico</a:t>
            </a:r>
            <a:endParaRPr dirty="0"/>
          </a:p>
          <a:p>
            <a:pPr marL="685800" lvl="1" indent="-228600" algn="just" rtl="0">
              <a:lnSpc>
                <a:spcPct val="90000"/>
              </a:lnSpc>
              <a:spcBef>
                <a:spcPts val="500"/>
              </a:spcBef>
              <a:spcAft>
                <a:spcPts val="0"/>
              </a:spcAft>
              <a:buClr>
                <a:schemeClr val="dk1"/>
              </a:buClr>
              <a:buSzPts val="2400"/>
              <a:buChar char="•"/>
            </a:pPr>
            <a:r>
              <a:rPr lang="es-CO" dirty="0"/>
              <a:t>Sistemas de recomendación</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7"/>
        <p:cNvGrpSpPr/>
        <p:nvPr/>
      </p:nvGrpSpPr>
      <p:grpSpPr>
        <a:xfrm>
          <a:off x="0" y="0"/>
          <a:ext cx="0" cy="0"/>
          <a:chOff x="0" y="0"/>
          <a:chExt cx="0" cy="0"/>
        </a:xfrm>
      </p:grpSpPr>
      <p:sp>
        <p:nvSpPr>
          <p:cNvPr id="1068" name="Google Shape;1068;p112"/>
          <p:cNvSpPr/>
          <p:nvPr/>
        </p:nvSpPr>
        <p:spPr>
          <a:xfrm>
            <a:off x="0" y="0"/>
            <a:ext cx="4654296"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9" name="Google Shape;1069;p112"/>
          <p:cNvSpPr txBox="1">
            <a:spLocks noGrp="1"/>
          </p:cNvSpPr>
          <p:nvPr>
            <p:ph type="title"/>
          </p:nvPr>
        </p:nvSpPr>
        <p:spPr>
          <a:xfrm>
            <a:off x="304800" y="394608"/>
            <a:ext cx="3814401" cy="819451"/>
          </a:xfrm>
          <a:prstGeom prst="rect">
            <a:avLst/>
          </a:prstGeom>
          <a:noFill/>
          <a:ln w="19050" cap="flat" cmpd="sng">
            <a:solidFill>
              <a:schemeClr val="l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800"/>
              <a:buFont typeface="Calibri"/>
              <a:buNone/>
            </a:pPr>
            <a:r>
              <a:rPr lang="es-CO" sz="2800">
                <a:solidFill>
                  <a:schemeClr val="lt1"/>
                </a:solidFill>
                <a:latin typeface="Calibri"/>
                <a:ea typeface="Calibri"/>
                <a:cs typeface="Calibri"/>
                <a:sym typeface="Calibri"/>
              </a:rPr>
              <a:t>Algoritmo Apriori</a:t>
            </a:r>
            <a:endParaRPr/>
          </a:p>
        </p:txBody>
      </p:sp>
      <p:sp>
        <p:nvSpPr>
          <p:cNvPr id="1070" name="Google Shape;1070;p112"/>
          <p:cNvSpPr txBox="1">
            <a:spLocks noGrp="1"/>
          </p:cNvSpPr>
          <p:nvPr>
            <p:ph type="body" idx="1"/>
          </p:nvPr>
        </p:nvSpPr>
        <p:spPr>
          <a:xfrm>
            <a:off x="193041" y="1608667"/>
            <a:ext cx="4287519" cy="48547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lt1"/>
              </a:buClr>
              <a:buSzPts val="2000"/>
              <a:buChar char="•"/>
            </a:pPr>
            <a:r>
              <a:rPr lang="es-CO" sz="2000" dirty="0">
                <a:solidFill>
                  <a:schemeClr val="lt1"/>
                </a:solidFill>
              </a:rPr>
              <a:t>El algoritmo de </a:t>
            </a:r>
            <a:r>
              <a:rPr lang="es-CO" sz="2000" dirty="0" err="1">
                <a:solidFill>
                  <a:schemeClr val="lt1"/>
                </a:solidFill>
              </a:rPr>
              <a:t>Apriori</a:t>
            </a:r>
            <a:r>
              <a:rPr lang="es-CO" sz="2000" dirty="0">
                <a:solidFill>
                  <a:schemeClr val="lt1"/>
                </a:solidFill>
              </a:rPr>
              <a:t> se usa en una base de datos transaccional para extraer conjuntos de elementos frecuentes y luego generar reglas de asociación.</a:t>
            </a:r>
            <a:endParaRPr dirty="0"/>
          </a:p>
          <a:p>
            <a:pPr marL="228600" lvl="0" indent="-228600" algn="just" rtl="0">
              <a:lnSpc>
                <a:spcPct val="90000"/>
              </a:lnSpc>
              <a:spcBef>
                <a:spcPts val="1000"/>
              </a:spcBef>
              <a:spcAft>
                <a:spcPts val="0"/>
              </a:spcAft>
              <a:buClr>
                <a:schemeClr val="lt1"/>
              </a:buClr>
              <a:buSzPts val="2000"/>
              <a:buChar char="•"/>
            </a:pPr>
            <a:r>
              <a:rPr lang="es-CO" sz="2000" dirty="0">
                <a:solidFill>
                  <a:schemeClr val="lt1"/>
                </a:solidFill>
              </a:rPr>
              <a:t>Escribimos la regla de asociación para 'si una persona compra el artículo X, luego compra el artículo Y' como: X -&gt; Y.</a:t>
            </a:r>
            <a:endParaRPr dirty="0"/>
          </a:p>
          <a:p>
            <a:pPr marL="228600" lvl="0" indent="-228600" algn="just" rtl="0">
              <a:lnSpc>
                <a:spcPct val="90000"/>
              </a:lnSpc>
              <a:spcBef>
                <a:spcPts val="1000"/>
              </a:spcBef>
              <a:spcAft>
                <a:spcPts val="0"/>
              </a:spcAft>
              <a:buClr>
                <a:schemeClr val="lt1"/>
              </a:buClr>
              <a:buSzPts val="2000"/>
              <a:buChar char="•"/>
            </a:pPr>
            <a:r>
              <a:rPr lang="es-CO" sz="2000" dirty="0">
                <a:solidFill>
                  <a:schemeClr val="lt1"/>
                </a:solidFill>
              </a:rPr>
              <a:t>Ejemplo: si una persona compra leche y azúcar, entonces es probable que compre café</a:t>
            </a:r>
            <a:endParaRPr dirty="0"/>
          </a:p>
          <a:p>
            <a:pPr marL="685800" lvl="1" indent="-228600" algn="just" rtl="0">
              <a:lnSpc>
                <a:spcPct val="90000"/>
              </a:lnSpc>
              <a:spcBef>
                <a:spcPts val="500"/>
              </a:spcBef>
              <a:spcAft>
                <a:spcPts val="0"/>
              </a:spcAft>
              <a:buClr>
                <a:schemeClr val="lt1"/>
              </a:buClr>
              <a:buSzPts val="2000"/>
              <a:buChar char="•"/>
            </a:pPr>
            <a:r>
              <a:rPr lang="es-CO" sz="2000" dirty="0">
                <a:solidFill>
                  <a:schemeClr val="lt1"/>
                </a:solidFill>
              </a:rPr>
              <a:t>{leche, azúcar} -&gt; café</a:t>
            </a:r>
            <a:endParaRPr dirty="0"/>
          </a:p>
        </p:txBody>
      </p:sp>
      <p:pic>
        <p:nvPicPr>
          <p:cNvPr id="1071" name="Google Shape;1071;p112"/>
          <p:cNvPicPr preferRelativeResize="0"/>
          <p:nvPr/>
        </p:nvPicPr>
        <p:blipFill rotWithShape="1">
          <a:blip r:embed="rId3">
            <a:alphaModFix/>
          </a:blip>
          <a:srcRect/>
          <a:stretch/>
        </p:blipFill>
        <p:spPr>
          <a:xfrm>
            <a:off x="5297763" y="1462918"/>
            <a:ext cx="6250769" cy="3771297"/>
          </a:xfrm>
          <a:prstGeom prst="rect">
            <a:avLst/>
          </a:prstGeom>
          <a:noFill/>
          <a:ln>
            <a:noFill/>
          </a:ln>
        </p:spPr>
      </p:pic>
      <p:sp>
        <p:nvSpPr>
          <p:cNvPr id="1072" name="Google Shape;1072;p112"/>
          <p:cNvSpPr txBox="1"/>
          <p:nvPr/>
        </p:nvSpPr>
        <p:spPr>
          <a:xfrm>
            <a:off x="1464315" y="6187286"/>
            <a:ext cx="926337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1800" u="sng">
                <a:solidFill>
                  <a:schemeClr val="hlink"/>
                </a:solidFill>
                <a:latin typeface="Calibri"/>
                <a:ea typeface="Calibri"/>
                <a:cs typeface="Calibri"/>
                <a:sym typeface="Calibri"/>
                <a:hlinkClick r:id="rId4"/>
              </a:rPr>
              <a:t>https://dzone.com/articles/what-your-customers-may-like-most-apriori-algorith?edition=719429</a:t>
            </a:r>
            <a:r>
              <a:rPr lang="es-CO" sz="1800">
                <a:solidFill>
                  <a:schemeClr val="dk1"/>
                </a:solidFill>
                <a:latin typeface="Calibri"/>
                <a:ea typeface="Calibri"/>
                <a:cs typeface="Calibri"/>
                <a:sym typeface="Calibri"/>
              </a:rPr>
              <a:t> </a:t>
            </a: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4895</TotalTime>
  <Words>1732</Words>
  <Application>Microsoft Office PowerPoint</Application>
  <PresentationFormat>Widescreen</PresentationFormat>
  <Paragraphs>210</Paragraphs>
  <Slides>36</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Calibri</vt:lpstr>
      <vt:lpstr>Courier New</vt:lpstr>
      <vt:lpstr>Open Sans</vt:lpstr>
      <vt:lpstr>Office Theme</vt:lpstr>
      <vt:lpstr>Office Theme</vt:lpstr>
      <vt:lpstr>Tarea Descriptiva Machine Learning</vt:lpstr>
      <vt:lpstr>PowerPoint Presentation</vt:lpstr>
      <vt:lpstr>No Machine Learning Software</vt:lpstr>
      <vt:lpstr>PowerPoint Presentation</vt:lpstr>
      <vt:lpstr>Machine Learning</vt:lpstr>
      <vt:lpstr>PowerPoint Presentation</vt:lpstr>
      <vt:lpstr>PowerPoint Presentation</vt:lpstr>
      <vt:lpstr>PowerPoint Presentation</vt:lpstr>
      <vt:lpstr>Regresión</vt:lpstr>
      <vt:lpstr>Unsupervised Learning</vt:lpstr>
      <vt:lpstr>Aprendizaje no supervisado</vt:lpstr>
      <vt:lpstr>Aprendizaje no supervisado</vt:lpstr>
      <vt:lpstr>Aprendizaje no supervisado</vt:lpstr>
      <vt:lpstr>Aprendizaje no supervisado</vt:lpstr>
      <vt:lpstr>No Supervisado</vt:lpstr>
      <vt:lpstr>Aprendizaje no supervisado</vt:lpstr>
      <vt:lpstr>Conjunto de Datos</vt:lpstr>
      <vt:lpstr>Técnicas no supervisadas</vt:lpstr>
      <vt:lpstr>Técnicas o pre modelos de Machine Learning</vt:lpstr>
      <vt:lpstr>Técnicas no supervisadas</vt:lpstr>
      <vt:lpstr>Clustering. K-Means</vt:lpstr>
      <vt:lpstr>PowerPoint Presentation</vt:lpstr>
      <vt:lpstr>Métricas K-Means</vt:lpstr>
      <vt:lpstr>Métricas K-Means</vt:lpstr>
      <vt:lpstr>Métricas K-Means</vt:lpstr>
      <vt:lpstr>Métricas K-Means</vt:lpstr>
      <vt:lpstr>Métricas K-Means</vt:lpstr>
      <vt:lpstr>Métricas K-Means</vt:lpstr>
      <vt:lpstr>Métricas K-Means</vt:lpstr>
      <vt:lpstr>Métricas K-Means</vt:lpstr>
      <vt:lpstr>Casos de uso de la agrupación (clustering)</vt:lpstr>
      <vt:lpstr>La dimensionalidad</vt:lpstr>
      <vt:lpstr>Análisis de componentes principales (PCA)/(SVD)</vt:lpstr>
      <vt:lpstr>Análisis de componentes principales (PCA)/(SVD)</vt:lpstr>
      <vt:lpstr>Reglas de Asociación</vt:lpstr>
      <vt:lpstr>Algoritmo Apriori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Predictivo Machine Learning</dc:title>
  <cp:lastModifiedBy>Norbey Muñoz</cp:lastModifiedBy>
  <cp:revision>24</cp:revision>
  <dcterms:modified xsi:type="dcterms:W3CDTF">2026-08-19T03:20:59Z</dcterms:modified>
</cp:coreProperties>
</file>